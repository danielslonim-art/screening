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2204a8-37e8-19b7-89fe-06220e8ab208}">
          <p14:sldIdLst>
            <p14:sldId id="256"/>
            <p14:sldId id="257"/>
          </p14:sldIdLst>
        </p14:section>
        <p14:section name="How it works" id="{57e021df-32dc-8d0a-6668-5a0c7949749d}">
          <p14:sldIdLst>
            <p14:sldId id="258"/>
            <p14:sldId id="259"/>
            <p14:sldId id="260"/>
          </p14:sldIdLst>
        </p14:section>
        <p14:section name="Lessons" id="{db62fdc2-1d91-eaa7-6e65-9aa9636e2a46}">
          <p14:sldIdLst>
            <p14:sldId id="261"/>
            <p14:sldId id="262"/>
            <p14:sldId id="263"/>
          </p14:sldIdLst>
        </p14:section>
        <p14:section name="Appendix" id="{93023f58-0240-161e-5684-85bdfd657b3c}">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are a payment service provider: we process card payments and card payouts for merchants, in real time and at volume.
The question this talk answers: how do we make sure no card payment involving a sanctioned bank gets through, when we never hold a relationship with that bank?
The line at the bottom is the whole talk: the payment stops at our check, before it ever reaches the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we process card payments for merchants, but we do not hold relationships with the issuing banks. Schemes and acquiring partners sit between us and them.
Relying on those partners to enforce sanctions has proven unreliable, and it does not take away our own regulatory liability (framework §6.1).
So the control has to sit inside our own flow. The red marker is where: after we extract the issuer BIN, and before the authorisation request goes to the scheme.
The three cards are the exposures the control exists for: card payments from sanctioned issuers, payouts to cards issued by sanctioned banks, and routing through intermediaries we do not control (framework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the list. When a bank is designated, we identify it, and anything it owns or controls, in our sanctions data.
We classify it: is this a global hard stop, or a regional or sectoral restriction? Then we map the bank to its 6- and 8-digit BIN ranges.
Before anything goes live, the ranges are checked by hand so we do not block legitimate banks, and the Sanctions Team gives the final approval. That is the amber box: a person decides.
Then a controlled upload, and a check after deployment that the block is actually live. This runs every week, and the Register is reconciled against industry lists every two weeks.
For a major designation we do not wait for the week: the Register is updated within two hours and a temporary block goes in ahead of the full BIN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the payment. The strip at the top is the most important design choice: the check sits after we extract the issuer BIN, and before the authorisation request goes to the scheme. Nothing is routed, cleared or settled first.
Card acquiring: the issuer BIN is matched against the Sanctioned BIN List in our fraud detection layer, in real time, before authorisation. A match is declined automatically.
Payouts to cards, including refunds where we have the BIN: the same match, in the payout validation layer, before settlement.
Every match is logged as a Sanctions_Block_Event, kept, and escalated where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owns it. The first line builds and runs the controls: fraud detection for acquiring, FinCrime Engineering for the payout validation layer and logging, with no way to route around the check, and FinCrime Product for the design.
The second line, the Sanctions Team, owns the Hard Block Register and is the only team that can add or remove a BIN. That is the amber row: a person approves every change.
Internal Audit tests both the design and whether it actually works in operation.
Three numbers to remember: the list updates weekly, the Register is updated within two hours of a major designation, and any payment that gets past the workflow is reported to the Sanctions Team within one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the practical lessons. They are framed as industry problems, not as gaps in our control. Check with the framework owner before using it with an external audience.
Names: sanctions lists and BIN databases spell banks differently, so name matching can miss one. Wildcard searches help today; unique identifiers are the real fix.
BINs: a bank is not one number. Get the ranges too broad and you block good banks; too narrow and you miss one. Some BINs are even shared across territories.
Timing: lists move faster than BIN data, which is why the emergency route exists. Ownership: banks can be sanctioned without being named, so you need ownership and control analysis, not just a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ideas: we do it ourselves, before the scheme; the list is kept current on a weekly cycle with an emergency route; and a person approves every change to what gets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 appendix slide after this one has the whole process on one page, if a question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whole process on one page. Backup for Q&amp;A, and print the PDF version as a handout; it is too dense to present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Kicker placeholder"/>
          <p:cNvSpPr/>
          <p:nvPr>
            <p:ph idx="100" type="body" hasCustomPrompt="1"/>
          </p:nvPr>
        </p:nvSpPr>
        <p:spPr>
          <a:xfrm>
            <a:off x="731520" y="1417320"/>
            <a:ext cx="8229600" cy="320040"/>
          </a:xfrm>
          <a:prstGeom prst="rect">
            <a:avLst/>
          </a:prstGeom>
          <a:noFill/>
          <a:ln/>
        </p:spPr>
        <p:txBody>
          <a:bodyPr wrap="square" lIns="0" tIns="0" rIns="0" bIns="0" rtlCol="0" anchor="t"/>
          <a:lstStyle>
            <a:lvl1pPr algn="l" indent="0" marL="0">
              <a:buNone/>
              <a:defRPr lang="en-US" sz="1400" b="1" spc="300" kern="0" dirty="0">
                <a:solidFill>
                  <a:schemeClr val="accent5"/>
                </a:solidFill>
                <a:latin typeface="Arial" pitchFamily="34" charset="0"/>
                <a:ea typeface="Arial" pitchFamily="34" charset="-122"/>
                <a:cs typeface="Arial" pitchFamily="34" charset="-120"/>
              </a:defRPr>
            </a:lvl1pPr>
          </a:lstStyle>
          <a:p>
            <a:pPr algn="l" indent="0" marL="0">
              <a:buNone/>
            </a:pPr>
            <a:r>
              <a:rPr lang="en-US" sz="1400" b="1" spc="300" kern="0" dirty="0">
                <a:solidFill>
                  <a:schemeClr val="accent5"/>
                </a:solidFill>
                <a:latin typeface="Arial" pitchFamily="34" charset="0"/>
                <a:ea typeface="Arial" pitchFamily="34" charset="-122"/>
                <a:cs typeface="Arial" pitchFamily="34" charset="-120"/>
              </a:rPr>
              <a:t>EVENT, TEAM OR SERIES</a:t>
            </a:r>
            <a:endParaRPr lang="en-US" sz="1400" dirty="0"/>
          </a:p>
        </p:txBody>
      </p:sp>
      <p:sp>
        <p:nvSpPr>
          <p:cNvPr id="3" name="Title placeholder"/>
          <p:cNvSpPr/>
          <p:nvPr>
            <p:ph idx="101" type="title" hasCustomPrompt="1"/>
          </p:nvPr>
        </p:nvSpPr>
        <p:spPr>
          <a:xfrm>
            <a:off x="731520" y="1828800"/>
            <a:ext cx="8778240" cy="1737360"/>
          </a:xfrm>
          <a:prstGeom prst="rect">
            <a:avLst/>
          </a:prstGeom>
          <a:noFill/>
          <a:ln/>
        </p:spPr>
        <p:txBody>
          <a:bodyPr wrap="square" lIns="0" tIns="0" rIns="0" bIns="0" rtlCol="0" anchor="t"/>
          <a:lstStyle>
            <a:lvl1pPr algn="l" indent="0" marL="0">
              <a:buNone/>
              <a:defRPr lang="en-US" sz="4600" b="1" dirty="0">
                <a:solidFill>
                  <a:schemeClr val="bg1"/>
                </a:solidFill>
                <a:latin typeface="Arial" pitchFamily="34" charset="0"/>
                <a:ea typeface="Arial" pitchFamily="34" charset="-122"/>
                <a:cs typeface="Arial" pitchFamily="34" charset="-120"/>
              </a:defRPr>
            </a:lvl1pPr>
          </a:lstStyle>
          <a:p>
            <a:pPr algn="l" indent="0" marL="0">
              <a:buNone/>
            </a:pPr>
            <a:r>
              <a:rPr lang="en-US" sz="4600" b="1" dirty="0">
                <a:solidFill>
                  <a:schemeClr val="bg1"/>
                </a:solidFill>
                <a:latin typeface="Arial" pitchFamily="34" charset="0"/>
                <a:ea typeface="Arial" pitchFamily="34" charset="-122"/>
                <a:cs typeface="Arial" pitchFamily="34" charset="-120"/>
              </a:rPr>
              <a:t>Presentation title</a:t>
            </a:r>
            <a:endParaRPr lang="en-US" sz="4600" dirty="0"/>
          </a:p>
        </p:txBody>
      </p:sp>
      <p:sp>
        <p:nvSpPr>
          <p:cNvPr id="4" name="Subtitle placeholder"/>
          <p:cNvSpPr/>
          <p:nvPr>
            <p:ph idx="102" type="body" hasCustomPrompt="1"/>
          </p:nvPr>
        </p:nvSpPr>
        <p:spPr>
          <a:xfrm>
            <a:off x="731520" y="3657600"/>
            <a:ext cx="8778240" cy="731520"/>
          </a:xfrm>
          <a:prstGeom prst="rect">
            <a:avLst/>
          </a:prstGeom>
          <a:noFill/>
          <a:ln/>
        </p:spPr>
        <p:txBody>
          <a:bodyPr wrap="square" lIns="0" tIns="0" rIns="0" bIns="0" rtlCol="0" anchor="t"/>
          <a:lstStyle>
            <a:lvl1pPr algn="l" indent="0" marL="0">
              <a:buNone/>
              <a:defRPr lang="en-US" sz="2000" dirty="0">
                <a:solidFill>
                  <a:schemeClr val="bg2"/>
                </a:solidFill>
                <a:latin typeface="Arial" pitchFamily="34" charset="0"/>
                <a:ea typeface="Arial" pitchFamily="34" charset="-122"/>
                <a:cs typeface="Arial" pitchFamily="34" charset="-120"/>
              </a:defRPr>
            </a:lvl1pPr>
          </a:lstStyle>
          <a:p>
            <a:pPr algn="l" indent="0" marL="0">
              <a:buNone/>
            </a:pPr>
            <a:r>
              <a:rPr lang="en-US" sz="2000" dirty="0">
                <a:solidFill>
                  <a:schemeClr val="bg2"/>
                </a:solidFill>
                <a:latin typeface="Arial" pitchFamily="34" charset="0"/>
                <a:ea typeface="Arial" pitchFamily="34" charset="-122"/>
                <a:cs typeface="Arial" pitchFamily="34" charset="-120"/>
              </a:rPr>
              <a:t>One-line subtitle</a:t>
            </a:r>
            <a:endParaRPr lang="en-US" sz="2000" dirty="0"/>
          </a:p>
        </p:txBody>
      </p:sp>
      <p:sp>
        <p:nvSpPr>
          <p:cNvPr id="5" name="Presenter placeholder"/>
          <p:cNvSpPr/>
          <p:nvPr>
            <p:ph idx="103" type="body" hasCustomPrompt="1"/>
          </p:nvPr>
        </p:nvSpPr>
        <p:spPr>
          <a:xfrm>
            <a:off x="731520" y="6080760"/>
            <a:ext cx="7315200" cy="320040"/>
          </a:xfrm>
          <a:prstGeom prst="rect">
            <a:avLst/>
          </a:prstGeom>
          <a:noFill/>
          <a:ln/>
        </p:spPr>
        <p:txBody>
          <a:bodyPr wrap="square" lIns="0" tIns="0" rIns="0" bIns="0" rtlCol="0" anchor="t"/>
          <a:lstStyle>
            <a:lvl1pPr algn="l" indent="0" marL="0">
              <a:buNone/>
              <a:defRPr lang="en-US" sz="1200" dirty="0">
                <a:solidFill>
                  <a:schemeClr val="accent5"/>
                </a:solidFill>
                <a:latin typeface="Arial" pitchFamily="34" charset="0"/>
                <a:ea typeface="Arial" pitchFamily="34" charset="-122"/>
                <a:cs typeface="Arial" pitchFamily="34" charset="-120"/>
              </a:defRPr>
            </a:lvl1pPr>
          </a:lstStyle>
          <a:p>
            <a:pPr algn="l" indent="0" marL="0">
              <a:buNone/>
            </a:pPr>
            <a:r>
              <a:rPr lang="en-US" sz="1200" dirty="0">
                <a:solidFill>
                  <a:schemeClr val="accent5"/>
                </a:solidFill>
                <a:latin typeface="Arial" pitchFamily="34" charset="0"/>
                <a:ea typeface="Arial" pitchFamily="34" charset="-122"/>
                <a:cs typeface="Arial" pitchFamily="34" charset="-120"/>
              </a:rPr>
              <a:t>Team or role · date</a:t>
            </a:r>
            <a:endParaRPr lang="en-US" sz="1200" dirty="0"/>
          </a:p>
        </p:txBody>
      </p:sp>
      <p:sp>
        <p:nvSpPr>
          <p:cNvPr id="6" name="Shape 0"/>
          <p:cNvSpPr/>
          <p:nvPr/>
        </p:nvSpPr>
        <p:spPr>
          <a:xfrm>
            <a:off x="914400" y="5349240"/>
            <a:ext cx="4617720" cy="0"/>
          </a:xfrm>
          <a:prstGeom prst="line">
            <a:avLst/>
          </a:prstGeom>
          <a:noFill/>
          <a:ln w="38100">
            <a:solidFill>
              <a:schemeClr val="accent1"/>
            </a:solidFill>
            <a:prstDash val="solid"/>
          </a:ln>
        </p:spPr>
      </p:sp>
      <p:sp>
        <p:nvSpPr>
          <p:cNvPr id="7" name="Shape 1"/>
          <p:cNvSpPr/>
          <p:nvPr/>
        </p:nvSpPr>
        <p:spPr>
          <a:xfrm>
            <a:off x="5532120" y="5349240"/>
            <a:ext cx="5532120" cy="0"/>
          </a:xfrm>
          <a:prstGeom prst="line">
            <a:avLst/>
          </a:prstGeom>
          <a:noFill/>
          <a:ln w="25400">
            <a:solidFill>
              <a:schemeClr val="accent5"/>
            </a:solidFill>
            <a:prstDash val="dash"/>
          </a:ln>
        </p:spPr>
      </p:sp>
      <p:sp>
        <p:nvSpPr>
          <p:cNvPr id="8" name="Text 2"/>
          <p:cNvSpPr/>
          <p:nvPr/>
        </p:nvSpPr>
        <p:spPr>
          <a:xfrm>
            <a:off x="822960" y="5257800"/>
            <a:ext cx="182880" cy="182880"/>
          </a:xfrm>
          <a:prstGeom prst="ellipse">
            <a:avLst/>
          </a:prstGeom>
          <a:solidFill>
            <a:schemeClr val="accent1"/>
          </a:solidFill>
          <a:ln/>
        </p:spPr>
        <p:txBody>
          <a:bodyPr wrap="square" rtlCol="0" anchor="ctr"/>
          <a:lstStyle/>
          <a:p>
            <a:pPr indent="0" marL="0">
              <a:buNone/>
            </a:pPr>
            <a:endParaRPr lang="en-US" dirty="0"/>
          </a:p>
        </p:txBody>
      </p:sp>
      <p:sp>
        <p:nvSpPr>
          <p:cNvPr id="9" name="Text 3"/>
          <p:cNvSpPr/>
          <p:nvPr/>
        </p:nvSpPr>
        <p:spPr>
          <a:xfrm>
            <a:off x="3749040" y="5257800"/>
            <a:ext cx="182880" cy="182880"/>
          </a:xfrm>
          <a:prstGeom prst="ellipse">
            <a:avLst/>
          </a:prstGeom>
          <a:solidFill>
            <a:schemeClr val="accent1"/>
          </a:solidFill>
          <a:ln/>
        </p:spPr>
        <p:txBody>
          <a:bodyPr wrap="square" rtlCol="0" anchor="ctr"/>
          <a:lstStyle/>
          <a:p>
            <a:pPr indent="0" marL="0">
              <a:buNone/>
            </a:pPr>
            <a:endParaRPr lang="en-US" dirty="0"/>
          </a:p>
        </p:txBody>
      </p:sp>
      <p:sp>
        <p:nvSpPr>
          <p:cNvPr id="10" name="Text 4"/>
          <p:cNvSpPr/>
          <p:nvPr/>
        </p:nvSpPr>
        <p:spPr>
          <a:xfrm>
            <a:off x="7589520" y="5257800"/>
            <a:ext cx="182880" cy="182880"/>
          </a:xfrm>
          <a:prstGeom prst="ellipse">
            <a:avLst/>
          </a:prstGeom>
          <a:solidFill>
            <a:schemeClr val="accent5"/>
          </a:solidFill>
          <a:ln/>
        </p:spPr>
        <p:txBody>
          <a:bodyPr wrap="square" rtlCol="0" anchor="ctr"/>
          <a:lstStyle/>
          <a:p>
            <a:pPr indent="0" marL="0">
              <a:buNone/>
            </a:pPr>
            <a:endParaRPr lang="en-US" dirty="0"/>
          </a:p>
        </p:txBody>
      </p:sp>
      <p:sp>
        <p:nvSpPr>
          <p:cNvPr id="11" name="Text 5"/>
          <p:cNvSpPr/>
          <p:nvPr/>
        </p:nvSpPr>
        <p:spPr>
          <a:xfrm>
            <a:off x="10972800" y="5257800"/>
            <a:ext cx="182880" cy="182880"/>
          </a:xfrm>
          <a:prstGeom prst="ellipse">
            <a:avLst/>
          </a:prstGeom>
          <a:solidFill>
            <a:schemeClr val="accent5"/>
          </a:solidFill>
          <a:ln/>
        </p:spPr>
        <p:txBody>
          <a:bodyPr wrap="square" rtlCol="0" anchor="ctr"/>
          <a:lstStyle/>
          <a:p>
            <a:pPr indent="0" marL="0">
              <a:buNone/>
            </a:pPr>
            <a:endParaRPr lang="en-US" dirty="0"/>
          </a:p>
        </p:txBody>
      </p:sp>
      <p:sp>
        <p:nvSpPr>
          <p:cNvPr id="12" name="Text 6"/>
          <p:cNvSpPr/>
          <p:nvPr/>
        </p:nvSpPr>
        <p:spPr>
          <a:xfrm>
            <a:off x="5257800" y="5074920"/>
            <a:ext cx="548640" cy="548640"/>
          </a:xfrm>
          <a:prstGeom prst="ellipse">
            <a:avLst/>
          </a:prstGeom>
          <a:solidFill>
            <a:schemeClr val="accent2"/>
          </a:solidFill>
          <a:ln/>
        </p:spPr>
        <p:txBody>
          <a:bodyPr wrap="square" rtlCol="0" anchor="ctr"/>
          <a:lstStyle/>
          <a:p>
            <a:pPr indent="0" marL="0">
              <a:buNone/>
            </a:pPr>
            <a:endParaRPr lang="en-US" dirty="0"/>
          </a:p>
        </p:txBody>
      </p:sp>
      <p:pic>
        <p:nvPicPr>
          <p:cNvPr id="13" name="Image 0" descr="/home/user/Screening/templates/presentation/assets/check-shield.png">    </p:cNvPr>
          <p:cNvPicPr>
            <a:picLocks noChangeAspect="1"/>
          </p:cNvPicPr>
          <p:nvPr/>
        </p:nvPicPr>
        <p:blipFill>
          <a:blip r:embed="rId1"/>
          <a:stretch>
            <a:fillRect/>
          </a:stretch>
        </p:blipFill>
        <p:spPr>
          <a:xfrm>
            <a:off x="5394960" y="5212080"/>
            <a:ext cx="274320" cy="2743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accent1"/>
        </a:solidFill>
      </p:bgPr>
    </p:bg>
    <p:spTree>
      <p:nvGrpSpPr>
        <p:cNvPr id="1" name=""/>
        <p:cNvGrpSpPr/>
        <p:nvPr/>
      </p:nvGrpSpPr>
      <p:grpSpPr>
        <a:xfrm>
          <a:off x="0" y="0"/>
          <a:ext cx="0" cy="0"/>
          <a:chOff x="0" y="0"/>
          <a:chExt cx="0" cy="0"/>
        </a:xfrm>
      </p:grpSpPr>
      <p:sp>
        <p:nvSpPr>
          <p:cNvPr id="2" name="Number placeholder"/>
          <p:cNvSpPr/>
          <p:nvPr>
            <p:ph idx="100" type="body" hasCustomPrompt="1"/>
          </p:nvPr>
        </p:nvSpPr>
        <p:spPr>
          <a:xfrm>
            <a:off x="731520" y="1463040"/>
            <a:ext cx="3657600" cy="1371600"/>
          </a:xfrm>
          <a:prstGeom prst="rect">
            <a:avLst/>
          </a:prstGeom>
          <a:noFill/>
          <a:ln/>
        </p:spPr>
        <p:txBody>
          <a:bodyPr wrap="square" lIns="0" tIns="0" rIns="0" bIns="0" rtlCol="0" anchor="t"/>
          <a:lstStyle>
            <a:lvl1pPr algn="l" indent="0" marL="0">
              <a:buNone/>
              <a:defRPr lang="en-US" sz="8800" b="1" dirty="0">
                <a:solidFill>
                  <a:schemeClr val="bg1"/>
                </a:solidFill>
                <a:latin typeface="Arial" pitchFamily="34" charset="0"/>
                <a:ea typeface="Arial" pitchFamily="34" charset="-122"/>
                <a:cs typeface="Arial" pitchFamily="34" charset="-120"/>
              </a:defRPr>
            </a:lvl1pPr>
          </a:lstStyle>
          <a:p>
            <a:pPr algn="l" indent="0" marL="0">
              <a:buNone/>
            </a:pPr>
            <a:r>
              <a:rPr lang="en-US" sz="8800" b="1" dirty="0">
                <a:solidFill>
                  <a:schemeClr val="bg1"/>
                </a:solidFill>
                <a:latin typeface="Arial" pitchFamily="34" charset="0"/>
                <a:ea typeface="Arial" pitchFamily="34" charset="-122"/>
                <a:cs typeface="Arial" pitchFamily="34" charset="-120"/>
              </a:rPr>
              <a:t>01</a:t>
            </a:r>
            <a:endParaRPr lang="en-US" sz="8800" dirty="0"/>
          </a:p>
        </p:txBody>
      </p:sp>
      <p:sp>
        <p:nvSpPr>
          <p:cNvPr id="3" name="Title placeholder"/>
          <p:cNvSpPr/>
          <p:nvPr>
            <p:ph idx="101" type="title" hasCustomPrompt="1"/>
          </p:nvPr>
        </p:nvSpPr>
        <p:spPr>
          <a:xfrm>
            <a:off x="731520" y="2971800"/>
            <a:ext cx="10058400" cy="1097280"/>
          </a:xfrm>
          <a:prstGeom prst="rect">
            <a:avLst/>
          </a:prstGeom>
          <a:noFill/>
          <a:ln/>
        </p:spPr>
        <p:txBody>
          <a:bodyPr wrap="square" lIns="0" tIns="0" rIns="0" bIns="0" rtlCol="0" anchor="t"/>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r>
              <a:rPr lang="en-US" sz="4000" b="1" dirty="0">
                <a:solidFill>
                  <a:schemeClr val="bg1"/>
                </a:solidFill>
                <a:latin typeface="Arial" pitchFamily="34" charset="0"/>
                <a:ea typeface="Arial" pitchFamily="34" charset="-122"/>
                <a:cs typeface="Arial" pitchFamily="34" charset="-120"/>
              </a:rPr>
              <a:t>Section title</a:t>
            </a:r>
            <a:endParaRPr lang="en-US" sz="4000" dirty="0"/>
          </a:p>
        </p:txBody>
      </p:sp>
      <p:sp>
        <p:nvSpPr>
          <p:cNvPr id="4" name="Body placeholder"/>
          <p:cNvSpPr/>
          <p:nvPr>
            <p:ph idx="102" type="body" hasCustomPrompt="1"/>
          </p:nvPr>
        </p:nvSpPr>
        <p:spPr>
          <a:xfrm>
            <a:off x="731520" y="4160520"/>
            <a:ext cx="8229600" cy="1005840"/>
          </a:xfrm>
          <a:prstGeom prst="rect">
            <a:avLst/>
          </a:prstGeom>
          <a:noFill/>
          <a:ln/>
        </p:spPr>
        <p:txBody>
          <a:bodyPr wrap="square" lIns="0" tIns="0" rIns="0" bIns="0" rtlCol="0" anchor="t"/>
          <a:lstStyle>
            <a:lvl1pPr algn="l" indent="0" marL="0">
              <a:buNone/>
              <a:defRPr lang="en-US" sz="1800" dirty="0">
                <a:solidFill>
                  <a:schemeClr val="bg2"/>
                </a:solidFill>
                <a:latin typeface="Arial" pitchFamily="34" charset="0"/>
                <a:ea typeface="Arial" pitchFamily="34" charset="-122"/>
                <a:cs typeface="Arial" pitchFamily="34" charset="-120"/>
              </a:defRPr>
            </a:lvl1pPr>
          </a:lstStyle>
          <a:p>
            <a:pPr algn="l" indent="0" marL="0">
              <a:buNone/>
            </a:pPr>
            <a:r>
              <a:rPr lang="en-US" sz="1800" dirty="0">
                <a:solidFill>
                  <a:schemeClr val="bg2"/>
                </a:solidFill>
                <a:latin typeface="Arial" pitchFamily="34" charset="0"/>
                <a:ea typeface="Arial" pitchFamily="34" charset="-122"/>
                <a:cs typeface="Arial" pitchFamily="34" charset="-120"/>
              </a:rPr>
              <a:t>What this section covers, in a sentence</a:t>
            </a:r>
            <a:endParaRPr lang="en-US" sz="18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bg2"/>
                </a:solidFill>
              </a:rPr>
              <a:t>Checkout.com · Global Screening · Draft for Compliance sign-off</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6" name="Body placeholder"/>
          <p:cNvSpPr/>
          <p:nvPr>
            <p:ph idx="104" type="body" hasCustomPrompt="1"/>
          </p:nvPr>
        </p:nvSpPr>
        <p:spPr>
          <a:xfrm>
            <a:off x="548640" y="1600200"/>
            <a:ext cx="11091672" cy="4434840"/>
          </a:xfrm>
          <a:prstGeom prst="rect">
            <a:avLst/>
          </a:prstGeom>
          <a:noFill/>
          <a:ln/>
        </p:spPr>
        <p:txBody>
          <a:bodyPr wrap="square" lIns="0" tIns="0" rIns="0" bIns="0" rtlCol="0" anchor="t"/>
          <a:lstStyle>
            <a:lvl1pPr algn="l" marL="228600" indent="-228600">
              <a:spcAft>
                <a:spcPts val="800"/>
              </a:spcAft>
              <a:buSzPct val="100000"/>
              <a:buChar char="•"/>
              <a:defRPr lang="en-US" sz="1800" dirty="0">
                <a:solidFill>
                  <a:schemeClr val="tx1"/>
                </a:solidFill>
                <a:latin typeface="Arial" pitchFamily="34" charset="0"/>
                <a:ea typeface="Arial" pitchFamily="34" charset="-122"/>
                <a:cs typeface="Arial" pitchFamily="34" charset="-120"/>
              </a:defRPr>
            </a:lvl1pPr>
          </a:lstStyle>
          <a:p>
            <a:pPr algn="l" marL="228600" indent="-228600">
              <a:spcAft>
                <a:spcPts val="800"/>
              </a:spcAft>
              <a:buSzPct val="100000"/>
              <a:buChar char="•"/>
            </a:pPr>
            <a:r>
              <a:rPr lang="en-US" sz="1800" dirty="0">
                <a:solidFill>
                  <a:schemeClr val="tx1"/>
                </a:solidFill>
                <a:latin typeface="Arial" pitchFamily="34" charset="0"/>
                <a:ea typeface="Arial" pitchFamily="34" charset="-122"/>
                <a:cs typeface="Arial" pitchFamily="34" charset="-120"/>
              </a:rPr>
              <a:t>Add points. Press Tab for a second level</a:t>
            </a:r>
            <a:endParaRPr lang="en-US" sz="18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6" name="HeadingLeft placeholder"/>
          <p:cNvSpPr/>
          <p:nvPr>
            <p:ph idx="104" type="body" hasCustomPrompt="1"/>
          </p:nvPr>
        </p:nvSpPr>
        <p:spPr>
          <a:xfrm>
            <a:off x="548640" y="1600200"/>
            <a:ext cx="5394960" cy="365760"/>
          </a:xfrm>
          <a:prstGeom prst="rect">
            <a:avLst/>
          </a:prstGeom>
          <a:noFill/>
          <a:ln/>
        </p:spPr>
        <p:txBody>
          <a:bodyPr wrap="square" lIns="0" tIns="0" rIns="0" bIns="0" rtlCol="0" anchor="t"/>
          <a:lstStyle>
            <a:lvl1pPr algn="l" indent="0" marL="0">
              <a:buNone/>
              <a:defRPr lang="en-US" sz="1600" b="1" dirty="0">
                <a:solidFill>
                  <a:schemeClr val="accent1"/>
                </a:solidFill>
                <a:latin typeface="Arial" pitchFamily="34" charset="0"/>
                <a:ea typeface="Arial" pitchFamily="34" charset="-122"/>
                <a:cs typeface="Arial" pitchFamily="34" charset="-120"/>
              </a:defRPr>
            </a:lvl1pPr>
          </a:lstStyle>
          <a:p>
            <a:pPr algn="l" indent="0" marL="0">
              <a:buNone/>
            </a:pPr>
            <a:r>
              <a:rPr lang="en-US" sz="1600" b="1" dirty="0">
                <a:solidFill>
                  <a:schemeClr val="accent1"/>
                </a:solidFill>
                <a:latin typeface="Arial" pitchFamily="34" charset="0"/>
                <a:ea typeface="Arial" pitchFamily="34" charset="-122"/>
                <a:cs typeface="Arial" pitchFamily="34" charset="-120"/>
              </a:rPr>
              <a:t>Left heading</a:t>
            </a:r>
            <a:endParaRPr lang="en-US" sz="1600" dirty="0"/>
          </a:p>
        </p:txBody>
      </p:sp>
      <p:sp>
        <p:nvSpPr>
          <p:cNvPr id="7" name="Left placeholder"/>
          <p:cNvSpPr/>
          <p:nvPr>
            <p:ph idx="105" type="body" hasCustomPrompt="1"/>
          </p:nvPr>
        </p:nvSpPr>
        <p:spPr>
          <a:xfrm>
            <a:off x="548640" y="2103120"/>
            <a:ext cx="5394960" cy="3931920"/>
          </a:xfrm>
          <a:prstGeom prst="rect">
            <a:avLst/>
          </a:prstGeom>
          <a:noFill/>
          <a:ln/>
        </p:spPr>
        <p:txBody>
          <a:bodyPr wrap="square" lIns="0" tIns="0" rIns="0" bIns="0" rtlCol="0" anchor="t"/>
          <a:lstStyle>
            <a:lvl1pPr algn="l" marL="228600" indent="-228600">
              <a:spcAft>
                <a:spcPts val="800"/>
              </a:spcAft>
              <a:buSzPct val="100000"/>
              <a:buChar char="•"/>
              <a:defRPr lang="en-US" sz="1600" dirty="0">
                <a:solidFill>
                  <a:schemeClr val="tx1"/>
                </a:solidFill>
                <a:latin typeface="Arial" pitchFamily="34" charset="0"/>
                <a:ea typeface="Arial" pitchFamily="34" charset="-122"/>
                <a:cs typeface="Arial" pitchFamily="34" charset="-120"/>
              </a:defRPr>
            </a:lvl1pPr>
          </a:lstStyle>
          <a:p>
            <a:pPr algn="l" marL="228600" indent="-228600">
              <a:spcAft>
                <a:spcPts val="800"/>
              </a:spcAft>
              <a:buSzPct val="100000"/>
              <a:buChar char="•"/>
            </a:pPr>
            <a:r>
              <a:rPr lang="en-US" sz="1600" dirty="0">
                <a:solidFill>
                  <a:schemeClr val="tx1"/>
                </a:solidFill>
                <a:latin typeface="Arial" pitchFamily="34" charset="0"/>
                <a:ea typeface="Arial" pitchFamily="34" charset="-122"/>
                <a:cs typeface="Arial" pitchFamily="34" charset="-120"/>
              </a:rPr>
              <a:t>Add points</a:t>
            </a:r>
            <a:endParaRPr lang="en-US" sz="1600" dirty="0"/>
          </a:p>
        </p:txBody>
      </p:sp>
      <p:sp>
        <p:nvSpPr>
          <p:cNvPr id="8" name="HeadingRight placeholder"/>
          <p:cNvSpPr/>
          <p:nvPr>
            <p:ph idx="106" type="body" hasCustomPrompt="1"/>
          </p:nvPr>
        </p:nvSpPr>
        <p:spPr>
          <a:xfrm>
            <a:off x="6245352" y="1600200"/>
            <a:ext cx="5394960" cy="365760"/>
          </a:xfrm>
          <a:prstGeom prst="rect">
            <a:avLst/>
          </a:prstGeom>
          <a:noFill/>
          <a:ln/>
        </p:spPr>
        <p:txBody>
          <a:bodyPr wrap="square" lIns="0" tIns="0" rIns="0" bIns="0" rtlCol="0" anchor="t"/>
          <a:lstStyle>
            <a:lvl1pPr algn="l" indent="0" marL="0">
              <a:buNone/>
              <a:defRPr lang="en-US" sz="1600" b="1" dirty="0">
                <a:solidFill>
                  <a:schemeClr val="accent1"/>
                </a:solidFill>
                <a:latin typeface="Arial" pitchFamily="34" charset="0"/>
                <a:ea typeface="Arial" pitchFamily="34" charset="-122"/>
                <a:cs typeface="Arial" pitchFamily="34" charset="-120"/>
              </a:defRPr>
            </a:lvl1pPr>
          </a:lstStyle>
          <a:p>
            <a:pPr algn="l" indent="0" marL="0">
              <a:buNone/>
            </a:pPr>
            <a:r>
              <a:rPr lang="en-US" sz="1600" b="1" dirty="0">
                <a:solidFill>
                  <a:schemeClr val="accent1"/>
                </a:solidFill>
                <a:latin typeface="Arial" pitchFamily="34" charset="0"/>
                <a:ea typeface="Arial" pitchFamily="34" charset="-122"/>
                <a:cs typeface="Arial" pitchFamily="34" charset="-120"/>
              </a:rPr>
              <a:t>Right heading</a:t>
            </a:r>
            <a:endParaRPr lang="en-US" sz="1600" dirty="0"/>
          </a:p>
        </p:txBody>
      </p:sp>
      <p:sp>
        <p:nvSpPr>
          <p:cNvPr id="9" name="Right placeholder"/>
          <p:cNvSpPr/>
          <p:nvPr>
            <p:ph idx="107" type="body" hasCustomPrompt="1"/>
          </p:nvPr>
        </p:nvSpPr>
        <p:spPr>
          <a:xfrm>
            <a:off x="6245352" y="2103120"/>
            <a:ext cx="5394960" cy="3931920"/>
          </a:xfrm>
          <a:prstGeom prst="rect">
            <a:avLst/>
          </a:prstGeom>
          <a:noFill/>
          <a:ln/>
        </p:spPr>
        <p:txBody>
          <a:bodyPr wrap="square" lIns="0" tIns="0" rIns="0" bIns="0" rtlCol="0" anchor="t"/>
          <a:lstStyle>
            <a:lvl1pPr algn="l" marL="228600" indent="-228600">
              <a:spcAft>
                <a:spcPts val="800"/>
              </a:spcAft>
              <a:buSzPct val="100000"/>
              <a:buChar char="•"/>
              <a:defRPr lang="en-US" sz="1600" dirty="0">
                <a:solidFill>
                  <a:schemeClr val="tx1"/>
                </a:solidFill>
                <a:latin typeface="Arial" pitchFamily="34" charset="0"/>
                <a:ea typeface="Arial" pitchFamily="34" charset="-122"/>
                <a:cs typeface="Arial" pitchFamily="34" charset="-120"/>
              </a:defRPr>
            </a:lvl1pPr>
          </a:lstStyle>
          <a:p>
            <a:pPr algn="l" marL="228600" indent="-228600">
              <a:spcAft>
                <a:spcPts val="800"/>
              </a:spcAft>
              <a:buSzPct val="100000"/>
              <a:buChar char="•"/>
            </a:pPr>
            <a:r>
              <a:rPr lang="en-US" sz="1600" dirty="0">
                <a:solidFill>
                  <a:schemeClr val="tx1"/>
                </a:solidFill>
                <a:latin typeface="Arial" pitchFamily="34" charset="0"/>
                <a:ea typeface="Arial" pitchFamily="34" charset="-122"/>
                <a:cs typeface="Arial" pitchFamily="34" charset="-120"/>
              </a:rPr>
              <a:t>Add points</a:t>
            </a:r>
            <a:endParaRPr lang="en-US" sz="16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key point">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6" name="Body placeholder"/>
          <p:cNvSpPr/>
          <p:nvPr>
            <p:ph idx="104" type="body" hasCustomPrompt="1"/>
          </p:nvPr>
        </p:nvSpPr>
        <p:spPr>
          <a:xfrm>
            <a:off x="548640" y="1600200"/>
            <a:ext cx="6858000" cy="4434840"/>
          </a:xfrm>
          <a:prstGeom prst="rect">
            <a:avLst/>
          </a:prstGeom>
          <a:noFill/>
          <a:ln/>
        </p:spPr>
        <p:txBody>
          <a:bodyPr wrap="square" lIns="0" tIns="0" rIns="0" bIns="0" rtlCol="0" anchor="t"/>
          <a:lstStyle>
            <a:lvl1pPr algn="l" marL="228600" indent="-228600">
              <a:spcAft>
                <a:spcPts val="800"/>
              </a:spcAft>
              <a:buSzPct val="100000"/>
              <a:buChar char="•"/>
              <a:defRPr lang="en-US" sz="1800" dirty="0">
                <a:solidFill>
                  <a:schemeClr val="tx1"/>
                </a:solidFill>
                <a:latin typeface="Arial" pitchFamily="34" charset="0"/>
                <a:ea typeface="Arial" pitchFamily="34" charset="-122"/>
                <a:cs typeface="Arial" pitchFamily="34" charset="-120"/>
              </a:defRPr>
            </a:lvl1pPr>
          </a:lstStyle>
          <a:p>
            <a:pPr algn="l" marL="228600" indent="-228600">
              <a:spcAft>
                <a:spcPts val="800"/>
              </a:spcAft>
              <a:buSzPct val="100000"/>
              <a:buChar char="•"/>
            </a:pPr>
            <a:r>
              <a:rPr lang="en-US" sz="1800" dirty="0">
                <a:solidFill>
                  <a:schemeClr val="tx1"/>
                </a:solidFill>
                <a:latin typeface="Arial" pitchFamily="34" charset="0"/>
                <a:ea typeface="Arial" pitchFamily="34" charset="-122"/>
                <a:cs typeface="Arial" pitchFamily="34" charset="-120"/>
              </a:rPr>
              <a:t>Add points</a:t>
            </a:r>
            <a:endParaRPr lang="en-US" sz="1800" dirty="0"/>
          </a:p>
        </p:txBody>
      </p:sp>
      <p:sp>
        <p:nvSpPr>
          <p:cNvPr id="7" name="Text 1"/>
          <p:cNvSpPr/>
          <p:nvPr/>
        </p:nvSpPr>
        <p:spPr>
          <a:xfrm>
            <a:off x="7818120" y="1600200"/>
            <a:ext cx="3822192" cy="4434840"/>
          </a:xfrm>
          <a:prstGeom prst="roundRect">
            <a:avLst>
              <a:gd name="adj" fmla="val 2392"/>
            </a:avLst>
          </a:prstGeom>
          <a:solidFill>
            <a:schemeClr val="accent1">
              <a:alpha val="10000"/>
            </a:schemeClr>
          </a:solidFill>
          <a:ln/>
        </p:spPr>
        <p:txBody>
          <a:bodyPr wrap="square" rtlCol="0" anchor="ctr"/>
          <a:lstStyle/>
          <a:p>
            <a:pPr indent="0" marL="0">
              <a:buNone/>
            </a:pPr>
            <a:endParaRPr lang="en-US" dirty="0"/>
          </a:p>
        </p:txBody>
      </p:sp>
      <p:sp>
        <p:nvSpPr>
          <p:cNvPr id="8" name="KeyLabel placeholder"/>
          <p:cNvSpPr/>
          <p:nvPr>
            <p:ph idx="106" type="body" hasCustomPrompt="1"/>
          </p:nvPr>
        </p:nvSpPr>
        <p:spPr>
          <a:xfrm>
            <a:off x="8092440" y="1874520"/>
            <a:ext cx="3291840" cy="274320"/>
          </a:xfrm>
          <a:prstGeom prst="rect">
            <a:avLst/>
          </a:prstGeom>
          <a:noFill/>
          <a:ln/>
        </p:spPr>
        <p:txBody>
          <a:bodyPr wrap="square" lIns="0" tIns="0" rIns="0" bIns="0" rtlCol="0" anchor="t"/>
          <a:lstStyle>
            <a:lvl1pPr algn="l" indent="0" marL="0">
              <a:buNone/>
              <a:defRPr lang="en-US" sz="1100" b="1" spc="200" kern="0" dirty="0">
                <a:solidFill>
                  <a:schemeClr val="accent1"/>
                </a:solidFill>
                <a:latin typeface="Arial" pitchFamily="34" charset="0"/>
                <a:ea typeface="Arial" pitchFamily="34" charset="-122"/>
                <a:cs typeface="Arial" pitchFamily="34" charset="-120"/>
              </a:defRPr>
            </a:lvl1pPr>
          </a:lstStyle>
          <a:p>
            <a:pPr algn="l" indent="0" marL="0">
              <a:buNone/>
            </a:pPr>
            <a:r>
              <a:rPr lang="en-US" sz="1100" b="1" spc="200" kern="0" dirty="0">
                <a:solidFill>
                  <a:schemeClr val="accent1"/>
                </a:solidFill>
                <a:latin typeface="Arial" pitchFamily="34" charset="0"/>
                <a:ea typeface="Arial" pitchFamily="34" charset="-122"/>
                <a:cs typeface="Arial" pitchFamily="34" charset="-120"/>
              </a:rPr>
              <a:t>KEY POINT</a:t>
            </a:r>
            <a:endParaRPr lang="en-US" sz="1100" dirty="0"/>
          </a:p>
        </p:txBody>
      </p:sp>
      <p:sp>
        <p:nvSpPr>
          <p:cNvPr id="9" name="Key placeholder"/>
          <p:cNvSpPr/>
          <p:nvPr>
            <p:ph idx="107" type="body" hasCustomPrompt="1"/>
          </p:nvPr>
        </p:nvSpPr>
        <p:spPr>
          <a:xfrm>
            <a:off x="8092440" y="2286000"/>
            <a:ext cx="3291840" cy="3474720"/>
          </a:xfrm>
          <a:prstGeom prst="rect">
            <a:avLst/>
          </a:prstGeom>
          <a:noFill/>
          <a:ln/>
        </p:spPr>
        <p:txBody>
          <a:bodyPr wrap="square" lIns="0" tIns="0" rIns="0" bIns="0" rtlCol="0" anchor="t"/>
          <a:lstStyle>
            <a:lvl1pPr algn="l" indent="0" marL="0">
              <a:buNone/>
              <a:defRPr lang="en-US" sz="2200" b="1" dirty="0">
                <a:solidFill>
                  <a:schemeClr val="tx1"/>
                </a:solidFill>
                <a:latin typeface="Arial" pitchFamily="34" charset="0"/>
                <a:ea typeface="Arial" pitchFamily="34" charset="-122"/>
                <a:cs typeface="Arial" pitchFamily="34" charset="-120"/>
              </a:defRPr>
            </a:lvl1pPr>
          </a:lstStyle>
          <a:p>
            <a:pPr algn="l" indent="0" marL="0">
              <a:buNone/>
            </a:pPr>
            <a:r>
              <a:rPr lang="en-US" sz="2200" b="1" dirty="0">
                <a:solidFill>
                  <a:schemeClr val="tx1"/>
                </a:solidFill>
                <a:latin typeface="Arial" pitchFamily="34" charset="0"/>
                <a:ea typeface="Arial" pitchFamily="34" charset="-122"/>
                <a:cs typeface="Arial" pitchFamily="34" charset="-120"/>
              </a:rPr>
              <a:t>The one thing the audience should remember from this slide</a:t>
            </a:r>
            <a:endParaRPr lang="en-US" sz="22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ey numbers">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6" name="Shape 1"/>
          <p:cNvSpPr/>
          <p:nvPr/>
        </p:nvSpPr>
        <p:spPr>
          <a:xfrm>
            <a:off x="548640" y="1965960"/>
            <a:ext cx="3575304" cy="0"/>
          </a:xfrm>
          <a:prstGeom prst="line">
            <a:avLst/>
          </a:prstGeom>
          <a:noFill/>
          <a:ln w="12700">
            <a:solidFill>
              <a:schemeClr val="accent6"/>
            </a:solidFill>
            <a:prstDash val="solid"/>
          </a:ln>
        </p:spPr>
      </p:sp>
      <p:sp>
        <p:nvSpPr>
          <p:cNvPr id="7" name="Number1 placeholder"/>
          <p:cNvSpPr/>
          <p:nvPr>
            <p:ph idx="105" type="body" hasCustomPrompt="1"/>
          </p:nvPr>
        </p:nvSpPr>
        <p:spPr>
          <a:xfrm>
            <a:off x="548640" y="2194560"/>
            <a:ext cx="3575304" cy="1097280"/>
          </a:xfrm>
          <a:prstGeom prst="rect">
            <a:avLst/>
          </a:prstGeom>
          <a:noFill/>
          <a:ln/>
        </p:spPr>
        <p:txBody>
          <a:bodyPr wrap="square" lIns="0" tIns="0" rIns="0" bIns="0" rtlCol="0" anchor="t"/>
          <a:lstStyle>
            <a:lvl1pPr algn="l" indent="0" marL="0">
              <a:buNone/>
              <a:defRPr lang="en-US" sz="5400" b="1" dirty="0">
                <a:solidFill>
                  <a:schemeClr val="accent1"/>
                </a:solidFill>
                <a:latin typeface="Arial" pitchFamily="34" charset="0"/>
                <a:ea typeface="Arial" pitchFamily="34" charset="-122"/>
                <a:cs typeface="Arial" pitchFamily="34" charset="-120"/>
              </a:defRPr>
            </a:lvl1pPr>
          </a:lstStyle>
          <a:p>
            <a:pPr algn="l" indent="0" marL="0">
              <a:buNone/>
            </a:pPr>
            <a:r>
              <a:rPr lang="en-US" sz="5400" b="1" dirty="0">
                <a:solidFill>
                  <a:schemeClr val="accent1"/>
                </a:solidFill>
                <a:latin typeface="Arial" pitchFamily="34" charset="0"/>
                <a:ea typeface="Arial" pitchFamily="34" charset="-122"/>
                <a:cs typeface="Arial" pitchFamily="34" charset="-120"/>
              </a:rPr>
              <a:t>24h</a:t>
            </a:r>
            <a:endParaRPr lang="en-US" sz="5400" dirty="0"/>
          </a:p>
        </p:txBody>
      </p:sp>
      <p:sp>
        <p:nvSpPr>
          <p:cNvPr id="8" name="Label1 placeholder"/>
          <p:cNvSpPr/>
          <p:nvPr>
            <p:ph idx="106" type="body" hasCustomPrompt="1"/>
          </p:nvPr>
        </p:nvSpPr>
        <p:spPr>
          <a:xfrm>
            <a:off x="548640" y="3429000"/>
            <a:ext cx="3291840" cy="1463040"/>
          </a:xfrm>
          <a:prstGeom prst="rect">
            <a:avLst/>
          </a:prstGeom>
          <a:noFill/>
          <a:ln/>
        </p:spPr>
        <p:txBody>
          <a:bodyPr wrap="square" lIns="0" tIns="0" rIns="0" bIns="0" rtlCol="0" anchor="t"/>
          <a:lstStyle>
            <a:lvl1pPr algn="l" indent="0" marL="0">
              <a:buNone/>
              <a:defRPr lang="en-US" sz="1500" dirty="0">
                <a:solidFill>
                  <a:schemeClr val="tx2"/>
                </a:solidFill>
                <a:latin typeface="Arial" pitchFamily="34" charset="0"/>
                <a:ea typeface="Arial" pitchFamily="34" charset="-122"/>
                <a:cs typeface="Arial" pitchFamily="34" charset="-120"/>
              </a:defRPr>
            </a:lvl1pPr>
          </a:lstStyle>
          <a:p>
            <a:pPr algn="l" indent="0" marL="0">
              <a:buNone/>
            </a:pPr>
            <a:r>
              <a:rPr lang="en-US" sz="1500" dirty="0">
                <a:solidFill>
                  <a:schemeClr val="tx2"/>
                </a:solidFill>
                <a:latin typeface="Arial" pitchFamily="34" charset="0"/>
                <a:ea typeface="Arial" pitchFamily="34" charset="-122"/>
                <a:cs typeface="Arial" pitchFamily="34" charset="-120"/>
              </a:rPr>
              <a:t>What the number means, and its source</a:t>
            </a:r>
            <a:endParaRPr lang="en-US" sz="1500" dirty="0"/>
          </a:p>
        </p:txBody>
      </p:sp>
      <p:sp>
        <p:nvSpPr>
          <p:cNvPr id="9" name="Shape 2"/>
          <p:cNvSpPr/>
          <p:nvPr/>
        </p:nvSpPr>
        <p:spPr>
          <a:xfrm>
            <a:off x="4306824" y="1965960"/>
            <a:ext cx="3575304" cy="0"/>
          </a:xfrm>
          <a:prstGeom prst="line">
            <a:avLst/>
          </a:prstGeom>
          <a:noFill/>
          <a:ln w="12700">
            <a:solidFill>
              <a:schemeClr val="accent6"/>
            </a:solidFill>
            <a:prstDash val="solid"/>
          </a:ln>
        </p:spPr>
      </p:sp>
      <p:sp>
        <p:nvSpPr>
          <p:cNvPr id="10" name="Number2 placeholder"/>
          <p:cNvSpPr/>
          <p:nvPr>
            <p:ph idx="108" type="body" hasCustomPrompt="1"/>
          </p:nvPr>
        </p:nvSpPr>
        <p:spPr>
          <a:xfrm>
            <a:off x="4306824" y="2194560"/>
            <a:ext cx="3575304" cy="1097280"/>
          </a:xfrm>
          <a:prstGeom prst="rect">
            <a:avLst/>
          </a:prstGeom>
          <a:noFill/>
          <a:ln/>
        </p:spPr>
        <p:txBody>
          <a:bodyPr wrap="square" lIns="0" tIns="0" rIns="0" bIns="0" rtlCol="0" anchor="t"/>
          <a:lstStyle>
            <a:lvl1pPr algn="l" indent="0" marL="0">
              <a:buNone/>
              <a:defRPr lang="en-US" sz="5400" b="1" dirty="0">
                <a:solidFill>
                  <a:schemeClr val="accent1"/>
                </a:solidFill>
                <a:latin typeface="Arial" pitchFamily="34" charset="0"/>
                <a:ea typeface="Arial" pitchFamily="34" charset="-122"/>
                <a:cs typeface="Arial" pitchFamily="34" charset="-120"/>
              </a:defRPr>
            </a:lvl1pPr>
          </a:lstStyle>
          <a:p>
            <a:pPr algn="l" indent="0" marL="0">
              <a:buNone/>
            </a:pPr>
            <a:r>
              <a:rPr lang="en-US" sz="5400" b="1" dirty="0">
                <a:solidFill>
                  <a:schemeClr val="accent1"/>
                </a:solidFill>
                <a:latin typeface="Arial" pitchFamily="34" charset="0"/>
                <a:ea typeface="Arial" pitchFamily="34" charset="-122"/>
                <a:cs typeface="Arial" pitchFamily="34" charset="-120"/>
              </a:rPr>
              <a:t>3</a:t>
            </a:r>
            <a:endParaRPr lang="en-US" sz="5400" dirty="0"/>
          </a:p>
        </p:txBody>
      </p:sp>
      <p:sp>
        <p:nvSpPr>
          <p:cNvPr id="11" name="Label2 placeholder"/>
          <p:cNvSpPr/>
          <p:nvPr>
            <p:ph idx="109" type="body" hasCustomPrompt="1"/>
          </p:nvPr>
        </p:nvSpPr>
        <p:spPr>
          <a:xfrm>
            <a:off x="4306824" y="3429000"/>
            <a:ext cx="3291840" cy="1463040"/>
          </a:xfrm>
          <a:prstGeom prst="rect">
            <a:avLst/>
          </a:prstGeom>
          <a:noFill/>
          <a:ln/>
        </p:spPr>
        <p:txBody>
          <a:bodyPr wrap="square" lIns="0" tIns="0" rIns="0" bIns="0" rtlCol="0" anchor="t"/>
          <a:lstStyle>
            <a:lvl1pPr algn="l" indent="0" marL="0">
              <a:buNone/>
              <a:defRPr lang="en-US" sz="1500" dirty="0">
                <a:solidFill>
                  <a:schemeClr val="tx2"/>
                </a:solidFill>
                <a:latin typeface="Arial" pitchFamily="34" charset="0"/>
                <a:ea typeface="Arial" pitchFamily="34" charset="-122"/>
                <a:cs typeface="Arial" pitchFamily="34" charset="-120"/>
              </a:defRPr>
            </a:lvl1pPr>
          </a:lstStyle>
          <a:p>
            <a:pPr algn="l" indent="0" marL="0">
              <a:buNone/>
            </a:pPr>
            <a:r>
              <a:rPr lang="en-US" sz="1500" dirty="0">
                <a:solidFill>
                  <a:schemeClr val="tx2"/>
                </a:solidFill>
                <a:latin typeface="Arial" pitchFamily="34" charset="0"/>
                <a:ea typeface="Arial" pitchFamily="34" charset="-122"/>
                <a:cs typeface="Arial" pitchFamily="34" charset="-120"/>
              </a:rPr>
              <a:t>What the number means, and its source</a:t>
            </a:r>
            <a:endParaRPr lang="en-US" sz="1500" dirty="0"/>
          </a:p>
        </p:txBody>
      </p:sp>
      <p:sp>
        <p:nvSpPr>
          <p:cNvPr id="12" name="Shape 3"/>
          <p:cNvSpPr/>
          <p:nvPr/>
        </p:nvSpPr>
        <p:spPr>
          <a:xfrm>
            <a:off x="8065008" y="1965960"/>
            <a:ext cx="3575304" cy="0"/>
          </a:xfrm>
          <a:prstGeom prst="line">
            <a:avLst/>
          </a:prstGeom>
          <a:noFill/>
          <a:ln w="12700">
            <a:solidFill>
              <a:schemeClr val="accent6"/>
            </a:solidFill>
            <a:prstDash val="solid"/>
          </a:ln>
        </p:spPr>
      </p:sp>
      <p:sp>
        <p:nvSpPr>
          <p:cNvPr id="13" name="Number3 placeholder"/>
          <p:cNvSpPr/>
          <p:nvPr>
            <p:ph idx="111" type="body" hasCustomPrompt="1"/>
          </p:nvPr>
        </p:nvSpPr>
        <p:spPr>
          <a:xfrm>
            <a:off x="8065008" y="2194560"/>
            <a:ext cx="3575304" cy="1097280"/>
          </a:xfrm>
          <a:prstGeom prst="rect">
            <a:avLst/>
          </a:prstGeom>
          <a:noFill/>
          <a:ln/>
        </p:spPr>
        <p:txBody>
          <a:bodyPr wrap="square" lIns="0" tIns="0" rIns="0" bIns="0" rtlCol="0" anchor="t"/>
          <a:lstStyle>
            <a:lvl1pPr algn="l" indent="0" marL="0">
              <a:buNone/>
              <a:defRPr lang="en-US" sz="5400" b="1" dirty="0">
                <a:solidFill>
                  <a:schemeClr val="accent1"/>
                </a:solidFill>
                <a:latin typeface="Arial" pitchFamily="34" charset="0"/>
                <a:ea typeface="Arial" pitchFamily="34" charset="-122"/>
                <a:cs typeface="Arial" pitchFamily="34" charset="-120"/>
              </a:defRPr>
            </a:lvl1pPr>
          </a:lstStyle>
          <a:p>
            <a:pPr algn="l" indent="0" marL="0">
              <a:buNone/>
            </a:pPr>
            <a:r>
              <a:rPr lang="en-US" sz="5400" b="1" dirty="0">
                <a:solidFill>
                  <a:schemeClr val="accent1"/>
                </a:solidFill>
                <a:latin typeface="Arial" pitchFamily="34" charset="0"/>
                <a:ea typeface="Arial" pitchFamily="34" charset="-122"/>
                <a:cs typeface="Arial" pitchFamily="34" charset="-120"/>
              </a:rPr>
              <a:t>100%</a:t>
            </a:r>
            <a:endParaRPr lang="en-US" sz="5400" dirty="0"/>
          </a:p>
        </p:txBody>
      </p:sp>
      <p:sp>
        <p:nvSpPr>
          <p:cNvPr id="14" name="Label3 placeholder"/>
          <p:cNvSpPr/>
          <p:nvPr>
            <p:ph idx="112" type="body" hasCustomPrompt="1"/>
          </p:nvPr>
        </p:nvSpPr>
        <p:spPr>
          <a:xfrm>
            <a:off x="8065008" y="3429000"/>
            <a:ext cx="3291840" cy="1463040"/>
          </a:xfrm>
          <a:prstGeom prst="rect">
            <a:avLst/>
          </a:prstGeom>
          <a:noFill/>
          <a:ln/>
        </p:spPr>
        <p:txBody>
          <a:bodyPr wrap="square" lIns="0" tIns="0" rIns="0" bIns="0" rtlCol="0" anchor="t"/>
          <a:lstStyle>
            <a:lvl1pPr algn="l" indent="0" marL="0">
              <a:buNone/>
              <a:defRPr lang="en-US" sz="1500" dirty="0">
                <a:solidFill>
                  <a:schemeClr val="tx2"/>
                </a:solidFill>
                <a:latin typeface="Arial" pitchFamily="34" charset="0"/>
                <a:ea typeface="Arial" pitchFamily="34" charset="-122"/>
                <a:cs typeface="Arial" pitchFamily="34" charset="-120"/>
              </a:defRPr>
            </a:lvl1pPr>
          </a:lstStyle>
          <a:p>
            <a:pPr algn="l" indent="0" marL="0">
              <a:buNone/>
            </a:pPr>
            <a:r>
              <a:rPr lang="en-US" sz="1500" dirty="0">
                <a:solidFill>
                  <a:schemeClr val="tx2"/>
                </a:solidFill>
                <a:latin typeface="Arial" pitchFamily="34" charset="0"/>
                <a:ea typeface="Arial" pitchFamily="34" charset="-122"/>
                <a:cs typeface="Arial" pitchFamily="34" charset="-120"/>
              </a:rPr>
              <a:t>What the number means, and its source</a:t>
            </a:r>
            <a:endParaRPr lang="en-US" sz="15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dark">
    <p:bg>
      <p:bgPr>
        <a:solidFill>
          <a:schemeClr val="tx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548640"/>
            <a:ext cx="8595360" cy="868680"/>
          </a:xfrm>
          <a:prstGeom prst="rect">
            <a:avLst/>
          </a:prstGeom>
          <a:noFill/>
          <a:ln/>
        </p:spPr>
        <p:txBody>
          <a:bodyPr wrap="square" lIns="0" tIns="0" rIns="0" bIns="0" rtlCol="0" anchor="t"/>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r>
              <a:rPr lang="en-US" sz="3200" b="1" dirty="0">
                <a:solidFill>
                  <a:schemeClr val="bg1"/>
                </a:solidFill>
                <a:latin typeface="Arial" pitchFamily="34" charset="0"/>
                <a:ea typeface="Arial" pitchFamily="34" charset="-122"/>
                <a:cs typeface="Arial" pitchFamily="34" charset="-120"/>
              </a:rPr>
              <a:t>Slide title</a:t>
            </a:r>
            <a:endParaRPr lang="en-US" sz="3200" dirty="0"/>
          </a:p>
        </p:txBody>
      </p:sp>
      <p:sp>
        <p:nvSpPr>
          <p:cNvPr id="3" name="Tag placeholder"/>
          <p:cNvSpPr/>
          <p:nvPr>
            <p:ph idx="101" type="body" hasCustomPrompt="1"/>
          </p:nvPr>
        </p:nvSpPr>
        <p:spPr>
          <a:xfrm>
            <a:off x="9326880" y="621792"/>
            <a:ext cx="2313432" cy="274320"/>
          </a:xfrm>
          <a:prstGeom prst="rect">
            <a:avLst/>
          </a:prstGeom>
          <a:noFill/>
          <a:ln/>
        </p:spPr>
        <p:txBody>
          <a:bodyPr wrap="square" lIns="0" tIns="0" rIns="0" bIns="0" rtlCol="0" anchor="t"/>
          <a:lstStyle>
            <a:lvl1pPr algn="r" indent="0" marL="0">
              <a:buNone/>
              <a:defRPr lang="en-US" sz="1000" b="1" spc="150" kern="0" dirty="0">
                <a:solidFill>
                  <a:schemeClr val="accent5"/>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5"/>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accent5"/>
                </a:solidFill>
                <a:latin typeface="Arial" pitchFamily="34" charset="0"/>
                <a:ea typeface="Arial" pitchFamily="34" charset="-122"/>
                <a:cs typeface="Arial" pitchFamily="34" charset="-120"/>
              </a:defRPr>
            </a:lvl1pPr>
          </a:lstStyle>
          <a:p>
            <a:pPr algn="l" indent="0" marL="0">
              <a:buNone/>
            </a:pPr>
            <a:r>
              <a:rPr lang="en-US" sz="1000" dirty="0">
                <a:solidFill>
                  <a:schemeClr val="accent5"/>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accent5"/>
                </a:solidFill>
              </a:rPr>
              <a:t>Checkout.com · Global Screening · Draft for Compliance sign-off</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5"/>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731520" y="1481328"/>
            <a:ext cx="146304" cy="146304"/>
          </a:xfrm>
          <a:prstGeom prst="ellipse">
            <a:avLst/>
          </a:prstGeom>
          <a:solidFill>
            <a:schemeClr val="accent2"/>
          </a:solidFill>
          <a:ln/>
        </p:spPr>
        <p:txBody>
          <a:bodyPr wrap="square" rtlCol="0" anchor="ctr"/>
          <a:lstStyle/>
          <a:p>
            <a:pPr indent="0" marL="0">
              <a:buNone/>
            </a:pPr>
            <a:endParaRPr lang="en-US" dirty="0"/>
          </a:p>
        </p:txBody>
      </p:sp>
      <p:sp>
        <p:nvSpPr>
          <p:cNvPr id="3" name="Statement placeholder"/>
          <p:cNvSpPr/>
          <p:nvPr>
            <p:ph idx="101" type="body" hasCustomPrompt="1"/>
          </p:nvPr>
        </p:nvSpPr>
        <p:spPr>
          <a:xfrm>
            <a:off x="731520" y="1828800"/>
            <a:ext cx="10241280" cy="2286000"/>
          </a:xfrm>
          <a:prstGeom prst="rect">
            <a:avLst/>
          </a:prstGeom>
          <a:noFill/>
          <a:ln/>
        </p:spPr>
        <p:txBody>
          <a:bodyPr wrap="square" lIns="0" tIns="0" rIns="0" bIns="0" rtlCol="0" anchor="t"/>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r>
              <a:rPr lang="en-US" sz="3600" b="1" dirty="0">
                <a:solidFill>
                  <a:schemeClr val="bg1"/>
                </a:solidFill>
                <a:latin typeface="Arial" pitchFamily="34" charset="0"/>
                <a:ea typeface="Arial" pitchFamily="34" charset="-122"/>
                <a:cs typeface="Arial" pitchFamily="34" charset="-120"/>
              </a:rPr>
              <a:t>One statement, in one or two lines</a:t>
            </a:r>
            <a:endParaRPr lang="en-US" sz="3600" dirty="0"/>
          </a:p>
        </p:txBody>
      </p:sp>
      <p:sp>
        <p:nvSpPr>
          <p:cNvPr id="4" name="Attribution placeholder"/>
          <p:cNvSpPr/>
          <p:nvPr>
            <p:ph idx="102" type="body" hasCustomPrompt="1"/>
          </p:nvPr>
        </p:nvSpPr>
        <p:spPr>
          <a:xfrm>
            <a:off x="731520" y="4297680"/>
            <a:ext cx="8229600" cy="457200"/>
          </a:xfrm>
          <a:prstGeom prst="rect">
            <a:avLst/>
          </a:prstGeom>
          <a:noFill/>
          <a:ln/>
        </p:spPr>
        <p:txBody>
          <a:bodyPr wrap="square" lIns="0" tIns="0" rIns="0" bIns="0" rtlCol="0" anchor="t"/>
          <a:lstStyle>
            <a:lvl1pPr algn="l" indent="0" marL="0">
              <a:buNone/>
              <a:defRPr lang="en-US" sz="1600" dirty="0">
                <a:solidFill>
                  <a:schemeClr val="accent5"/>
                </a:solidFill>
                <a:latin typeface="Arial" pitchFamily="34" charset="0"/>
                <a:ea typeface="Arial" pitchFamily="34" charset="-122"/>
                <a:cs typeface="Arial" pitchFamily="34" charset="-120"/>
              </a:defRPr>
            </a:lvl1pPr>
          </a:lstStyle>
          <a:p>
            <a:pPr algn="l" indent="0" marL="0">
              <a:buNone/>
            </a:pPr>
            <a:r>
              <a:rPr lang="en-US" sz="1600" dirty="0">
                <a:solidFill>
                  <a:schemeClr val="accent5"/>
                </a:solidFill>
                <a:latin typeface="Arial" pitchFamily="34" charset="0"/>
                <a:ea typeface="Arial" pitchFamily="34" charset="-122"/>
                <a:cs typeface="Arial" pitchFamily="34" charset="-120"/>
              </a:rPr>
              <a:t>Attribution or source</a:t>
            </a:r>
            <a:endParaRPr lang="en-US" sz="1600" dirty="0"/>
          </a:p>
        </p:txBody>
      </p:sp>
      <p:sp>
        <p:nvSpPr>
          <p:cNvPr id="5" name="Text 1"/>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accent5"/>
                </a:solidFill>
              </a:rPr>
              <a:t>Checkout.com · Global Screening · Draft for Compliance sign-off</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5"/>
                </a:solidFil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r>
              <a:rPr lang="en-US" sz="2800" b="1" dirty="0">
                <a:solidFill>
                  <a:schemeClr val="tx1"/>
                </a:solidFill>
                <a:latin typeface="Arial" pitchFamily="34" charset="0"/>
                <a:ea typeface="Arial" pitchFamily="34" charset="-122"/>
                <a:cs typeface="Arial" pitchFamily="34" charset="-120"/>
              </a:rPr>
              <a:t>Slide title: say the point, not the topic</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lvl1pPr algn="r" indent="0" marL="0">
              <a:buNone/>
              <a:defRPr lang="en-US" sz="1000" b="1" spc="150" kern="0" dirty="0">
                <a:solidFill>
                  <a:schemeClr val="accent1"/>
                </a:solidFill>
                <a:latin typeface="Arial" pitchFamily="34" charset="0"/>
                <a:ea typeface="Arial" pitchFamily="34" charset="-122"/>
                <a:cs typeface="Arial" pitchFamily="34" charset="-120"/>
              </a:defRPr>
            </a:lvl1pPr>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OR TOPIC</a:t>
            </a:r>
            <a:endParaRPr lang="en-US" sz="1000" dirty="0"/>
          </a:p>
        </p:txBody>
      </p:sp>
      <p:sp>
        <p:nvSpPr>
          <p:cNvPr id="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lvl1pPr algn="l" indent="0" marL="0">
              <a:buNone/>
              <a:defRPr lang="en-US" sz="1000" dirty="0">
                <a:solidFill>
                  <a:schemeClr val="tx2"/>
                </a:solidFill>
                <a:latin typeface="Arial" pitchFamily="34" charset="0"/>
                <a:ea typeface="Arial" pitchFamily="34" charset="-122"/>
                <a:cs typeface="Arial" pitchFamily="34" charset="-120"/>
              </a:defRPr>
            </a:lvl1pPr>
          </a:lstStyle>
          <a:p>
            <a:pPr algn="l" indent="0" marL="0">
              <a:buNone/>
            </a:pPr>
            <a:r>
              <a:rPr lang="en-US" sz="1000" dirty="0">
                <a:solidFill>
                  <a:schemeClr val="tx2"/>
                </a:solidFill>
                <a:latin typeface="Arial" pitchFamily="34" charset="0"/>
                <a:ea typeface="Arial" pitchFamily="34" charset="-122"/>
                <a:cs typeface="Arial" pitchFamily="34" charset="-120"/>
              </a:rPr>
              <a:t>Source: cite the legislation, guidance, policy section or list entry</a:t>
            </a:r>
            <a:endParaRPr lang="en-US" sz="1000" dirty="0"/>
          </a:p>
        </p:txBody>
      </p:sp>
      <p:sp>
        <p:nvSpPr>
          <p:cNvPr id="5" name="Text 0"/>
          <p:cNvSpPr/>
          <p:nvPr/>
        </p:nvSpPr>
        <p:spPr>
          <a:xfrm>
            <a:off x="5852160" y="6309360"/>
            <a:ext cx="5303520" cy="274320"/>
          </a:xfrm>
          <a:prstGeom prst="rect">
            <a:avLst/>
          </a:prstGeom>
          <a:noFill/>
          <a:ln/>
        </p:spPr>
        <p:txBody>
          <a:bodyPr wrap="square" lIns="0" tIns="0" rIns="0" bIns="0" rtlCol="0" anchor="ctr"/>
          <a:lstStyle/>
          <a:p>
            <a:pPr algn="r" indent="0" marL="0">
              <a:buNone/>
            </a:pPr>
            <a:r>
              <a:rPr lang="en-US" sz="1000" dirty="0">
                <a:solidFill>
                  <a:schemeClr val="tx2"/>
                </a:solidFill>
              </a:rPr>
              <a:t>Checkout.com · Global Screening · Draft for Compliance sign-off</a:t>
            </a:r>
            <a:endParaRPr lang="en-US" sz="1000" dirty="0"/>
          </a:p>
        </p:txBody>
      </p:sp>
      <p:sp>
        <p:nvSpPr>
          <p:cNvPr id="6" name="Picture placeholder"/>
          <p:cNvSpPr/>
          <p:nvPr>
            <p:ph idx="104" hasCustomPrompt="1"/>
          </p:nvPr>
        </p:nvSpPr>
        <p:spPr>
          <a:xfrm>
            <a:off x="548640" y="1600200"/>
            <a:ext cx="6858000" cy="4434840"/>
          </a:xfrm>
          <a:prstGeom prst="rect">
            <a:avLst/>
          </a:prstGeom>
          <a:noFill/>
          <a:ln/>
        </p:spPr>
        <p:txBody>
          <a:bodyPr wrap="square" lIns="0" tIns="0" rIns="0" bIns="0" rtlCol="0" anchor="t"/>
          <a:lstStyle>
            <a:lvl1pPr algn="l" indent="0" marL="0">
              <a:buNone/>
              <a:defRPr lang="en-US" dirty="0">
                <a:latin typeface="Arial" pitchFamily="34" charset="0"/>
                <a:ea typeface="Arial" pitchFamily="34" charset="-122"/>
                <a:cs typeface="Arial" pitchFamily="34" charset="-120"/>
              </a:defRPr>
            </a:lvl1pPr>
          </a:lstStyle>
          <a:p>
            <a:pPr algn="l" indent="0" marL="0">
              <a:buNone/>
            </a:pPr>
            <a:r>
              <a:rPr lang="en-US" dirty="0">
                <a:solidFill>
                  <a:srgbClr val="000000"/>
                </a:solidFill>
                <a:latin typeface="Arial" pitchFamily="34" charset="0"/>
                <a:ea typeface="Arial" pitchFamily="34" charset="-122"/>
                <a:cs typeface="Arial" pitchFamily="34" charset="-120"/>
              </a:rPr>
              <a:t>Insert a picture or screenshot</a:t>
            </a:r>
            <a:endParaRPr lang="en-US" dirty="0"/>
          </a:p>
        </p:txBody>
      </p:sp>
      <p:sp>
        <p:nvSpPr>
          <p:cNvPr id="7" name="CaptionHeading placeholder"/>
          <p:cNvSpPr/>
          <p:nvPr>
            <p:ph idx="105" type="body" hasCustomPrompt="1"/>
          </p:nvPr>
        </p:nvSpPr>
        <p:spPr>
          <a:xfrm>
            <a:off x="7818120" y="1600200"/>
            <a:ext cx="3822192" cy="777240"/>
          </a:xfrm>
          <a:prstGeom prst="rect">
            <a:avLst/>
          </a:prstGeom>
          <a:noFill/>
          <a:ln/>
        </p:spPr>
        <p:txBody>
          <a:bodyPr wrap="square" lIns="0" tIns="0" rIns="0" bIns="0" rtlCol="0" anchor="t"/>
          <a:lstStyle>
            <a:lvl1pPr algn="l" indent="0" marL="0">
              <a:buNone/>
              <a:defRPr lang="en-US" sz="1800" b="1" dirty="0">
                <a:solidFill>
                  <a:schemeClr val="tx1"/>
                </a:solidFill>
                <a:latin typeface="Arial" pitchFamily="34" charset="0"/>
                <a:ea typeface="Arial" pitchFamily="34" charset="-122"/>
                <a:cs typeface="Arial" pitchFamily="34" charset="-120"/>
              </a:defRPr>
            </a:lvl1pPr>
          </a:lstStyle>
          <a:p>
            <a:pPr algn="l" indent="0" marL="0">
              <a:buNone/>
            </a:pPr>
            <a:r>
              <a:rPr lang="en-US" sz="1800" b="1" dirty="0">
                <a:solidFill>
                  <a:schemeClr val="tx1"/>
                </a:solidFill>
                <a:latin typeface="Arial" pitchFamily="34" charset="0"/>
                <a:ea typeface="Arial" pitchFamily="34" charset="-122"/>
                <a:cs typeface="Arial" pitchFamily="34" charset="-120"/>
              </a:rPr>
              <a:t>Caption heading</a:t>
            </a:r>
            <a:endParaRPr lang="en-US" sz="1800" dirty="0"/>
          </a:p>
        </p:txBody>
      </p:sp>
      <p:sp>
        <p:nvSpPr>
          <p:cNvPr id="8" name="Caption placeholder"/>
          <p:cNvSpPr/>
          <p:nvPr>
            <p:ph idx="106" type="body" hasCustomPrompt="1"/>
          </p:nvPr>
        </p:nvSpPr>
        <p:spPr>
          <a:xfrm>
            <a:off x="7818120" y="2468880"/>
            <a:ext cx="3822192" cy="3566160"/>
          </a:xfrm>
          <a:prstGeom prst="rect">
            <a:avLst/>
          </a:prstGeom>
          <a:noFill/>
          <a:ln/>
        </p:spPr>
        <p:txBody>
          <a:bodyPr wrap="square" lIns="0" tIns="0" rIns="0" bIns="0" rtlCol="0" anchor="t"/>
          <a:lstStyle>
            <a:lvl1pPr algn="l" indent="0" marL="0">
              <a:buNone/>
              <a:defRPr lang="en-US" sz="1500" dirty="0">
                <a:solidFill>
                  <a:schemeClr val="tx2"/>
                </a:solidFill>
                <a:latin typeface="Arial" pitchFamily="34" charset="0"/>
                <a:ea typeface="Arial" pitchFamily="34" charset="-122"/>
                <a:cs typeface="Arial" pitchFamily="34" charset="-120"/>
              </a:defRPr>
            </a:lvl1pPr>
          </a:lstStyle>
          <a:p>
            <a:pPr algn="l" indent="0" marL="0">
              <a:buNone/>
            </a:pPr>
            <a:r>
              <a:rPr lang="en-US" sz="1500" dirty="0">
                <a:solidFill>
                  <a:schemeClr val="tx2"/>
                </a:solidFill>
                <a:latin typeface="Arial" pitchFamily="34" charset="0"/>
                <a:ea typeface="Arial" pitchFamily="34" charset="-122"/>
                <a:cs typeface="Arial" pitchFamily="34" charset="-120"/>
              </a:rPr>
              <a:t>What the audience should notice in the picture</a:t>
            </a:r>
            <a:endParaRPr lang="en-US" sz="15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itle placeholder"/>
          <p:cNvSpPr/>
          <p:nvPr>
            <p:ph idx="100" type="title" hasCustomPrompt="1"/>
          </p:nvPr>
        </p:nvSpPr>
        <p:spPr>
          <a:xfrm>
            <a:off x="731520" y="2011680"/>
            <a:ext cx="10058400" cy="1097280"/>
          </a:xfrm>
          <a:prstGeom prst="rect">
            <a:avLst/>
          </a:prstGeom>
          <a:noFill/>
          <a:ln/>
        </p:spPr>
        <p:txBody>
          <a:bodyPr wrap="square" lIns="0" tIns="0" rIns="0" bIns="0" rtlCol="0" anchor="t"/>
          <a:lstStyle>
            <a:lvl1pPr algn="l" indent="0" marL="0">
              <a:buNone/>
              <a:defRPr lang="en-US" sz="4600" b="1" dirty="0">
                <a:solidFill>
                  <a:schemeClr val="bg1"/>
                </a:solidFill>
                <a:latin typeface="Arial" pitchFamily="34" charset="0"/>
                <a:ea typeface="Arial" pitchFamily="34" charset="-122"/>
                <a:cs typeface="Arial" pitchFamily="34" charset="-120"/>
              </a:defRPr>
            </a:lvl1pPr>
          </a:lstStyle>
          <a:p>
            <a:pPr algn="l" indent="0" marL="0">
              <a:buNone/>
            </a:pPr>
            <a:r>
              <a:rPr lang="en-US" sz="4600" b="1" dirty="0">
                <a:solidFill>
                  <a:schemeClr val="bg1"/>
                </a:solidFill>
                <a:latin typeface="Arial" pitchFamily="34" charset="0"/>
                <a:ea typeface="Arial" pitchFamily="34" charset="-122"/>
                <a:cs typeface="Arial" pitchFamily="34" charset="-120"/>
              </a:rPr>
              <a:t>Questions</a:t>
            </a:r>
            <a:endParaRPr lang="en-US" sz="4600" dirty="0"/>
          </a:p>
        </p:txBody>
      </p:sp>
      <p:sp>
        <p:nvSpPr>
          <p:cNvPr id="3" name="Body placeholder"/>
          <p:cNvSpPr/>
          <p:nvPr>
            <p:ph idx="101" type="body" hasCustomPrompt="1"/>
          </p:nvPr>
        </p:nvSpPr>
        <p:spPr>
          <a:xfrm>
            <a:off x="731520" y="3291840"/>
            <a:ext cx="8778240" cy="1097280"/>
          </a:xfrm>
          <a:prstGeom prst="rect">
            <a:avLst/>
          </a:prstGeom>
          <a:noFill/>
          <a:ln/>
        </p:spPr>
        <p:txBody>
          <a:bodyPr wrap="square" lIns="0" tIns="0" rIns="0" bIns="0" rtlCol="0" anchor="t"/>
          <a:lstStyle>
            <a:lvl1pPr algn="l" indent="0" marL="0">
              <a:buNone/>
              <a:defRPr lang="en-US" sz="1800" dirty="0">
                <a:solidFill>
                  <a:schemeClr val="bg2"/>
                </a:solidFill>
                <a:latin typeface="Arial" pitchFamily="34" charset="0"/>
                <a:ea typeface="Arial" pitchFamily="34" charset="-122"/>
                <a:cs typeface="Arial" pitchFamily="34" charset="-120"/>
              </a:defRPr>
            </a:lvl1pPr>
          </a:lstStyle>
          <a:p>
            <a:pPr algn="l" indent="0" marL="0">
              <a:buNone/>
            </a:pPr>
            <a:r>
              <a:rPr lang="en-US" sz="1800" dirty="0">
                <a:solidFill>
                  <a:schemeClr val="bg2"/>
                </a:solidFill>
                <a:latin typeface="Arial" pitchFamily="34" charset="0"/>
                <a:ea typeface="Arial" pitchFamily="34" charset="-122"/>
                <a:cs typeface="Arial" pitchFamily="34" charset="-120"/>
              </a:rPr>
              <a:t>Contact details or next steps</a:t>
            </a:r>
            <a:endParaRPr lang="en-US" sz="1800" dirty="0"/>
          </a:p>
        </p:txBody>
      </p:sp>
      <p:sp>
        <p:nvSpPr>
          <p:cNvPr id="4" name="Shape 0"/>
          <p:cNvSpPr/>
          <p:nvPr/>
        </p:nvSpPr>
        <p:spPr>
          <a:xfrm>
            <a:off x="914400" y="5349240"/>
            <a:ext cx="4617720" cy="0"/>
          </a:xfrm>
          <a:prstGeom prst="line">
            <a:avLst/>
          </a:prstGeom>
          <a:noFill/>
          <a:ln w="38100">
            <a:solidFill>
              <a:schemeClr val="accent1"/>
            </a:solidFill>
            <a:prstDash val="solid"/>
          </a:ln>
        </p:spPr>
      </p:sp>
      <p:sp>
        <p:nvSpPr>
          <p:cNvPr id="5" name="Shape 1"/>
          <p:cNvSpPr/>
          <p:nvPr/>
        </p:nvSpPr>
        <p:spPr>
          <a:xfrm>
            <a:off x="5532120" y="5349240"/>
            <a:ext cx="5532120" cy="0"/>
          </a:xfrm>
          <a:prstGeom prst="line">
            <a:avLst/>
          </a:prstGeom>
          <a:noFill/>
          <a:ln w="25400">
            <a:solidFill>
              <a:schemeClr val="accent5"/>
            </a:solidFill>
            <a:prstDash val="dash"/>
          </a:ln>
        </p:spPr>
      </p:sp>
      <p:sp>
        <p:nvSpPr>
          <p:cNvPr id="6" name="Text 2"/>
          <p:cNvSpPr/>
          <p:nvPr/>
        </p:nvSpPr>
        <p:spPr>
          <a:xfrm>
            <a:off x="822960" y="5257800"/>
            <a:ext cx="182880" cy="182880"/>
          </a:xfrm>
          <a:prstGeom prst="ellipse">
            <a:avLst/>
          </a:prstGeom>
          <a:solidFill>
            <a:schemeClr val="accent1"/>
          </a:solidFill>
          <a:ln/>
        </p:spPr>
        <p:txBody>
          <a:bodyPr wrap="square" rtlCol="0" anchor="ctr"/>
          <a:lstStyle/>
          <a:p>
            <a:pPr indent="0" marL="0">
              <a:buNone/>
            </a:pPr>
            <a:endParaRPr lang="en-US" dirty="0"/>
          </a:p>
        </p:txBody>
      </p:sp>
      <p:sp>
        <p:nvSpPr>
          <p:cNvPr id="7" name="Text 3"/>
          <p:cNvSpPr/>
          <p:nvPr/>
        </p:nvSpPr>
        <p:spPr>
          <a:xfrm>
            <a:off x="3749040" y="5257800"/>
            <a:ext cx="182880" cy="182880"/>
          </a:xfrm>
          <a:prstGeom prst="ellipse">
            <a:avLst/>
          </a:prstGeom>
          <a:solidFill>
            <a:schemeClr val="accent1"/>
          </a:solidFill>
          <a:ln/>
        </p:spPr>
        <p:txBody>
          <a:bodyPr wrap="square" rtlCol="0" anchor="ctr"/>
          <a:lstStyle/>
          <a:p>
            <a:pPr indent="0" marL="0">
              <a:buNone/>
            </a:pPr>
            <a:endParaRPr lang="en-US" dirty="0"/>
          </a:p>
        </p:txBody>
      </p:sp>
      <p:sp>
        <p:nvSpPr>
          <p:cNvPr id="8" name="Text 4"/>
          <p:cNvSpPr/>
          <p:nvPr/>
        </p:nvSpPr>
        <p:spPr>
          <a:xfrm>
            <a:off x="7589520" y="5257800"/>
            <a:ext cx="182880" cy="182880"/>
          </a:xfrm>
          <a:prstGeom prst="ellipse">
            <a:avLst/>
          </a:prstGeom>
          <a:solidFill>
            <a:schemeClr val="accent5"/>
          </a:solidFill>
          <a:ln/>
        </p:spPr>
        <p:txBody>
          <a:bodyPr wrap="square" rtlCol="0" anchor="ctr"/>
          <a:lstStyle/>
          <a:p>
            <a:pPr indent="0" marL="0">
              <a:buNone/>
            </a:pPr>
            <a:endParaRPr lang="en-US" dirty="0"/>
          </a:p>
        </p:txBody>
      </p:sp>
      <p:sp>
        <p:nvSpPr>
          <p:cNvPr id="9" name="Text 5"/>
          <p:cNvSpPr/>
          <p:nvPr/>
        </p:nvSpPr>
        <p:spPr>
          <a:xfrm>
            <a:off x="10972800" y="5257800"/>
            <a:ext cx="182880" cy="182880"/>
          </a:xfrm>
          <a:prstGeom prst="ellipse">
            <a:avLst/>
          </a:prstGeom>
          <a:solidFill>
            <a:schemeClr val="accent5"/>
          </a:solidFill>
          <a:ln/>
        </p:spPr>
        <p:txBody>
          <a:bodyPr wrap="square" rtlCol="0" anchor="ctr"/>
          <a:lstStyle/>
          <a:p>
            <a:pPr indent="0" marL="0">
              <a:buNone/>
            </a:pPr>
            <a:endParaRPr lang="en-US" dirty="0"/>
          </a:p>
        </p:txBody>
      </p:sp>
      <p:sp>
        <p:nvSpPr>
          <p:cNvPr id="10" name="Text 6"/>
          <p:cNvSpPr/>
          <p:nvPr/>
        </p:nvSpPr>
        <p:spPr>
          <a:xfrm>
            <a:off x="5257800" y="5074920"/>
            <a:ext cx="548640" cy="548640"/>
          </a:xfrm>
          <a:prstGeom prst="ellipse">
            <a:avLst/>
          </a:prstGeom>
          <a:solidFill>
            <a:schemeClr val="accent2"/>
          </a:solidFill>
          <a:ln/>
        </p:spPr>
        <p:txBody>
          <a:bodyPr wrap="square" rtlCol="0" anchor="ctr"/>
          <a:lstStyle/>
          <a:p>
            <a:pPr indent="0" marL="0">
              <a:buNone/>
            </a:pPr>
            <a:endParaRPr lang="en-US" dirty="0"/>
          </a:p>
        </p:txBody>
      </p:sp>
      <p:pic>
        <p:nvPicPr>
          <p:cNvPr id="11" name="Image 0" descr="/home/user/Screening/templates/presentation/assets/check-shield.png">    </p:cNvPr>
          <p:cNvPicPr>
            <a:picLocks noChangeAspect="1"/>
          </p:cNvPicPr>
          <p:nvPr/>
        </p:nvPicPr>
        <p:blipFill>
          <a:blip r:embed="rId1"/>
          <a:stretch>
            <a:fillRect/>
          </a:stretch>
        </p:blipFill>
        <p:spPr>
          <a:xfrm>
            <a:off x="5394960" y="5212080"/>
            <a:ext cx="274320" cy="27432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914400" rtl="0" eaLnBrk="1" latinLnBrk="0" hangingPunct="1">
        <a:lnSpc>
          <a:spcPct val="95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Font typeface="Arial"/>
        <a:buChar char="•"/>
        <a:defRPr sz="180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600"/>
        </a:spcAft>
        <a:buFont typeface="Arial"/>
        <a:buChar char="–"/>
        <a:defRPr sz="1600" kern="1200">
          <a:solidFill>
            <a:schemeClr val="tx2"/>
          </a:solidFill>
          <a:latin typeface="+mn-lt"/>
          <a:ea typeface="+mn-ea"/>
          <a:cs typeface="+mn-cs"/>
        </a:defRPr>
      </a:lvl2pPr>
      <a:lvl3pPr marL="6858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3pPr>
      <a:lvl4pPr marL="9144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4pPr>
      <a:lvl5pPr marL="11430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5pPr>
      <a:lvl6pPr marL="13716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6pPr>
      <a:lvl7pPr marL="16002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7pPr>
      <a:lvl8pPr marL="18288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8pPr>
      <a:lvl9pPr marL="2057400" indent="-228600" algn="l" defTabSz="914400" rtl="0" eaLnBrk="1" latinLnBrk="0" hangingPunct="1">
        <a:lnSpc>
          <a:spcPct val="100000"/>
        </a:lnSpc>
        <a:spcBef>
          <a:spcPts val="0"/>
        </a:spcBef>
        <a:spcAft>
          <a:spcPts val="600"/>
        </a:spcAft>
        <a:buFont typeface="Arial"/>
        <a:buChar char="–"/>
        <a:defRPr sz="1400" kern="1200">
          <a:solidFill>
            <a:schemeClr val="tx2"/>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8.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8.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8.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8.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laceholder"/>
          <p:cNvSpPr/>
          <p:nvPr>
            <p:ph idx="100" type="body" hasCustomPrompt="1"/>
          </p:nvPr>
        </p:nvSpPr>
        <p:spPr>
          <a:xfrm>
            <a:off x="731520" y="1417320"/>
            <a:ext cx="8229600" cy="320040"/>
          </a:xfrm>
          <a:prstGeom prst="rect">
            <a:avLst/>
          </a:prstGeom>
          <a:noFill/>
          <a:ln/>
        </p:spPr>
        <p:txBody>
          <a:bodyPr wrap="square" lIns="0" tIns="0" rIns="0" bIns="0" rtlCol="0" anchor="t"/>
          <a:lstStyle/>
          <a:p>
            <a:pPr algn="l" indent="0" marL="0">
              <a:buNone/>
            </a:pPr>
            <a:r>
              <a:rPr lang="en-US" sz="1400" b="1" spc="300" kern="0" dirty="0">
                <a:solidFill>
                  <a:schemeClr val="accent5"/>
                </a:solidFill>
                <a:latin typeface="Arial" pitchFamily="34" charset="0"/>
                <a:ea typeface="Arial" pitchFamily="34" charset="-122"/>
                <a:cs typeface="Arial" pitchFamily="34" charset="-120"/>
              </a:rPr>
              <a:t>GLOBAL SCREENING · SANCTIONS CONTROLS</a:t>
            </a:r>
            <a:endParaRPr lang="en-US" sz="1400" dirty="0"/>
          </a:p>
        </p:txBody>
      </p:sp>
      <p:sp>
        <p:nvSpPr>
          <p:cNvPr id="3" name="Title placeholder"/>
          <p:cNvSpPr/>
          <p:nvPr>
            <p:ph idx="101" type="title" hasCustomPrompt="1"/>
          </p:nvPr>
        </p:nvSpPr>
        <p:spPr>
          <a:xfrm>
            <a:off x="731520" y="1828800"/>
            <a:ext cx="8778240" cy="1737360"/>
          </a:xfrm>
          <a:prstGeom prst="rect">
            <a:avLst/>
          </a:prstGeom>
          <a:noFill/>
          <a:ln/>
        </p:spPr>
        <p:txBody>
          <a:bodyPr wrap="square" lIns="0" tIns="0" rIns="0" bIns="0" rtlCol="0" anchor="t"/>
          <a:lstStyle/>
          <a:p>
            <a:pPr algn="l" indent="0" marL="0">
              <a:buNone/>
            </a:pPr>
            <a:r>
              <a:rPr lang="en-US" sz="4600" b="1" dirty="0">
                <a:solidFill>
                  <a:schemeClr val="bg1"/>
                </a:solidFill>
                <a:latin typeface="Arial" pitchFamily="34" charset="0"/>
                <a:ea typeface="Arial" pitchFamily="34" charset="-122"/>
                <a:cs typeface="Arial" pitchFamily="34" charset="-120"/>
              </a:rPr>
              <a:t>Stopping sanctioned banks at the point of payment</a:t>
            </a:r>
            <a:endParaRPr lang="en-US" sz="4600" dirty="0"/>
          </a:p>
        </p:txBody>
      </p:sp>
      <p:sp>
        <p:nvSpPr>
          <p:cNvPr id="4" name="Subtitle placeholder"/>
          <p:cNvSpPr/>
          <p:nvPr>
            <p:ph idx="102" type="body" hasCustomPrompt="1"/>
          </p:nvPr>
        </p:nvSpPr>
        <p:spPr>
          <a:xfrm>
            <a:off x="731520" y="3657600"/>
            <a:ext cx="8778240" cy="731520"/>
          </a:xfrm>
          <a:prstGeom prst="rect">
            <a:avLst/>
          </a:prstGeom>
          <a:noFill/>
          <a:ln/>
        </p:spPr>
        <p:txBody>
          <a:bodyPr wrap="square" lIns="0" tIns="0" rIns="0" bIns="0" rtlCol="0" anchor="t"/>
          <a:lstStyle/>
          <a:p>
            <a:pPr algn="l" indent="0" marL="0">
              <a:buNone/>
            </a:pPr>
            <a:r>
              <a:rPr lang="en-US" sz="2000" dirty="0">
                <a:solidFill>
                  <a:schemeClr val="bg2"/>
                </a:solidFill>
                <a:latin typeface="Arial" pitchFamily="34" charset="0"/>
                <a:ea typeface="Arial" pitchFamily="34" charset="-122"/>
                <a:cs typeface="Arial" pitchFamily="34" charset="-120"/>
              </a:rPr>
              <a:t>How our BIN blocking control works, from designation to declined payment</a:t>
            </a:r>
            <a:endParaRPr lang="en-US" sz="2000" dirty="0"/>
          </a:p>
        </p:txBody>
      </p:sp>
      <p:sp>
        <p:nvSpPr>
          <p:cNvPr id="5" name="Presenter placeholder"/>
          <p:cNvSpPr/>
          <p:nvPr>
            <p:ph idx="103" type="body" hasCustomPrompt="1"/>
          </p:nvPr>
        </p:nvSpPr>
        <p:spPr>
          <a:xfrm>
            <a:off x="731520" y="6080760"/>
            <a:ext cx="7315200" cy="320040"/>
          </a:xfrm>
          <a:prstGeom prst="rect">
            <a:avLst/>
          </a:prstGeom>
          <a:noFill/>
          <a:ln/>
        </p:spPr>
        <p:txBody>
          <a:bodyPr wrap="square" lIns="0" tIns="0" rIns="0" bIns="0" rtlCol="0" anchor="t"/>
          <a:lstStyle/>
          <a:p>
            <a:pPr algn="l" indent="0" marL="0">
              <a:buNone/>
            </a:pPr>
            <a:r>
              <a:rPr lang="en-US" sz="1200" dirty="0">
                <a:solidFill>
                  <a:schemeClr val="accent5"/>
                </a:solidFill>
                <a:latin typeface="Arial" pitchFamily="34" charset="0"/>
                <a:ea typeface="Arial" pitchFamily="34" charset="-122"/>
                <a:cs typeface="Arial" pitchFamily="34" charset="-120"/>
              </a:rPr>
              <a:t>Global Screening · Checkout.com</a:t>
            </a:r>
            <a:endParaRPr lang="en-US" sz="1200" dirty="0"/>
          </a:p>
        </p:txBody>
      </p:sp>
      <p:sp>
        <p:nvSpPr>
          <p:cNvPr id="6" name="Text 4"/>
          <p:cNvSpPr txBox="1"/>
          <p:nvPr/>
        </p:nvSpPr>
        <p:spPr>
          <a:xfrm>
            <a:off x="0" y="5550408"/>
            <a:ext cx="1828800" cy="274320"/>
          </a:xfrm>
          <a:prstGeom prst="rect">
            <a:avLst/>
          </a:prstGeom>
          <a:noFill/>
          <a:ln/>
        </p:spPr>
        <p:txBody>
          <a:bodyPr wrap="square" lIns="0" tIns="0" rIns="0" bIns="0" rtlCol="0" anchor="t"/>
          <a:lstStyle/>
          <a:p>
            <a:pPr algn="ctr" indent="0" marL="0">
              <a:buNone/>
            </a:pPr>
            <a:r>
              <a:rPr lang="en-US" sz="1200" dirty="0">
                <a:solidFill>
                  <a:schemeClr val="bg2"/>
                </a:solidFill>
              </a:rPr>
              <a:t>Merchant</a:t>
            </a:r>
            <a:endParaRPr lang="en-US" sz="1200" dirty="0"/>
          </a:p>
        </p:txBody>
      </p:sp>
      <p:sp>
        <p:nvSpPr>
          <p:cNvPr id="7" name="Text 5"/>
          <p:cNvSpPr txBox="1"/>
          <p:nvPr/>
        </p:nvSpPr>
        <p:spPr>
          <a:xfrm>
            <a:off x="2926080" y="5550408"/>
            <a:ext cx="1828800" cy="274320"/>
          </a:xfrm>
          <a:prstGeom prst="rect">
            <a:avLst/>
          </a:prstGeom>
          <a:noFill/>
          <a:ln/>
        </p:spPr>
        <p:txBody>
          <a:bodyPr wrap="square" lIns="0" tIns="0" rIns="0" bIns="0" rtlCol="0" anchor="t"/>
          <a:lstStyle/>
          <a:p>
            <a:pPr algn="ctr" indent="0" marL="0">
              <a:buNone/>
            </a:pPr>
            <a:r>
              <a:rPr lang="en-US" sz="1200" dirty="0">
                <a:solidFill>
                  <a:schemeClr val="bg2"/>
                </a:solidFill>
              </a:rPr>
              <a:t>Checkout.com</a:t>
            </a:r>
            <a:endParaRPr lang="en-US" sz="1200" dirty="0"/>
          </a:p>
        </p:txBody>
      </p:sp>
      <p:sp>
        <p:nvSpPr>
          <p:cNvPr id="8" name="Text 6"/>
          <p:cNvSpPr txBox="1"/>
          <p:nvPr/>
        </p:nvSpPr>
        <p:spPr>
          <a:xfrm>
            <a:off x="6766560" y="5550408"/>
            <a:ext cx="1828800" cy="274320"/>
          </a:xfrm>
          <a:prstGeom prst="rect">
            <a:avLst/>
          </a:prstGeom>
          <a:noFill/>
          <a:ln/>
        </p:spPr>
        <p:txBody>
          <a:bodyPr wrap="square" lIns="0" tIns="0" rIns="0" bIns="0" rtlCol="0" anchor="t"/>
          <a:lstStyle/>
          <a:p>
            <a:pPr algn="ctr" indent="0" marL="0">
              <a:buNone/>
            </a:pPr>
            <a:r>
              <a:rPr lang="en-US" sz="1200" dirty="0">
                <a:solidFill>
                  <a:schemeClr val="accent5"/>
                </a:solidFill>
              </a:rPr>
              <a:t>Card scheme</a:t>
            </a:r>
            <a:endParaRPr lang="en-US" sz="1200" dirty="0"/>
          </a:p>
        </p:txBody>
      </p:sp>
      <p:sp>
        <p:nvSpPr>
          <p:cNvPr id="9" name="Text 7"/>
          <p:cNvSpPr txBox="1"/>
          <p:nvPr/>
        </p:nvSpPr>
        <p:spPr>
          <a:xfrm>
            <a:off x="10149840" y="5550408"/>
            <a:ext cx="1828800" cy="274320"/>
          </a:xfrm>
          <a:prstGeom prst="rect">
            <a:avLst/>
          </a:prstGeom>
          <a:noFill/>
          <a:ln/>
        </p:spPr>
        <p:txBody>
          <a:bodyPr wrap="square" lIns="0" tIns="0" rIns="0" bIns="0" rtlCol="0" anchor="t"/>
          <a:lstStyle/>
          <a:p>
            <a:pPr algn="ctr" indent="0" marL="0">
              <a:buNone/>
            </a:pPr>
            <a:r>
              <a:rPr lang="en-US" sz="1200" dirty="0">
                <a:solidFill>
                  <a:schemeClr val="accent5"/>
                </a:solidFill>
              </a:rPr>
              <a:t>Sanctioned issuer</a:t>
            </a:r>
            <a:endParaRPr lang="en-US" sz="1200" dirty="0"/>
          </a:p>
        </p:txBody>
      </p:sp>
      <p:sp>
        <p:nvSpPr>
          <p:cNvPr id="10" name="Text 8"/>
          <p:cNvSpPr txBox="1"/>
          <p:nvPr/>
        </p:nvSpPr>
        <p:spPr>
          <a:xfrm>
            <a:off x="4617720" y="4663440"/>
            <a:ext cx="1828800" cy="274320"/>
          </a:xfrm>
          <a:prstGeom prst="rect">
            <a:avLst/>
          </a:prstGeom>
          <a:noFill/>
          <a:ln/>
        </p:spPr>
        <p:txBody>
          <a:bodyPr wrap="square" lIns="0" tIns="0" rIns="0" bIns="0" rtlCol="0" anchor="t"/>
          <a:lstStyle/>
          <a:p>
            <a:pPr algn="ctr" indent="0" marL="0">
              <a:buNone/>
            </a:pPr>
            <a:r>
              <a:rPr lang="en-US" sz="1200" b="1" dirty="0">
                <a:solidFill>
                  <a:srgbClr val="FFB4AC"/>
                </a:solidFill>
              </a:rPr>
              <a:t>Blocked here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pitchFamily="34" charset="0"/>
                <a:ea typeface="Arial" pitchFamily="34" charset="-122"/>
                <a:cs typeface="Arial" pitchFamily="34" charset="-120"/>
              </a:rPr>
              <a:t>We block sanctioned banks ourselves, inside our own payment flow</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WHY WE DO IT</a:t>
            </a:r>
            <a:endParaRPr lang="en-US" sz="1000" dirty="0"/>
          </a:p>
        </p:txBody>
      </p:sp>
      <p:sp>
        <p:nvSpPr>
          <p:cNvPr id="4" name="chain-0"/>
          <p:cNvSpPr/>
          <p:nvPr/>
        </p:nvSpPr>
        <p:spPr>
          <a:xfrm>
            <a:off x="548640" y="1874520"/>
            <a:ext cx="2057400" cy="960120"/>
          </a:xfrm>
          <a:prstGeom prst="roundRect">
            <a:avLst>
              <a:gd name="adj" fmla="val 9524"/>
            </a:avLst>
          </a:prstGeom>
          <a:solidFill>
            <a:schemeClr val="bg2"/>
          </a:solidFill>
          <a:ln/>
        </p:spPr>
      </p:sp>
      <p:pic>
        <p:nvPicPr>
          <p:cNvPr id="5" name="Image 0" descr="preencoded.png">    </p:cNvPr>
          <p:cNvPicPr>
            <a:picLocks noChangeAspect="1"/>
          </p:cNvPicPr>
          <p:nvPr/>
        </p:nvPicPr>
        <p:blipFill>
          <a:blip r:embed="rId1"/>
          <a:stretch>
            <a:fillRect/>
          </a:stretch>
        </p:blipFill>
        <p:spPr>
          <a:xfrm>
            <a:off x="713232" y="2057400"/>
            <a:ext cx="292608" cy="292608"/>
          </a:xfrm>
          <a:prstGeom prst="rect">
            <a:avLst/>
          </a:prstGeom>
        </p:spPr>
      </p:pic>
      <p:sp>
        <p:nvSpPr>
          <p:cNvPr id="6" name="Text 3"/>
          <p:cNvSpPr txBox="1"/>
          <p:nvPr/>
        </p:nvSpPr>
        <p:spPr>
          <a:xfrm>
            <a:off x="1115568" y="2011680"/>
            <a:ext cx="1399032" cy="411480"/>
          </a:xfrm>
          <a:prstGeom prst="rect">
            <a:avLst/>
          </a:prstGeom>
          <a:noFill/>
          <a:ln/>
        </p:spPr>
        <p:txBody>
          <a:bodyPr wrap="square" lIns="0" tIns="0" rIns="0" bIns="0" rtlCol="0" anchor="ctr"/>
          <a:lstStyle/>
          <a:p>
            <a:pPr indent="0" marL="0">
              <a:buNone/>
            </a:pPr>
            <a:r>
              <a:rPr lang="en-US" sz="1400" b="1" dirty="0">
                <a:solidFill>
                  <a:schemeClr val="tx1"/>
                </a:solidFill>
              </a:rPr>
              <a:t>Merchant</a:t>
            </a:r>
            <a:endParaRPr lang="en-US" sz="1400" dirty="0"/>
          </a:p>
        </p:txBody>
      </p:sp>
      <p:sp>
        <p:nvSpPr>
          <p:cNvPr id="7" name="Text 4"/>
          <p:cNvSpPr txBox="1"/>
          <p:nvPr/>
        </p:nvSpPr>
        <p:spPr>
          <a:xfrm>
            <a:off x="1115568" y="2423160"/>
            <a:ext cx="1399032" cy="347472"/>
          </a:xfrm>
          <a:prstGeom prst="rect">
            <a:avLst/>
          </a:prstGeom>
          <a:noFill/>
          <a:ln/>
        </p:spPr>
        <p:txBody>
          <a:bodyPr wrap="square" lIns="0" tIns="0" rIns="0" bIns="0" rtlCol="0" anchor="t"/>
          <a:lstStyle/>
          <a:p>
            <a:pPr indent="0" marL="0">
              <a:buNone/>
            </a:pPr>
            <a:r>
              <a:rPr lang="en-US" sz="1100" dirty="0">
                <a:solidFill>
                  <a:schemeClr val="tx2"/>
                </a:solidFill>
              </a:rPr>
              <a:t>Starts a card payment or payout</a:t>
            </a:r>
            <a:endParaRPr lang="en-US" sz="1100" dirty="0"/>
          </a:p>
        </p:txBody>
      </p:sp>
      <p:sp>
        <p:nvSpPr>
          <p:cNvPr id="8" name="chain-1"/>
          <p:cNvSpPr/>
          <p:nvPr/>
        </p:nvSpPr>
        <p:spPr>
          <a:xfrm>
            <a:off x="3557016" y="1874520"/>
            <a:ext cx="2057400" cy="960120"/>
          </a:xfrm>
          <a:prstGeom prst="roundRect">
            <a:avLst>
              <a:gd name="adj" fmla="val 9524"/>
            </a:avLst>
          </a:prstGeom>
          <a:solidFill>
            <a:schemeClr val="tx1"/>
          </a:solidFill>
          <a:ln/>
        </p:spPr>
      </p:sp>
      <p:pic>
        <p:nvPicPr>
          <p:cNvPr id="9" name="Image 1" descr="preencoded.png">    </p:cNvPr>
          <p:cNvPicPr>
            <a:picLocks noChangeAspect="1"/>
          </p:cNvPicPr>
          <p:nvPr/>
        </p:nvPicPr>
        <p:blipFill>
          <a:blip r:embed="rId2"/>
          <a:stretch>
            <a:fillRect/>
          </a:stretch>
        </p:blipFill>
        <p:spPr>
          <a:xfrm>
            <a:off x="3721608" y="2057400"/>
            <a:ext cx="292608" cy="292608"/>
          </a:xfrm>
          <a:prstGeom prst="rect">
            <a:avLst/>
          </a:prstGeom>
        </p:spPr>
      </p:pic>
      <p:sp>
        <p:nvSpPr>
          <p:cNvPr id="10" name="Text 6"/>
          <p:cNvSpPr txBox="1"/>
          <p:nvPr/>
        </p:nvSpPr>
        <p:spPr>
          <a:xfrm>
            <a:off x="4123944" y="2011680"/>
            <a:ext cx="1399032" cy="411480"/>
          </a:xfrm>
          <a:prstGeom prst="rect">
            <a:avLst/>
          </a:prstGeom>
          <a:noFill/>
          <a:ln/>
        </p:spPr>
        <p:txBody>
          <a:bodyPr wrap="square" lIns="0" tIns="0" rIns="0" bIns="0" rtlCol="0" anchor="ctr"/>
          <a:lstStyle/>
          <a:p>
            <a:pPr indent="0" marL="0">
              <a:buNone/>
            </a:pPr>
            <a:r>
              <a:rPr lang="en-US" sz="1400" b="1" dirty="0">
                <a:solidFill>
                  <a:schemeClr val="bg1"/>
                </a:solidFill>
              </a:rPr>
              <a:t>Checkout.com</a:t>
            </a:r>
            <a:endParaRPr lang="en-US" sz="1400" dirty="0"/>
          </a:p>
        </p:txBody>
      </p:sp>
      <p:sp>
        <p:nvSpPr>
          <p:cNvPr id="11" name="Text 7"/>
          <p:cNvSpPr txBox="1"/>
          <p:nvPr/>
        </p:nvSpPr>
        <p:spPr>
          <a:xfrm>
            <a:off x="4123944" y="2423160"/>
            <a:ext cx="1399032" cy="347472"/>
          </a:xfrm>
          <a:prstGeom prst="rect">
            <a:avLst/>
          </a:prstGeom>
          <a:noFill/>
          <a:ln/>
        </p:spPr>
        <p:txBody>
          <a:bodyPr wrap="square" lIns="0" tIns="0" rIns="0" bIns="0" rtlCol="0" anchor="t"/>
          <a:lstStyle/>
          <a:p>
            <a:pPr indent="0" marL="0">
              <a:buNone/>
            </a:pPr>
            <a:r>
              <a:rPr lang="en-US" sz="1100" dirty="0">
                <a:solidFill>
                  <a:schemeClr val="bg2"/>
                </a:solidFill>
              </a:rPr>
              <a:t>Processes it and earns the fee</a:t>
            </a:r>
            <a:endParaRPr lang="en-US" sz="1100" dirty="0"/>
          </a:p>
        </p:txBody>
      </p:sp>
      <p:sp>
        <p:nvSpPr>
          <p:cNvPr id="12" name="chain-2"/>
          <p:cNvSpPr/>
          <p:nvPr/>
        </p:nvSpPr>
        <p:spPr>
          <a:xfrm>
            <a:off x="6565392" y="1874520"/>
            <a:ext cx="2057400" cy="960120"/>
          </a:xfrm>
          <a:prstGeom prst="roundRect">
            <a:avLst>
              <a:gd name="adj" fmla="val 9524"/>
            </a:avLst>
          </a:prstGeom>
          <a:solidFill>
            <a:schemeClr val="bg2"/>
          </a:solidFill>
          <a:ln/>
        </p:spPr>
      </p:sp>
      <p:pic>
        <p:nvPicPr>
          <p:cNvPr id="13" name="Image 2" descr="preencoded.png">    </p:cNvPr>
          <p:cNvPicPr>
            <a:picLocks noChangeAspect="1"/>
          </p:cNvPicPr>
          <p:nvPr/>
        </p:nvPicPr>
        <p:blipFill>
          <a:blip r:embed="rId3"/>
          <a:stretch>
            <a:fillRect/>
          </a:stretch>
        </p:blipFill>
        <p:spPr>
          <a:xfrm>
            <a:off x="6729984" y="2057400"/>
            <a:ext cx="292608" cy="292608"/>
          </a:xfrm>
          <a:prstGeom prst="rect">
            <a:avLst/>
          </a:prstGeom>
        </p:spPr>
      </p:pic>
      <p:sp>
        <p:nvSpPr>
          <p:cNvPr id="14" name="Text 9"/>
          <p:cNvSpPr txBox="1"/>
          <p:nvPr/>
        </p:nvSpPr>
        <p:spPr>
          <a:xfrm>
            <a:off x="7132320" y="2011680"/>
            <a:ext cx="1399032" cy="411480"/>
          </a:xfrm>
          <a:prstGeom prst="rect">
            <a:avLst/>
          </a:prstGeom>
          <a:noFill/>
          <a:ln/>
        </p:spPr>
        <p:txBody>
          <a:bodyPr wrap="square" lIns="0" tIns="0" rIns="0" bIns="0" rtlCol="0" anchor="ctr"/>
          <a:lstStyle/>
          <a:p>
            <a:pPr indent="0" marL="0">
              <a:buNone/>
            </a:pPr>
            <a:r>
              <a:rPr lang="en-US" sz="1400" b="1" dirty="0">
                <a:solidFill>
                  <a:schemeClr val="tx1"/>
                </a:solidFill>
              </a:rPr>
              <a:t>Card scheme</a:t>
            </a:r>
            <a:endParaRPr lang="en-US" sz="1400" dirty="0"/>
          </a:p>
        </p:txBody>
      </p:sp>
      <p:sp>
        <p:nvSpPr>
          <p:cNvPr id="15" name="Text 10"/>
          <p:cNvSpPr txBox="1"/>
          <p:nvPr/>
        </p:nvSpPr>
        <p:spPr>
          <a:xfrm>
            <a:off x="7132320" y="2423160"/>
            <a:ext cx="1399032" cy="347472"/>
          </a:xfrm>
          <a:prstGeom prst="rect">
            <a:avLst/>
          </a:prstGeom>
          <a:noFill/>
          <a:ln/>
        </p:spPr>
        <p:txBody>
          <a:bodyPr wrap="square" lIns="0" tIns="0" rIns="0" bIns="0" rtlCol="0" anchor="t"/>
          <a:lstStyle/>
          <a:p>
            <a:pPr indent="0" marL="0">
              <a:buNone/>
            </a:pPr>
            <a:r>
              <a:rPr lang="en-US" sz="1100" dirty="0">
                <a:solidFill>
                  <a:schemeClr val="tx2"/>
                </a:solidFill>
              </a:rPr>
              <a:t>Routes it to the bank</a:t>
            </a:r>
            <a:endParaRPr lang="en-US" sz="1100" dirty="0"/>
          </a:p>
        </p:txBody>
      </p:sp>
      <p:sp>
        <p:nvSpPr>
          <p:cNvPr id="16" name="chain-3"/>
          <p:cNvSpPr/>
          <p:nvPr/>
        </p:nvSpPr>
        <p:spPr>
          <a:xfrm>
            <a:off x="9582912" y="1874520"/>
            <a:ext cx="2057400" cy="960120"/>
          </a:xfrm>
          <a:prstGeom prst="roundRect">
            <a:avLst>
              <a:gd name="adj" fmla="val 9524"/>
            </a:avLst>
          </a:prstGeom>
          <a:solidFill>
            <a:schemeClr val="accent2">
              <a:alpha val="8000"/>
            </a:schemeClr>
          </a:solidFill>
          <a:ln w="12700">
            <a:solidFill>
              <a:schemeClr val="accent2"/>
            </a:solidFill>
            <a:prstDash val="solid"/>
          </a:ln>
        </p:spPr>
      </p:sp>
      <p:pic>
        <p:nvPicPr>
          <p:cNvPr id="17" name="Image 3" descr="preencoded.png">    </p:cNvPr>
          <p:cNvPicPr>
            <a:picLocks noChangeAspect="1"/>
          </p:cNvPicPr>
          <p:nvPr/>
        </p:nvPicPr>
        <p:blipFill>
          <a:blip r:embed="rId4"/>
          <a:stretch>
            <a:fillRect/>
          </a:stretch>
        </p:blipFill>
        <p:spPr>
          <a:xfrm>
            <a:off x="9747504" y="2057400"/>
            <a:ext cx="292608" cy="292608"/>
          </a:xfrm>
          <a:prstGeom prst="rect">
            <a:avLst/>
          </a:prstGeom>
        </p:spPr>
      </p:pic>
      <p:sp>
        <p:nvSpPr>
          <p:cNvPr id="18" name="Text 12"/>
          <p:cNvSpPr txBox="1"/>
          <p:nvPr/>
        </p:nvSpPr>
        <p:spPr>
          <a:xfrm>
            <a:off x="10149840" y="2011680"/>
            <a:ext cx="1399032" cy="411480"/>
          </a:xfrm>
          <a:prstGeom prst="rect">
            <a:avLst/>
          </a:prstGeom>
          <a:noFill/>
          <a:ln/>
        </p:spPr>
        <p:txBody>
          <a:bodyPr wrap="square" lIns="0" tIns="0" rIns="0" bIns="0" rtlCol="0" anchor="ctr"/>
          <a:lstStyle/>
          <a:p>
            <a:pPr indent="0" marL="0">
              <a:buNone/>
            </a:pPr>
            <a:r>
              <a:rPr lang="en-US" sz="1400" b="1" dirty="0">
                <a:solidFill>
                  <a:schemeClr val="accent2"/>
                </a:solidFill>
              </a:rPr>
              <a:t>Issuing bank</a:t>
            </a:r>
            <a:endParaRPr lang="en-US" sz="1400" dirty="0"/>
          </a:p>
        </p:txBody>
      </p:sp>
      <p:sp>
        <p:nvSpPr>
          <p:cNvPr id="19" name="Text 13"/>
          <p:cNvSpPr txBox="1"/>
          <p:nvPr/>
        </p:nvSpPr>
        <p:spPr>
          <a:xfrm>
            <a:off x="10149840" y="2423160"/>
            <a:ext cx="1399032" cy="347472"/>
          </a:xfrm>
          <a:prstGeom prst="rect">
            <a:avLst/>
          </a:prstGeom>
          <a:noFill/>
          <a:ln/>
        </p:spPr>
        <p:txBody>
          <a:bodyPr wrap="square" lIns="0" tIns="0" rIns="0" bIns="0" rtlCol="0" anchor="t"/>
          <a:lstStyle/>
          <a:p>
            <a:pPr indent="0" marL="0">
              <a:buNone/>
            </a:pPr>
            <a:r>
              <a:rPr lang="en-US" sz="1100" dirty="0">
                <a:solidFill>
                  <a:schemeClr val="tx2"/>
                </a:solidFill>
              </a:rPr>
              <a:t>Could be sanctioned</a:t>
            </a:r>
            <a:endParaRPr lang="en-US" sz="1100" dirty="0"/>
          </a:p>
        </p:txBody>
      </p:sp>
      <p:sp>
        <p:nvSpPr>
          <p:cNvPr id="20" name="Shape 14"/>
          <p:cNvSpPr/>
          <p:nvPr/>
        </p:nvSpPr>
        <p:spPr>
          <a:xfrm>
            <a:off x="2642616" y="2354580"/>
            <a:ext cx="859536" cy="0"/>
          </a:xfrm>
          <a:prstGeom prst="line">
            <a:avLst/>
          </a:prstGeom>
          <a:noFill/>
          <a:ln w="22225">
            <a:solidFill>
              <a:schemeClr val="accent5"/>
            </a:solidFill>
            <a:prstDash val="solid"/>
            <a:tailEnd type="triangle"/>
          </a:ln>
        </p:spPr>
      </p:sp>
      <p:sp>
        <p:nvSpPr>
          <p:cNvPr id="21" name="Shape 15"/>
          <p:cNvSpPr/>
          <p:nvPr/>
        </p:nvSpPr>
        <p:spPr>
          <a:xfrm>
            <a:off x="5650992" y="2354580"/>
            <a:ext cx="859536" cy="0"/>
          </a:xfrm>
          <a:prstGeom prst="line">
            <a:avLst/>
          </a:prstGeom>
          <a:noFill/>
          <a:ln w="22225">
            <a:solidFill>
              <a:schemeClr val="accent5"/>
            </a:solidFill>
            <a:prstDash val="solid"/>
            <a:tailEnd type="triangle"/>
          </a:ln>
        </p:spPr>
      </p:sp>
      <p:sp>
        <p:nvSpPr>
          <p:cNvPr id="22" name="Shape 16"/>
          <p:cNvSpPr/>
          <p:nvPr/>
        </p:nvSpPr>
        <p:spPr>
          <a:xfrm>
            <a:off x="8659368" y="2354580"/>
            <a:ext cx="868680" cy="0"/>
          </a:xfrm>
          <a:prstGeom prst="line">
            <a:avLst/>
          </a:prstGeom>
          <a:noFill/>
          <a:ln w="22225">
            <a:solidFill>
              <a:schemeClr val="accent5"/>
            </a:solidFill>
            <a:prstDash val="dash"/>
            <a:tailEnd type="triangle"/>
          </a:ln>
        </p:spPr>
      </p:sp>
      <p:sp>
        <p:nvSpPr>
          <p:cNvPr id="23" name="Text 17"/>
          <p:cNvSpPr/>
          <p:nvPr/>
        </p:nvSpPr>
        <p:spPr>
          <a:xfrm>
            <a:off x="5852160" y="2116836"/>
            <a:ext cx="475488" cy="475488"/>
          </a:xfrm>
          <a:prstGeom prst="ellipse">
            <a:avLst/>
          </a:prstGeom>
          <a:solidFill>
            <a:schemeClr val="accent2"/>
          </a:solidFill>
          <a:ln/>
        </p:spPr>
        <p:txBody>
          <a:bodyPr wrap="square" lIns="0" tIns="0" rIns="0" bIns="0" rtlCol="0" anchor="ctr"/>
          <a:lstStyle/>
          <a:p>
            <a:pPr algn="ctr" indent="0" marL="0">
              <a:buNone/>
            </a:pPr>
            <a:endParaRPr lang="en-US" sz="1400" dirty="0"/>
          </a:p>
        </p:txBody>
      </p:sp>
      <p:pic>
        <p:nvPicPr>
          <p:cNvPr id="24" name="Image 4" descr="preencoded.png">    </p:cNvPr>
          <p:cNvPicPr>
            <a:picLocks noChangeAspect="1"/>
          </p:cNvPicPr>
          <p:nvPr/>
        </p:nvPicPr>
        <p:blipFill>
          <a:blip r:embed="rId5"/>
          <a:stretch>
            <a:fillRect/>
          </a:stretch>
        </p:blipFill>
        <p:spPr>
          <a:xfrm>
            <a:off x="5971032" y="2235708"/>
            <a:ext cx="237744" cy="237744"/>
          </a:xfrm>
          <a:prstGeom prst="rect">
            <a:avLst/>
          </a:prstGeom>
        </p:spPr>
      </p:pic>
      <p:sp>
        <p:nvSpPr>
          <p:cNvPr id="25" name="Text 18"/>
          <p:cNvSpPr txBox="1"/>
          <p:nvPr/>
        </p:nvSpPr>
        <p:spPr>
          <a:xfrm>
            <a:off x="4535424" y="3017520"/>
            <a:ext cx="3108960" cy="594360"/>
          </a:xfrm>
          <a:prstGeom prst="rect">
            <a:avLst/>
          </a:prstGeom>
          <a:noFill/>
          <a:ln/>
        </p:spPr>
        <p:txBody>
          <a:bodyPr wrap="square" lIns="0" tIns="0" rIns="0" bIns="0" rtlCol="0" anchor="t"/>
          <a:lstStyle/>
          <a:p>
            <a:pPr algn="ctr" indent="0" marL="0">
              <a:buNone/>
            </a:pPr>
            <a:r>
              <a:rPr lang="en-US" sz="1300" b="1" dirty="0">
                <a:solidFill>
                  <a:schemeClr val="accent2"/>
                </a:solidFill>
              </a:rPr>
              <a:t>The check runs here</a:t>
            </a:r>
            <a:endParaRPr lang="en-US" sz="1300" dirty="0"/>
          </a:p>
          <a:p>
            <a:pPr algn="ctr" indent="0" marL="0">
              <a:buNone/>
            </a:pPr>
            <a:r>
              <a:rPr lang="en-US" sz="1300" dirty="0">
                <a:solidFill>
                  <a:schemeClr val="tx1"/>
                </a:solidFill>
              </a:rPr>
              <a:t>after the issuer BIN is extracted, before anything reaches the scheme</a:t>
            </a:r>
            <a:endParaRPr lang="en-US" sz="1300" dirty="0"/>
          </a:p>
        </p:txBody>
      </p:sp>
      <p:sp>
        <p:nvSpPr>
          <p:cNvPr id="26" name="Text 19"/>
          <p:cNvSpPr txBox="1"/>
          <p:nvPr/>
        </p:nvSpPr>
        <p:spPr>
          <a:xfrm>
            <a:off x="6565392" y="1307592"/>
            <a:ext cx="5074920" cy="320040"/>
          </a:xfrm>
          <a:prstGeom prst="rect">
            <a:avLst/>
          </a:prstGeom>
          <a:noFill/>
          <a:ln/>
        </p:spPr>
        <p:txBody>
          <a:bodyPr wrap="square" lIns="0" tIns="0" rIns="0" bIns="0" rtlCol="0" anchor="t"/>
          <a:lstStyle/>
          <a:p>
            <a:pPr algn="ctr" indent="0" marL="0">
              <a:buNone/>
            </a:pPr>
            <a:r>
              <a:rPr lang="en-US" sz="1200" i="1" dirty="0">
                <a:solidFill>
                  <a:schemeClr val="tx2"/>
                </a:solidFill>
              </a:rPr>
              <a:t>We have no direct relationship with the issuing bank</a:t>
            </a:r>
            <a:endParaRPr lang="en-US" sz="1200" dirty="0"/>
          </a:p>
        </p:txBody>
      </p:sp>
      <p:sp>
        <p:nvSpPr>
          <p:cNvPr id="27" name="Shape 20"/>
          <p:cNvSpPr/>
          <p:nvPr/>
        </p:nvSpPr>
        <p:spPr>
          <a:xfrm>
            <a:off x="6565392" y="1673352"/>
            <a:ext cx="5074920" cy="0"/>
          </a:xfrm>
          <a:prstGeom prst="line">
            <a:avLst/>
          </a:prstGeom>
          <a:noFill/>
          <a:ln w="12700">
            <a:solidFill>
              <a:schemeClr val="accent6"/>
            </a:solidFill>
            <a:prstDash val="solid"/>
            <a:tailEnd type="none"/>
          </a:ln>
        </p:spPr>
      </p:sp>
      <p:sp>
        <p:nvSpPr>
          <p:cNvPr id="28" name="Text 21"/>
          <p:cNvSpPr txBox="1"/>
          <p:nvPr/>
        </p:nvSpPr>
        <p:spPr>
          <a:xfrm>
            <a:off x="548640" y="3840480"/>
            <a:ext cx="5486400" cy="274320"/>
          </a:xfrm>
          <a:prstGeom prst="rect">
            <a:avLst/>
          </a:prstGeom>
          <a:noFill/>
          <a:ln/>
        </p:spPr>
        <p:txBody>
          <a:bodyPr wrap="square" lIns="0" tIns="0" rIns="0" bIns="0" rtlCol="0" anchor="t"/>
          <a:lstStyle/>
          <a:p>
            <a:pPr indent="0" marL="0">
              <a:buNone/>
            </a:pPr>
            <a:r>
              <a:rPr lang="en-US" sz="1100" b="1" spc="200" kern="0" dirty="0">
                <a:solidFill>
                  <a:schemeClr val="tx2"/>
                </a:solidFill>
              </a:rPr>
              <a:t>WHAT WE ARE EXPOSED TO</a:t>
            </a:r>
            <a:endParaRPr lang="en-US" sz="1100" dirty="0"/>
          </a:p>
        </p:txBody>
      </p:sp>
      <p:sp>
        <p:nvSpPr>
          <p:cNvPr id="29" name="exposure-0"/>
          <p:cNvSpPr/>
          <p:nvPr/>
        </p:nvSpPr>
        <p:spPr>
          <a:xfrm>
            <a:off x="548640" y="4206240"/>
            <a:ext cx="3557016" cy="1737360"/>
          </a:xfrm>
          <a:prstGeom prst="roundRect">
            <a:avLst>
              <a:gd name="adj" fmla="val 5263"/>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30" name="Shape 23"/>
          <p:cNvSpPr/>
          <p:nvPr/>
        </p:nvSpPr>
        <p:spPr>
          <a:xfrm>
            <a:off x="822960" y="4462272"/>
            <a:ext cx="566928" cy="566928"/>
          </a:xfrm>
          <a:prstGeom prst="ellipse">
            <a:avLst/>
          </a:prstGeom>
          <a:solidFill>
            <a:schemeClr val="accent1">
              <a:alpha val="12000"/>
            </a:schemeClr>
          </a:solidFill>
          <a:ln/>
        </p:spPr>
      </p:sp>
      <p:pic>
        <p:nvPicPr>
          <p:cNvPr id="31" name="Image 5" descr="preencoded.png">    </p:cNvPr>
          <p:cNvPicPr>
            <a:picLocks noChangeAspect="1"/>
          </p:cNvPicPr>
          <p:nvPr/>
        </p:nvPicPr>
        <p:blipFill>
          <a:blip r:embed="rId6"/>
          <a:stretch>
            <a:fillRect/>
          </a:stretch>
        </p:blipFill>
        <p:spPr>
          <a:xfrm>
            <a:off x="964692" y="4604004"/>
            <a:ext cx="283464" cy="283464"/>
          </a:xfrm>
          <a:prstGeom prst="rect">
            <a:avLst/>
          </a:prstGeom>
        </p:spPr>
      </p:pic>
      <p:sp>
        <p:nvSpPr>
          <p:cNvPr id="32" name="Text 24"/>
          <p:cNvSpPr txBox="1"/>
          <p:nvPr/>
        </p:nvSpPr>
        <p:spPr>
          <a:xfrm>
            <a:off x="822960" y="5120640"/>
            <a:ext cx="3191256" cy="292608"/>
          </a:xfrm>
          <a:prstGeom prst="rect">
            <a:avLst/>
          </a:prstGeom>
          <a:noFill/>
          <a:ln/>
        </p:spPr>
        <p:txBody>
          <a:bodyPr wrap="square" lIns="0" tIns="0" rIns="0" bIns="0" rtlCol="0" anchor="t"/>
          <a:lstStyle/>
          <a:p>
            <a:pPr indent="0" marL="0">
              <a:buNone/>
            </a:pPr>
            <a:r>
              <a:rPr lang="en-US" sz="1400" b="1" dirty="0">
                <a:solidFill>
                  <a:schemeClr val="tx1"/>
                </a:solidFill>
              </a:rPr>
              <a:t>Payments from sanctioned issuers</a:t>
            </a:r>
            <a:endParaRPr lang="en-US" sz="1400" dirty="0"/>
          </a:p>
        </p:txBody>
      </p:sp>
      <p:sp>
        <p:nvSpPr>
          <p:cNvPr id="33" name="Text 25"/>
          <p:cNvSpPr txBox="1"/>
          <p:nvPr/>
        </p:nvSpPr>
        <p:spPr>
          <a:xfrm>
            <a:off x="822960" y="5449824"/>
            <a:ext cx="3008376" cy="411480"/>
          </a:xfrm>
          <a:prstGeom prst="rect">
            <a:avLst/>
          </a:prstGeom>
          <a:noFill/>
          <a:ln/>
        </p:spPr>
        <p:txBody>
          <a:bodyPr wrap="square" lIns="0" tIns="0" rIns="0" bIns="0" rtlCol="0" anchor="t"/>
          <a:lstStyle/>
          <a:p>
            <a:pPr indent="0" marL="0">
              <a:buNone/>
            </a:pPr>
            <a:r>
              <a:rPr lang="en-US" sz="1200" dirty="0">
                <a:solidFill>
                  <a:schemeClr val="tx2"/>
                </a:solidFill>
              </a:rPr>
              <a:t>Real-time, high-volume card traffic from any bank under sanctions</a:t>
            </a:r>
            <a:endParaRPr lang="en-US" sz="1200" dirty="0"/>
          </a:p>
        </p:txBody>
      </p:sp>
      <p:sp>
        <p:nvSpPr>
          <p:cNvPr id="34" name="exposure-1"/>
          <p:cNvSpPr/>
          <p:nvPr/>
        </p:nvSpPr>
        <p:spPr>
          <a:xfrm>
            <a:off x="4306824" y="4206240"/>
            <a:ext cx="3557016" cy="1737360"/>
          </a:xfrm>
          <a:prstGeom prst="roundRect">
            <a:avLst>
              <a:gd name="adj" fmla="val 5263"/>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35" name="Shape 27"/>
          <p:cNvSpPr/>
          <p:nvPr/>
        </p:nvSpPr>
        <p:spPr>
          <a:xfrm>
            <a:off x="4581144" y="4462272"/>
            <a:ext cx="566928" cy="566928"/>
          </a:xfrm>
          <a:prstGeom prst="ellipse">
            <a:avLst/>
          </a:prstGeom>
          <a:solidFill>
            <a:schemeClr val="accent1">
              <a:alpha val="12000"/>
            </a:schemeClr>
          </a:solidFill>
          <a:ln/>
        </p:spPr>
      </p:sp>
      <p:pic>
        <p:nvPicPr>
          <p:cNvPr id="36" name="Image 6" descr="preencoded.png">    </p:cNvPr>
          <p:cNvPicPr>
            <a:picLocks noChangeAspect="1"/>
          </p:cNvPicPr>
          <p:nvPr/>
        </p:nvPicPr>
        <p:blipFill>
          <a:blip r:embed="rId7"/>
          <a:stretch>
            <a:fillRect/>
          </a:stretch>
        </p:blipFill>
        <p:spPr>
          <a:xfrm>
            <a:off x="4722876" y="4604004"/>
            <a:ext cx="283464" cy="283464"/>
          </a:xfrm>
          <a:prstGeom prst="rect">
            <a:avLst/>
          </a:prstGeom>
        </p:spPr>
      </p:pic>
      <p:sp>
        <p:nvSpPr>
          <p:cNvPr id="37" name="Text 28"/>
          <p:cNvSpPr txBox="1"/>
          <p:nvPr/>
        </p:nvSpPr>
        <p:spPr>
          <a:xfrm>
            <a:off x="4581144" y="5120640"/>
            <a:ext cx="3191256" cy="292608"/>
          </a:xfrm>
          <a:prstGeom prst="rect">
            <a:avLst/>
          </a:prstGeom>
          <a:noFill/>
          <a:ln/>
        </p:spPr>
        <p:txBody>
          <a:bodyPr wrap="square" lIns="0" tIns="0" rIns="0" bIns="0" rtlCol="0" anchor="t"/>
          <a:lstStyle/>
          <a:p>
            <a:pPr indent="0" marL="0">
              <a:buNone/>
            </a:pPr>
            <a:r>
              <a:rPr lang="en-US" sz="1400" b="1" dirty="0">
                <a:solidFill>
                  <a:schemeClr val="tx1"/>
                </a:solidFill>
              </a:rPr>
              <a:t>Payouts to sanctioned issuers</a:t>
            </a:r>
            <a:endParaRPr lang="en-US" sz="1400" dirty="0"/>
          </a:p>
        </p:txBody>
      </p:sp>
      <p:sp>
        <p:nvSpPr>
          <p:cNvPr id="38" name="Text 29"/>
          <p:cNvSpPr txBox="1"/>
          <p:nvPr/>
        </p:nvSpPr>
        <p:spPr>
          <a:xfrm>
            <a:off x="4581144" y="5449824"/>
            <a:ext cx="3008376" cy="411480"/>
          </a:xfrm>
          <a:prstGeom prst="rect">
            <a:avLst/>
          </a:prstGeom>
          <a:noFill/>
          <a:ln/>
        </p:spPr>
        <p:txBody>
          <a:bodyPr wrap="square" lIns="0" tIns="0" rIns="0" bIns="0" rtlCol="0" anchor="t"/>
          <a:lstStyle/>
          <a:p>
            <a:pPr indent="0" marL="0">
              <a:buNone/>
            </a:pPr>
            <a:r>
              <a:rPr lang="en-US" sz="1200" dirty="0">
                <a:solidFill>
                  <a:schemeClr val="tx2"/>
                </a:solidFill>
              </a:rPr>
              <a:t>Card payouts and refunds that would credit a card issued by a sanctioned bank</a:t>
            </a:r>
            <a:endParaRPr lang="en-US" sz="1200" dirty="0"/>
          </a:p>
        </p:txBody>
      </p:sp>
      <p:sp>
        <p:nvSpPr>
          <p:cNvPr id="39" name="exposure-2"/>
          <p:cNvSpPr/>
          <p:nvPr/>
        </p:nvSpPr>
        <p:spPr>
          <a:xfrm>
            <a:off x="8065008" y="4206240"/>
            <a:ext cx="3557016" cy="1737360"/>
          </a:xfrm>
          <a:prstGeom prst="roundRect">
            <a:avLst>
              <a:gd name="adj" fmla="val 5263"/>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40" name="Shape 31"/>
          <p:cNvSpPr/>
          <p:nvPr/>
        </p:nvSpPr>
        <p:spPr>
          <a:xfrm>
            <a:off x="8339328" y="4462272"/>
            <a:ext cx="566928" cy="566928"/>
          </a:xfrm>
          <a:prstGeom prst="ellipse">
            <a:avLst/>
          </a:prstGeom>
          <a:solidFill>
            <a:schemeClr val="accent1">
              <a:alpha val="12000"/>
            </a:schemeClr>
          </a:solidFill>
          <a:ln/>
        </p:spPr>
      </p:sp>
      <p:pic>
        <p:nvPicPr>
          <p:cNvPr id="41" name="Image 7" descr="preencoded.png">    </p:cNvPr>
          <p:cNvPicPr>
            <a:picLocks noChangeAspect="1"/>
          </p:cNvPicPr>
          <p:nvPr/>
        </p:nvPicPr>
        <p:blipFill>
          <a:blip r:embed="rId8"/>
          <a:stretch>
            <a:fillRect/>
          </a:stretch>
        </p:blipFill>
        <p:spPr>
          <a:xfrm>
            <a:off x="8481060" y="4604004"/>
            <a:ext cx="283464" cy="283464"/>
          </a:xfrm>
          <a:prstGeom prst="rect">
            <a:avLst/>
          </a:prstGeom>
        </p:spPr>
      </p:pic>
      <p:sp>
        <p:nvSpPr>
          <p:cNvPr id="42" name="Text 32"/>
          <p:cNvSpPr txBox="1"/>
          <p:nvPr/>
        </p:nvSpPr>
        <p:spPr>
          <a:xfrm>
            <a:off x="8339328" y="5120640"/>
            <a:ext cx="3191256" cy="292608"/>
          </a:xfrm>
          <a:prstGeom prst="rect">
            <a:avLst/>
          </a:prstGeom>
          <a:noFill/>
          <a:ln/>
        </p:spPr>
        <p:txBody>
          <a:bodyPr wrap="square" lIns="0" tIns="0" rIns="0" bIns="0" rtlCol="0" anchor="t"/>
          <a:lstStyle/>
          <a:p>
            <a:pPr indent="0" marL="0">
              <a:buNone/>
            </a:pPr>
            <a:r>
              <a:rPr lang="en-US" sz="1400" b="1" dirty="0">
                <a:solidFill>
                  <a:schemeClr val="tx1"/>
                </a:solidFill>
              </a:rPr>
              <a:t>Routing we don't control</a:t>
            </a:r>
            <a:endParaRPr lang="en-US" sz="1400" dirty="0"/>
          </a:p>
        </p:txBody>
      </p:sp>
      <p:sp>
        <p:nvSpPr>
          <p:cNvPr id="43" name="Text 33"/>
          <p:cNvSpPr txBox="1"/>
          <p:nvPr/>
        </p:nvSpPr>
        <p:spPr>
          <a:xfrm>
            <a:off x="8339328" y="5449824"/>
            <a:ext cx="3008376" cy="411480"/>
          </a:xfrm>
          <a:prstGeom prst="rect">
            <a:avLst/>
          </a:prstGeom>
          <a:noFill/>
          <a:ln/>
        </p:spPr>
        <p:txBody>
          <a:bodyPr wrap="square" lIns="0" tIns="0" rIns="0" bIns="0" rtlCol="0" anchor="t"/>
          <a:lstStyle/>
          <a:p>
            <a:pPr indent="0" marL="0">
              <a:buNone/>
            </a:pPr>
            <a:r>
              <a:rPr lang="en-US" sz="1200" dirty="0">
                <a:solidFill>
                  <a:schemeClr val="tx2"/>
                </a:solidFill>
              </a:rPr>
              <a:t>Acquirers and intermediaries that may sit in sanctioned regions</a:t>
            </a:r>
            <a:endParaRPr lang="en-US" sz="1200" dirty="0"/>
          </a:p>
        </p:txBody>
      </p:sp>
      <p:sp>
        <p:nvSpPr>
          <p:cNvPr id="4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tx2"/>
                </a:solidFill>
                <a:latin typeface="Arial" pitchFamily="34" charset="0"/>
                <a:ea typeface="Arial" pitchFamily="34" charset="-122"/>
                <a:cs typeface="Arial" pitchFamily="34" charset="-120"/>
              </a:rPr>
              <a:t>Source: Blocking framework §3, §6.1, §7.2</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pitchFamily="34" charset="0"/>
                <a:ea typeface="Arial" pitchFamily="34" charset="-122"/>
                <a:cs typeface="Arial" pitchFamily="34" charset="-120"/>
              </a:rPr>
              <a:t>The block list is updated weekly, with an emergency route for major designations</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1 OF 3 · THE LIST</a:t>
            </a:r>
            <a:endParaRPr lang="en-US" sz="1000" dirty="0"/>
          </a:p>
        </p:txBody>
      </p:sp>
      <p:sp>
        <p:nvSpPr>
          <p:cNvPr id="4" name="phase-1"/>
          <p:cNvSpPr/>
          <p:nvPr/>
        </p:nvSpPr>
        <p:spPr>
          <a:xfrm>
            <a:off x="548640" y="1691640"/>
            <a:ext cx="2542032" cy="2377440"/>
          </a:xfrm>
          <a:prstGeom prst="roundRect">
            <a:avLst>
              <a:gd name="adj" fmla="val 3846"/>
            </a:avLst>
          </a:prstGeom>
          <a:solidFill>
            <a:schemeClr val="bg2"/>
          </a:solidFill>
          <a:ln/>
        </p:spPr>
      </p:sp>
      <p:sp>
        <p:nvSpPr>
          <p:cNvPr id="5" name="Text 3"/>
          <p:cNvSpPr/>
          <p:nvPr/>
        </p:nvSpPr>
        <p:spPr>
          <a:xfrm>
            <a:off x="777240" y="1920240"/>
            <a:ext cx="420624" cy="420624"/>
          </a:xfrm>
          <a:prstGeom prst="ellipse">
            <a:avLst/>
          </a:prstGeom>
          <a:solidFill>
            <a:schemeClr val="tx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25880" y="1874520"/>
            <a:ext cx="1627632" cy="512064"/>
          </a:xfrm>
          <a:prstGeom prst="rect">
            <a:avLst/>
          </a:prstGeom>
          <a:noFill/>
          <a:ln/>
        </p:spPr>
        <p:txBody>
          <a:bodyPr wrap="square" lIns="0" tIns="0" rIns="0" bIns="0" rtlCol="0" anchor="ctr"/>
          <a:lstStyle/>
          <a:p>
            <a:pPr indent="0" marL="0">
              <a:buNone/>
            </a:pPr>
            <a:r>
              <a:rPr lang="en-US" sz="1700" b="1" dirty="0">
                <a:solidFill>
                  <a:schemeClr val="tx1"/>
                </a:solidFill>
              </a:rPr>
              <a:t>Identify</a:t>
            </a:r>
            <a:endParaRPr lang="en-US" sz="1700" dirty="0"/>
          </a:p>
        </p:txBody>
      </p:sp>
      <p:sp>
        <p:nvSpPr>
          <p:cNvPr id="7" name="Text 5"/>
          <p:cNvSpPr txBox="1"/>
          <p:nvPr/>
        </p:nvSpPr>
        <p:spPr>
          <a:xfrm>
            <a:off x="777240" y="2560320"/>
            <a:ext cx="2130552"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A bank is designated under EU, UK (OFSI) or US (OFAC) sanctions</a:t>
            </a:r>
            <a:endParaRPr lang="en-US" sz="1300" dirty="0"/>
          </a:p>
          <a:p>
            <a:pPr marL="177800" indent="-177800">
              <a:spcAft>
                <a:spcPts val="800"/>
              </a:spcAft>
              <a:buSzPct val="100000"/>
              <a:buChar char="•"/>
            </a:pPr>
            <a:r>
              <a:rPr lang="en-US" sz="1300" dirty="0">
                <a:solidFill>
                  <a:schemeClr val="tx1"/>
                </a:solidFill>
              </a:rPr>
              <a:t>Sanctioned banks found in LexisNexis lists, including by ownership and control</a:t>
            </a:r>
            <a:endParaRPr lang="en-US" sz="1300" dirty="0"/>
          </a:p>
        </p:txBody>
      </p:sp>
      <p:sp>
        <p:nvSpPr>
          <p:cNvPr id="8" name="Shape 6"/>
          <p:cNvSpPr/>
          <p:nvPr/>
        </p:nvSpPr>
        <p:spPr>
          <a:xfrm>
            <a:off x="3127248" y="2880360"/>
            <a:ext cx="231343" cy="0"/>
          </a:xfrm>
          <a:prstGeom prst="line">
            <a:avLst/>
          </a:prstGeom>
          <a:noFill/>
          <a:ln w="25400">
            <a:solidFill>
              <a:schemeClr val="accent5"/>
            </a:solidFill>
            <a:prstDash val="solid"/>
            <a:tailEnd type="triangle"/>
          </a:ln>
        </p:spPr>
      </p:sp>
      <p:sp>
        <p:nvSpPr>
          <p:cNvPr id="9" name="phase-2"/>
          <p:cNvSpPr/>
          <p:nvPr/>
        </p:nvSpPr>
        <p:spPr>
          <a:xfrm>
            <a:off x="3395167" y="1691640"/>
            <a:ext cx="2542032" cy="2377440"/>
          </a:xfrm>
          <a:prstGeom prst="roundRect">
            <a:avLst>
              <a:gd name="adj" fmla="val 3846"/>
            </a:avLst>
          </a:prstGeom>
          <a:solidFill>
            <a:schemeClr val="bg2"/>
          </a:solidFill>
          <a:ln/>
        </p:spPr>
      </p:sp>
      <p:sp>
        <p:nvSpPr>
          <p:cNvPr id="10" name="Text 8"/>
          <p:cNvSpPr/>
          <p:nvPr/>
        </p:nvSpPr>
        <p:spPr>
          <a:xfrm>
            <a:off x="3623767" y="1920240"/>
            <a:ext cx="420624" cy="420624"/>
          </a:xfrm>
          <a:prstGeom prst="ellipse">
            <a:avLst/>
          </a:prstGeom>
          <a:solidFill>
            <a:schemeClr val="tx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4172407" y="1874520"/>
            <a:ext cx="1627632" cy="512064"/>
          </a:xfrm>
          <a:prstGeom prst="rect">
            <a:avLst/>
          </a:prstGeom>
          <a:noFill/>
          <a:ln/>
        </p:spPr>
        <p:txBody>
          <a:bodyPr wrap="square" lIns="0" tIns="0" rIns="0" bIns="0" rtlCol="0" anchor="ctr"/>
          <a:lstStyle/>
          <a:p>
            <a:pPr indent="0" marL="0">
              <a:buNone/>
            </a:pPr>
            <a:r>
              <a:rPr lang="en-US" sz="1700" b="1" dirty="0">
                <a:solidFill>
                  <a:schemeClr val="tx1"/>
                </a:solidFill>
              </a:rPr>
              <a:t>Map</a:t>
            </a:r>
            <a:endParaRPr lang="en-US" sz="1700" dirty="0"/>
          </a:p>
        </p:txBody>
      </p:sp>
      <p:sp>
        <p:nvSpPr>
          <p:cNvPr id="12" name="Text 10"/>
          <p:cNvSpPr txBox="1"/>
          <p:nvPr/>
        </p:nvSpPr>
        <p:spPr>
          <a:xfrm>
            <a:off x="3623767" y="2560320"/>
            <a:ext cx="2130552"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Classified as a global hard stop or a regional / sectoral block</a:t>
            </a:r>
            <a:endParaRPr lang="en-US" sz="1300" dirty="0"/>
          </a:p>
          <a:p>
            <a:pPr marL="177800" indent="-177800">
              <a:spcAft>
                <a:spcPts val="800"/>
              </a:spcAft>
              <a:buSzPct val="100000"/>
              <a:buChar char="•"/>
            </a:pPr>
            <a:r>
              <a:rPr lang="en-US" sz="1300" dirty="0">
                <a:solidFill>
                  <a:schemeClr val="tx1"/>
                </a:solidFill>
              </a:rPr>
              <a:t>6- and 8-digit BIN ranges generated via BINDB</a:t>
            </a:r>
            <a:endParaRPr lang="en-US" sz="1300" dirty="0"/>
          </a:p>
        </p:txBody>
      </p:sp>
      <p:sp>
        <p:nvSpPr>
          <p:cNvPr id="13" name="Shape 11"/>
          <p:cNvSpPr/>
          <p:nvPr/>
        </p:nvSpPr>
        <p:spPr>
          <a:xfrm>
            <a:off x="5973775" y="2880360"/>
            <a:ext cx="231343" cy="0"/>
          </a:xfrm>
          <a:prstGeom prst="line">
            <a:avLst/>
          </a:prstGeom>
          <a:noFill/>
          <a:ln w="25400">
            <a:solidFill>
              <a:schemeClr val="accent5"/>
            </a:solidFill>
            <a:prstDash val="solid"/>
            <a:tailEnd type="triangle"/>
          </a:ln>
        </p:spPr>
      </p:sp>
      <p:sp>
        <p:nvSpPr>
          <p:cNvPr id="14" name="phase-3"/>
          <p:cNvSpPr/>
          <p:nvPr/>
        </p:nvSpPr>
        <p:spPr>
          <a:xfrm>
            <a:off x="6241694" y="1691640"/>
            <a:ext cx="2542032" cy="2377440"/>
          </a:xfrm>
          <a:prstGeom prst="roundRect">
            <a:avLst>
              <a:gd name="adj" fmla="val 3846"/>
            </a:avLst>
          </a:prstGeom>
          <a:solidFill>
            <a:schemeClr val="accent4">
              <a:alpha val="12000"/>
            </a:schemeClr>
          </a:solidFill>
          <a:ln w="12700">
            <a:solidFill>
              <a:schemeClr val="accent4"/>
            </a:solidFill>
            <a:prstDash val="solid"/>
          </a:ln>
        </p:spPr>
      </p:sp>
      <p:sp>
        <p:nvSpPr>
          <p:cNvPr id="15" name="Text 13"/>
          <p:cNvSpPr/>
          <p:nvPr/>
        </p:nvSpPr>
        <p:spPr>
          <a:xfrm>
            <a:off x="6470294" y="1920240"/>
            <a:ext cx="420624" cy="420624"/>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7018934" y="1874520"/>
            <a:ext cx="1307592" cy="512064"/>
          </a:xfrm>
          <a:prstGeom prst="rect">
            <a:avLst/>
          </a:prstGeom>
          <a:noFill/>
          <a:ln/>
        </p:spPr>
        <p:txBody>
          <a:bodyPr wrap="square" lIns="0" tIns="0" rIns="0" bIns="0" rtlCol="0" anchor="ctr"/>
          <a:lstStyle/>
          <a:p>
            <a:pPr indent="0" marL="0">
              <a:buNone/>
            </a:pPr>
            <a:r>
              <a:rPr lang="en-US" sz="1700" b="1" dirty="0">
                <a:solidFill>
                  <a:schemeClr val="tx1"/>
                </a:solidFill>
              </a:rPr>
              <a:t>Validate &amp; approve</a:t>
            </a:r>
            <a:endParaRPr lang="en-US" sz="1700" dirty="0"/>
          </a:p>
        </p:txBody>
      </p:sp>
      <p:pic>
        <p:nvPicPr>
          <p:cNvPr id="17" name="Image 0" descr="preencoded.png">    </p:cNvPr>
          <p:cNvPicPr>
            <a:picLocks noChangeAspect="1"/>
          </p:cNvPicPr>
          <p:nvPr/>
        </p:nvPicPr>
        <p:blipFill>
          <a:blip r:embed="rId1"/>
          <a:stretch>
            <a:fillRect/>
          </a:stretch>
        </p:blipFill>
        <p:spPr>
          <a:xfrm>
            <a:off x="8344814" y="1993392"/>
            <a:ext cx="274320" cy="274320"/>
          </a:xfrm>
          <a:prstGeom prst="rect">
            <a:avLst/>
          </a:prstGeom>
        </p:spPr>
      </p:pic>
      <p:sp>
        <p:nvSpPr>
          <p:cNvPr id="18" name="Text 15"/>
          <p:cNvSpPr txBox="1"/>
          <p:nvPr/>
        </p:nvSpPr>
        <p:spPr>
          <a:xfrm>
            <a:off x="6470294" y="2560320"/>
            <a:ext cx="2130552"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Manual check so legitimate banks are not blocked</a:t>
            </a:r>
            <a:endParaRPr lang="en-US" sz="1300" dirty="0"/>
          </a:p>
          <a:p>
            <a:pPr marL="177800" indent="-177800">
              <a:spcAft>
                <a:spcPts val="800"/>
              </a:spcAft>
              <a:buSzPct val="100000"/>
              <a:buChar char="•"/>
            </a:pPr>
            <a:r>
              <a:rPr lang="en-US" sz="1300" dirty="0">
                <a:solidFill>
                  <a:schemeClr val="tx1"/>
                </a:solidFill>
              </a:rPr>
              <a:t>Sanctions Team (2LOD) gives the final approval</a:t>
            </a:r>
            <a:endParaRPr lang="en-US" sz="1300" dirty="0"/>
          </a:p>
        </p:txBody>
      </p:sp>
      <p:sp>
        <p:nvSpPr>
          <p:cNvPr id="19" name="Shape 16"/>
          <p:cNvSpPr/>
          <p:nvPr/>
        </p:nvSpPr>
        <p:spPr>
          <a:xfrm>
            <a:off x="8820302" y="2880360"/>
            <a:ext cx="231343" cy="0"/>
          </a:xfrm>
          <a:prstGeom prst="line">
            <a:avLst/>
          </a:prstGeom>
          <a:noFill/>
          <a:ln w="25400">
            <a:solidFill>
              <a:schemeClr val="accent5"/>
            </a:solidFill>
            <a:prstDash val="solid"/>
            <a:tailEnd type="triangle"/>
          </a:ln>
        </p:spPr>
      </p:sp>
      <p:sp>
        <p:nvSpPr>
          <p:cNvPr id="20" name="phase-4"/>
          <p:cNvSpPr/>
          <p:nvPr/>
        </p:nvSpPr>
        <p:spPr>
          <a:xfrm>
            <a:off x="9088222" y="1691640"/>
            <a:ext cx="2542032" cy="2377440"/>
          </a:xfrm>
          <a:prstGeom prst="roundRect">
            <a:avLst>
              <a:gd name="adj" fmla="val 3846"/>
            </a:avLst>
          </a:prstGeom>
          <a:solidFill>
            <a:schemeClr val="bg2"/>
          </a:solidFill>
          <a:ln/>
        </p:spPr>
      </p:sp>
      <p:sp>
        <p:nvSpPr>
          <p:cNvPr id="21" name="Text 18"/>
          <p:cNvSpPr/>
          <p:nvPr/>
        </p:nvSpPr>
        <p:spPr>
          <a:xfrm>
            <a:off x="9316822" y="1920240"/>
            <a:ext cx="420624" cy="420624"/>
          </a:xfrm>
          <a:prstGeom prst="ellipse">
            <a:avLst/>
          </a:prstGeom>
          <a:solidFill>
            <a:schemeClr val="tx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2" name="Text 19"/>
          <p:cNvSpPr txBox="1"/>
          <p:nvPr/>
        </p:nvSpPr>
        <p:spPr>
          <a:xfrm>
            <a:off x="9865462" y="1874520"/>
            <a:ext cx="1627632" cy="512064"/>
          </a:xfrm>
          <a:prstGeom prst="rect">
            <a:avLst/>
          </a:prstGeom>
          <a:noFill/>
          <a:ln/>
        </p:spPr>
        <p:txBody>
          <a:bodyPr wrap="square" lIns="0" tIns="0" rIns="0" bIns="0" rtlCol="0" anchor="ctr"/>
          <a:lstStyle/>
          <a:p>
            <a:pPr indent="0" marL="0">
              <a:buNone/>
            </a:pPr>
            <a:r>
              <a:rPr lang="en-US" sz="1700" b="1" dirty="0">
                <a:solidFill>
                  <a:schemeClr val="tx1"/>
                </a:solidFill>
              </a:rPr>
              <a:t>Deploy &amp; verify</a:t>
            </a:r>
            <a:endParaRPr lang="en-US" sz="1700" dirty="0"/>
          </a:p>
        </p:txBody>
      </p:sp>
      <p:sp>
        <p:nvSpPr>
          <p:cNvPr id="23" name="Text 20"/>
          <p:cNvSpPr txBox="1"/>
          <p:nvPr/>
        </p:nvSpPr>
        <p:spPr>
          <a:xfrm>
            <a:off x="9316822" y="2560320"/>
            <a:ext cx="2130552"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Controlled upload to fraud and payout systems</a:t>
            </a:r>
            <a:endParaRPr lang="en-US" sz="1300" dirty="0"/>
          </a:p>
          <a:p>
            <a:pPr marL="177800" indent="-177800">
              <a:spcAft>
                <a:spcPts val="800"/>
              </a:spcAft>
              <a:buSzPct val="100000"/>
              <a:buChar char="•"/>
            </a:pPr>
            <a:r>
              <a:rPr lang="en-US" sz="1300" dirty="0">
                <a:solidFill>
                  <a:schemeClr val="tx1"/>
                </a:solidFill>
              </a:rPr>
              <a:t>Post-deployment check that the block is live</a:t>
            </a:r>
            <a:endParaRPr lang="en-US" sz="1300" dirty="0"/>
          </a:p>
        </p:txBody>
      </p:sp>
      <p:sp>
        <p:nvSpPr>
          <p:cNvPr id="24" name="Shape 21"/>
          <p:cNvSpPr/>
          <p:nvPr/>
        </p:nvSpPr>
        <p:spPr>
          <a:xfrm>
            <a:off x="10359238" y="4069080"/>
            <a:ext cx="0" cy="365760"/>
          </a:xfrm>
          <a:prstGeom prst="line">
            <a:avLst/>
          </a:prstGeom>
          <a:noFill/>
          <a:ln w="19050">
            <a:solidFill>
              <a:schemeClr val="accent5"/>
            </a:solidFill>
            <a:prstDash val="dash"/>
            <a:tailEnd type="none"/>
          </a:ln>
        </p:spPr>
      </p:sp>
      <p:sp>
        <p:nvSpPr>
          <p:cNvPr id="25" name="Shape 22"/>
          <p:cNvSpPr/>
          <p:nvPr/>
        </p:nvSpPr>
        <p:spPr>
          <a:xfrm flipH="1">
            <a:off x="1819656" y="4434840"/>
            <a:ext cx="8539582" cy="0"/>
          </a:xfrm>
          <a:prstGeom prst="line">
            <a:avLst/>
          </a:prstGeom>
          <a:noFill/>
          <a:ln w="19050">
            <a:solidFill>
              <a:schemeClr val="accent5"/>
            </a:solidFill>
            <a:prstDash val="dash"/>
            <a:tailEnd type="none"/>
          </a:ln>
        </p:spPr>
      </p:sp>
      <p:sp>
        <p:nvSpPr>
          <p:cNvPr id="26" name="Shape 23"/>
          <p:cNvSpPr/>
          <p:nvPr/>
        </p:nvSpPr>
        <p:spPr>
          <a:xfrm flipV="1">
            <a:off x="1819656" y="4087368"/>
            <a:ext cx="0" cy="347472"/>
          </a:xfrm>
          <a:prstGeom prst="line">
            <a:avLst/>
          </a:prstGeom>
          <a:noFill/>
          <a:ln w="19050">
            <a:solidFill>
              <a:schemeClr val="accent5"/>
            </a:solidFill>
            <a:prstDash val="dash"/>
            <a:tailEnd type="triangle"/>
          </a:ln>
        </p:spPr>
      </p:sp>
      <p:sp>
        <p:nvSpPr>
          <p:cNvPr id="27" name="Shape 24"/>
          <p:cNvSpPr/>
          <p:nvPr/>
        </p:nvSpPr>
        <p:spPr>
          <a:xfrm>
            <a:off x="2103120" y="4261104"/>
            <a:ext cx="7955280" cy="347472"/>
          </a:xfrm>
          <a:prstGeom prst="roundRect">
            <a:avLst>
              <a:gd name="adj" fmla="val 44737"/>
            </a:avLst>
          </a:prstGeom>
          <a:solidFill>
            <a:schemeClr val="bg1"/>
          </a:solidFill>
          <a:ln w="12700">
            <a:solidFill>
              <a:schemeClr val="accent5"/>
            </a:solidFill>
            <a:prstDash val="dash"/>
          </a:ln>
        </p:spPr>
      </p:sp>
      <p:sp>
        <p:nvSpPr>
          <p:cNvPr id="28" name="Text 25"/>
          <p:cNvSpPr txBox="1"/>
          <p:nvPr/>
        </p:nvSpPr>
        <p:spPr>
          <a:xfrm>
            <a:off x="2194560" y="4261104"/>
            <a:ext cx="7772400" cy="347472"/>
          </a:xfrm>
          <a:prstGeom prst="rect">
            <a:avLst/>
          </a:prstGeom>
          <a:noFill/>
          <a:ln/>
        </p:spPr>
        <p:txBody>
          <a:bodyPr wrap="square" lIns="0" tIns="0" rIns="0" bIns="0" rtlCol="0" anchor="ctr"/>
          <a:lstStyle/>
          <a:p>
            <a:pPr algn="ctr" indent="0" marL="0">
              <a:buNone/>
            </a:pPr>
            <a:r>
              <a:rPr lang="en-US" sz="1200" b="1" dirty="0">
                <a:solidFill>
                  <a:schemeClr val="tx1"/>
                </a:solidFill>
              </a:rPr>
              <a:t>Every week  </a:t>
            </a:r>
            <a:pPr algn="ctr" indent="0" marL="0">
              <a:buNone/>
            </a:pPr>
            <a:r>
              <a:rPr lang="en-US" sz="1200" dirty="0">
                <a:solidFill>
                  <a:schemeClr val="tx2"/>
                </a:solidFill>
              </a:rPr>
              <a:t>the full cycle runs again, and the Register is reconciled fortnightly against industry lists</a:t>
            </a:r>
            <a:endParaRPr lang="en-US" sz="1200" dirty="0"/>
          </a:p>
        </p:txBody>
      </p:sp>
      <p:sp>
        <p:nvSpPr>
          <p:cNvPr id="29" name="Text 26"/>
          <p:cNvSpPr/>
          <p:nvPr/>
        </p:nvSpPr>
        <p:spPr>
          <a:xfrm>
            <a:off x="9316822" y="3657600"/>
            <a:ext cx="208483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Output: Sanctioned BIN List</a:t>
            </a:r>
            <a:endParaRPr lang="en-US" sz="1100" dirty="0"/>
          </a:p>
        </p:txBody>
      </p:sp>
      <p:sp>
        <p:nvSpPr>
          <p:cNvPr id="30" name="emergency"/>
          <p:cNvSpPr/>
          <p:nvPr/>
        </p:nvSpPr>
        <p:spPr>
          <a:xfrm>
            <a:off x="548640" y="4846320"/>
            <a:ext cx="11091672" cy="1097280"/>
          </a:xfrm>
          <a:prstGeom prst="roundRect">
            <a:avLst>
              <a:gd name="adj" fmla="val 8333"/>
            </a:avLst>
          </a:prstGeom>
          <a:solidFill>
            <a:schemeClr val="accent2">
              <a:alpha val="8000"/>
            </a:schemeClr>
          </a:solidFill>
          <a:ln w="12700">
            <a:solidFill>
              <a:schemeClr val="accent2"/>
            </a:solidFill>
            <a:prstDash val="solid"/>
          </a:ln>
        </p:spPr>
      </p:sp>
      <p:sp>
        <p:nvSpPr>
          <p:cNvPr id="31" name="Shape 28"/>
          <p:cNvSpPr/>
          <p:nvPr/>
        </p:nvSpPr>
        <p:spPr>
          <a:xfrm>
            <a:off x="822960" y="5093208"/>
            <a:ext cx="603504" cy="603504"/>
          </a:xfrm>
          <a:prstGeom prst="ellipse">
            <a:avLst/>
          </a:prstGeom>
          <a:solidFill>
            <a:schemeClr val="accent2">
              <a:alpha val="15000"/>
            </a:schemeClr>
          </a:solidFill>
          <a:ln/>
        </p:spPr>
      </p:sp>
      <p:pic>
        <p:nvPicPr>
          <p:cNvPr id="32" name="Image 1" descr="preencoded.png">    </p:cNvPr>
          <p:cNvPicPr>
            <a:picLocks noChangeAspect="1"/>
          </p:cNvPicPr>
          <p:nvPr/>
        </p:nvPicPr>
        <p:blipFill>
          <a:blip r:embed="rId2"/>
          <a:stretch>
            <a:fillRect/>
          </a:stretch>
        </p:blipFill>
        <p:spPr>
          <a:xfrm>
            <a:off x="973836" y="5244084"/>
            <a:ext cx="301752" cy="301752"/>
          </a:xfrm>
          <a:prstGeom prst="rect">
            <a:avLst/>
          </a:prstGeom>
        </p:spPr>
      </p:pic>
      <p:sp>
        <p:nvSpPr>
          <p:cNvPr id="33" name="Text 29"/>
          <p:cNvSpPr txBox="1"/>
          <p:nvPr/>
        </p:nvSpPr>
        <p:spPr>
          <a:xfrm>
            <a:off x="1645920" y="5029200"/>
            <a:ext cx="6858000" cy="365760"/>
          </a:xfrm>
          <a:prstGeom prst="rect">
            <a:avLst/>
          </a:prstGeom>
          <a:noFill/>
          <a:ln/>
        </p:spPr>
        <p:txBody>
          <a:bodyPr wrap="square" lIns="0" tIns="0" rIns="0" bIns="0" rtlCol="0" anchor="t"/>
          <a:lstStyle/>
          <a:p>
            <a:pPr indent="0" marL="0">
              <a:buNone/>
            </a:pPr>
            <a:r>
              <a:rPr lang="en-US" sz="1700" b="1" dirty="0">
                <a:solidFill>
                  <a:schemeClr val="accent2"/>
                </a:solidFill>
              </a:rPr>
              <a:t>Emergency route for a major designation</a:t>
            </a:r>
            <a:endParaRPr lang="en-US" sz="1700" dirty="0"/>
          </a:p>
        </p:txBody>
      </p:sp>
      <p:sp>
        <p:nvSpPr>
          <p:cNvPr id="34" name="Text 30"/>
          <p:cNvSpPr txBox="1"/>
          <p:nvPr/>
        </p:nvSpPr>
        <p:spPr>
          <a:xfrm>
            <a:off x="1645920" y="5394960"/>
            <a:ext cx="6949440" cy="457200"/>
          </a:xfrm>
          <a:prstGeom prst="rect">
            <a:avLst/>
          </a:prstGeom>
          <a:noFill/>
          <a:ln/>
        </p:spPr>
        <p:txBody>
          <a:bodyPr wrap="square" lIns="0" tIns="0" rIns="0" bIns="0" rtlCol="0" anchor="t"/>
          <a:lstStyle/>
          <a:p>
            <a:pPr indent="0" marL="0">
              <a:buNone/>
            </a:pPr>
            <a:r>
              <a:rPr lang="en-US" sz="1300" dirty="0">
                <a:solidFill>
                  <a:schemeClr val="tx1"/>
                </a:solidFill>
              </a:rPr>
              <a:t>Expedited approval, and a temporary block goes in before full BIN regeneration. Documentation and validation are completed afterwards.</a:t>
            </a:r>
            <a:endParaRPr lang="en-US" sz="1300" dirty="0"/>
          </a:p>
        </p:txBody>
      </p:sp>
      <p:sp>
        <p:nvSpPr>
          <p:cNvPr id="35" name="Text 31"/>
          <p:cNvSpPr txBox="1"/>
          <p:nvPr/>
        </p:nvSpPr>
        <p:spPr>
          <a:xfrm>
            <a:off x="8595360" y="4956048"/>
            <a:ext cx="2743200" cy="914400"/>
          </a:xfrm>
          <a:prstGeom prst="rect">
            <a:avLst/>
          </a:prstGeom>
          <a:noFill/>
          <a:ln/>
        </p:spPr>
        <p:txBody>
          <a:bodyPr wrap="square" lIns="0" tIns="0" rIns="0" bIns="0" rtlCol="0" anchor="t"/>
          <a:lstStyle/>
          <a:p>
            <a:pPr algn="r" indent="0" marL="0">
              <a:buNone/>
            </a:pPr>
            <a:r>
              <a:rPr lang="en-US" sz="3000" b="1" dirty="0">
                <a:solidFill>
                  <a:schemeClr val="accent2"/>
                </a:solidFill>
              </a:rPr>
              <a:t>2 hours</a:t>
            </a:r>
            <a:endParaRPr lang="en-US" sz="3000" dirty="0"/>
          </a:p>
          <a:p>
            <a:pPr algn="r" indent="0" marL="0">
              <a:buNone/>
            </a:pPr>
            <a:r>
              <a:rPr lang="en-US" sz="1100" dirty="0">
                <a:solidFill>
                  <a:schemeClr val="tx1"/>
                </a:solidFill>
              </a:rPr>
              <a:t>to update the Register</a:t>
            </a:r>
            <a:endParaRPr lang="en-US" sz="3000" dirty="0"/>
          </a:p>
          <a:p>
            <a:pPr algn="r" indent="0" marL="0">
              <a:buNone/>
            </a:pPr>
            <a:r>
              <a:rPr lang="en-US" sz="1100" dirty="0">
                <a:solidFill>
                  <a:schemeClr val="tx1"/>
                </a:solidFill>
              </a:rPr>
              <a:t>after a major designation</a:t>
            </a:r>
            <a:endParaRPr lang="en-US" sz="3000" dirty="0"/>
          </a:p>
        </p:txBody>
      </p:sp>
      <p:sp>
        <p:nvSpPr>
          <p:cNvPr id="36"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tx2"/>
                </a:solidFill>
                <a:latin typeface="Arial" pitchFamily="34" charset="0"/>
                <a:ea typeface="Arial" pitchFamily="34" charset="-122"/>
                <a:cs typeface="Arial" pitchFamily="34" charset="-120"/>
              </a:rPr>
              <a:t>Source: Blocking framework §6.2, §7.3, §7.4, §8.2, §9.1, §9.3, §10.1, §10.4</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pitchFamily="34" charset="0"/>
                <a:ea typeface="Arial" pitchFamily="34" charset="-122"/>
                <a:cs typeface="Arial" pitchFamily="34" charset="-120"/>
              </a:rPr>
              <a:t>Every card payment and payout is checked before it reaches the scheme</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2 OF 3 · PAYMENTS</a:t>
            </a:r>
            <a:endParaRPr lang="en-US" sz="1000" dirty="0"/>
          </a:p>
        </p:txBody>
      </p:sp>
      <p:sp>
        <p:nvSpPr>
          <p:cNvPr id="4" name="Text 2"/>
          <p:cNvSpPr/>
          <p:nvPr/>
        </p:nvSpPr>
        <p:spPr>
          <a:xfrm>
            <a:off x="548640" y="1463040"/>
            <a:ext cx="2514600" cy="475488"/>
          </a:xfrm>
          <a:prstGeom prst="homePlate">
            <a:avLst/>
          </a:prstGeom>
          <a:solidFill>
            <a:schemeClr val="bg2"/>
          </a:solidFill>
          <a:ln/>
        </p:spPr>
        <p:txBody>
          <a:bodyPr wrap="square" lIns="0" tIns="0" rIns="0" bIns="0" rtlCol="0" anchor="ctr"/>
          <a:lstStyle/>
          <a:p>
            <a:pPr algn="ctr" indent="0" marL="0">
              <a:buNone/>
            </a:pPr>
            <a:r>
              <a:rPr lang="en-US" sz="1400" dirty="0">
                <a:solidFill>
                  <a:schemeClr val="tx2"/>
                </a:solidFill>
              </a:rPr>
              <a:t>Issuer BIN extracted</a:t>
            </a:r>
            <a:endParaRPr lang="en-US" sz="1400" dirty="0"/>
          </a:p>
        </p:txBody>
      </p:sp>
      <p:sp>
        <p:nvSpPr>
          <p:cNvPr id="5" name="Text 3"/>
          <p:cNvSpPr/>
          <p:nvPr/>
        </p:nvSpPr>
        <p:spPr>
          <a:xfrm>
            <a:off x="3063240" y="1463040"/>
            <a:ext cx="2377440" cy="475488"/>
          </a:xfrm>
          <a:prstGeom prst="chevron">
            <a:avLst/>
          </a:prstGeom>
          <a:solidFill>
            <a:schemeClr val="accent2"/>
          </a:solidFill>
          <a:ln/>
        </p:spPr>
        <p:txBody>
          <a:bodyPr wrap="square" lIns="0" tIns="0" rIns="0" bIns="0" rtlCol="0" anchor="ctr"/>
          <a:lstStyle/>
          <a:p>
            <a:pPr algn="ctr" indent="0" marL="0">
              <a:buNone/>
            </a:pPr>
            <a:r>
              <a:rPr lang="en-US" sz="1400" b="1" dirty="0">
                <a:solidFill>
                  <a:schemeClr val="bg1"/>
                </a:solidFill>
              </a:rPr>
              <a:t>Sanctions check</a:t>
            </a:r>
            <a:endParaRPr lang="en-US" sz="1400" dirty="0"/>
          </a:p>
        </p:txBody>
      </p:sp>
      <p:sp>
        <p:nvSpPr>
          <p:cNvPr id="6" name="Text 4"/>
          <p:cNvSpPr/>
          <p:nvPr/>
        </p:nvSpPr>
        <p:spPr>
          <a:xfrm>
            <a:off x="5440680" y="1463040"/>
            <a:ext cx="3383280" cy="475488"/>
          </a:xfrm>
          <a:prstGeom prst="chevron">
            <a:avLst/>
          </a:prstGeom>
          <a:solidFill>
            <a:schemeClr val="bg2"/>
          </a:solidFill>
          <a:ln/>
        </p:spPr>
        <p:txBody>
          <a:bodyPr wrap="square" lIns="0" tIns="0" rIns="0" bIns="0" rtlCol="0" anchor="ctr"/>
          <a:lstStyle/>
          <a:p>
            <a:pPr algn="ctr" indent="0" marL="0">
              <a:buNone/>
            </a:pPr>
            <a:r>
              <a:rPr lang="en-US" sz="1400" dirty="0">
                <a:solidFill>
                  <a:schemeClr val="tx2"/>
                </a:solidFill>
              </a:rPr>
              <a:t>Authorisation request to scheme</a:t>
            </a:r>
            <a:endParaRPr lang="en-US" sz="1400" dirty="0"/>
          </a:p>
        </p:txBody>
      </p:sp>
      <p:sp>
        <p:nvSpPr>
          <p:cNvPr id="7" name="Text 5"/>
          <p:cNvSpPr/>
          <p:nvPr/>
        </p:nvSpPr>
        <p:spPr>
          <a:xfrm>
            <a:off x="8823960" y="1463040"/>
            <a:ext cx="2816352" cy="475488"/>
          </a:xfrm>
          <a:prstGeom prst="chevron">
            <a:avLst/>
          </a:prstGeom>
          <a:solidFill>
            <a:schemeClr val="bg2"/>
          </a:solidFill>
          <a:ln/>
        </p:spPr>
        <p:txBody>
          <a:bodyPr wrap="square" lIns="0" tIns="0" rIns="0" bIns="0" rtlCol="0" anchor="ctr"/>
          <a:lstStyle/>
          <a:p>
            <a:pPr algn="ctr" indent="0" marL="0">
              <a:buNone/>
            </a:pPr>
            <a:r>
              <a:rPr lang="en-US" sz="1400" dirty="0">
                <a:solidFill>
                  <a:schemeClr val="tx2"/>
                </a:solidFill>
              </a:rPr>
              <a:t>Clearing &amp; settlement</a:t>
            </a:r>
            <a:endParaRPr lang="en-US" sz="1400" dirty="0"/>
          </a:p>
        </p:txBody>
      </p:sp>
      <p:sp>
        <p:nvSpPr>
          <p:cNvPr id="8" name="Text 6"/>
          <p:cNvSpPr txBox="1"/>
          <p:nvPr/>
        </p:nvSpPr>
        <p:spPr>
          <a:xfrm>
            <a:off x="548640" y="2212848"/>
            <a:ext cx="2743200" cy="228600"/>
          </a:xfrm>
          <a:prstGeom prst="rect">
            <a:avLst/>
          </a:prstGeom>
          <a:noFill/>
          <a:ln/>
        </p:spPr>
        <p:txBody>
          <a:bodyPr wrap="square" lIns="0" tIns="0" rIns="0" bIns="0" rtlCol="0" anchor="t"/>
          <a:lstStyle/>
          <a:p>
            <a:pPr indent="0" marL="0">
              <a:buNone/>
            </a:pPr>
            <a:r>
              <a:rPr lang="en-US" sz="1000" b="1" spc="200" kern="0" dirty="0">
                <a:solidFill>
                  <a:schemeClr val="tx2"/>
                </a:solidFill>
              </a:rPr>
              <a:t>PAYMENT TYPE</a:t>
            </a:r>
            <a:endParaRPr lang="en-US" sz="1000" dirty="0"/>
          </a:p>
        </p:txBody>
      </p:sp>
      <p:sp>
        <p:nvSpPr>
          <p:cNvPr id="9" name="Text 7"/>
          <p:cNvSpPr txBox="1"/>
          <p:nvPr/>
        </p:nvSpPr>
        <p:spPr>
          <a:xfrm>
            <a:off x="3520440" y="2212848"/>
            <a:ext cx="2743200" cy="228600"/>
          </a:xfrm>
          <a:prstGeom prst="rect">
            <a:avLst/>
          </a:prstGeom>
          <a:noFill/>
          <a:ln/>
        </p:spPr>
        <p:txBody>
          <a:bodyPr wrap="square" lIns="0" tIns="0" rIns="0" bIns="0" rtlCol="0" anchor="t"/>
          <a:lstStyle/>
          <a:p>
            <a:pPr indent="0" marL="0">
              <a:buNone/>
            </a:pPr>
            <a:r>
              <a:rPr lang="en-US" sz="1000" b="1" spc="200" kern="0" dirty="0">
                <a:solidFill>
                  <a:schemeClr val="tx2"/>
                </a:solidFill>
              </a:rPr>
              <a:t>WHAT IS CHECKED, AND WHERE</a:t>
            </a:r>
            <a:endParaRPr lang="en-US" sz="1000" dirty="0"/>
          </a:p>
        </p:txBody>
      </p:sp>
      <p:sp>
        <p:nvSpPr>
          <p:cNvPr id="10" name="Text 8"/>
          <p:cNvSpPr txBox="1"/>
          <p:nvPr/>
        </p:nvSpPr>
        <p:spPr>
          <a:xfrm>
            <a:off x="8622792" y="2212848"/>
            <a:ext cx="2743200" cy="228600"/>
          </a:xfrm>
          <a:prstGeom prst="rect">
            <a:avLst/>
          </a:prstGeom>
          <a:noFill/>
          <a:ln/>
        </p:spPr>
        <p:txBody>
          <a:bodyPr wrap="square" lIns="0" tIns="0" rIns="0" bIns="0" rtlCol="0" anchor="t"/>
          <a:lstStyle/>
          <a:p>
            <a:pPr indent="0" marL="0">
              <a:buNone/>
            </a:pPr>
            <a:r>
              <a:rPr lang="en-US" sz="1000" b="1" spc="200" kern="0" dirty="0">
                <a:solidFill>
                  <a:schemeClr val="tx2"/>
                </a:solidFill>
              </a:rPr>
              <a:t>OUTCOME</a:t>
            </a:r>
            <a:endParaRPr lang="en-US" sz="1000" dirty="0"/>
          </a:p>
        </p:txBody>
      </p:sp>
      <p:sp>
        <p:nvSpPr>
          <p:cNvPr id="11" name="rail-0"/>
          <p:cNvSpPr/>
          <p:nvPr/>
        </p:nvSpPr>
        <p:spPr>
          <a:xfrm>
            <a:off x="548640" y="2514600"/>
            <a:ext cx="2697480" cy="1243584"/>
          </a:xfrm>
          <a:prstGeom prst="roundRect">
            <a:avLst>
              <a:gd name="adj" fmla="val 7353"/>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777240" y="2788920"/>
            <a:ext cx="347472" cy="347472"/>
          </a:xfrm>
          <a:prstGeom prst="rect">
            <a:avLst/>
          </a:prstGeom>
        </p:spPr>
      </p:pic>
      <p:sp>
        <p:nvSpPr>
          <p:cNvPr id="13" name="Text 10"/>
          <p:cNvSpPr txBox="1"/>
          <p:nvPr/>
        </p:nvSpPr>
        <p:spPr>
          <a:xfrm>
            <a:off x="1280160" y="2743200"/>
            <a:ext cx="1874520" cy="411480"/>
          </a:xfrm>
          <a:prstGeom prst="rect">
            <a:avLst/>
          </a:prstGeom>
          <a:noFill/>
          <a:ln/>
        </p:spPr>
        <p:txBody>
          <a:bodyPr wrap="square" lIns="0" tIns="0" rIns="0" bIns="0" rtlCol="0" anchor="ctr"/>
          <a:lstStyle/>
          <a:p>
            <a:pPr indent="0" marL="0">
              <a:buNone/>
            </a:pPr>
            <a:r>
              <a:rPr lang="en-US" sz="1900" b="1" dirty="0">
                <a:solidFill>
                  <a:schemeClr val="tx1"/>
                </a:solidFill>
              </a:rPr>
              <a:t>Card acquiring</a:t>
            </a:r>
            <a:endParaRPr lang="en-US" sz="1900" dirty="0"/>
          </a:p>
        </p:txBody>
      </p:sp>
      <p:sp>
        <p:nvSpPr>
          <p:cNvPr id="14" name="Text 11"/>
          <p:cNvSpPr txBox="1"/>
          <p:nvPr/>
        </p:nvSpPr>
        <p:spPr>
          <a:xfrm>
            <a:off x="777240" y="3246120"/>
            <a:ext cx="2331720" cy="457200"/>
          </a:xfrm>
          <a:prstGeom prst="rect">
            <a:avLst/>
          </a:prstGeom>
          <a:noFill/>
          <a:ln/>
        </p:spPr>
        <p:txBody>
          <a:bodyPr wrap="square" lIns="0" tIns="0" rIns="0" bIns="0" rtlCol="0" anchor="t"/>
          <a:lstStyle/>
          <a:p>
            <a:pPr indent="0" marL="0">
              <a:buNone/>
            </a:pPr>
            <a:r>
              <a:rPr lang="en-US" sz="1200" dirty="0">
                <a:solidFill>
                  <a:schemeClr val="tx2"/>
                </a:solidFill>
              </a:rPr>
              <a:t>Processing-In: merchant card payments</a:t>
            </a:r>
            <a:endParaRPr lang="en-US" sz="1200" dirty="0"/>
          </a:p>
        </p:txBody>
      </p:sp>
      <p:sp>
        <p:nvSpPr>
          <p:cNvPr id="15" name="Shape 12"/>
          <p:cNvSpPr/>
          <p:nvPr/>
        </p:nvSpPr>
        <p:spPr>
          <a:xfrm>
            <a:off x="3264408" y="3136392"/>
            <a:ext cx="237744" cy="0"/>
          </a:xfrm>
          <a:prstGeom prst="line">
            <a:avLst/>
          </a:prstGeom>
          <a:noFill/>
          <a:ln w="25400">
            <a:solidFill>
              <a:schemeClr val="accent5"/>
            </a:solidFill>
            <a:prstDash val="solid"/>
            <a:tailEnd type="triangle"/>
          </a:ln>
        </p:spPr>
      </p:sp>
      <p:sp>
        <p:nvSpPr>
          <p:cNvPr id="16" name="check-0"/>
          <p:cNvSpPr/>
          <p:nvPr/>
        </p:nvSpPr>
        <p:spPr>
          <a:xfrm>
            <a:off x="3520440" y="2514600"/>
            <a:ext cx="3383280" cy="1243584"/>
          </a:xfrm>
          <a:prstGeom prst="roundRect">
            <a:avLst>
              <a:gd name="adj" fmla="val 7353"/>
            </a:avLst>
          </a:prstGeom>
          <a:solidFill>
            <a:schemeClr val="bg1"/>
          </a:solidFill>
          <a:ln w="12700">
            <a:solidFill>
              <a:schemeClr val="accent6"/>
            </a:solidFill>
            <a:prstDash val="solid"/>
          </a:ln>
        </p:spPr>
      </p:sp>
      <p:sp>
        <p:nvSpPr>
          <p:cNvPr id="17" name="Text 14"/>
          <p:cNvSpPr txBox="1"/>
          <p:nvPr/>
        </p:nvSpPr>
        <p:spPr>
          <a:xfrm>
            <a:off x="3749040" y="2715768"/>
            <a:ext cx="3017520" cy="548640"/>
          </a:xfrm>
          <a:prstGeom prst="rect">
            <a:avLst/>
          </a:prstGeom>
          <a:noFill/>
          <a:ln/>
        </p:spPr>
        <p:txBody>
          <a:bodyPr wrap="square" lIns="0" tIns="0" rIns="0" bIns="0" rtlCol="0" anchor="ctr"/>
          <a:lstStyle/>
          <a:p>
            <a:pPr indent="0" marL="0">
              <a:buNone/>
            </a:pPr>
            <a:r>
              <a:rPr lang="en-US" sz="1700" b="1" dirty="0">
                <a:solidFill>
                  <a:schemeClr val="tx1"/>
                </a:solidFill>
              </a:rPr>
              <a:t>Issuer BIN vs the Sanctioned BIN List</a:t>
            </a:r>
            <a:endParaRPr lang="en-US" sz="1700" dirty="0"/>
          </a:p>
        </p:txBody>
      </p:sp>
      <p:sp>
        <p:nvSpPr>
          <p:cNvPr id="18" name="Text 15"/>
          <p:cNvSpPr txBox="1"/>
          <p:nvPr/>
        </p:nvSpPr>
        <p:spPr>
          <a:xfrm>
            <a:off x="3749040" y="3300984"/>
            <a:ext cx="3017520" cy="320040"/>
          </a:xfrm>
          <a:prstGeom prst="rect">
            <a:avLst/>
          </a:prstGeom>
          <a:noFill/>
          <a:ln/>
        </p:spPr>
        <p:txBody>
          <a:bodyPr wrap="square" lIns="0" tIns="0" rIns="0" bIns="0" rtlCol="0" anchor="t"/>
          <a:lstStyle/>
          <a:p>
            <a:pPr indent="0" marL="0">
              <a:buNone/>
            </a:pPr>
            <a:r>
              <a:rPr lang="en-US" sz="1200" dirty="0">
                <a:solidFill>
                  <a:schemeClr val="tx2"/>
                </a:solidFill>
              </a:rPr>
              <a:t>Fraud Detection solution, before authorisation</a:t>
            </a:r>
            <a:endParaRPr lang="en-US" sz="1200" dirty="0"/>
          </a:p>
        </p:txBody>
      </p:sp>
      <p:sp>
        <p:nvSpPr>
          <p:cNvPr id="19" name="Shape 16"/>
          <p:cNvSpPr/>
          <p:nvPr/>
        </p:nvSpPr>
        <p:spPr>
          <a:xfrm>
            <a:off x="6922008" y="3136392"/>
            <a:ext cx="310896" cy="0"/>
          </a:xfrm>
          <a:prstGeom prst="line">
            <a:avLst/>
          </a:prstGeom>
          <a:noFill/>
          <a:ln w="25400">
            <a:solidFill>
              <a:schemeClr val="accent5"/>
            </a:solidFill>
            <a:prstDash val="solid"/>
            <a:tailEnd type="triangle"/>
          </a:ln>
        </p:spPr>
      </p:sp>
      <p:sp>
        <p:nvSpPr>
          <p:cNvPr id="20" name="Text 17"/>
          <p:cNvSpPr/>
          <p:nvPr/>
        </p:nvSpPr>
        <p:spPr>
          <a:xfrm>
            <a:off x="7269480" y="2660904"/>
            <a:ext cx="1188720" cy="950976"/>
          </a:xfrm>
          <a:prstGeom prst="diamond">
            <a:avLst/>
          </a:prstGeom>
          <a:solidFill>
            <a:schemeClr val="bg1"/>
          </a:solidFill>
          <a:ln w="15875">
            <a:solidFill>
              <a:schemeClr val="accent5"/>
            </a:solidFill>
          </a:ln>
        </p:spPr>
        <p:txBody>
          <a:bodyPr wrap="square" lIns="0" tIns="0" rIns="0" bIns="0" rtlCol="0" anchor="ctr"/>
          <a:lstStyle/>
          <a:p>
            <a:pPr algn="ctr" indent="0" marL="0">
              <a:buNone/>
            </a:pPr>
            <a:r>
              <a:rPr lang="en-US" sz="1300" b="1" dirty="0">
                <a:solidFill>
                  <a:schemeClr val="tx1"/>
                </a:solidFill>
              </a:rPr>
              <a:t>Match?</a:t>
            </a:r>
            <a:endParaRPr lang="en-US" sz="1300" dirty="0"/>
          </a:p>
        </p:txBody>
      </p:sp>
      <p:sp>
        <p:nvSpPr>
          <p:cNvPr id="21" name="Shape 18"/>
          <p:cNvSpPr/>
          <p:nvPr/>
        </p:nvSpPr>
        <p:spPr>
          <a:xfrm>
            <a:off x="8458200" y="3136392"/>
            <a:ext cx="45720" cy="0"/>
          </a:xfrm>
          <a:prstGeom prst="line">
            <a:avLst/>
          </a:prstGeom>
          <a:noFill/>
          <a:ln w="19050">
            <a:solidFill>
              <a:schemeClr val="accent2"/>
            </a:solidFill>
            <a:prstDash val="solid"/>
            <a:tailEnd type="none"/>
          </a:ln>
        </p:spPr>
      </p:sp>
      <p:sp>
        <p:nvSpPr>
          <p:cNvPr id="22" name="Shape 19"/>
          <p:cNvSpPr/>
          <p:nvPr/>
        </p:nvSpPr>
        <p:spPr>
          <a:xfrm flipV="1">
            <a:off x="8503920" y="2788920"/>
            <a:ext cx="0" cy="347472"/>
          </a:xfrm>
          <a:prstGeom prst="line">
            <a:avLst/>
          </a:prstGeom>
          <a:noFill/>
          <a:ln w="19050">
            <a:solidFill>
              <a:schemeClr val="accent2"/>
            </a:solidFill>
            <a:prstDash val="solid"/>
            <a:tailEnd type="none"/>
          </a:ln>
        </p:spPr>
      </p:sp>
      <p:sp>
        <p:nvSpPr>
          <p:cNvPr id="23" name="Shape 20"/>
          <p:cNvSpPr/>
          <p:nvPr/>
        </p:nvSpPr>
        <p:spPr>
          <a:xfrm>
            <a:off x="8503920" y="2788920"/>
            <a:ext cx="100584" cy="0"/>
          </a:xfrm>
          <a:prstGeom prst="line">
            <a:avLst/>
          </a:prstGeom>
          <a:noFill/>
          <a:ln w="19050">
            <a:solidFill>
              <a:schemeClr val="accent2"/>
            </a:solidFill>
            <a:prstDash val="solid"/>
            <a:tailEnd type="triangle"/>
          </a:ln>
        </p:spPr>
      </p:sp>
      <p:sp>
        <p:nvSpPr>
          <p:cNvPr id="24" name="Shape 21"/>
          <p:cNvSpPr/>
          <p:nvPr/>
        </p:nvSpPr>
        <p:spPr>
          <a:xfrm>
            <a:off x="8503920" y="3136392"/>
            <a:ext cx="0" cy="347472"/>
          </a:xfrm>
          <a:prstGeom prst="line">
            <a:avLst/>
          </a:prstGeom>
          <a:noFill/>
          <a:ln w="19050">
            <a:solidFill>
              <a:schemeClr val="accent3"/>
            </a:solidFill>
            <a:prstDash val="solid"/>
            <a:tailEnd type="none"/>
          </a:ln>
        </p:spPr>
      </p:sp>
      <p:sp>
        <p:nvSpPr>
          <p:cNvPr id="25" name="Shape 22"/>
          <p:cNvSpPr/>
          <p:nvPr/>
        </p:nvSpPr>
        <p:spPr>
          <a:xfrm>
            <a:off x="8503920" y="3483864"/>
            <a:ext cx="100584" cy="0"/>
          </a:xfrm>
          <a:prstGeom prst="line">
            <a:avLst/>
          </a:prstGeom>
          <a:noFill/>
          <a:ln w="19050">
            <a:solidFill>
              <a:schemeClr val="accent3"/>
            </a:solidFill>
            <a:prstDash val="solid"/>
            <a:tailEnd type="triangle"/>
          </a:ln>
        </p:spPr>
      </p:sp>
      <p:sp>
        <p:nvSpPr>
          <p:cNvPr id="26" name="Shape 23"/>
          <p:cNvSpPr/>
          <p:nvPr/>
        </p:nvSpPr>
        <p:spPr>
          <a:xfrm>
            <a:off x="8622792" y="2514600"/>
            <a:ext cx="3017520" cy="548640"/>
          </a:xfrm>
          <a:prstGeom prst="roundRect">
            <a:avLst>
              <a:gd name="adj" fmla="val 13333"/>
            </a:avLst>
          </a:prstGeom>
          <a:solidFill>
            <a:schemeClr val="accent2">
              <a:alpha val="10000"/>
            </a:schemeClr>
          </a:solidFill>
          <a:ln/>
        </p:spPr>
      </p:sp>
      <p:sp>
        <p:nvSpPr>
          <p:cNvPr id="27" name="Text 24"/>
          <p:cNvSpPr/>
          <p:nvPr/>
        </p:nvSpPr>
        <p:spPr>
          <a:xfrm>
            <a:off x="8769096" y="2633472"/>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8" name="Text 25"/>
          <p:cNvSpPr txBox="1"/>
          <p:nvPr/>
        </p:nvSpPr>
        <p:spPr>
          <a:xfrm>
            <a:off x="9226296" y="2514600"/>
            <a:ext cx="2322576" cy="548640"/>
          </a:xfrm>
          <a:prstGeom prst="rect">
            <a:avLst/>
          </a:prstGeom>
          <a:noFill/>
          <a:ln/>
        </p:spPr>
        <p:txBody>
          <a:bodyPr wrap="square" lIns="0" tIns="0" rIns="0" bIns="0" rtlCol="0" anchor="ctr"/>
          <a:lstStyle/>
          <a:p>
            <a:pPr indent="0" marL="0">
              <a:buNone/>
            </a:pPr>
            <a:r>
              <a:rPr lang="en-US" sz="1600" b="1" dirty="0">
                <a:solidFill>
                  <a:schemeClr val="accent2"/>
                </a:solidFill>
              </a:rPr>
              <a:t>Declined automatically</a:t>
            </a:r>
            <a:endParaRPr lang="en-US" sz="1600" dirty="0"/>
          </a:p>
        </p:txBody>
      </p:sp>
      <p:sp>
        <p:nvSpPr>
          <p:cNvPr id="29" name="Shape 26"/>
          <p:cNvSpPr/>
          <p:nvPr/>
        </p:nvSpPr>
        <p:spPr>
          <a:xfrm>
            <a:off x="8622792" y="3209544"/>
            <a:ext cx="3017520" cy="548640"/>
          </a:xfrm>
          <a:prstGeom prst="roundRect">
            <a:avLst>
              <a:gd name="adj" fmla="val 13333"/>
            </a:avLst>
          </a:prstGeom>
          <a:solidFill>
            <a:schemeClr val="accent3">
              <a:alpha val="10000"/>
            </a:schemeClr>
          </a:solidFill>
          <a:ln/>
        </p:spPr>
      </p:sp>
      <p:sp>
        <p:nvSpPr>
          <p:cNvPr id="30" name="Text 27"/>
          <p:cNvSpPr/>
          <p:nvPr/>
        </p:nvSpPr>
        <p:spPr>
          <a:xfrm>
            <a:off x="8769096" y="3328416"/>
            <a:ext cx="310896" cy="310896"/>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1" name="Text 28"/>
          <p:cNvSpPr txBox="1"/>
          <p:nvPr/>
        </p:nvSpPr>
        <p:spPr>
          <a:xfrm>
            <a:off x="9226296" y="3209544"/>
            <a:ext cx="2322576" cy="548640"/>
          </a:xfrm>
          <a:prstGeom prst="rect">
            <a:avLst/>
          </a:prstGeom>
          <a:noFill/>
          <a:ln/>
        </p:spPr>
        <p:txBody>
          <a:bodyPr wrap="square" lIns="0" tIns="0" rIns="0" bIns="0" rtlCol="0" anchor="ctr"/>
          <a:lstStyle/>
          <a:p>
            <a:pPr indent="0" marL="0">
              <a:buNone/>
            </a:pPr>
            <a:r>
              <a:rPr lang="en-US" sz="1600" b="1" dirty="0">
                <a:solidFill>
                  <a:schemeClr val="accent3"/>
                </a:solidFill>
              </a:rPr>
              <a:t>Standard authorisation</a:t>
            </a:r>
            <a:endParaRPr lang="en-US" sz="1600" dirty="0"/>
          </a:p>
        </p:txBody>
      </p:sp>
      <p:sp>
        <p:nvSpPr>
          <p:cNvPr id="32" name="rail-1"/>
          <p:cNvSpPr/>
          <p:nvPr/>
        </p:nvSpPr>
        <p:spPr>
          <a:xfrm>
            <a:off x="548640" y="3986784"/>
            <a:ext cx="2697480" cy="1243584"/>
          </a:xfrm>
          <a:prstGeom prst="roundRect">
            <a:avLst>
              <a:gd name="adj" fmla="val 7353"/>
            </a:avLst>
          </a:prstGeom>
          <a:solidFill>
            <a:schemeClr val="bg2"/>
          </a:solidFill>
          <a:ln/>
        </p:spPr>
      </p:sp>
      <p:pic>
        <p:nvPicPr>
          <p:cNvPr id="33" name="Image 1" descr="preencoded.png">    </p:cNvPr>
          <p:cNvPicPr>
            <a:picLocks noChangeAspect="1"/>
          </p:cNvPicPr>
          <p:nvPr/>
        </p:nvPicPr>
        <p:blipFill>
          <a:blip r:embed="rId2"/>
          <a:stretch>
            <a:fillRect/>
          </a:stretch>
        </p:blipFill>
        <p:spPr>
          <a:xfrm>
            <a:off x="777240" y="4261104"/>
            <a:ext cx="347472" cy="347472"/>
          </a:xfrm>
          <a:prstGeom prst="rect">
            <a:avLst/>
          </a:prstGeom>
        </p:spPr>
      </p:pic>
      <p:sp>
        <p:nvSpPr>
          <p:cNvPr id="34" name="Text 30"/>
          <p:cNvSpPr txBox="1"/>
          <p:nvPr/>
        </p:nvSpPr>
        <p:spPr>
          <a:xfrm>
            <a:off x="1280160" y="4215384"/>
            <a:ext cx="1874520" cy="411480"/>
          </a:xfrm>
          <a:prstGeom prst="rect">
            <a:avLst/>
          </a:prstGeom>
          <a:noFill/>
          <a:ln/>
        </p:spPr>
        <p:txBody>
          <a:bodyPr wrap="square" lIns="0" tIns="0" rIns="0" bIns="0" rtlCol="0" anchor="ctr"/>
          <a:lstStyle/>
          <a:p>
            <a:pPr indent="0" marL="0">
              <a:buNone/>
            </a:pPr>
            <a:r>
              <a:rPr lang="en-US" sz="1900" b="1" dirty="0">
                <a:solidFill>
                  <a:schemeClr val="tx1"/>
                </a:solidFill>
              </a:rPr>
              <a:t>Payout to card</a:t>
            </a:r>
            <a:endParaRPr lang="en-US" sz="1900" dirty="0"/>
          </a:p>
        </p:txBody>
      </p:sp>
      <p:sp>
        <p:nvSpPr>
          <p:cNvPr id="35" name="Text 31"/>
          <p:cNvSpPr txBox="1"/>
          <p:nvPr/>
        </p:nvSpPr>
        <p:spPr>
          <a:xfrm>
            <a:off x="777240" y="4718304"/>
            <a:ext cx="2331720" cy="457200"/>
          </a:xfrm>
          <a:prstGeom prst="rect">
            <a:avLst/>
          </a:prstGeom>
          <a:noFill/>
          <a:ln/>
        </p:spPr>
        <p:txBody>
          <a:bodyPr wrap="square" lIns="0" tIns="0" rIns="0" bIns="0" rtlCol="0" anchor="t"/>
          <a:lstStyle/>
          <a:p>
            <a:pPr indent="0" marL="0">
              <a:buNone/>
            </a:pPr>
            <a:r>
              <a:rPr lang="en-US" sz="1200" dirty="0">
                <a:solidFill>
                  <a:schemeClr val="tx2"/>
                </a:solidFill>
              </a:rPr>
              <a:t>Processing-Out: including refunds where the BIN is available</a:t>
            </a:r>
            <a:endParaRPr lang="en-US" sz="1200" dirty="0"/>
          </a:p>
        </p:txBody>
      </p:sp>
      <p:sp>
        <p:nvSpPr>
          <p:cNvPr id="36" name="Shape 32"/>
          <p:cNvSpPr/>
          <p:nvPr/>
        </p:nvSpPr>
        <p:spPr>
          <a:xfrm>
            <a:off x="3264408" y="4608576"/>
            <a:ext cx="237744" cy="0"/>
          </a:xfrm>
          <a:prstGeom prst="line">
            <a:avLst/>
          </a:prstGeom>
          <a:noFill/>
          <a:ln w="25400">
            <a:solidFill>
              <a:schemeClr val="accent5"/>
            </a:solidFill>
            <a:prstDash val="solid"/>
            <a:tailEnd type="triangle"/>
          </a:ln>
        </p:spPr>
      </p:sp>
      <p:sp>
        <p:nvSpPr>
          <p:cNvPr id="37" name="check-1"/>
          <p:cNvSpPr/>
          <p:nvPr/>
        </p:nvSpPr>
        <p:spPr>
          <a:xfrm>
            <a:off x="3520440" y="3986784"/>
            <a:ext cx="3383280" cy="1243584"/>
          </a:xfrm>
          <a:prstGeom prst="roundRect">
            <a:avLst>
              <a:gd name="adj" fmla="val 7353"/>
            </a:avLst>
          </a:prstGeom>
          <a:solidFill>
            <a:schemeClr val="bg1"/>
          </a:solidFill>
          <a:ln w="12700">
            <a:solidFill>
              <a:schemeClr val="accent6"/>
            </a:solidFill>
            <a:prstDash val="solid"/>
          </a:ln>
        </p:spPr>
      </p:sp>
      <p:sp>
        <p:nvSpPr>
          <p:cNvPr id="38" name="Text 34"/>
          <p:cNvSpPr txBox="1"/>
          <p:nvPr/>
        </p:nvSpPr>
        <p:spPr>
          <a:xfrm>
            <a:off x="3749040" y="4187952"/>
            <a:ext cx="3017520" cy="548640"/>
          </a:xfrm>
          <a:prstGeom prst="rect">
            <a:avLst/>
          </a:prstGeom>
          <a:noFill/>
          <a:ln/>
        </p:spPr>
        <p:txBody>
          <a:bodyPr wrap="square" lIns="0" tIns="0" rIns="0" bIns="0" rtlCol="0" anchor="ctr"/>
          <a:lstStyle/>
          <a:p>
            <a:pPr indent="0" marL="0">
              <a:buNone/>
            </a:pPr>
            <a:r>
              <a:rPr lang="en-US" sz="1700" b="1" dirty="0">
                <a:solidFill>
                  <a:schemeClr val="tx1"/>
                </a:solidFill>
              </a:rPr>
              <a:t>Card BIN vs the Sanctioned BIN List</a:t>
            </a:r>
            <a:endParaRPr lang="en-US" sz="1700" dirty="0"/>
          </a:p>
        </p:txBody>
      </p:sp>
      <p:sp>
        <p:nvSpPr>
          <p:cNvPr id="39" name="Text 35"/>
          <p:cNvSpPr txBox="1"/>
          <p:nvPr/>
        </p:nvSpPr>
        <p:spPr>
          <a:xfrm>
            <a:off x="3749040" y="4773168"/>
            <a:ext cx="3017520" cy="320040"/>
          </a:xfrm>
          <a:prstGeom prst="rect">
            <a:avLst/>
          </a:prstGeom>
          <a:noFill/>
          <a:ln/>
        </p:spPr>
        <p:txBody>
          <a:bodyPr wrap="square" lIns="0" tIns="0" rIns="0" bIns="0" rtlCol="0" anchor="t"/>
          <a:lstStyle/>
          <a:p>
            <a:pPr indent="0" marL="0">
              <a:buNone/>
            </a:pPr>
            <a:r>
              <a:rPr lang="en-US" sz="1200" dirty="0">
                <a:solidFill>
                  <a:schemeClr val="tx2"/>
                </a:solidFill>
              </a:rPr>
              <a:t>Payout validation layer, before settlement</a:t>
            </a:r>
            <a:endParaRPr lang="en-US" sz="1200" dirty="0"/>
          </a:p>
        </p:txBody>
      </p:sp>
      <p:sp>
        <p:nvSpPr>
          <p:cNvPr id="40" name="Shape 36"/>
          <p:cNvSpPr/>
          <p:nvPr/>
        </p:nvSpPr>
        <p:spPr>
          <a:xfrm>
            <a:off x="6922008" y="4608576"/>
            <a:ext cx="310896" cy="0"/>
          </a:xfrm>
          <a:prstGeom prst="line">
            <a:avLst/>
          </a:prstGeom>
          <a:noFill/>
          <a:ln w="25400">
            <a:solidFill>
              <a:schemeClr val="accent5"/>
            </a:solidFill>
            <a:prstDash val="solid"/>
            <a:tailEnd type="triangle"/>
          </a:ln>
        </p:spPr>
      </p:sp>
      <p:sp>
        <p:nvSpPr>
          <p:cNvPr id="41" name="Text 37"/>
          <p:cNvSpPr/>
          <p:nvPr/>
        </p:nvSpPr>
        <p:spPr>
          <a:xfrm>
            <a:off x="7269480" y="4133088"/>
            <a:ext cx="1188720" cy="950976"/>
          </a:xfrm>
          <a:prstGeom prst="diamond">
            <a:avLst/>
          </a:prstGeom>
          <a:solidFill>
            <a:schemeClr val="bg1"/>
          </a:solidFill>
          <a:ln w="15875">
            <a:solidFill>
              <a:schemeClr val="accent5"/>
            </a:solidFill>
          </a:ln>
        </p:spPr>
        <p:txBody>
          <a:bodyPr wrap="square" lIns="0" tIns="0" rIns="0" bIns="0" rtlCol="0" anchor="ctr"/>
          <a:lstStyle/>
          <a:p>
            <a:pPr algn="ctr" indent="0" marL="0">
              <a:buNone/>
            </a:pPr>
            <a:r>
              <a:rPr lang="en-US" sz="1300" b="1" dirty="0">
                <a:solidFill>
                  <a:schemeClr val="tx1"/>
                </a:solidFill>
              </a:rPr>
              <a:t>Match?</a:t>
            </a:r>
            <a:endParaRPr lang="en-US" sz="1300" dirty="0"/>
          </a:p>
        </p:txBody>
      </p:sp>
      <p:sp>
        <p:nvSpPr>
          <p:cNvPr id="42" name="Shape 38"/>
          <p:cNvSpPr/>
          <p:nvPr/>
        </p:nvSpPr>
        <p:spPr>
          <a:xfrm>
            <a:off x="8458200" y="4608576"/>
            <a:ext cx="45720" cy="0"/>
          </a:xfrm>
          <a:prstGeom prst="line">
            <a:avLst/>
          </a:prstGeom>
          <a:noFill/>
          <a:ln w="19050">
            <a:solidFill>
              <a:schemeClr val="accent2"/>
            </a:solidFill>
            <a:prstDash val="solid"/>
            <a:tailEnd type="none"/>
          </a:ln>
        </p:spPr>
      </p:sp>
      <p:sp>
        <p:nvSpPr>
          <p:cNvPr id="43" name="Shape 39"/>
          <p:cNvSpPr/>
          <p:nvPr/>
        </p:nvSpPr>
        <p:spPr>
          <a:xfrm flipV="1">
            <a:off x="8503920" y="4261104"/>
            <a:ext cx="0" cy="347472"/>
          </a:xfrm>
          <a:prstGeom prst="line">
            <a:avLst/>
          </a:prstGeom>
          <a:noFill/>
          <a:ln w="19050">
            <a:solidFill>
              <a:schemeClr val="accent2"/>
            </a:solidFill>
            <a:prstDash val="solid"/>
            <a:tailEnd type="none"/>
          </a:ln>
        </p:spPr>
      </p:sp>
      <p:sp>
        <p:nvSpPr>
          <p:cNvPr id="44" name="Shape 40"/>
          <p:cNvSpPr/>
          <p:nvPr/>
        </p:nvSpPr>
        <p:spPr>
          <a:xfrm>
            <a:off x="8503920" y="4261104"/>
            <a:ext cx="100584" cy="0"/>
          </a:xfrm>
          <a:prstGeom prst="line">
            <a:avLst/>
          </a:prstGeom>
          <a:noFill/>
          <a:ln w="19050">
            <a:solidFill>
              <a:schemeClr val="accent2"/>
            </a:solidFill>
            <a:prstDash val="solid"/>
            <a:tailEnd type="triangle"/>
          </a:ln>
        </p:spPr>
      </p:sp>
      <p:sp>
        <p:nvSpPr>
          <p:cNvPr id="45" name="Shape 41"/>
          <p:cNvSpPr/>
          <p:nvPr/>
        </p:nvSpPr>
        <p:spPr>
          <a:xfrm>
            <a:off x="8503920" y="4608576"/>
            <a:ext cx="0" cy="347472"/>
          </a:xfrm>
          <a:prstGeom prst="line">
            <a:avLst/>
          </a:prstGeom>
          <a:noFill/>
          <a:ln w="19050">
            <a:solidFill>
              <a:schemeClr val="accent3"/>
            </a:solidFill>
            <a:prstDash val="solid"/>
            <a:tailEnd type="none"/>
          </a:ln>
        </p:spPr>
      </p:sp>
      <p:sp>
        <p:nvSpPr>
          <p:cNvPr id="46" name="Shape 42"/>
          <p:cNvSpPr/>
          <p:nvPr/>
        </p:nvSpPr>
        <p:spPr>
          <a:xfrm>
            <a:off x="8503920" y="4956048"/>
            <a:ext cx="100584" cy="0"/>
          </a:xfrm>
          <a:prstGeom prst="line">
            <a:avLst/>
          </a:prstGeom>
          <a:noFill/>
          <a:ln w="19050">
            <a:solidFill>
              <a:schemeClr val="accent3"/>
            </a:solidFill>
            <a:prstDash val="solid"/>
            <a:tailEnd type="triangle"/>
          </a:ln>
        </p:spPr>
      </p:sp>
      <p:sp>
        <p:nvSpPr>
          <p:cNvPr id="47" name="Shape 43"/>
          <p:cNvSpPr/>
          <p:nvPr/>
        </p:nvSpPr>
        <p:spPr>
          <a:xfrm>
            <a:off x="8622792" y="3986784"/>
            <a:ext cx="3017520" cy="548640"/>
          </a:xfrm>
          <a:prstGeom prst="roundRect">
            <a:avLst>
              <a:gd name="adj" fmla="val 13333"/>
            </a:avLst>
          </a:prstGeom>
          <a:solidFill>
            <a:schemeClr val="accent2">
              <a:alpha val="10000"/>
            </a:schemeClr>
          </a:solidFill>
          <a:ln/>
        </p:spPr>
      </p:sp>
      <p:sp>
        <p:nvSpPr>
          <p:cNvPr id="48" name="Text 44"/>
          <p:cNvSpPr/>
          <p:nvPr/>
        </p:nvSpPr>
        <p:spPr>
          <a:xfrm>
            <a:off x="8769096" y="4105656"/>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49" name="Text 45"/>
          <p:cNvSpPr txBox="1"/>
          <p:nvPr/>
        </p:nvSpPr>
        <p:spPr>
          <a:xfrm>
            <a:off x="9226296" y="3986784"/>
            <a:ext cx="2322576" cy="548640"/>
          </a:xfrm>
          <a:prstGeom prst="rect">
            <a:avLst/>
          </a:prstGeom>
          <a:noFill/>
          <a:ln/>
        </p:spPr>
        <p:txBody>
          <a:bodyPr wrap="square" lIns="0" tIns="0" rIns="0" bIns="0" rtlCol="0" anchor="ctr"/>
          <a:lstStyle/>
          <a:p>
            <a:pPr indent="0" marL="0">
              <a:buNone/>
            </a:pPr>
            <a:r>
              <a:rPr lang="en-US" sz="1600" b="1" dirty="0">
                <a:solidFill>
                  <a:schemeClr val="accent2"/>
                </a:solidFill>
              </a:rPr>
              <a:t>Declined automatically</a:t>
            </a:r>
            <a:endParaRPr lang="en-US" sz="1600" dirty="0"/>
          </a:p>
        </p:txBody>
      </p:sp>
      <p:sp>
        <p:nvSpPr>
          <p:cNvPr id="50" name="Shape 46"/>
          <p:cNvSpPr/>
          <p:nvPr/>
        </p:nvSpPr>
        <p:spPr>
          <a:xfrm>
            <a:off x="8622792" y="4681728"/>
            <a:ext cx="3017520" cy="548640"/>
          </a:xfrm>
          <a:prstGeom prst="roundRect">
            <a:avLst>
              <a:gd name="adj" fmla="val 13333"/>
            </a:avLst>
          </a:prstGeom>
          <a:solidFill>
            <a:schemeClr val="accent3">
              <a:alpha val="10000"/>
            </a:schemeClr>
          </a:solidFill>
          <a:ln/>
        </p:spPr>
      </p:sp>
      <p:sp>
        <p:nvSpPr>
          <p:cNvPr id="51" name="Text 47"/>
          <p:cNvSpPr/>
          <p:nvPr/>
        </p:nvSpPr>
        <p:spPr>
          <a:xfrm>
            <a:off x="8769096" y="4800600"/>
            <a:ext cx="310896" cy="310896"/>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52" name="Text 48"/>
          <p:cNvSpPr txBox="1"/>
          <p:nvPr/>
        </p:nvSpPr>
        <p:spPr>
          <a:xfrm>
            <a:off x="9226296" y="4681728"/>
            <a:ext cx="2322576" cy="548640"/>
          </a:xfrm>
          <a:prstGeom prst="rect">
            <a:avLst/>
          </a:prstGeom>
          <a:noFill/>
          <a:ln/>
        </p:spPr>
        <p:txBody>
          <a:bodyPr wrap="square" lIns="0" tIns="0" rIns="0" bIns="0" rtlCol="0" anchor="ctr"/>
          <a:lstStyle/>
          <a:p>
            <a:pPr indent="0" marL="0">
              <a:buNone/>
            </a:pPr>
            <a:r>
              <a:rPr lang="en-US" sz="1600" b="1" dirty="0">
                <a:solidFill>
                  <a:schemeClr val="accent3"/>
                </a:solidFill>
              </a:rPr>
              <a:t>Standard settlement</a:t>
            </a:r>
            <a:endParaRPr lang="en-US" sz="1600" dirty="0"/>
          </a:p>
        </p:txBody>
      </p:sp>
      <p:sp>
        <p:nvSpPr>
          <p:cNvPr id="53" name="Shape 49"/>
          <p:cNvSpPr/>
          <p:nvPr/>
        </p:nvSpPr>
        <p:spPr>
          <a:xfrm>
            <a:off x="548640" y="5486400"/>
            <a:ext cx="11091672" cy="457200"/>
          </a:xfrm>
          <a:prstGeom prst="roundRect">
            <a:avLst>
              <a:gd name="adj" fmla="val 20000"/>
            </a:avLst>
          </a:prstGeom>
          <a:solidFill>
            <a:schemeClr val="tx1"/>
          </a:solidFill>
          <a:ln/>
        </p:spPr>
      </p:sp>
      <p:sp>
        <p:nvSpPr>
          <p:cNvPr id="54" name="Text 50"/>
          <p:cNvSpPr txBox="1"/>
          <p:nvPr/>
        </p:nvSpPr>
        <p:spPr>
          <a:xfrm>
            <a:off x="777240" y="5486400"/>
            <a:ext cx="10634472" cy="457200"/>
          </a:xfrm>
          <a:prstGeom prst="rect">
            <a:avLst/>
          </a:prstGeom>
          <a:noFill/>
          <a:ln/>
        </p:spPr>
        <p:txBody>
          <a:bodyPr wrap="square" lIns="0" tIns="0" rIns="0" bIns="0" rtlCol="0" anchor="ctr"/>
          <a:lstStyle/>
          <a:p>
            <a:pPr indent="0" marL="0">
              <a:buNone/>
            </a:pPr>
            <a:r>
              <a:rPr lang="en-US" sz="1300" b="1" dirty="0">
                <a:solidFill>
                  <a:schemeClr val="bg1"/>
                </a:solidFill>
              </a:rPr>
              <a:t>On every match  </a:t>
            </a:r>
            <a:pPr indent="0" marL="0">
              <a:buNone/>
            </a:pPr>
            <a:r>
              <a:rPr lang="en-US" sz="1300" dirty="0">
                <a:solidFill>
                  <a:schemeClr val="bg2"/>
                </a:solidFill>
              </a:rPr>
              <a:t>a Sanctions_Block_Event is logged and retained, and escalated per Compliance procedures where required</a:t>
            </a:r>
            <a:endParaRPr lang="en-US" sz="1300" dirty="0"/>
          </a:p>
        </p:txBody>
      </p:sp>
      <p:sp>
        <p:nvSpPr>
          <p:cNvPr id="55"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tx2"/>
                </a:solidFill>
                <a:latin typeface="Arial" pitchFamily="34" charset="0"/>
                <a:ea typeface="Arial" pitchFamily="34" charset="-122"/>
                <a:cs typeface="Arial" pitchFamily="34" charset="-120"/>
              </a:rPr>
              <a:t>Source: Blocking framework §4, §7.2 (minimum requirements), §7.3.1, §8.1</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pitchFamily="34" charset="0"/>
                <a:ea typeface="Arial" pitchFamily="34" charset="-122"/>
                <a:cs typeface="Arial" pitchFamily="34" charset="-120"/>
              </a:rPr>
              <a:t>Every step has an owner, and people make the decisions</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PART 3 OF 3 · OWNERSHIP</a:t>
            </a:r>
            <a:endParaRPr lang="en-US" sz="1000" dirty="0"/>
          </a:p>
        </p:txBody>
      </p:sp>
      <p:sp>
        <p:nvSpPr>
          <p:cNvPr id="4" name="1LOD"/>
          <p:cNvSpPr/>
          <p:nvPr/>
        </p:nvSpPr>
        <p:spPr>
          <a:xfrm>
            <a:off x="548640" y="1600200"/>
            <a:ext cx="7406640" cy="1508760"/>
          </a:xfrm>
          <a:prstGeom prst="roundRect">
            <a:avLst>
              <a:gd name="adj" fmla="val 6061"/>
            </a:avLst>
          </a:prstGeom>
          <a:solidFill>
            <a:schemeClr val="bg2"/>
          </a:solidFill>
          <a:ln/>
        </p:spPr>
      </p:sp>
      <p:sp>
        <p:nvSpPr>
          <p:cNvPr id="5" name="Text 3"/>
          <p:cNvSpPr txBox="1"/>
          <p:nvPr/>
        </p:nvSpPr>
        <p:spPr>
          <a:xfrm>
            <a:off x="777240" y="1783080"/>
            <a:ext cx="1097280" cy="411480"/>
          </a:xfrm>
          <a:prstGeom prst="rect">
            <a:avLst/>
          </a:prstGeom>
          <a:noFill/>
          <a:ln/>
        </p:spPr>
        <p:txBody>
          <a:bodyPr wrap="square" lIns="0" tIns="0" rIns="0" bIns="0" rtlCol="0" anchor="t"/>
          <a:lstStyle/>
          <a:p>
            <a:pPr indent="0" marL="0">
              <a:buNone/>
            </a:pPr>
            <a:r>
              <a:rPr lang="en-US" sz="2400" b="1" dirty="0">
                <a:solidFill>
                  <a:schemeClr val="accent1"/>
                </a:solidFill>
              </a:rPr>
              <a:t>1LOD</a:t>
            </a:r>
            <a:endParaRPr lang="en-US" sz="2400" dirty="0"/>
          </a:p>
        </p:txBody>
      </p:sp>
      <p:sp>
        <p:nvSpPr>
          <p:cNvPr id="6" name="Text 4"/>
          <p:cNvSpPr txBox="1"/>
          <p:nvPr/>
        </p:nvSpPr>
        <p:spPr>
          <a:xfrm>
            <a:off x="777240" y="2203704"/>
            <a:ext cx="2103120" cy="320040"/>
          </a:xfrm>
          <a:prstGeom prst="rect">
            <a:avLst/>
          </a:prstGeom>
          <a:noFill/>
          <a:ln/>
        </p:spPr>
        <p:txBody>
          <a:bodyPr wrap="square" lIns="0" tIns="0" rIns="0" bIns="0" rtlCol="0" anchor="t"/>
          <a:lstStyle/>
          <a:p>
            <a:pPr indent="0" marL="0">
              <a:buNone/>
            </a:pPr>
            <a:r>
              <a:rPr lang="en-US" sz="1300" b="1" dirty="0">
                <a:solidFill>
                  <a:schemeClr val="tx1"/>
                </a:solidFill>
              </a:rPr>
              <a:t>Payments &amp; Engineering</a:t>
            </a:r>
            <a:endParaRPr lang="en-US" sz="1300" dirty="0"/>
          </a:p>
        </p:txBody>
      </p:sp>
      <p:sp>
        <p:nvSpPr>
          <p:cNvPr id="7" name="Text 5"/>
          <p:cNvSpPr txBox="1"/>
          <p:nvPr/>
        </p:nvSpPr>
        <p:spPr>
          <a:xfrm>
            <a:off x="777240" y="2478024"/>
            <a:ext cx="2103120" cy="320040"/>
          </a:xfrm>
          <a:prstGeom prst="rect">
            <a:avLst/>
          </a:prstGeom>
          <a:noFill/>
          <a:ln/>
        </p:spPr>
        <p:txBody>
          <a:bodyPr wrap="square" lIns="0" tIns="0" rIns="0" bIns="0" rtlCol="0" anchor="t"/>
          <a:lstStyle/>
          <a:p>
            <a:pPr indent="0" marL="0">
              <a:buNone/>
            </a:pPr>
            <a:r>
              <a:rPr lang="en-US" sz="1100" dirty="0">
                <a:solidFill>
                  <a:schemeClr val="tx2"/>
                </a:solidFill>
              </a:rPr>
              <a:t>Build and run the controls</a:t>
            </a:r>
            <a:endParaRPr lang="en-US" sz="1100" dirty="0"/>
          </a:p>
        </p:txBody>
      </p:sp>
      <p:sp>
        <p:nvSpPr>
          <p:cNvPr id="8" name="Text 6"/>
          <p:cNvSpPr txBox="1"/>
          <p:nvPr/>
        </p:nvSpPr>
        <p:spPr>
          <a:xfrm>
            <a:off x="3017520" y="1801368"/>
            <a:ext cx="4754880" cy="121615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Fraud Detection: real-time BIN checks for acquiring</a:t>
            </a:r>
            <a:endParaRPr lang="en-US" sz="1300" dirty="0"/>
          </a:p>
          <a:p>
            <a:pPr marL="177800" indent="-177800">
              <a:spcAft>
                <a:spcPts val="600"/>
              </a:spcAft>
              <a:buSzPct val="100000"/>
              <a:buChar char="•"/>
            </a:pPr>
            <a:r>
              <a:rPr lang="en-US" sz="1300" dirty="0">
                <a:solidFill>
                  <a:schemeClr val="tx1"/>
                </a:solidFill>
              </a:rPr>
              <a:t>FinCrime Engineering: payout validation layer, event logging, no bypass</a:t>
            </a:r>
            <a:endParaRPr lang="en-US" sz="1300" dirty="0"/>
          </a:p>
          <a:p>
            <a:pPr marL="177800" indent="-177800">
              <a:spcAft>
                <a:spcPts val="600"/>
              </a:spcAft>
              <a:buSzPct val="100000"/>
              <a:buChar char="•"/>
            </a:pPr>
            <a:r>
              <a:rPr lang="en-US" sz="1300" dirty="0">
                <a:solidFill>
                  <a:schemeClr val="tx1"/>
                </a:solidFill>
              </a:rPr>
              <a:t>FinCrime Product: control design, aligned to regulatory requirements</a:t>
            </a:r>
            <a:endParaRPr lang="en-US" sz="1300" dirty="0"/>
          </a:p>
        </p:txBody>
      </p:sp>
      <p:sp>
        <p:nvSpPr>
          <p:cNvPr id="9" name="2LOD"/>
          <p:cNvSpPr/>
          <p:nvPr/>
        </p:nvSpPr>
        <p:spPr>
          <a:xfrm>
            <a:off x="548640" y="3291840"/>
            <a:ext cx="7406640" cy="1371600"/>
          </a:xfrm>
          <a:prstGeom prst="roundRect">
            <a:avLst>
              <a:gd name="adj" fmla="val 6667"/>
            </a:avLst>
          </a:prstGeom>
          <a:solidFill>
            <a:schemeClr val="accent4">
              <a:alpha val="12000"/>
            </a:schemeClr>
          </a:solidFill>
          <a:ln w="12700">
            <a:solidFill>
              <a:schemeClr val="accent4"/>
            </a:solidFill>
            <a:prstDash val="solid"/>
          </a:ln>
        </p:spPr>
      </p:sp>
      <p:sp>
        <p:nvSpPr>
          <p:cNvPr id="10" name="Text 8"/>
          <p:cNvSpPr txBox="1"/>
          <p:nvPr/>
        </p:nvSpPr>
        <p:spPr>
          <a:xfrm>
            <a:off x="777240" y="3474720"/>
            <a:ext cx="1097280" cy="411480"/>
          </a:xfrm>
          <a:prstGeom prst="rect">
            <a:avLst/>
          </a:prstGeom>
          <a:noFill/>
          <a:ln/>
        </p:spPr>
        <p:txBody>
          <a:bodyPr wrap="square" lIns="0" tIns="0" rIns="0" bIns="0" rtlCol="0" anchor="t"/>
          <a:lstStyle/>
          <a:p>
            <a:pPr indent="0" marL="0">
              <a:buNone/>
            </a:pPr>
            <a:r>
              <a:rPr lang="en-US" sz="2400" b="1" dirty="0">
                <a:solidFill>
                  <a:schemeClr val="accent4"/>
                </a:solidFill>
              </a:rPr>
              <a:t>2LOD</a:t>
            </a:r>
            <a:endParaRPr lang="en-US" sz="2400" dirty="0"/>
          </a:p>
        </p:txBody>
      </p:sp>
      <p:sp>
        <p:nvSpPr>
          <p:cNvPr id="11" name="Text 9"/>
          <p:cNvSpPr txBox="1"/>
          <p:nvPr/>
        </p:nvSpPr>
        <p:spPr>
          <a:xfrm>
            <a:off x="777240" y="3895344"/>
            <a:ext cx="2103120" cy="320040"/>
          </a:xfrm>
          <a:prstGeom prst="rect">
            <a:avLst/>
          </a:prstGeom>
          <a:noFill/>
          <a:ln/>
        </p:spPr>
        <p:txBody>
          <a:bodyPr wrap="square" lIns="0" tIns="0" rIns="0" bIns="0" rtlCol="0" anchor="t"/>
          <a:lstStyle/>
          <a:p>
            <a:pPr indent="0" marL="0">
              <a:buNone/>
            </a:pPr>
            <a:r>
              <a:rPr lang="en-US" sz="1300" b="1" dirty="0">
                <a:solidFill>
                  <a:schemeClr val="tx1"/>
                </a:solidFill>
              </a:rPr>
              <a:t>Sanctions Team</a:t>
            </a:r>
            <a:endParaRPr lang="en-US" sz="1300" dirty="0"/>
          </a:p>
        </p:txBody>
      </p:sp>
      <p:sp>
        <p:nvSpPr>
          <p:cNvPr id="12" name="Text 10"/>
          <p:cNvSpPr txBox="1"/>
          <p:nvPr/>
        </p:nvSpPr>
        <p:spPr>
          <a:xfrm>
            <a:off x="777240" y="4169664"/>
            <a:ext cx="2103120" cy="320040"/>
          </a:xfrm>
          <a:prstGeom prst="rect">
            <a:avLst/>
          </a:prstGeom>
          <a:noFill/>
          <a:ln/>
        </p:spPr>
        <p:txBody>
          <a:bodyPr wrap="square" lIns="0" tIns="0" rIns="0" bIns="0" rtlCol="0" anchor="t"/>
          <a:lstStyle/>
          <a:p>
            <a:pPr indent="0" marL="0">
              <a:buNone/>
            </a:pPr>
            <a:r>
              <a:rPr lang="en-US" sz="1100" dirty="0">
                <a:solidFill>
                  <a:schemeClr val="tx2"/>
                </a:solidFill>
              </a:rPr>
              <a:t>Own the list and approve changes</a:t>
            </a:r>
            <a:endParaRPr lang="en-US" sz="1100" dirty="0"/>
          </a:p>
        </p:txBody>
      </p:sp>
      <p:sp>
        <p:nvSpPr>
          <p:cNvPr id="13" name="Text 11"/>
          <p:cNvSpPr txBox="1"/>
          <p:nvPr/>
        </p:nvSpPr>
        <p:spPr>
          <a:xfrm>
            <a:off x="3017520" y="3493008"/>
            <a:ext cx="4754880" cy="107899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Owns the Sanctions Hard Block Register</a:t>
            </a:r>
            <a:endParaRPr lang="en-US" sz="1300" dirty="0"/>
          </a:p>
          <a:p>
            <a:pPr marL="177800" indent="-177800">
              <a:spcAft>
                <a:spcPts val="600"/>
              </a:spcAft>
              <a:buSzPct val="100000"/>
              <a:buChar char="•"/>
            </a:pPr>
            <a:r>
              <a:rPr lang="en-US" sz="1300" dirty="0">
                <a:solidFill>
                  <a:schemeClr val="tx1"/>
                </a:solidFill>
              </a:rPr>
              <a:t>Sets the global vs regional block taxonomy</a:t>
            </a:r>
            <a:endParaRPr lang="en-US" sz="1300" dirty="0"/>
          </a:p>
          <a:p>
            <a:pPr marL="177800" indent="-177800">
              <a:spcAft>
                <a:spcPts val="600"/>
              </a:spcAft>
              <a:buSzPct val="100000"/>
              <a:buChar char="•"/>
            </a:pPr>
            <a:r>
              <a:rPr lang="en-US" sz="1300" dirty="0">
                <a:solidFill>
                  <a:schemeClr val="tx1"/>
                </a:solidFill>
              </a:rPr>
              <a:t>Sole approver for adding or whitelisting BINs, and shared-BIN exceptions</a:t>
            </a:r>
            <a:endParaRPr lang="en-US" sz="1300" dirty="0"/>
          </a:p>
        </p:txBody>
      </p:sp>
      <p:sp>
        <p:nvSpPr>
          <p:cNvPr id="14" name="3LOD"/>
          <p:cNvSpPr/>
          <p:nvPr/>
        </p:nvSpPr>
        <p:spPr>
          <a:xfrm>
            <a:off x="548640" y="4846320"/>
            <a:ext cx="7406640" cy="1188720"/>
          </a:xfrm>
          <a:prstGeom prst="roundRect">
            <a:avLst>
              <a:gd name="adj" fmla="val 7692"/>
            </a:avLst>
          </a:prstGeom>
          <a:solidFill>
            <a:schemeClr val="bg2"/>
          </a:solidFill>
          <a:ln/>
        </p:spPr>
      </p:sp>
      <p:sp>
        <p:nvSpPr>
          <p:cNvPr id="15" name="Text 13"/>
          <p:cNvSpPr txBox="1"/>
          <p:nvPr/>
        </p:nvSpPr>
        <p:spPr>
          <a:xfrm>
            <a:off x="777240" y="5029200"/>
            <a:ext cx="1097280" cy="411480"/>
          </a:xfrm>
          <a:prstGeom prst="rect">
            <a:avLst/>
          </a:prstGeom>
          <a:noFill/>
          <a:ln/>
        </p:spPr>
        <p:txBody>
          <a:bodyPr wrap="square" lIns="0" tIns="0" rIns="0" bIns="0" rtlCol="0" anchor="t"/>
          <a:lstStyle/>
          <a:p>
            <a:pPr indent="0" marL="0">
              <a:buNone/>
            </a:pPr>
            <a:r>
              <a:rPr lang="en-US" sz="2400" b="1" dirty="0">
                <a:solidFill>
                  <a:schemeClr val="accent1"/>
                </a:solidFill>
              </a:rPr>
              <a:t>3LOD</a:t>
            </a:r>
            <a:endParaRPr lang="en-US" sz="2400" dirty="0"/>
          </a:p>
        </p:txBody>
      </p:sp>
      <p:sp>
        <p:nvSpPr>
          <p:cNvPr id="16" name="Text 14"/>
          <p:cNvSpPr txBox="1"/>
          <p:nvPr/>
        </p:nvSpPr>
        <p:spPr>
          <a:xfrm>
            <a:off x="777240" y="5449824"/>
            <a:ext cx="2103120" cy="320040"/>
          </a:xfrm>
          <a:prstGeom prst="rect">
            <a:avLst/>
          </a:prstGeom>
          <a:noFill/>
          <a:ln/>
        </p:spPr>
        <p:txBody>
          <a:bodyPr wrap="square" lIns="0" tIns="0" rIns="0" bIns="0" rtlCol="0" anchor="t"/>
          <a:lstStyle/>
          <a:p>
            <a:pPr indent="0" marL="0">
              <a:buNone/>
            </a:pPr>
            <a:r>
              <a:rPr lang="en-US" sz="1300" b="1" dirty="0">
                <a:solidFill>
                  <a:schemeClr val="tx1"/>
                </a:solidFill>
              </a:rPr>
              <a:t>Internal Audit</a:t>
            </a:r>
            <a:endParaRPr lang="en-US" sz="1300" dirty="0"/>
          </a:p>
        </p:txBody>
      </p:sp>
      <p:sp>
        <p:nvSpPr>
          <p:cNvPr id="17" name="Text 15"/>
          <p:cNvSpPr txBox="1"/>
          <p:nvPr/>
        </p:nvSpPr>
        <p:spPr>
          <a:xfrm>
            <a:off x="777240" y="5724144"/>
            <a:ext cx="2103120" cy="320040"/>
          </a:xfrm>
          <a:prstGeom prst="rect">
            <a:avLst/>
          </a:prstGeom>
          <a:noFill/>
          <a:ln/>
        </p:spPr>
        <p:txBody>
          <a:bodyPr wrap="square" lIns="0" tIns="0" rIns="0" bIns="0" rtlCol="0" anchor="t"/>
          <a:lstStyle/>
          <a:p>
            <a:pPr indent="0" marL="0">
              <a:buNone/>
            </a:pPr>
            <a:r>
              <a:rPr lang="en-US" sz="1100" dirty="0">
                <a:solidFill>
                  <a:schemeClr val="tx2"/>
                </a:solidFill>
              </a:rPr>
              <a:t>Independent assurance</a:t>
            </a:r>
            <a:endParaRPr lang="en-US" sz="1100" dirty="0"/>
          </a:p>
        </p:txBody>
      </p:sp>
      <p:sp>
        <p:nvSpPr>
          <p:cNvPr id="18" name="Text 16"/>
          <p:cNvSpPr txBox="1"/>
          <p:nvPr/>
        </p:nvSpPr>
        <p:spPr>
          <a:xfrm>
            <a:off x="3017520" y="5047488"/>
            <a:ext cx="4754880" cy="89611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Tests the design and operating effectiveness of real-time BIN blocking</a:t>
            </a:r>
            <a:endParaRPr lang="en-US" sz="1300" dirty="0"/>
          </a:p>
        </p:txBody>
      </p:sp>
      <p:sp>
        <p:nvSpPr>
          <p:cNvPr id="19" name="stat-0"/>
          <p:cNvSpPr/>
          <p:nvPr/>
        </p:nvSpPr>
        <p:spPr>
          <a:xfrm>
            <a:off x="8275320" y="1600200"/>
            <a:ext cx="3364992" cy="1508760"/>
          </a:xfrm>
          <a:prstGeom prst="roundRect">
            <a:avLst>
              <a:gd name="adj" fmla="val 6061"/>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20" name="Text 18"/>
          <p:cNvSpPr txBox="1"/>
          <p:nvPr/>
        </p:nvSpPr>
        <p:spPr>
          <a:xfrm>
            <a:off x="8503920" y="1737360"/>
            <a:ext cx="2926080" cy="548640"/>
          </a:xfrm>
          <a:prstGeom prst="rect">
            <a:avLst/>
          </a:prstGeom>
          <a:noFill/>
          <a:ln/>
        </p:spPr>
        <p:txBody>
          <a:bodyPr wrap="square" lIns="0" tIns="0" rIns="0" bIns="0" rtlCol="0" anchor="t"/>
          <a:lstStyle/>
          <a:p>
            <a:pPr indent="0" marL="0">
              <a:buNone/>
            </a:pPr>
            <a:r>
              <a:rPr lang="en-US" sz="3200" b="1" dirty="0">
                <a:solidFill>
                  <a:schemeClr val="accent1"/>
                </a:solidFill>
              </a:rPr>
              <a:t>Weekly</a:t>
            </a:r>
            <a:endParaRPr lang="en-US" sz="3200" dirty="0"/>
          </a:p>
        </p:txBody>
      </p:sp>
      <p:sp>
        <p:nvSpPr>
          <p:cNvPr id="21" name="Text 19"/>
          <p:cNvSpPr txBox="1"/>
          <p:nvPr/>
        </p:nvSpPr>
        <p:spPr>
          <a:xfrm>
            <a:off x="8503920" y="2295144"/>
            <a:ext cx="2926080" cy="384048"/>
          </a:xfrm>
          <a:prstGeom prst="rect">
            <a:avLst/>
          </a:prstGeom>
          <a:noFill/>
          <a:ln/>
        </p:spPr>
        <p:txBody>
          <a:bodyPr wrap="square" lIns="0" tIns="0" rIns="0" bIns="0" rtlCol="0" anchor="t"/>
          <a:lstStyle/>
          <a:p>
            <a:pPr indent="0" marL="0">
              <a:buNone/>
            </a:pPr>
            <a:r>
              <a:rPr lang="en-US" sz="1200" dirty="0">
                <a:solidFill>
                  <a:schemeClr val="tx2"/>
                </a:solidFill>
              </a:rPr>
              <a:t>The full BIN list update cycle</a:t>
            </a:r>
            <a:endParaRPr lang="en-US" sz="1200" dirty="0"/>
          </a:p>
        </p:txBody>
      </p:sp>
      <p:sp>
        <p:nvSpPr>
          <p:cNvPr id="22" name="stat-1"/>
          <p:cNvSpPr/>
          <p:nvPr/>
        </p:nvSpPr>
        <p:spPr>
          <a:xfrm>
            <a:off x="8275320" y="3291840"/>
            <a:ext cx="3364992"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23" name="Text 21"/>
          <p:cNvSpPr txBox="1"/>
          <p:nvPr/>
        </p:nvSpPr>
        <p:spPr>
          <a:xfrm>
            <a:off x="8503920" y="3429000"/>
            <a:ext cx="2926080" cy="548640"/>
          </a:xfrm>
          <a:prstGeom prst="rect">
            <a:avLst/>
          </a:prstGeom>
          <a:noFill/>
          <a:ln/>
        </p:spPr>
        <p:txBody>
          <a:bodyPr wrap="square" lIns="0" tIns="0" rIns="0" bIns="0" rtlCol="0" anchor="t"/>
          <a:lstStyle/>
          <a:p>
            <a:pPr indent="0" marL="0">
              <a:buNone/>
            </a:pPr>
            <a:r>
              <a:rPr lang="en-US" sz="3200" b="1" dirty="0">
                <a:solidFill>
                  <a:schemeClr val="accent2"/>
                </a:solidFill>
              </a:rPr>
              <a:t>2 hours</a:t>
            </a:r>
            <a:endParaRPr lang="en-US" sz="3200" dirty="0"/>
          </a:p>
        </p:txBody>
      </p:sp>
      <p:sp>
        <p:nvSpPr>
          <p:cNvPr id="24" name="Text 22"/>
          <p:cNvSpPr txBox="1"/>
          <p:nvPr/>
        </p:nvSpPr>
        <p:spPr>
          <a:xfrm>
            <a:off x="8503920" y="3986784"/>
            <a:ext cx="2926080" cy="384048"/>
          </a:xfrm>
          <a:prstGeom prst="rect">
            <a:avLst/>
          </a:prstGeom>
          <a:noFill/>
          <a:ln/>
        </p:spPr>
        <p:txBody>
          <a:bodyPr wrap="square" lIns="0" tIns="0" rIns="0" bIns="0" rtlCol="0" anchor="t"/>
          <a:lstStyle/>
          <a:p>
            <a:pPr indent="0" marL="0">
              <a:buNone/>
            </a:pPr>
            <a:r>
              <a:rPr lang="en-US" sz="1200" dirty="0">
                <a:solidFill>
                  <a:schemeClr val="tx2"/>
                </a:solidFill>
              </a:rPr>
              <a:t>To update the Register after a major designation</a:t>
            </a:r>
            <a:endParaRPr lang="en-US" sz="1200" dirty="0"/>
          </a:p>
        </p:txBody>
      </p:sp>
      <p:sp>
        <p:nvSpPr>
          <p:cNvPr id="25" name="stat-2"/>
          <p:cNvSpPr/>
          <p:nvPr/>
        </p:nvSpPr>
        <p:spPr>
          <a:xfrm>
            <a:off x="8275320" y="4846320"/>
            <a:ext cx="3364992" cy="1188720"/>
          </a:xfrm>
          <a:prstGeom prst="roundRect">
            <a:avLst>
              <a:gd name="adj" fmla="val 7692"/>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26" name="Text 24"/>
          <p:cNvSpPr txBox="1"/>
          <p:nvPr/>
        </p:nvSpPr>
        <p:spPr>
          <a:xfrm>
            <a:off x="8503920" y="4983480"/>
            <a:ext cx="2926080" cy="548640"/>
          </a:xfrm>
          <a:prstGeom prst="rect">
            <a:avLst/>
          </a:prstGeom>
          <a:noFill/>
          <a:ln/>
        </p:spPr>
        <p:txBody>
          <a:bodyPr wrap="square" lIns="0" tIns="0" rIns="0" bIns="0" rtlCol="0" anchor="t"/>
          <a:lstStyle/>
          <a:p>
            <a:pPr indent="0" marL="0">
              <a:buNone/>
            </a:pPr>
            <a:r>
              <a:rPr lang="en-US" sz="3200" b="1" dirty="0">
                <a:solidFill>
                  <a:schemeClr val="accent2"/>
                </a:solidFill>
              </a:rPr>
              <a:t>1 hour</a:t>
            </a:r>
            <a:endParaRPr lang="en-US" sz="3200" dirty="0"/>
          </a:p>
        </p:txBody>
      </p:sp>
      <p:sp>
        <p:nvSpPr>
          <p:cNvPr id="27" name="Text 25"/>
          <p:cNvSpPr txBox="1"/>
          <p:nvPr/>
        </p:nvSpPr>
        <p:spPr>
          <a:xfrm>
            <a:off x="8503920" y="5541264"/>
            <a:ext cx="2926080" cy="384048"/>
          </a:xfrm>
          <a:prstGeom prst="rect">
            <a:avLst/>
          </a:prstGeom>
          <a:noFill/>
          <a:ln/>
        </p:spPr>
        <p:txBody>
          <a:bodyPr wrap="square" lIns="0" tIns="0" rIns="0" bIns="0" rtlCol="0" anchor="t"/>
          <a:lstStyle/>
          <a:p>
            <a:pPr indent="0" marL="0">
              <a:buNone/>
            </a:pPr>
            <a:r>
              <a:rPr lang="en-US" sz="1200" dirty="0">
                <a:solidFill>
                  <a:schemeClr val="tx2"/>
                </a:solidFill>
              </a:rPr>
              <a:t>To report any payment that did not follow the workflow</a:t>
            </a:r>
            <a:endParaRPr lang="en-US" sz="1200" dirty="0"/>
          </a:p>
        </p:txBody>
      </p:sp>
      <p:sp>
        <p:nvSpPr>
          <p:cNvPr id="28"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tx2"/>
                </a:solidFill>
                <a:latin typeface="Arial" pitchFamily="34" charset="0"/>
                <a:ea typeface="Arial" pitchFamily="34" charset="-122"/>
                <a:cs typeface="Arial" pitchFamily="34" charset="-120"/>
              </a:rPr>
              <a:t>Source: Blocking framework §8.1, §8.2, §8.3, §9.1, §11</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384048"/>
            <a:ext cx="859536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pitchFamily="34" charset="0"/>
                <a:ea typeface="Arial" pitchFamily="34" charset="-122"/>
                <a:cs typeface="Arial" pitchFamily="34" charset="-120"/>
              </a:rPr>
              <a:t>Four things that make BIN blocking harder than it looks</a:t>
            </a:r>
            <a:endParaRPr lang="en-US" sz="2800" dirty="0"/>
          </a:p>
        </p:txBody>
      </p:sp>
      <p:sp>
        <p:nvSpPr>
          <p:cNvPr id="3" name="Tag placeholder"/>
          <p:cNvSpPr/>
          <p:nvPr>
            <p:ph idx="101" type="body" hasCustomPrompt="1"/>
          </p:nvPr>
        </p:nvSpPr>
        <p:spPr>
          <a:xfrm>
            <a:off x="9326880" y="457200"/>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1"/>
                </a:solidFill>
                <a:latin typeface="Arial" pitchFamily="34" charset="0"/>
                <a:ea typeface="Arial" pitchFamily="34" charset="-122"/>
                <a:cs typeface="Arial" pitchFamily="34" charset="-120"/>
              </a:rPr>
              <a:t>LESSONS</a:t>
            </a:r>
            <a:endParaRPr lang="en-US" sz="1000" dirty="0"/>
          </a:p>
        </p:txBody>
      </p:sp>
      <p:sp>
        <p:nvSpPr>
          <p:cNvPr id="4" name="lesson-0"/>
          <p:cNvSpPr/>
          <p:nvPr/>
        </p:nvSpPr>
        <p:spPr>
          <a:xfrm>
            <a:off x="548640" y="1600200"/>
            <a:ext cx="5408676"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5" name="Shape 3"/>
          <p:cNvSpPr/>
          <p:nvPr/>
        </p:nvSpPr>
        <p:spPr>
          <a:xfrm>
            <a:off x="868680" y="1920240"/>
            <a:ext cx="658368" cy="658368"/>
          </a:xfrm>
          <a:prstGeom prst="ellipse">
            <a:avLst/>
          </a:prstGeom>
          <a:solidFill>
            <a:schemeClr val="accent1">
              <a:alpha val="12000"/>
            </a:schemeClr>
          </a:solidFill>
          <a:ln/>
        </p:spPr>
      </p:sp>
      <p:pic>
        <p:nvPicPr>
          <p:cNvPr id="6" name="Image 0" descr="preencoded.png">    </p:cNvPr>
          <p:cNvPicPr>
            <a:picLocks noChangeAspect="1"/>
          </p:cNvPicPr>
          <p:nvPr/>
        </p:nvPicPr>
        <p:blipFill>
          <a:blip r:embed="rId1"/>
          <a:stretch>
            <a:fillRect/>
          </a:stretch>
        </p:blipFill>
        <p:spPr>
          <a:xfrm>
            <a:off x="1033272" y="2084832"/>
            <a:ext cx="329184" cy="329184"/>
          </a:xfrm>
          <a:prstGeom prst="rect">
            <a:avLst/>
          </a:prstGeom>
        </p:spPr>
      </p:pic>
      <p:sp>
        <p:nvSpPr>
          <p:cNvPr id="7" name="Text 4"/>
          <p:cNvSpPr txBox="1"/>
          <p:nvPr/>
        </p:nvSpPr>
        <p:spPr>
          <a:xfrm>
            <a:off x="1737360" y="1947672"/>
            <a:ext cx="3945636" cy="594360"/>
          </a:xfrm>
          <a:prstGeom prst="rect">
            <a:avLst/>
          </a:prstGeom>
          <a:noFill/>
          <a:ln/>
        </p:spPr>
        <p:txBody>
          <a:bodyPr wrap="square" lIns="0" tIns="0" rIns="0" bIns="0" rtlCol="0" anchor="ctr"/>
          <a:lstStyle/>
          <a:p>
            <a:pPr indent="0" marL="0">
              <a:buNone/>
            </a:pPr>
            <a:r>
              <a:rPr lang="en-US" sz="1800" b="1" dirty="0">
                <a:solidFill>
                  <a:schemeClr val="tx1"/>
                </a:solidFill>
              </a:rPr>
              <a:t>Names don't match across datasets</a:t>
            </a:r>
            <a:endParaRPr lang="en-US" sz="1800" dirty="0"/>
          </a:p>
        </p:txBody>
      </p:sp>
      <p:sp>
        <p:nvSpPr>
          <p:cNvPr id="8" name="Text 5"/>
          <p:cNvSpPr txBox="1"/>
          <p:nvPr/>
        </p:nvSpPr>
        <p:spPr>
          <a:xfrm>
            <a:off x="1737360" y="2587752"/>
            <a:ext cx="3945636" cy="960120"/>
          </a:xfrm>
          <a:prstGeom prst="rect">
            <a:avLst/>
          </a:prstGeom>
          <a:noFill/>
          <a:ln/>
        </p:spPr>
        <p:txBody>
          <a:bodyPr wrap="square" lIns="0" tIns="0" rIns="0" bIns="0" rtlCol="0" anchor="t"/>
          <a:lstStyle/>
          <a:p>
            <a:pPr indent="0" marL="0">
              <a:buNone/>
            </a:pPr>
            <a:r>
              <a:rPr lang="en-US" sz="1300" dirty="0">
                <a:solidFill>
                  <a:schemeClr val="tx2"/>
                </a:solidFill>
              </a:rPr>
              <a:t>The same bank is written differently in sanctions lists and BIN databases: abbreviations, transliterations, legal forms. Matching on unique identifiers such as the LEI is the long-term fix.</a:t>
            </a:r>
            <a:endParaRPr lang="en-US" sz="1300" dirty="0"/>
          </a:p>
        </p:txBody>
      </p:sp>
      <p:sp>
        <p:nvSpPr>
          <p:cNvPr id="9" name="lesson-1"/>
          <p:cNvSpPr/>
          <p:nvPr/>
        </p:nvSpPr>
        <p:spPr>
          <a:xfrm>
            <a:off x="6231636" y="1600200"/>
            <a:ext cx="5408676"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10" name="Shape 7"/>
          <p:cNvSpPr/>
          <p:nvPr/>
        </p:nvSpPr>
        <p:spPr>
          <a:xfrm>
            <a:off x="6551676" y="1920240"/>
            <a:ext cx="658368" cy="658368"/>
          </a:xfrm>
          <a:prstGeom prst="ellipse">
            <a:avLst/>
          </a:prstGeom>
          <a:solidFill>
            <a:schemeClr val="accent1">
              <a:alpha val="12000"/>
            </a:schemeClr>
          </a:solidFill>
          <a:ln/>
        </p:spPr>
      </p:sp>
      <p:pic>
        <p:nvPicPr>
          <p:cNvPr id="11" name="Image 1" descr="preencoded.png">    </p:cNvPr>
          <p:cNvPicPr>
            <a:picLocks noChangeAspect="1"/>
          </p:cNvPicPr>
          <p:nvPr/>
        </p:nvPicPr>
        <p:blipFill>
          <a:blip r:embed="rId2"/>
          <a:stretch>
            <a:fillRect/>
          </a:stretch>
        </p:blipFill>
        <p:spPr>
          <a:xfrm>
            <a:off x="6716268" y="2084832"/>
            <a:ext cx="329184" cy="329184"/>
          </a:xfrm>
          <a:prstGeom prst="rect">
            <a:avLst/>
          </a:prstGeom>
        </p:spPr>
      </p:pic>
      <p:sp>
        <p:nvSpPr>
          <p:cNvPr id="12" name="Text 8"/>
          <p:cNvSpPr txBox="1"/>
          <p:nvPr/>
        </p:nvSpPr>
        <p:spPr>
          <a:xfrm>
            <a:off x="7420356" y="1947672"/>
            <a:ext cx="3945636" cy="594360"/>
          </a:xfrm>
          <a:prstGeom prst="rect">
            <a:avLst/>
          </a:prstGeom>
          <a:noFill/>
          <a:ln/>
        </p:spPr>
        <p:txBody>
          <a:bodyPr wrap="square" lIns="0" tIns="0" rIns="0" bIns="0" rtlCol="0" anchor="ctr"/>
          <a:lstStyle/>
          <a:p>
            <a:pPr indent="0" marL="0">
              <a:buNone/>
            </a:pPr>
            <a:r>
              <a:rPr lang="en-US" sz="1800" b="1" dirty="0">
                <a:solidFill>
                  <a:schemeClr val="tx1"/>
                </a:solidFill>
              </a:rPr>
              <a:t>BINs aren't banks</a:t>
            </a:r>
            <a:endParaRPr lang="en-US" sz="1800" dirty="0"/>
          </a:p>
        </p:txBody>
      </p:sp>
      <p:sp>
        <p:nvSpPr>
          <p:cNvPr id="13" name="Text 9"/>
          <p:cNvSpPr txBox="1"/>
          <p:nvPr/>
        </p:nvSpPr>
        <p:spPr>
          <a:xfrm>
            <a:off x="7420356" y="2587752"/>
            <a:ext cx="3945636" cy="960120"/>
          </a:xfrm>
          <a:prstGeom prst="rect">
            <a:avLst/>
          </a:prstGeom>
          <a:noFill/>
          <a:ln/>
        </p:spPr>
        <p:txBody>
          <a:bodyPr wrap="square" lIns="0" tIns="0" rIns="0" bIns="0" rtlCol="0" anchor="t"/>
          <a:lstStyle/>
          <a:p>
            <a:pPr indent="0" marL="0">
              <a:buNone/>
            </a:pPr>
            <a:r>
              <a:rPr lang="en-US" sz="1300" dirty="0">
                <a:solidFill>
                  <a:schemeClr val="tx2"/>
                </a:solidFill>
              </a:rPr>
              <a:t>One bank spans many 6- and 8-digit ranges, and some BINs are shared across territories. Too broad and you block legitimate banks; too narrow and you miss one.</a:t>
            </a:r>
            <a:endParaRPr lang="en-US" sz="1300" dirty="0"/>
          </a:p>
        </p:txBody>
      </p:sp>
      <p:sp>
        <p:nvSpPr>
          <p:cNvPr id="14" name="lesson-2"/>
          <p:cNvSpPr/>
          <p:nvPr/>
        </p:nvSpPr>
        <p:spPr>
          <a:xfrm>
            <a:off x="548640" y="3886200"/>
            <a:ext cx="5408676"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15" name="Shape 11"/>
          <p:cNvSpPr/>
          <p:nvPr/>
        </p:nvSpPr>
        <p:spPr>
          <a:xfrm>
            <a:off x="868680" y="4206240"/>
            <a:ext cx="658368" cy="658368"/>
          </a:xfrm>
          <a:prstGeom prst="ellipse">
            <a:avLst/>
          </a:prstGeom>
          <a:solidFill>
            <a:schemeClr val="accent1">
              <a:alpha val="12000"/>
            </a:schemeClr>
          </a:solidFill>
          <a:ln/>
        </p:spPr>
      </p:sp>
      <p:pic>
        <p:nvPicPr>
          <p:cNvPr id="16" name="Image 2" descr="preencoded.png">    </p:cNvPr>
          <p:cNvPicPr>
            <a:picLocks noChangeAspect="1"/>
          </p:cNvPicPr>
          <p:nvPr/>
        </p:nvPicPr>
        <p:blipFill>
          <a:blip r:embed="rId3"/>
          <a:stretch>
            <a:fillRect/>
          </a:stretch>
        </p:blipFill>
        <p:spPr>
          <a:xfrm>
            <a:off x="1033272" y="4370832"/>
            <a:ext cx="329184" cy="329184"/>
          </a:xfrm>
          <a:prstGeom prst="rect">
            <a:avLst/>
          </a:prstGeom>
        </p:spPr>
      </p:pic>
      <p:sp>
        <p:nvSpPr>
          <p:cNvPr id="17" name="Text 12"/>
          <p:cNvSpPr txBox="1"/>
          <p:nvPr/>
        </p:nvSpPr>
        <p:spPr>
          <a:xfrm>
            <a:off x="1737360" y="4233672"/>
            <a:ext cx="3945636" cy="594360"/>
          </a:xfrm>
          <a:prstGeom prst="rect">
            <a:avLst/>
          </a:prstGeom>
          <a:noFill/>
          <a:ln/>
        </p:spPr>
        <p:txBody>
          <a:bodyPr wrap="square" lIns="0" tIns="0" rIns="0" bIns="0" rtlCol="0" anchor="ctr"/>
          <a:lstStyle/>
          <a:p>
            <a:pPr indent="0" marL="0">
              <a:buNone/>
            </a:pPr>
            <a:r>
              <a:rPr lang="en-US" sz="1800" b="1" dirty="0">
                <a:solidFill>
                  <a:schemeClr val="tx1"/>
                </a:solidFill>
              </a:rPr>
              <a:t>Lists move faster than BIN data</a:t>
            </a:r>
            <a:endParaRPr lang="en-US" sz="1800" dirty="0"/>
          </a:p>
        </p:txBody>
      </p:sp>
      <p:sp>
        <p:nvSpPr>
          <p:cNvPr id="18" name="Text 13"/>
          <p:cNvSpPr txBox="1"/>
          <p:nvPr/>
        </p:nvSpPr>
        <p:spPr>
          <a:xfrm>
            <a:off x="1737360" y="4873752"/>
            <a:ext cx="3945636" cy="960120"/>
          </a:xfrm>
          <a:prstGeom prst="rect">
            <a:avLst/>
          </a:prstGeom>
          <a:noFill/>
          <a:ln/>
        </p:spPr>
        <p:txBody>
          <a:bodyPr wrap="square" lIns="0" tIns="0" rIns="0" bIns="0" rtlCol="0" anchor="t"/>
          <a:lstStyle/>
          <a:p>
            <a:pPr indent="0" marL="0">
              <a:buNone/>
            </a:pPr>
            <a:r>
              <a:rPr lang="en-US" sz="1300" dirty="0">
                <a:solidFill>
                  <a:schemeClr val="tx2"/>
                </a:solidFill>
              </a:rPr>
              <a:t>There is a lag between a designation and BIN databases or scheme data catching up. The emergency route exists to cover that window.</a:t>
            </a:r>
            <a:endParaRPr lang="en-US" sz="1300" dirty="0"/>
          </a:p>
        </p:txBody>
      </p:sp>
      <p:sp>
        <p:nvSpPr>
          <p:cNvPr id="19" name="lesson-3"/>
          <p:cNvSpPr/>
          <p:nvPr/>
        </p:nvSpPr>
        <p:spPr>
          <a:xfrm>
            <a:off x="6231636" y="3886200"/>
            <a:ext cx="5408676" cy="2011680"/>
          </a:xfrm>
          <a:prstGeom prst="roundRect">
            <a:avLst>
              <a:gd name="adj" fmla="val 4545"/>
            </a:avLst>
          </a:prstGeom>
          <a:solidFill>
            <a:schemeClr val="bg1"/>
          </a:solidFill>
          <a:ln w="12700">
            <a:solidFill>
              <a:schemeClr val="accent6"/>
            </a:solidFill>
            <a:prstDash val="solid"/>
          </a:ln>
          <a:effectLst>
            <a:outerShdw sx="100000" sy="100000" kx="0" ky="0" algn="bl" rotWithShape="0" blurRad="101600" dist="25400" dir="5400000">
              <a:srgbClr val="0B1526">
                <a:alpha val="12000"/>
              </a:srgbClr>
            </a:outerShdw>
          </a:effectLst>
        </p:spPr>
      </p:sp>
      <p:sp>
        <p:nvSpPr>
          <p:cNvPr id="20" name="Shape 15"/>
          <p:cNvSpPr/>
          <p:nvPr/>
        </p:nvSpPr>
        <p:spPr>
          <a:xfrm>
            <a:off x="6551676" y="4206240"/>
            <a:ext cx="658368" cy="658368"/>
          </a:xfrm>
          <a:prstGeom prst="ellipse">
            <a:avLst/>
          </a:prstGeom>
          <a:solidFill>
            <a:schemeClr val="accent1">
              <a:alpha val="12000"/>
            </a:schemeClr>
          </a:solidFill>
          <a:ln/>
        </p:spPr>
      </p:sp>
      <p:pic>
        <p:nvPicPr>
          <p:cNvPr id="21" name="Image 3" descr="preencoded.png">    </p:cNvPr>
          <p:cNvPicPr>
            <a:picLocks noChangeAspect="1"/>
          </p:cNvPicPr>
          <p:nvPr/>
        </p:nvPicPr>
        <p:blipFill>
          <a:blip r:embed="rId4"/>
          <a:stretch>
            <a:fillRect/>
          </a:stretch>
        </p:blipFill>
        <p:spPr>
          <a:xfrm>
            <a:off x="6716268" y="4370832"/>
            <a:ext cx="329184" cy="329184"/>
          </a:xfrm>
          <a:prstGeom prst="rect">
            <a:avLst/>
          </a:prstGeom>
        </p:spPr>
      </p:pic>
      <p:sp>
        <p:nvSpPr>
          <p:cNvPr id="22" name="Text 16"/>
          <p:cNvSpPr txBox="1"/>
          <p:nvPr/>
        </p:nvSpPr>
        <p:spPr>
          <a:xfrm>
            <a:off x="7420356" y="4233672"/>
            <a:ext cx="3945636" cy="594360"/>
          </a:xfrm>
          <a:prstGeom prst="rect">
            <a:avLst/>
          </a:prstGeom>
          <a:noFill/>
          <a:ln/>
        </p:spPr>
        <p:txBody>
          <a:bodyPr wrap="square" lIns="0" tIns="0" rIns="0" bIns="0" rtlCol="0" anchor="ctr"/>
          <a:lstStyle/>
          <a:p>
            <a:pPr indent="0" marL="0">
              <a:buNone/>
            </a:pPr>
            <a:r>
              <a:rPr lang="en-US" sz="1800" b="1" dirty="0">
                <a:solidFill>
                  <a:schemeClr val="tx1"/>
                </a:solidFill>
              </a:rPr>
              <a:t>Ownership isn't on the list</a:t>
            </a:r>
            <a:endParaRPr lang="en-US" sz="1800" dirty="0"/>
          </a:p>
        </p:txBody>
      </p:sp>
      <p:sp>
        <p:nvSpPr>
          <p:cNvPr id="23" name="Text 17"/>
          <p:cNvSpPr txBox="1"/>
          <p:nvPr/>
        </p:nvSpPr>
        <p:spPr>
          <a:xfrm>
            <a:off x="7420356" y="4873752"/>
            <a:ext cx="3945636" cy="960120"/>
          </a:xfrm>
          <a:prstGeom prst="rect">
            <a:avLst/>
          </a:prstGeom>
          <a:noFill/>
          <a:ln/>
        </p:spPr>
        <p:txBody>
          <a:bodyPr wrap="square" lIns="0" tIns="0" rIns="0" bIns="0" rtlCol="0" anchor="t"/>
          <a:lstStyle/>
          <a:p>
            <a:pPr indent="0" marL="0">
              <a:buNone/>
            </a:pPr>
            <a:r>
              <a:rPr lang="en-US" sz="1300" dirty="0">
                <a:solidFill>
                  <a:schemeClr val="tx2"/>
                </a:solidFill>
              </a:rPr>
              <a:t>A bank can be sanctioned through ownership or control without being named. Finding it takes an ownership assessment, not just a list lookup.</a:t>
            </a:r>
            <a:endParaRPr lang="en-US" sz="1300" dirty="0"/>
          </a:p>
        </p:txBody>
      </p:sp>
      <p:sp>
        <p:nvSpPr>
          <p:cNvPr id="24"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tx2"/>
                </a:solidFill>
                <a:latin typeface="Arial" pitchFamily="34" charset="0"/>
                <a:ea typeface="Arial" pitchFamily="34" charset="-122"/>
                <a:cs typeface="Arial" pitchFamily="34" charset="-120"/>
              </a:rPr>
              <a:t>Source: Blocking framework §3, §6.3, §7.4, §8.2, §10.4</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laceholder"/>
          <p:cNvSpPr/>
          <p:nvPr>
            <p:ph idx="100" type="title" hasCustomPrompt="1"/>
          </p:nvPr>
        </p:nvSpPr>
        <p:spPr>
          <a:xfrm>
            <a:off x="548640" y="548640"/>
            <a:ext cx="8595360" cy="868680"/>
          </a:xfrm>
          <a:prstGeom prst="rect">
            <a:avLst/>
          </a:prstGeom>
          <a:noFill/>
          <a:ln/>
        </p:spPr>
        <p:txBody>
          <a:bodyPr wrap="square" lIns="0" tIns="0" rIns="0" bIns="0" rtlCol="0" anchor="t"/>
          <a:lstStyle/>
          <a:p>
            <a:pPr algn="l" indent="0" marL="0">
              <a:buNone/>
            </a:pPr>
            <a:r>
              <a:rPr lang="en-US" sz="3200" b="1" dirty="0">
                <a:solidFill>
                  <a:schemeClr val="bg1"/>
                </a:solidFill>
                <a:latin typeface="Arial" pitchFamily="34" charset="0"/>
                <a:ea typeface="Arial" pitchFamily="34" charset="-122"/>
                <a:cs typeface="Arial" pitchFamily="34" charset="-120"/>
              </a:rPr>
              <a:t>Three things to take away</a:t>
            </a:r>
            <a:endParaRPr lang="en-US" sz="3200" dirty="0"/>
          </a:p>
        </p:txBody>
      </p:sp>
      <p:sp>
        <p:nvSpPr>
          <p:cNvPr id="3" name="Tag placeholder"/>
          <p:cNvSpPr/>
          <p:nvPr>
            <p:ph idx="101" type="body" hasCustomPrompt="1"/>
          </p:nvPr>
        </p:nvSpPr>
        <p:spPr>
          <a:xfrm>
            <a:off x="9326880" y="621792"/>
            <a:ext cx="2313432" cy="274320"/>
          </a:xfrm>
          <a:prstGeom prst="rect">
            <a:avLst/>
          </a:prstGeom>
          <a:noFill/>
          <a:ln/>
        </p:spPr>
        <p:txBody>
          <a:bodyPr wrap="square" lIns="0" tIns="0" rIns="0" bIns="0" rtlCol="0" anchor="t"/>
          <a:lstStyle/>
          <a:p>
            <a:pPr algn="r" indent="0" marL="0">
              <a:buNone/>
            </a:pPr>
            <a:r>
              <a:rPr lang="en-US" sz="1000" b="1" spc="150" kern="0" dirty="0">
                <a:solidFill>
                  <a:schemeClr val="accent5"/>
                </a:solidFill>
                <a:latin typeface="Arial" pitchFamily="34" charset="0"/>
                <a:ea typeface="Arial" pitchFamily="34" charset="-122"/>
                <a:cs typeface="Arial" pitchFamily="34" charset="-120"/>
              </a:rPr>
              <a:t>TAKEAWAYS</a:t>
            </a:r>
            <a:endParaRPr lang="en-US" sz="1000" dirty="0"/>
          </a:p>
        </p:txBody>
      </p:sp>
      <p:sp>
        <p:nvSpPr>
          <p:cNvPr id="4" name="Text 2"/>
          <p:cNvSpPr txBox="1"/>
          <p:nvPr/>
        </p:nvSpPr>
        <p:spPr>
          <a:xfrm>
            <a:off x="548640" y="2194560"/>
            <a:ext cx="1371600" cy="822960"/>
          </a:xfrm>
          <a:prstGeom prst="rect">
            <a:avLst/>
          </a:prstGeom>
          <a:noFill/>
          <a:ln/>
        </p:spPr>
        <p:txBody>
          <a:bodyPr wrap="square" lIns="0" tIns="0" rIns="0" bIns="0" rtlCol="0" anchor="t"/>
          <a:lstStyle/>
          <a:p>
            <a:pPr indent="0" marL="0">
              <a:buNone/>
            </a:pPr>
            <a:r>
              <a:rPr lang="en-US" sz="4800" b="1" dirty="0">
                <a:solidFill>
                  <a:schemeClr val="accent1"/>
                </a:solidFill>
              </a:rPr>
              <a:t>01</a:t>
            </a:r>
            <a:endParaRPr lang="en-US" sz="4800" dirty="0"/>
          </a:p>
        </p:txBody>
      </p:sp>
      <p:sp>
        <p:nvSpPr>
          <p:cNvPr id="5" name="Shape 3"/>
          <p:cNvSpPr/>
          <p:nvPr/>
        </p:nvSpPr>
        <p:spPr>
          <a:xfrm>
            <a:off x="548640" y="3154680"/>
            <a:ext cx="3575304" cy="0"/>
          </a:xfrm>
          <a:prstGeom prst="line">
            <a:avLst/>
          </a:prstGeom>
          <a:noFill/>
          <a:ln w="12700">
            <a:solidFill>
              <a:schemeClr val="accent5"/>
            </a:solidFill>
            <a:prstDash val="solid"/>
            <a:tailEnd type="none"/>
          </a:ln>
        </p:spPr>
      </p:sp>
      <p:sp>
        <p:nvSpPr>
          <p:cNvPr id="6" name="Text 4"/>
          <p:cNvSpPr txBox="1"/>
          <p:nvPr/>
        </p:nvSpPr>
        <p:spPr>
          <a:xfrm>
            <a:off x="548640" y="3383280"/>
            <a:ext cx="3566160" cy="411480"/>
          </a:xfrm>
          <a:prstGeom prst="rect">
            <a:avLst/>
          </a:prstGeom>
          <a:noFill/>
          <a:ln/>
        </p:spPr>
        <p:txBody>
          <a:bodyPr wrap="square" lIns="0" tIns="0" rIns="0" bIns="0" rtlCol="0" anchor="t"/>
          <a:lstStyle/>
          <a:p>
            <a:pPr indent="0" marL="0">
              <a:buNone/>
            </a:pPr>
            <a:r>
              <a:rPr lang="en-US" sz="2000" b="1" dirty="0">
                <a:solidFill>
                  <a:schemeClr val="bg1"/>
                </a:solidFill>
              </a:rPr>
              <a:t>We block it ourselves</a:t>
            </a:r>
            <a:endParaRPr lang="en-US" sz="2000" dirty="0"/>
          </a:p>
        </p:txBody>
      </p:sp>
      <p:sp>
        <p:nvSpPr>
          <p:cNvPr id="7" name="Text 5"/>
          <p:cNvSpPr txBox="1"/>
          <p:nvPr/>
        </p:nvSpPr>
        <p:spPr>
          <a:xfrm>
            <a:off x="548640" y="3886200"/>
            <a:ext cx="3474720" cy="1280160"/>
          </a:xfrm>
          <a:prstGeom prst="rect">
            <a:avLst/>
          </a:prstGeom>
          <a:noFill/>
          <a:ln/>
        </p:spPr>
        <p:txBody>
          <a:bodyPr wrap="square" lIns="0" tIns="0" rIns="0" bIns="0" rtlCol="0" anchor="t"/>
          <a:lstStyle/>
          <a:p>
            <a:pPr indent="0" marL="0">
              <a:buNone/>
            </a:pPr>
            <a:r>
              <a:rPr lang="en-US" sz="1500" dirty="0">
                <a:solidFill>
                  <a:schemeClr val="bg2"/>
                </a:solidFill>
              </a:rPr>
              <a:t>The check sits inside our payment flow, before the scheme sees the payment. Partners don't carry our liability.</a:t>
            </a:r>
            <a:endParaRPr lang="en-US" sz="1500" dirty="0"/>
          </a:p>
        </p:txBody>
      </p:sp>
      <p:sp>
        <p:nvSpPr>
          <p:cNvPr id="8" name="Text 6"/>
          <p:cNvSpPr txBox="1"/>
          <p:nvPr/>
        </p:nvSpPr>
        <p:spPr>
          <a:xfrm>
            <a:off x="4306824" y="2194560"/>
            <a:ext cx="1371600" cy="822960"/>
          </a:xfrm>
          <a:prstGeom prst="rect">
            <a:avLst/>
          </a:prstGeom>
          <a:noFill/>
          <a:ln/>
        </p:spPr>
        <p:txBody>
          <a:bodyPr wrap="square" lIns="0" tIns="0" rIns="0" bIns="0" rtlCol="0" anchor="t"/>
          <a:lstStyle/>
          <a:p>
            <a:pPr indent="0" marL="0">
              <a:buNone/>
            </a:pPr>
            <a:r>
              <a:rPr lang="en-US" sz="4800" b="1" dirty="0">
                <a:solidFill>
                  <a:schemeClr val="accent1"/>
                </a:solidFill>
              </a:rPr>
              <a:t>02</a:t>
            </a:r>
            <a:endParaRPr lang="en-US" sz="4800" dirty="0"/>
          </a:p>
        </p:txBody>
      </p:sp>
      <p:sp>
        <p:nvSpPr>
          <p:cNvPr id="9" name="Shape 7"/>
          <p:cNvSpPr/>
          <p:nvPr/>
        </p:nvSpPr>
        <p:spPr>
          <a:xfrm>
            <a:off x="4306824" y="3154680"/>
            <a:ext cx="3575304" cy="0"/>
          </a:xfrm>
          <a:prstGeom prst="line">
            <a:avLst/>
          </a:prstGeom>
          <a:noFill/>
          <a:ln w="12700">
            <a:solidFill>
              <a:schemeClr val="accent5"/>
            </a:solidFill>
            <a:prstDash val="solid"/>
            <a:tailEnd type="none"/>
          </a:ln>
        </p:spPr>
      </p:sp>
      <p:sp>
        <p:nvSpPr>
          <p:cNvPr id="10" name="Text 8"/>
          <p:cNvSpPr txBox="1"/>
          <p:nvPr/>
        </p:nvSpPr>
        <p:spPr>
          <a:xfrm>
            <a:off x="4306824" y="3383280"/>
            <a:ext cx="3566160" cy="411480"/>
          </a:xfrm>
          <a:prstGeom prst="rect">
            <a:avLst/>
          </a:prstGeom>
          <a:noFill/>
          <a:ln/>
        </p:spPr>
        <p:txBody>
          <a:bodyPr wrap="square" lIns="0" tIns="0" rIns="0" bIns="0" rtlCol="0" anchor="t"/>
          <a:lstStyle/>
          <a:p>
            <a:pPr indent="0" marL="0">
              <a:buNone/>
            </a:pPr>
            <a:r>
              <a:rPr lang="en-US" sz="2000" b="1" dirty="0">
                <a:solidFill>
                  <a:schemeClr val="bg1"/>
                </a:solidFill>
              </a:rPr>
              <a:t>The list is kept current</a:t>
            </a:r>
            <a:endParaRPr lang="en-US" sz="2000" dirty="0"/>
          </a:p>
        </p:txBody>
      </p:sp>
      <p:sp>
        <p:nvSpPr>
          <p:cNvPr id="11" name="Text 9"/>
          <p:cNvSpPr txBox="1"/>
          <p:nvPr/>
        </p:nvSpPr>
        <p:spPr>
          <a:xfrm>
            <a:off x="4306824" y="3886200"/>
            <a:ext cx="3474720" cy="1280160"/>
          </a:xfrm>
          <a:prstGeom prst="rect">
            <a:avLst/>
          </a:prstGeom>
          <a:noFill/>
          <a:ln/>
        </p:spPr>
        <p:txBody>
          <a:bodyPr wrap="square" lIns="0" tIns="0" rIns="0" bIns="0" rtlCol="0" anchor="t"/>
          <a:lstStyle/>
          <a:p>
            <a:pPr indent="0" marL="0">
              <a:buNone/>
            </a:pPr>
            <a:r>
              <a:rPr lang="en-US" sz="1500" dirty="0">
                <a:solidFill>
                  <a:schemeClr val="bg2"/>
                </a:solidFill>
              </a:rPr>
              <a:t>Weekly updates, a 2-hour Register update for major designations, and fortnightly reconciliation against industry lists.</a:t>
            </a:r>
            <a:endParaRPr lang="en-US" sz="1500" dirty="0"/>
          </a:p>
        </p:txBody>
      </p:sp>
      <p:sp>
        <p:nvSpPr>
          <p:cNvPr id="12" name="Text 10"/>
          <p:cNvSpPr txBox="1"/>
          <p:nvPr/>
        </p:nvSpPr>
        <p:spPr>
          <a:xfrm>
            <a:off x="8065008" y="2194560"/>
            <a:ext cx="1371600" cy="822960"/>
          </a:xfrm>
          <a:prstGeom prst="rect">
            <a:avLst/>
          </a:prstGeom>
          <a:noFill/>
          <a:ln/>
        </p:spPr>
        <p:txBody>
          <a:bodyPr wrap="square" lIns="0" tIns="0" rIns="0" bIns="0" rtlCol="0" anchor="t"/>
          <a:lstStyle/>
          <a:p>
            <a:pPr indent="0" marL="0">
              <a:buNone/>
            </a:pPr>
            <a:r>
              <a:rPr lang="en-US" sz="4800" b="1" dirty="0">
                <a:solidFill>
                  <a:schemeClr val="accent4"/>
                </a:solidFill>
              </a:rPr>
              <a:t>03</a:t>
            </a:r>
            <a:endParaRPr lang="en-US" sz="4800" dirty="0"/>
          </a:p>
        </p:txBody>
      </p:sp>
      <p:sp>
        <p:nvSpPr>
          <p:cNvPr id="13" name="Shape 11"/>
          <p:cNvSpPr/>
          <p:nvPr/>
        </p:nvSpPr>
        <p:spPr>
          <a:xfrm>
            <a:off x="8065008" y="3154680"/>
            <a:ext cx="3575304" cy="0"/>
          </a:xfrm>
          <a:prstGeom prst="line">
            <a:avLst/>
          </a:prstGeom>
          <a:noFill/>
          <a:ln w="12700">
            <a:solidFill>
              <a:schemeClr val="accent5"/>
            </a:solidFill>
            <a:prstDash val="solid"/>
            <a:tailEnd type="none"/>
          </a:ln>
        </p:spPr>
      </p:sp>
      <p:sp>
        <p:nvSpPr>
          <p:cNvPr id="14" name="Text 12"/>
          <p:cNvSpPr txBox="1"/>
          <p:nvPr/>
        </p:nvSpPr>
        <p:spPr>
          <a:xfrm>
            <a:off x="8065008" y="3383280"/>
            <a:ext cx="3566160" cy="411480"/>
          </a:xfrm>
          <a:prstGeom prst="rect">
            <a:avLst/>
          </a:prstGeom>
          <a:noFill/>
          <a:ln/>
        </p:spPr>
        <p:txBody>
          <a:bodyPr wrap="square" lIns="0" tIns="0" rIns="0" bIns="0" rtlCol="0" anchor="t"/>
          <a:lstStyle/>
          <a:p>
            <a:pPr indent="0" marL="0">
              <a:buNone/>
            </a:pPr>
            <a:r>
              <a:rPr lang="en-US" sz="2000" b="1" dirty="0">
                <a:solidFill>
                  <a:schemeClr val="bg1"/>
                </a:solidFill>
              </a:rPr>
              <a:t>People make the decisions</a:t>
            </a:r>
            <a:endParaRPr lang="en-US" sz="2000" dirty="0"/>
          </a:p>
        </p:txBody>
      </p:sp>
      <p:sp>
        <p:nvSpPr>
          <p:cNvPr id="15" name="Text 13"/>
          <p:cNvSpPr txBox="1"/>
          <p:nvPr/>
        </p:nvSpPr>
        <p:spPr>
          <a:xfrm>
            <a:off x="8065008" y="3886200"/>
            <a:ext cx="3474720" cy="1280160"/>
          </a:xfrm>
          <a:prstGeom prst="rect">
            <a:avLst/>
          </a:prstGeom>
          <a:noFill/>
          <a:ln/>
        </p:spPr>
        <p:txBody>
          <a:bodyPr wrap="square" lIns="0" tIns="0" rIns="0" bIns="0" rtlCol="0" anchor="t"/>
          <a:lstStyle/>
          <a:p>
            <a:pPr indent="0" marL="0">
              <a:buNone/>
            </a:pPr>
            <a:r>
              <a:rPr lang="en-US" sz="1500" dirty="0">
                <a:solidFill>
                  <a:schemeClr val="bg2"/>
                </a:solidFill>
              </a:rPr>
              <a:t>The Sanctions Team approves every change to the list, including shared-BIN exceptions.</a:t>
            </a:r>
            <a:endParaRPr lang="en-US" sz="1500" dirty="0"/>
          </a:p>
        </p:txBody>
      </p:sp>
      <p:sp>
        <p:nvSpPr>
          <p:cNvPr id="16" name="Source placeholder"/>
          <p:cNvSpPr/>
          <p:nvPr>
            <p:ph idx="102" type="body" hasCustomPrompt="1"/>
          </p:nvPr>
        </p:nvSpPr>
        <p:spPr>
          <a:xfrm>
            <a:off x="548640" y="6309360"/>
            <a:ext cx="5120640" cy="274320"/>
          </a:xfrm>
          <a:prstGeom prst="rect">
            <a:avLst/>
          </a:prstGeom>
          <a:noFill/>
          <a:ln/>
        </p:spPr>
        <p:txBody>
          <a:bodyPr wrap="square" lIns="0" tIns="0" rIns="0" bIns="0" rtlCol="0" anchor="ctr"/>
          <a:lstStyle/>
          <a:p>
            <a:pPr algn="l" indent="0" marL="0">
              <a:buNone/>
            </a:pPr>
            <a:r>
              <a:rPr lang="en-US" sz="1000" dirty="0">
                <a:solidFill>
                  <a:schemeClr val="accent5"/>
                </a:solidFill>
                <a:latin typeface="Arial" pitchFamily="34" charset="0"/>
                <a:ea typeface="Arial" pitchFamily="34" charset="-122"/>
                <a:cs typeface="Arial" pitchFamily="34" charset="-120"/>
              </a:rPr>
              <a:t>Source: Blocking framework §6.1, §7.2, §8.2, §9.1, §10.4</a:t>
            </a:r>
            <a:endParaRPr lang="en-US" sz="1000" dirty="0"/>
          </a:p>
        </p:txBody>
      </p:sp>
      <p:sp>
        <p:nvSpPr>
          <p:cNvPr id="25" name="Slide Number Placeholder 0"/>
          <p:cNvSpPr>
            <a:spLocks noGrp="1"/>
          </p:cNvSpPr>
          <p:nvPr>
            <p:ph type="sldNum" sz="quarter" idx="4294967295"/>
          </p:nvPr>
        </p:nvSpPr>
        <p:spPr>
          <a:xfrm>
            <a:off x="11274552" y="6309360"/>
            <a:ext cx="36576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laceholder"/>
          <p:cNvSpPr/>
          <p:nvPr>
            <p:ph idx="100" type="title" hasCustomPrompt="1"/>
          </p:nvPr>
        </p:nvSpPr>
        <p:spPr>
          <a:xfrm>
            <a:off x="731520" y="2011680"/>
            <a:ext cx="10058400" cy="1097280"/>
          </a:xfrm>
          <a:prstGeom prst="rect">
            <a:avLst/>
          </a:prstGeom>
          <a:noFill/>
          <a:ln/>
        </p:spPr>
        <p:txBody>
          <a:bodyPr wrap="square" lIns="0" tIns="0" rIns="0" bIns="0" rtlCol="0" anchor="t"/>
          <a:lstStyle/>
          <a:p>
            <a:pPr algn="l" indent="0" marL="0">
              <a:buNone/>
            </a:pPr>
            <a:r>
              <a:rPr lang="en-US" sz="4600" b="1" dirty="0">
                <a:solidFill>
                  <a:schemeClr val="bg1"/>
                </a:solidFill>
                <a:latin typeface="Arial" pitchFamily="34" charset="0"/>
                <a:ea typeface="Arial" pitchFamily="34" charset="-122"/>
                <a:cs typeface="Arial" pitchFamily="34" charset="-120"/>
              </a:rPr>
              <a:t>Questions</a:t>
            </a:r>
            <a:endParaRPr lang="en-US" sz="4600" dirty="0"/>
          </a:p>
        </p:txBody>
      </p:sp>
      <p:sp>
        <p:nvSpPr>
          <p:cNvPr id="3" name="Body placeholder"/>
          <p:cNvSpPr/>
          <p:nvPr>
            <p:ph idx="101" type="body" hasCustomPrompt="1"/>
          </p:nvPr>
        </p:nvSpPr>
        <p:spPr>
          <a:xfrm>
            <a:off x="731520" y="3291840"/>
            <a:ext cx="8778240" cy="1097280"/>
          </a:xfrm>
          <a:prstGeom prst="rect">
            <a:avLst/>
          </a:prstGeom>
          <a:noFill/>
          <a:ln/>
        </p:spPr>
        <p:txBody>
          <a:bodyPr wrap="square" lIns="0" tIns="0" rIns="0" bIns="0" rtlCol="0" anchor="t"/>
          <a:lstStyle/>
          <a:p>
            <a:pPr algn="l" indent="0" marL="0">
              <a:buNone/>
            </a:pPr>
            <a:r>
              <a:rPr lang="en-US" sz="1800" dirty="0">
                <a:solidFill>
                  <a:schemeClr val="bg2"/>
                </a:solidFill>
                <a:latin typeface="Arial" pitchFamily="34" charset="0"/>
                <a:ea typeface="Arial" pitchFamily="34" charset="-122"/>
                <a:cs typeface="Arial" pitchFamily="34" charset="-120"/>
              </a:rPr>
              <a:t>Global Screening · Checkout.com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handout" descr="Appendix: one-page process flow of sanctioned bank BIN blocki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Global Screening">
  <a:themeElements>
    <a:clrScheme name="Global Screening">
      <a:dk1>
        <a:srgbClr val="0B1526"/>
      </a:dk1>
      <a:lt1>
        <a:srgbClr val="FFFFFF"/>
      </a:lt1>
      <a:dk2>
        <a:srgbClr val="55617A"/>
      </a:dk2>
      <a:lt2>
        <a:srgbClr val="F2F4F8"/>
      </a:lt2>
      <a:accent1>
        <a:srgbClr val="3446D4"/>
      </a:accent1>
      <a:accent2>
        <a:srgbClr val="C8261B"/>
      </a:accent2>
      <a:accent3>
        <a:srgbClr val="12805A"/>
      </a:accent3>
      <a:accent4>
        <a:srgbClr val="B45309"/>
      </a:accent4>
      <a:accent5>
        <a:srgbClr val="8B95A8"/>
      </a:accent5>
      <a:accent6>
        <a:srgbClr val="D3D9E3"/>
      </a:accent6>
      <a:hlink>
        <a:srgbClr val="3446D4"/>
      </a:hlink>
      <a:folHlink>
        <a:srgbClr val="55617A"/>
      </a:folHlink>
    </a:clrScheme>
    <a:fontScheme name="Global Scree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Checkout.com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Stopping sanctioned banks at the point of payment</dc:title>
  <dc:subject>Sanctioned bank BIN blocking: process flow</dc:subject>
  <dc:creator>PptxGenJS</dc:creator>
  <cp:lastModifiedBy>PptxGenJS</cp:lastModifiedBy>
  <cp:revision>1</cp:revision>
  <dcterms:created xsi:type="dcterms:W3CDTF">2026-10-07T00:00:42Z</dcterms:created>
  <dcterms:modified xsi:type="dcterms:W3CDTF">2026-10-07T00:00:42Z</dcterms:modified>
</cp:coreProperties>
</file>