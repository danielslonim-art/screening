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eafe5db-6670-cf6b-c2b0-3b2e229aa77d}">
          <p14:sldIdLst>
            <p14:sldId id="256"/>
            <p14:sldId id="257"/>
            <p14:sldId id="258"/>
          </p14:sldIdLst>
        </p14:section>
        <p14:section name="Part 1 — Understand the model" id="{b68bfadf-f6ed-275d-6c2f-798de65279d7}">
          <p14:sldIdLst>
            <p14:sldId id="259"/>
            <p14:sldId id="260"/>
            <p14:sldId id="261"/>
            <p14:sldId id="262"/>
          </p14:sldIdLst>
        </p14:section>
        <p14:section name="Part 2 — Compare the regions" id="{017ceb42-85d3-da8c-4f20-75fc429c6149}">
          <p14:sldIdLst>
            <p14:sldId id="263"/>
            <p14:sldId id="264"/>
            <p14:sldId id="265"/>
            <p14:sldId id="266"/>
            <p14:sldId id="267"/>
            <p14:sldId id="268"/>
          </p14:sldIdLst>
        </p14:section>
        <p14:section name="Part 3 — Apply the indicators" id="{5224e87e-b07c-8804-2243-4400a4dab572}">
          <p14:sldIdLst>
            <p14:sldId id="269"/>
            <p14:sldId id="270"/>
            <p14:sldId id="271"/>
            <p14:sldId id="272"/>
            <p14:sldId id="273"/>
          </p14:sldIdLst>
        </p14:section>
        <p14:section name="Part 4 — Record the decision" id="{c1e0ba1f-60d2-be28-4fce-726844903ee6}">
          <p14:sldIdLst>
            <p14:sldId id="274"/>
            <p14:sldId id="275"/>
            <p14:sldId id="276"/>
            <p14:sldId id="277"/>
          </p14:sldIdLst>
        </p14:section>
        <p14:section name="Close" id="{3db1baeb-1665-9521-0297-3bec18f370b5}">
          <p14:sldIdLst>
            <p14:sldId id="278"/>
          </p14:sldIdLst>
        </p14:section>
        <p14:section name="Appendix" id="{b97a0630-62f8-0df7-762c-092dbfcab103}">
          <p14:sldIdLst>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Analyst edition of 'Sanctions in Practice October 2026 — Regional Rules, Common Controls &amp; Escalation'. Same tone and structure as the original, condensed from 44 slides to 18 plus two appendix slides. Regional rules differ; the control objective is constant. The four steps — pause, investigate, escalate, record — recur throughout.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strict liability — it is the most important UK nuance, and it applies to civil penalties only; criminal offences still require knowledge or reasonable cause to suspect. Both cases are operational failures rather than missing systems. Citibank: a legal-form prefix defeated the screening, a backlog built at third-level review, ownership assessments missed subsidiaries, and temporary guidance meant accounts were not restricted without evidence of more than 50% ownership. Bank of Scotland: an alert did fire and was wrongly discounted; OFSI also noted there was no route to escalate possible sanctions links from PEP alerts.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capabilities give the session its direction, and each part opens with its theme, where it sits in our current process, and a question to keep in mind. The thread running through all four is the same action sequence on every alert: pause, investigate, escalate, record. As in the original, the regions are operating lenses, not single legal regimes — local law, group policy and partner rules apply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direction for Part 1: before any regional detail, analysts need one model they apply identically to every alert. Anchor it in the current process — the Firco queue, the L1 review, the 4-eye check and the L2 escalation path — so the principles feel like a description of their own job rather than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eight principles carry the whole session; each case later maps back to them. Principle 1 is highlighted because under UK strict liability unresolved doubt produces a hold, not a release. Principle 5 is the Citibank lesson: guidance that required affirmative evidence of ownership before restricting turned missing data into processed payments.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Kept from the original with an example on each card. The geography example is the Bittrex lesson (OFAC, October 2022): IP and address data was collected at onboarding but never screened for sanctioned jurisdictions.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brings together the original triage slide, the common control model and the operating model. The addition is an explicit boundary between what an L1 analyst decides and what is reserved for L2/L3: the original 'Decide' column listed freeze, reject and licence review as if they were analyst actions. Stress 'no refund or return to the sender' — returning funds to a designated person is itself making funds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from Part 1: the same model applies everywhere, but the answer can change with the regime. The aim is recognition, not memorisation. Point analysts to the information they already have in the case record — legal entity, route, currency — and to the Country Risk Rating and legal-entity HRTC registers.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every layer, in order' sat on the MENA slide of the original. It is the organising idea for every region, so it now comes first. The three nexus tests replace six separate regional lenses: analysts need to recognise which regimes are triggered, not memorise six rulebooks. Key principle from the original: a local nexus does not remove UK, US, EU or correspondent-bank exposure. Warn against 'USD = automatic OFAC' in both directions — USD is a common trigger, but a non-USD payment can still have a US nexus through a US person, bank or goods.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card answers the same four questions in the same order as the original comparison table: list source, ownership/control, reporting route, and the nuance that most often changes the outcome. Reporting is always done by L2/L3, never by the analyst. Facilitator notes: the former OFSI Consolidated List remains online but receives no new names. EU Art 8 reporting is now 'within two weeks', but the French freeze report (CMF L562-4) remains immediate. The French register includes national-only designations.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regimes mainly implement UN measures, with a local overlay. The nuance analysts miss is the reverse direction: a local clear does not clear the payment. UAE: CNMR and PNMR cover the UN and UAE Local Terrorist lists only, not OFAC, EU or UK hits. Singapore is unusual among Asian centres in having its own Russia financial measures (Notice SNR-N01, re-issued 30 June 2025). Hong Kong applies UN sanctions only. Saudi Arabia (SAMA TFS Rules, 7 December 2025) appeared in the original MENA slide; add a card only if a Checkout entity or product is SAMA-supervised.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never set the thresholds side by side. The UK is the outlier: more than 50%, and different designated persons' holdings are not added together (unless held jointly or one controls the other's rights). The EU and US both use 50% or more and aggregate. The percentages are for awareness; the analyst action is always to escalate. Missing UBO data, or a chain that ends at a nominee, is never a reason to clear — the Citibank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UK slide said 'a rejected payment is not treated like frozen assets', which an analyst can read as 'a rejection needs no report'. That is the wrong takeaway: the UK reporting duty is triggered by knowledge or reasonable cause to suspect, and in the US both blocked and rejected transactions are reported within 10 business days. The analyst never chooses between freeze and reject.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from Part 2: knowing the rules is only useful if the evidence is gathered properly. This part is practical — every slide ends in an action the analyst can take with today's tools. Encourage analysts to name the tool or process step they would use at each point in the case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slide. Both UK penalties in this session involved name variants, so analysts need to recognise them when reviewing a near-match and must not discount an alert because the score is low or the name looks different. Legal-form prefixes are the most common miss for entities; transliteration for individuals.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'How to avoid tipping off?' slide had a title but no content. Technical note: tipping off is an AML/CTF offence (UK: POCA s.333A and TA 2000 s.21D), not an offence under the sanctions regulations. What a customer is told about frozen funds is a separate question for L2; customer scripts must be approved by the Sanctions Officer or MLRO.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to vote on each case before revealing the decision. Common pitfalls: in case 01, closing on the name difference alone, or keeping an evidenced false positive open 'to be safe'; in case 02, 'they hold no shares, so it's fine'. The control test is legally nuanced, which is why it is an L2 decision rather than an L1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Case 03: Hong Kong applies UN sanctions only, so a local clear is common while UK, EU or US exposure remains. Case 04: merchant comfort is a commercial view, not evidence — just because the merchant says yes does not mean we have to say yes. Note that the original answer slide read 'Clear only if truly matched'; that wording is inverted and has been corrected. If the payment is rejected, L2 still considers whether a report is needed, because reasonable cause to suspect does not disappear on rejection.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from Part 3: the evidence only protects the firm if it is recorded. The cross-team exercise then shows how sanctions screening, transaction monitoring and event-driven review feed one joined-up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Combines the original 'joined case note' and 'defensible case note' into one template, using the insurance case as the worked example. Merchant comfort must never be converted into a false-positive rationale.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Condensed from the original nine-slide sequence. Reveal one evidence drop at a time if you want to keep the original pacing, and ask for a vote after each. Before the reveal, require each group to name the specific evidence that supports its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not A: the alias match is unresolved and the ownership chain is incomplete. Why not B: rejecting one payment leaves the customer, the control question and the transaction pattern unaddressed. Debrief: what information would change the outcome to 'clear', 'reject' or 'freeze and report'? (The director's date of birth and ID resolving the alias, and the UBO behind the nominee.)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walking back through the four parts in one sentence each, then point to the Global Sanctions Reporting Procedure and the Sanctions &amp; Compliance team for edge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deck uses these acronyms without defining them; this page can be handed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original deck gave two or three slides to each of these cases; for an analyst audience each becomes a sentence of narration linked to a principle. The internal anonymised merchant case from the original has deliberately not been reproduced — see the review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6035040" cy="1188720"/>
          </a:xfrm>
          <a:prstGeom prst="rect">
            <a:avLst/>
          </a:prstGeom>
          <a:noFill/>
          <a:ln/>
        </p:spPr>
        <p:txBody>
          <a:bodyPr wrap="square" rtlCol="0"/>
          <a:lstStyle>
            <a:lvl1pPr algn="l" indent="0" marL="0">
              <a:buNone/>
              <a:defRPr lang="en-US" sz="4600" b="1" dirty="0">
                <a:solidFill>
                  <a:schemeClr val="bg1"/>
                </a:solidFill>
              </a:defRPr>
            </a:lvl1pPr>
          </a:lstStyle>
          <a:p>
            <a:pPr algn="l" indent="0" marL="0">
              <a:buNone/>
            </a:pPr>
            <a:endParaRPr lang="en-US" sz="4600" dirty="0"/>
          </a:p>
        </p:txBody>
      </p:sp>
      <p:sp>
        <p:nvSpPr>
          <p:cNvPr id="3" name="Text 0"/>
          <p:cNvSpPr/>
          <p:nvPr>
            <p:ph idx="101" type="body" hasCustomPrompt="1"/>
          </p:nvPr>
        </p:nvSpPr>
        <p:spPr>
          <a:xfrm>
            <a:off x="731520" y="3429000"/>
            <a:ext cx="6035040" cy="1463040"/>
          </a:xfrm>
          <a:prstGeom prst="rect">
            <a:avLst/>
          </a:prstGeom>
          <a:noFill/>
          <a:ln/>
        </p:spPr>
        <p:txBody>
          <a:bodyPr wrap="square" rtlCol="0"/>
          <a:lstStyle>
            <a:lvl1pPr algn="l" indent="0" marL="0">
              <a:buNone/>
              <a:defRPr lang="en-US" sz="2200" dirty="0">
                <a:solidFill>
                  <a:schemeClr val="accent5"/>
                </a:solidFill>
              </a:defRPr>
            </a:lvl1pPr>
          </a:lstStyle>
          <a:p>
            <a:pPr algn="l" indent="0" marL="0">
              <a:buNone/>
            </a:pPr>
            <a:endParaRPr lang="en-US" sz="2200" dirty="0"/>
          </a:p>
        </p:txBody>
      </p:sp>
      <p:sp>
        <p:nvSpPr>
          <p:cNvPr id="4" name="Text 0"/>
          <p:cNvSpPr/>
          <p:nvPr/>
        </p:nvSpPr>
        <p:spPr>
          <a:xfrm>
            <a:off x="731520" y="6263640"/>
            <a:ext cx="10698480" cy="320040"/>
          </a:xfrm>
          <a:prstGeom prst="rect">
            <a:avLst/>
          </a:prstGeom>
          <a:noFill/>
          <a:ln/>
        </p:spPr>
        <p:txBody>
          <a:bodyPr wrap="square" lIns="0" tIns="0" rIns="0" bIns="0" rtlCol="0" anchor="ctr"/>
          <a:lstStyle/>
          <a:p>
            <a:pPr indent="0" marL="0">
              <a:buNone/>
            </a:pPr>
            <a:r>
              <a:rPr lang="en-US" sz="1000" dirty="0">
                <a:solidFill>
                  <a:schemeClr val="accent5"/>
                </a:solidFill>
              </a:rPr>
              <a:t>Current as of 12 October 2026  |  Training use only — not legal advice</a:t>
            </a:r>
            <a:endParaRPr lang="en-US" sz="1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rtlCol="0"/>
          <a:lstStyle>
            <a:lvl1pPr algn="l" indent="0" marL="0">
              <a:buNone/>
              <a:defRPr lang="en-US" sz="1200" b="1" spc="100" kern="0" dirty="0">
                <a:solidFill>
                  <a:schemeClr val="accent1"/>
                </a:solidFill>
              </a:defRPr>
            </a:lvl1pPr>
          </a:lstStyle>
          <a:p>
            <a:pPr algn="l" indent="0" marL="0">
              <a:buNone/>
            </a:pP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4"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chemeClr val="accent6"/>
                </a:solidFill>
              </a:rPr>
              <a:t>Current as of 12 October 2026  |  Training use only — not legal advice</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_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rtlCol="0"/>
          <a:lstStyle>
            <a:lvl1pPr algn="l" indent="0" marL="0">
              <a:buNone/>
              <a:defRPr lang="en-US" sz="1200" b="1" spc="100" kern="0" dirty="0">
                <a:solidFill>
                  <a:schemeClr val="accent2"/>
                </a:solidFill>
              </a:defRPr>
            </a:lvl1pPr>
          </a:lstStyle>
          <a:p>
            <a:pPr algn="l" indent="0" marL="0">
              <a:buNone/>
            </a:pP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4"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chemeClr val="accent5"/>
                </a:solidFill>
              </a:rPr>
              <a:t>Current as of 12 October 2026  |  Training use only — not legal advice</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3.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3.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4.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691640"/>
            <a:ext cx="603504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SANCTIONS TRAINING · OCTOBER 2026</a:t>
            </a:r>
            <a:endParaRPr lang="en-US" sz="1300" dirty="0"/>
          </a:p>
        </p:txBody>
      </p:sp>
      <p:sp>
        <p:nvSpPr>
          <p:cNvPr id="3" name="Text 0"/>
          <p:cNvSpPr/>
          <p:nvPr>
            <p:ph idx="100" type="title" hasCustomPrompt="1"/>
          </p:nvPr>
        </p:nvSpPr>
        <p:spPr>
          <a:xfrm>
            <a:off x="731520" y="2103120"/>
            <a:ext cx="6035040" cy="1188720"/>
          </a:xfrm>
          <a:prstGeom prst="rect">
            <a:avLst/>
          </a:prstGeom>
          <a:noFill/>
          <a:ln/>
        </p:spPr>
        <p:txBody>
          <a:bodyPr wrap="square" lIns="0" tIns="0" rIns="0" bIns="0" rtlCol="0" anchor="b"/>
          <a:lstStyle/>
          <a:p>
            <a:pPr algn="l" indent="0" marL="0">
              <a:buNone/>
            </a:pPr>
            <a:r>
              <a:rPr lang="en-US" sz="4600" b="1" dirty="0">
                <a:solidFill>
                  <a:schemeClr val="bg1"/>
                </a:solidFill>
              </a:rPr>
              <a:t>Sanctions in Practice</a:t>
            </a:r>
            <a:endParaRPr lang="en-US" sz="4600" dirty="0"/>
          </a:p>
        </p:txBody>
      </p:sp>
      <p:sp>
        <p:nvSpPr>
          <p:cNvPr id="4" name="Text 0"/>
          <p:cNvSpPr/>
          <p:nvPr>
            <p:ph idx="101" type="body" hasCustomPrompt="1"/>
          </p:nvPr>
        </p:nvSpPr>
        <p:spPr>
          <a:xfrm>
            <a:off x="731520" y="3429000"/>
            <a:ext cx="6035040" cy="1463040"/>
          </a:xfrm>
          <a:prstGeom prst="rect">
            <a:avLst/>
          </a:prstGeom>
          <a:noFill/>
          <a:ln/>
        </p:spPr>
        <p:txBody>
          <a:bodyPr wrap="square" lIns="0" tIns="0" rIns="0" bIns="0" rtlCol="0" anchor="t"/>
          <a:lstStyle/>
          <a:p>
            <a:pPr algn="l" indent="0" marL="0">
              <a:buNone/>
            </a:pPr>
            <a:r>
              <a:rPr lang="en-US" sz="2200" dirty="0">
                <a:solidFill>
                  <a:schemeClr val="accent5"/>
                </a:solidFill>
              </a:rPr>
              <a:t>A decision discipline, not a list-check</a:t>
            </a:r>
            <a:endParaRPr lang="en-US" sz="2200" dirty="0"/>
          </a:p>
          <a:p>
            <a:pPr algn="l" indent="0" marL="0">
              <a:buNone/>
            </a:pPr>
            <a:r>
              <a:rPr lang="en-US" sz="1600" dirty="0">
                <a:solidFill>
                  <a:schemeClr val="accent5"/>
                </a:solidFill>
              </a:rPr>
              <a:t>Regional rules, common controls &amp; escalation — analyst edition</a:t>
            </a:r>
            <a:endParaRPr lang="en-US" sz="2200" dirty="0"/>
          </a:p>
        </p:txBody>
      </p:sp>
      <p:sp>
        <p:nvSpPr>
          <p:cNvPr id="5" name="Text 3"/>
          <p:cNvSpPr txBox="1"/>
          <p:nvPr/>
        </p:nvSpPr>
        <p:spPr>
          <a:xfrm>
            <a:off x="731520" y="5074920"/>
            <a:ext cx="6035040" cy="320040"/>
          </a:xfrm>
          <a:prstGeom prst="rect">
            <a:avLst/>
          </a:prstGeom>
          <a:noFill/>
          <a:ln/>
        </p:spPr>
        <p:txBody>
          <a:bodyPr wrap="square" lIns="0" tIns="0" rIns="0" bIns="0" rtlCol="0" anchor="t"/>
          <a:lstStyle/>
          <a:p>
            <a:pPr indent="0" marL="0">
              <a:buNone/>
            </a:pPr>
            <a:r>
              <a:rPr lang="en-US" sz="1300" i="1" dirty="0">
                <a:solidFill>
                  <a:schemeClr val="accent5"/>
                </a:solidFill>
              </a:rPr>
              <a:t>Draft for Sanctions Officer review</a:t>
            </a:r>
            <a:endParaRPr lang="en-US" sz="1300" dirty="0"/>
          </a:p>
        </p:txBody>
      </p:sp>
      <p:sp>
        <p:nvSpPr>
          <p:cNvPr id="6" name="one payment"/>
          <p:cNvSpPr/>
          <p:nvPr/>
        </p:nvSpPr>
        <p:spPr>
          <a:xfrm>
            <a:off x="8503920" y="2514600"/>
            <a:ext cx="1554480" cy="1554480"/>
          </a:xfrm>
          <a:prstGeom prst="ellipse">
            <a:avLst/>
          </a:prstGeom>
          <a:solidFill>
            <a:schemeClr val="accent1"/>
          </a:solidFill>
          <a:ln w="12700">
            <a:solidFill>
              <a:schemeClr val="accent1"/>
            </a:solidFill>
            <a:prstDash val="solid"/>
          </a:ln>
        </p:spPr>
      </p:sp>
      <p:sp>
        <p:nvSpPr>
          <p:cNvPr id="7" name="Text 5"/>
          <p:cNvSpPr txBox="1"/>
          <p:nvPr/>
        </p:nvSpPr>
        <p:spPr>
          <a:xfrm>
            <a:off x="8503920" y="2514600"/>
            <a:ext cx="1554480" cy="1554480"/>
          </a:xfrm>
          <a:prstGeom prst="rect">
            <a:avLst/>
          </a:prstGeom>
          <a:noFill/>
          <a:ln/>
        </p:spPr>
        <p:txBody>
          <a:bodyPr wrap="square" lIns="0" tIns="0" rIns="0" bIns="0" rtlCol="0" anchor="ctr"/>
          <a:lstStyle/>
          <a:p>
            <a:pPr algn="ctr" indent="0" marL="0">
              <a:buNone/>
            </a:pPr>
            <a:r>
              <a:rPr lang="en-US" sz="1600" b="1" dirty="0">
                <a:solidFill>
                  <a:schemeClr val="bg1"/>
                </a:solidFill>
              </a:rPr>
              <a:t>ONE</a:t>
            </a:r>
            <a:endParaRPr lang="en-US" sz="1600" dirty="0"/>
          </a:p>
          <a:p>
            <a:pPr algn="ctr" indent="0" marL="0">
              <a:buNone/>
            </a:pPr>
            <a:r>
              <a:rPr lang="en-US" sz="1600" b="1" dirty="0">
                <a:solidFill>
                  <a:schemeClr val="bg1"/>
                </a:solidFill>
              </a:rPr>
              <a:t>PAYMENT</a:t>
            </a:r>
            <a:endParaRPr lang="en-US" sz="1600" dirty="0"/>
          </a:p>
        </p:txBody>
      </p:sp>
      <p:sp>
        <p:nvSpPr>
          <p:cNvPr id="8" name="UK rulebook"/>
          <p:cNvSpPr/>
          <p:nvPr/>
        </p:nvSpPr>
        <p:spPr>
          <a:xfrm>
            <a:off x="8549640" y="1143000"/>
            <a:ext cx="1463040" cy="548640"/>
          </a:xfrm>
          <a:prstGeom prst="roundRect">
            <a:avLst>
              <a:gd name="adj" fmla="val 16667"/>
            </a:avLst>
          </a:prstGeom>
          <a:solidFill>
            <a:schemeClr val="tx1"/>
          </a:solidFill>
          <a:ln w="12700">
            <a:solidFill>
              <a:schemeClr val="accent4"/>
            </a:solidFill>
            <a:prstDash val="solid"/>
          </a:ln>
        </p:spPr>
      </p:sp>
      <p:sp>
        <p:nvSpPr>
          <p:cNvPr id="9" name="Text 7"/>
          <p:cNvSpPr txBox="1"/>
          <p:nvPr/>
        </p:nvSpPr>
        <p:spPr>
          <a:xfrm>
            <a:off x="8549640" y="1143000"/>
            <a:ext cx="1463040" cy="548640"/>
          </a:xfrm>
          <a:prstGeom prst="rect">
            <a:avLst/>
          </a:prstGeom>
          <a:noFill/>
          <a:ln/>
        </p:spPr>
        <p:txBody>
          <a:bodyPr wrap="square" lIns="0" tIns="0" rIns="0" bIns="0" rtlCol="0" anchor="ctr"/>
          <a:lstStyle/>
          <a:p>
            <a:pPr algn="ctr" indent="0" marL="0">
              <a:buNone/>
            </a:pPr>
            <a:r>
              <a:rPr lang="en-US" sz="1300" b="1" dirty="0">
                <a:solidFill>
                  <a:schemeClr val="bg1"/>
                </a:solidFill>
              </a:rPr>
              <a:t>UK</a:t>
            </a:r>
            <a:endParaRPr lang="en-US" sz="1300" dirty="0"/>
          </a:p>
          <a:p>
            <a:pPr algn="ctr" indent="0" marL="0">
              <a:buNone/>
            </a:pPr>
            <a:r>
              <a:rPr lang="en-US" sz="1000" dirty="0">
                <a:solidFill>
                  <a:schemeClr val="accent5"/>
                </a:solidFill>
              </a:rPr>
              <a:t>rulebook</a:t>
            </a:r>
            <a:endParaRPr lang="en-US" sz="1300" dirty="0"/>
          </a:p>
        </p:txBody>
      </p:sp>
      <p:sp>
        <p:nvSpPr>
          <p:cNvPr id="10" name="France rulebook"/>
          <p:cNvSpPr/>
          <p:nvPr/>
        </p:nvSpPr>
        <p:spPr>
          <a:xfrm>
            <a:off x="10173022" y="2080260"/>
            <a:ext cx="1463040" cy="548640"/>
          </a:xfrm>
          <a:prstGeom prst="roundRect">
            <a:avLst>
              <a:gd name="adj" fmla="val 16667"/>
            </a:avLst>
          </a:prstGeom>
          <a:solidFill>
            <a:schemeClr val="tx1"/>
          </a:solidFill>
          <a:ln w="12700">
            <a:solidFill>
              <a:schemeClr val="accent4"/>
            </a:solidFill>
            <a:prstDash val="solid"/>
          </a:ln>
        </p:spPr>
      </p:sp>
      <p:sp>
        <p:nvSpPr>
          <p:cNvPr id="11" name="Text 9"/>
          <p:cNvSpPr txBox="1"/>
          <p:nvPr/>
        </p:nvSpPr>
        <p:spPr>
          <a:xfrm>
            <a:off x="10173022" y="2080260"/>
            <a:ext cx="1463040" cy="548640"/>
          </a:xfrm>
          <a:prstGeom prst="rect">
            <a:avLst/>
          </a:prstGeom>
          <a:noFill/>
          <a:ln/>
        </p:spPr>
        <p:txBody>
          <a:bodyPr wrap="square" lIns="0" tIns="0" rIns="0" bIns="0" rtlCol="0" anchor="ctr"/>
          <a:lstStyle/>
          <a:p>
            <a:pPr algn="ctr" indent="0" marL="0">
              <a:buNone/>
            </a:pPr>
            <a:r>
              <a:rPr lang="en-US" sz="1300" b="1" dirty="0">
                <a:solidFill>
                  <a:schemeClr val="bg1"/>
                </a:solidFill>
              </a:rPr>
              <a:t>France</a:t>
            </a:r>
            <a:endParaRPr lang="en-US" sz="1300" dirty="0"/>
          </a:p>
          <a:p>
            <a:pPr algn="ctr" indent="0" marL="0">
              <a:buNone/>
            </a:pPr>
            <a:r>
              <a:rPr lang="en-US" sz="1000" dirty="0">
                <a:solidFill>
                  <a:schemeClr val="accent5"/>
                </a:solidFill>
              </a:rPr>
              <a:t>rulebook</a:t>
            </a:r>
            <a:endParaRPr lang="en-US" sz="1300" dirty="0"/>
          </a:p>
        </p:txBody>
      </p:sp>
      <p:sp>
        <p:nvSpPr>
          <p:cNvPr id="12" name="US rulebook"/>
          <p:cNvSpPr/>
          <p:nvPr/>
        </p:nvSpPr>
        <p:spPr>
          <a:xfrm>
            <a:off x="10173022" y="3954780"/>
            <a:ext cx="1463040" cy="548640"/>
          </a:xfrm>
          <a:prstGeom prst="roundRect">
            <a:avLst>
              <a:gd name="adj" fmla="val 16667"/>
            </a:avLst>
          </a:prstGeom>
          <a:solidFill>
            <a:schemeClr val="tx1"/>
          </a:solidFill>
          <a:ln w="12700">
            <a:solidFill>
              <a:schemeClr val="accent4"/>
            </a:solidFill>
            <a:prstDash val="solid"/>
          </a:ln>
        </p:spPr>
      </p:sp>
      <p:sp>
        <p:nvSpPr>
          <p:cNvPr id="13" name="Text 11"/>
          <p:cNvSpPr txBox="1"/>
          <p:nvPr/>
        </p:nvSpPr>
        <p:spPr>
          <a:xfrm>
            <a:off x="10173022" y="3954780"/>
            <a:ext cx="1463040" cy="548640"/>
          </a:xfrm>
          <a:prstGeom prst="rect">
            <a:avLst/>
          </a:prstGeom>
          <a:noFill/>
          <a:ln/>
        </p:spPr>
        <p:txBody>
          <a:bodyPr wrap="square" lIns="0" tIns="0" rIns="0" bIns="0" rtlCol="0" anchor="ctr"/>
          <a:lstStyle/>
          <a:p>
            <a:pPr algn="ctr" indent="0" marL="0">
              <a:buNone/>
            </a:pPr>
            <a:r>
              <a:rPr lang="en-US" sz="1300" b="1" dirty="0">
                <a:solidFill>
                  <a:schemeClr val="bg1"/>
                </a:solidFill>
              </a:rPr>
              <a:t>US</a:t>
            </a:r>
            <a:endParaRPr lang="en-US" sz="1300" dirty="0"/>
          </a:p>
          <a:p>
            <a:pPr algn="ctr" indent="0" marL="0">
              <a:buNone/>
            </a:pPr>
            <a:r>
              <a:rPr lang="en-US" sz="1000" dirty="0">
                <a:solidFill>
                  <a:schemeClr val="accent5"/>
                </a:solidFill>
              </a:rPr>
              <a:t>rulebook</a:t>
            </a:r>
            <a:endParaRPr lang="en-US" sz="1300" dirty="0"/>
          </a:p>
        </p:txBody>
      </p:sp>
      <p:sp>
        <p:nvSpPr>
          <p:cNvPr id="14" name="Hong Kong rulebook"/>
          <p:cNvSpPr/>
          <p:nvPr/>
        </p:nvSpPr>
        <p:spPr>
          <a:xfrm>
            <a:off x="8549640" y="4892040"/>
            <a:ext cx="1463040" cy="548640"/>
          </a:xfrm>
          <a:prstGeom prst="roundRect">
            <a:avLst>
              <a:gd name="adj" fmla="val 16667"/>
            </a:avLst>
          </a:prstGeom>
          <a:solidFill>
            <a:schemeClr val="tx1"/>
          </a:solidFill>
          <a:ln w="12700">
            <a:solidFill>
              <a:schemeClr val="accent4"/>
            </a:solidFill>
            <a:prstDash val="solid"/>
          </a:ln>
        </p:spPr>
      </p:sp>
      <p:sp>
        <p:nvSpPr>
          <p:cNvPr id="15" name="Text 13"/>
          <p:cNvSpPr txBox="1"/>
          <p:nvPr/>
        </p:nvSpPr>
        <p:spPr>
          <a:xfrm>
            <a:off x="8549640" y="4892040"/>
            <a:ext cx="1463040" cy="548640"/>
          </a:xfrm>
          <a:prstGeom prst="rect">
            <a:avLst/>
          </a:prstGeom>
          <a:noFill/>
          <a:ln/>
        </p:spPr>
        <p:txBody>
          <a:bodyPr wrap="square" lIns="0" tIns="0" rIns="0" bIns="0" rtlCol="0" anchor="ctr"/>
          <a:lstStyle/>
          <a:p>
            <a:pPr algn="ctr" indent="0" marL="0">
              <a:buNone/>
            </a:pPr>
            <a:r>
              <a:rPr lang="en-US" sz="1300" b="1" dirty="0">
                <a:solidFill>
                  <a:schemeClr val="bg1"/>
                </a:solidFill>
              </a:rPr>
              <a:t>Hong Kong</a:t>
            </a:r>
            <a:endParaRPr lang="en-US" sz="1300" dirty="0"/>
          </a:p>
          <a:p>
            <a:pPr algn="ctr" indent="0" marL="0">
              <a:buNone/>
            </a:pPr>
            <a:r>
              <a:rPr lang="en-US" sz="1000" dirty="0">
                <a:solidFill>
                  <a:schemeClr val="accent5"/>
                </a:solidFill>
              </a:rPr>
              <a:t>rulebook</a:t>
            </a:r>
            <a:endParaRPr lang="en-US" sz="1300" dirty="0"/>
          </a:p>
        </p:txBody>
      </p:sp>
      <p:sp>
        <p:nvSpPr>
          <p:cNvPr id="16" name="Singapore rulebook"/>
          <p:cNvSpPr/>
          <p:nvPr/>
        </p:nvSpPr>
        <p:spPr>
          <a:xfrm>
            <a:off x="6926258" y="3954780"/>
            <a:ext cx="1463040" cy="548640"/>
          </a:xfrm>
          <a:prstGeom prst="roundRect">
            <a:avLst>
              <a:gd name="adj" fmla="val 16667"/>
            </a:avLst>
          </a:prstGeom>
          <a:solidFill>
            <a:schemeClr val="tx1"/>
          </a:solidFill>
          <a:ln w="12700">
            <a:solidFill>
              <a:schemeClr val="accent4"/>
            </a:solidFill>
            <a:prstDash val="solid"/>
          </a:ln>
        </p:spPr>
      </p:sp>
      <p:sp>
        <p:nvSpPr>
          <p:cNvPr id="17" name="Text 15"/>
          <p:cNvSpPr txBox="1"/>
          <p:nvPr/>
        </p:nvSpPr>
        <p:spPr>
          <a:xfrm>
            <a:off x="6926258" y="3954780"/>
            <a:ext cx="1463040" cy="548640"/>
          </a:xfrm>
          <a:prstGeom prst="rect">
            <a:avLst/>
          </a:prstGeom>
          <a:noFill/>
          <a:ln/>
        </p:spPr>
        <p:txBody>
          <a:bodyPr wrap="square" lIns="0" tIns="0" rIns="0" bIns="0" rtlCol="0" anchor="ctr"/>
          <a:lstStyle/>
          <a:p>
            <a:pPr algn="ctr" indent="0" marL="0">
              <a:buNone/>
            </a:pPr>
            <a:r>
              <a:rPr lang="en-US" sz="1300" b="1" dirty="0">
                <a:solidFill>
                  <a:schemeClr val="bg1"/>
                </a:solidFill>
              </a:rPr>
              <a:t>Singapore</a:t>
            </a:r>
            <a:endParaRPr lang="en-US" sz="1300" dirty="0"/>
          </a:p>
          <a:p>
            <a:pPr algn="ctr" indent="0" marL="0">
              <a:buNone/>
            </a:pPr>
            <a:r>
              <a:rPr lang="en-US" sz="1000" dirty="0">
                <a:solidFill>
                  <a:schemeClr val="accent5"/>
                </a:solidFill>
              </a:rPr>
              <a:t>rulebook</a:t>
            </a:r>
            <a:endParaRPr lang="en-US" sz="1300" dirty="0"/>
          </a:p>
        </p:txBody>
      </p:sp>
      <p:sp>
        <p:nvSpPr>
          <p:cNvPr id="18" name="UAE rulebook"/>
          <p:cNvSpPr/>
          <p:nvPr/>
        </p:nvSpPr>
        <p:spPr>
          <a:xfrm>
            <a:off x="6926258" y="2080260"/>
            <a:ext cx="1463040" cy="548640"/>
          </a:xfrm>
          <a:prstGeom prst="roundRect">
            <a:avLst>
              <a:gd name="adj" fmla="val 16667"/>
            </a:avLst>
          </a:prstGeom>
          <a:solidFill>
            <a:schemeClr val="tx1"/>
          </a:solidFill>
          <a:ln w="12700">
            <a:solidFill>
              <a:schemeClr val="accent4"/>
            </a:solidFill>
            <a:prstDash val="solid"/>
          </a:ln>
        </p:spPr>
      </p:sp>
      <p:sp>
        <p:nvSpPr>
          <p:cNvPr id="19" name="Text 17"/>
          <p:cNvSpPr txBox="1"/>
          <p:nvPr/>
        </p:nvSpPr>
        <p:spPr>
          <a:xfrm>
            <a:off x="6926258" y="2080260"/>
            <a:ext cx="1463040" cy="548640"/>
          </a:xfrm>
          <a:prstGeom prst="rect">
            <a:avLst/>
          </a:prstGeom>
          <a:noFill/>
          <a:ln/>
        </p:spPr>
        <p:txBody>
          <a:bodyPr wrap="square" lIns="0" tIns="0" rIns="0" bIns="0" rtlCol="0" anchor="ctr"/>
          <a:lstStyle/>
          <a:p>
            <a:pPr algn="ctr" indent="0" marL="0">
              <a:buNone/>
            </a:pPr>
            <a:r>
              <a:rPr lang="en-US" sz="1300" b="1" dirty="0">
                <a:solidFill>
                  <a:schemeClr val="bg1"/>
                </a:solidFill>
              </a:rPr>
              <a:t>UAE</a:t>
            </a:r>
            <a:endParaRPr lang="en-US" sz="1300" dirty="0"/>
          </a:p>
          <a:p>
            <a:pPr algn="ctr" indent="0" marL="0">
              <a:buNone/>
            </a:pPr>
            <a:r>
              <a:rPr lang="en-US" sz="1000" dirty="0">
                <a:solidFill>
                  <a:schemeClr val="accent5"/>
                </a:solidFill>
              </a:rPr>
              <a:t>rulebook</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1"/>
                </a:solidFill>
              </a:rPr>
              <a:t>WHY DO WE CARE?</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tx1"/>
                </a:solidFill>
              </a:rPr>
              <a:t>Recent penalties came from everyday alert decisions</a:t>
            </a:r>
            <a:endParaRPr lang="en-US" sz="3000" dirty="0"/>
          </a:p>
        </p:txBody>
      </p:sp>
      <p:sp>
        <p:nvSpPr>
          <p:cNvPr id="4" name="stat Strict liability"/>
          <p:cNvSpPr/>
          <p:nvPr/>
        </p:nvSpPr>
        <p:spPr>
          <a:xfrm>
            <a:off x="548640" y="1371600"/>
            <a:ext cx="3566160" cy="3611880"/>
          </a:xfrm>
          <a:prstGeom prst="roundRect">
            <a:avLst>
              <a:gd name="adj" fmla="val 3077"/>
            </a:avLst>
          </a:prstGeom>
          <a:solidFill>
            <a:schemeClr val="bg2"/>
          </a:solidFill>
          <a:ln w="12700">
            <a:solidFill>
              <a:schemeClr val="bg2"/>
            </a:solidFill>
            <a:prstDash val="solid"/>
          </a:ln>
        </p:spPr>
      </p:sp>
      <p:sp>
        <p:nvSpPr>
          <p:cNvPr id="5" name="Text 3"/>
          <p:cNvSpPr txBox="1"/>
          <p:nvPr/>
        </p:nvSpPr>
        <p:spPr>
          <a:xfrm>
            <a:off x="822960" y="1554480"/>
            <a:ext cx="3017520" cy="868680"/>
          </a:xfrm>
          <a:prstGeom prst="rect">
            <a:avLst/>
          </a:prstGeom>
          <a:noFill/>
          <a:ln/>
        </p:spPr>
        <p:txBody>
          <a:bodyPr wrap="square" lIns="0" tIns="0" rIns="0" bIns="0" rtlCol="0" anchor="ctr"/>
          <a:lstStyle/>
          <a:p>
            <a:pPr indent="0" marL="0">
              <a:buNone/>
            </a:pPr>
            <a:r>
              <a:rPr lang="en-US" sz="3000" b="1" dirty="0">
                <a:solidFill>
                  <a:schemeClr val="accent1"/>
                </a:solidFill>
                <a:latin typeface="Arial" pitchFamily="34" charset="0"/>
                <a:ea typeface="Arial" pitchFamily="34" charset="-122"/>
                <a:cs typeface="Arial" pitchFamily="34" charset="-120"/>
              </a:rPr>
              <a:t>Strict liability</a:t>
            </a:r>
            <a:endParaRPr lang="en-US" sz="3000" dirty="0"/>
          </a:p>
        </p:txBody>
      </p:sp>
      <p:sp>
        <p:nvSpPr>
          <p:cNvPr id="6" name="Text 4"/>
          <p:cNvSpPr txBox="1"/>
          <p:nvPr/>
        </p:nvSpPr>
        <p:spPr>
          <a:xfrm>
            <a:off x="822960" y="2560320"/>
            <a:ext cx="3017520" cy="2331720"/>
          </a:xfrm>
          <a:prstGeom prst="rect">
            <a:avLst/>
          </a:prstGeom>
          <a:noFill/>
          <a:ln/>
        </p:spPr>
        <p:txBody>
          <a:bodyPr wrap="square" lIns="0" tIns="0" rIns="0" bIns="0" rtlCol="0" anchor="t"/>
          <a:lstStyle/>
          <a:p>
            <a:pPr indent="0" marL="0">
              <a:buNone/>
            </a:pPr>
            <a:r>
              <a:rPr lang="en-US" sz="1500" dirty="0">
                <a:solidFill>
                  <a:schemeClr val="tx1"/>
                </a:solidFill>
              </a:rPr>
              <a:t>In the UK, OFSI can impose a civil penalty without proving that anyone knew or suspected a breach. This applies to breaches from 15 June 2022.</a:t>
            </a:r>
            <a:endParaRPr lang="en-US" sz="1500" dirty="0"/>
          </a:p>
        </p:txBody>
      </p:sp>
      <p:sp>
        <p:nvSpPr>
          <p:cNvPr id="7" name="stat £4.7m"/>
          <p:cNvSpPr/>
          <p:nvPr/>
        </p:nvSpPr>
        <p:spPr>
          <a:xfrm>
            <a:off x="4297680" y="1371600"/>
            <a:ext cx="3566160" cy="3611880"/>
          </a:xfrm>
          <a:prstGeom prst="roundRect">
            <a:avLst>
              <a:gd name="adj" fmla="val 3077"/>
            </a:avLst>
          </a:prstGeom>
          <a:solidFill>
            <a:schemeClr val="bg2"/>
          </a:solidFill>
          <a:ln w="12700">
            <a:solidFill>
              <a:schemeClr val="bg2"/>
            </a:solidFill>
            <a:prstDash val="solid"/>
          </a:ln>
        </p:spPr>
      </p:sp>
      <p:sp>
        <p:nvSpPr>
          <p:cNvPr id="8" name="Text 6"/>
          <p:cNvSpPr txBox="1"/>
          <p:nvPr/>
        </p:nvSpPr>
        <p:spPr>
          <a:xfrm>
            <a:off x="4572000" y="1554480"/>
            <a:ext cx="3017520" cy="868680"/>
          </a:xfrm>
          <a:prstGeom prst="rect">
            <a:avLst/>
          </a:prstGeom>
          <a:noFill/>
          <a:ln/>
        </p:spPr>
        <p:txBody>
          <a:bodyPr wrap="square" lIns="0" tIns="0" rIns="0" bIns="0" rtlCol="0" anchor="ctr"/>
          <a:lstStyle/>
          <a:p>
            <a:pPr indent="0" marL="0">
              <a:buNone/>
            </a:pPr>
            <a:r>
              <a:rPr lang="en-US" sz="5000" b="1" dirty="0">
                <a:solidFill>
                  <a:schemeClr val="tx1"/>
                </a:solidFill>
                <a:latin typeface="Arial" pitchFamily="34" charset="0"/>
                <a:ea typeface="Arial" pitchFamily="34" charset="-122"/>
                <a:cs typeface="Arial" pitchFamily="34" charset="-120"/>
              </a:rPr>
              <a:t>£4.7m</a:t>
            </a:r>
            <a:endParaRPr lang="en-US" sz="5000" dirty="0"/>
          </a:p>
        </p:txBody>
      </p:sp>
      <p:sp>
        <p:nvSpPr>
          <p:cNvPr id="9" name="Text 7"/>
          <p:cNvSpPr txBox="1"/>
          <p:nvPr/>
        </p:nvSpPr>
        <p:spPr>
          <a:xfrm>
            <a:off x="4572000" y="2560320"/>
            <a:ext cx="3017520" cy="2331720"/>
          </a:xfrm>
          <a:prstGeom prst="rect">
            <a:avLst/>
          </a:prstGeom>
          <a:noFill/>
          <a:ln/>
        </p:spPr>
        <p:txBody>
          <a:bodyPr wrap="square" lIns="0" tIns="0" rIns="0" bIns="0" rtlCol="0" anchor="t"/>
          <a:lstStyle/>
          <a:p>
            <a:pPr indent="0" marL="0">
              <a:buNone/>
            </a:pPr>
            <a:r>
              <a:rPr lang="en-US" sz="1500" dirty="0">
                <a:solidFill>
                  <a:schemeClr val="tx1"/>
                </a:solidFill>
              </a:rPr>
              <a:t>Citibank, London branch (OFSI, August 2026). “PAO Sovcomflot” was not matched to “Sovcomflot”, so no alert was generated. Alerts sat in a backlog, and accounts were not restricted without proof of majority ownership.</a:t>
            </a:r>
            <a:endParaRPr lang="en-US" sz="1500" dirty="0"/>
          </a:p>
        </p:txBody>
      </p:sp>
      <p:sp>
        <p:nvSpPr>
          <p:cNvPr id="10" name="stat £160k"/>
          <p:cNvSpPr/>
          <p:nvPr/>
        </p:nvSpPr>
        <p:spPr>
          <a:xfrm>
            <a:off x="8046720" y="1371600"/>
            <a:ext cx="3566160" cy="3611880"/>
          </a:xfrm>
          <a:prstGeom prst="roundRect">
            <a:avLst>
              <a:gd name="adj" fmla="val 3077"/>
            </a:avLst>
          </a:prstGeom>
          <a:solidFill>
            <a:schemeClr val="bg2"/>
          </a:solidFill>
          <a:ln w="12700">
            <a:solidFill>
              <a:schemeClr val="bg2"/>
            </a:solidFill>
            <a:prstDash val="solid"/>
          </a:ln>
        </p:spPr>
      </p:sp>
      <p:sp>
        <p:nvSpPr>
          <p:cNvPr id="11" name="Text 9"/>
          <p:cNvSpPr txBox="1"/>
          <p:nvPr/>
        </p:nvSpPr>
        <p:spPr>
          <a:xfrm>
            <a:off x="8321040" y="1554480"/>
            <a:ext cx="3017520" cy="868680"/>
          </a:xfrm>
          <a:prstGeom prst="rect">
            <a:avLst/>
          </a:prstGeom>
          <a:noFill/>
          <a:ln/>
        </p:spPr>
        <p:txBody>
          <a:bodyPr wrap="square" lIns="0" tIns="0" rIns="0" bIns="0" rtlCol="0" anchor="ctr"/>
          <a:lstStyle/>
          <a:p>
            <a:pPr indent="0" marL="0">
              <a:buNone/>
            </a:pPr>
            <a:r>
              <a:rPr lang="en-US" sz="5000" b="1" dirty="0">
                <a:solidFill>
                  <a:schemeClr val="accent4"/>
                </a:solidFill>
                <a:latin typeface="Arial" pitchFamily="34" charset="0"/>
                <a:ea typeface="Arial" pitchFamily="34" charset="-122"/>
                <a:cs typeface="Arial" pitchFamily="34" charset="-120"/>
              </a:rPr>
              <a:t>£160k</a:t>
            </a:r>
            <a:endParaRPr lang="en-US" sz="5000" dirty="0"/>
          </a:p>
        </p:txBody>
      </p:sp>
      <p:sp>
        <p:nvSpPr>
          <p:cNvPr id="12" name="Text 10"/>
          <p:cNvSpPr txBox="1"/>
          <p:nvPr/>
        </p:nvSpPr>
        <p:spPr>
          <a:xfrm>
            <a:off x="8321040" y="2560320"/>
            <a:ext cx="3017520" cy="2331720"/>
          </a:xfrm>
          <a:prstGeom prst="rect">
            <a:avLst/>
          </a:prstGeom>
          <a:noFill/>
          <a:ln/>
        </p:spPr>
        <p:txBody>
          <a:bodyPr wrap="square" lIns="0" tIns="0" rIns="0" bIns="0" rtlCol="0" anchor="t"/>
          <a:lstStyle/>
          <a:p>
            <a:pPr indent="0" marL="0">
              <a:buNone/>
            </a:pPr>
            <a:r>
              <a:rPr lang="en-US" sz="1500" dirty="0">
                <a:solidFill>
                  <a:schemeClr val="tx1"/>
                </a:solidFill>
              </a:rPr>
              <a:t>Bank of Scotland (OFSI, published January 2026). An alert was generated, but staff wrongly concluded the person had been delisted. The passport spelling differed from the list entry, and 24 payments were processed.</a:t>
            </a:r>
            <a:endParaRPr lang="en-US" sz="1500" dirty="0"/>
          </a:p>
        </p:txBody>
      </p:sp>
      <p:sp>
        <p:nvSpPr>
          <p:cNvPr id="13" name="Lesson for analysts"/>
          <p:cNvSpPr/>
          <p:nvPr/>
        </p:nvSpPr>
        <p:spPr>
          <a:xfrm>
            <a:off x="548640" y="5166360"/>
            <a:ext cx="11064240" cy="777240"/>
          </a:xfrm>
          <a:prstGeom prst="roundRect">
            <a:avLst>
              <a:gd name="adj" fmla="val 14118"/>
            </a:avLst>
          </a:prstGeom>
          <a:solidFill>
            <a:schemeClr val="tx1"/>
          </a:solidFill>
          <a:ln w="12700">
            <a:solidFill>
              <a:schemeClr val="tx1"/>
            </a:solidFill>
            <a:prstDash val="solid"/>
          </a:ln>
        </p:spPr>
      </p:sp>
      <p:sp>
        <p:nvSpPr>
          <p:cNvPr id="14" name="Text 12"/>
          <p:cNvSpPr txBox="1"/>
          <p:nvPr/>
        </p:nvSpPr>
        <p:spPr>
          <a:xfrm>
            <a:off x="777240" y="5166360"/>
            <a:ext cx="10607040" cy="777240"/>
          </a:xfrm>
          <a:prstGeom prst="rect">
            <a:avLst/>
          </a:prstGeom>
          <a:noFill/>
          <a:ln/>
        </p:spPr>
        <p:txBody>
          <a:bodyPr wrap="square" lIns="0" tIns="0" rIns="0" bIns="0" rtlCol="0" anchor="ctr"/>
          <a:lstStyle/>
          <a:p>
            <a:pPr indent="0" marL="0">
              <a:buNone/>
            </a:pPr>
            <a:r>
              <a:rPr lang="en-US" sz="1200" b="1" spc="100" kern="0" dirty="0">
                <a:solidFill>
                  <a:schemeClr val="accent2"/>
                </a:solidFill>
              </a:rPr>
              <a:t>LESSON FOR ANALYSTS   </a:t>
            </a:r>
            <a:pPr indent="0" marL="0">
              <a:buNone/>
            </a:pPr>
            <a:r>
              <a:rPr lang="en-US" sz="1500" dirty="0">
                <a:solidFill>
                  <a:schemeClr val="bg1"/>
                </a:solidFill>
              </a:rPr>
              <a:t>The analyst's job is to separate noise from exposure — identify, stop, escalate, document — and record why.</a:t>
            </a:r>
            <a:endParaRPr lang="en-US" sz="1500" dirty="0"/>
          </a:p>
        </p:txBody>
      </p:sp>
      <p:sp>
        <p:nvSpPr>
          <p:cNvPr id="15" name="Text 13"/>
          <p:cNvSpPr txBox="1"/>
          <p:nvPr/>
        </p:nvSpPr>
        <p:spPr>
          <a:xfrm>
            <a:off x="548640" y="6053328"/>
            <a:ext cx="11064240" cy="292608"/>
          </a:xfrm>
          <a:prstGeom prst="rect">
            <a:avLst/>
          </a:prstGeom>
          <a:noFill/>
          <a:ln/>
        </p:spPr>
        <p:txBody>
          <a:bodyPr wrap="square" lIns="0" tIns="0" rIns="0" bIns="0" rtlCol="0" anchor="b"/>
          <a:lstStyle/>
          <a:p>
            <a:pPr indent="0" marL="0">
              <a:buNone/>
            </a:pPr>
            <a:r>
              <a:rPr lang="en-US" sz="1000" i="1" dirty="0">
                <a:solidFill>
                  <a:schemeClr val="accent6"/>
                </a:solidFill>
              </a:rPr>
              <a:t>Source: PCA 2017 s.146 as amended by ECTEA 2022 s.54 (civil penalties); OFSI penalty notices — Citibank N.A. London Branch (11 Aug 2026), Bank of Scotland plc (imposed 10 Nov 2025, published 26 Jan 2026).</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1"/>
                </a:solidFill>
              </a:rPr>
              <a:t>SESSION OVERVIEW</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tx1"/>
                </a:solidFill>
              </a:rPr>
              <a:t>Learning objectives</a:t>
            </a:r>
            <a:endParaRPr lang="en-US" sz="3000" dirty="0"/>
          </a:p>
        </p:txBody>
      </p:sp>
      <p:sp>
        <p:nvSpPr>
          <p:cNvPr id="4" name="Text 2"/>
          <p:cNvSpPr txBox="1"/>
          <p:nvPr/>
        </p:nvSpPr>
        <p:spPr>
          <a:xfrm>
            <a:off x="548640" y="1280160"/>
            <a:ext cx="11064240" cy="411480"/>
          </a:xfrm>
          <a:prstGeom prst="rect">
            <a:avLst/>
          </a:prstGeom>
          <a:noFill/>
          <a:ln/>
        </p:spPr>
        <p:txBody>
          <a:bodyPr wrap="square" lIns="0" tIns="0" rIns="0" bIns="0" rtlCol="0" anchor="t"/>
          <a:lstStyle/>
          <a:p>
            <a:pPr indent="0" marL="0">
              <a:buNone/>
            </a:pPr>
            <a:r>
              <a:rPr lang="en-US" sz="1700" dirty="0">
                <a:solidFill>
                  <a:schemeClr val="tx1"/>
                </a:solidFill>
              </a:rPr>
              <a:t>By the end of this session you will be able to work through four connected capabilities.</a:t>
            </a:r>
            <a:endParaRPr lang="en-US" sz="1700" dirty="0"/>
          </a:p>
        </p:txBody>
      </p:sp>
      <p:sp>
        <p:nvSpPr>
          <p:cNvPr id="5" name="objective 1"/>
          <p:cNvSpPr/>
          <p:nvPr/>
        </p:nvSpPr>
        <p:spPr>
          <a:xfrm>
            <a:off x="548640" y="1874520"/>
            <a:ext cx="2651760" cy="3520440"/>
          </a:xfrm>
          <a:prstGeom prst="roundRect">
            <a:avLst>
              <a:gd name="adj" fmla="val 4138"/>
            </a:avLst>
          </a:prstGeom>
          <a:solidFill>
            <a:schemeClr val="bg2"/>
          </a:solidFill>
          <a:ln w="12700">
            <a:solidFill>
              <a:schemeClr val="bg2"/>
            </a:solidFill>
            <a:prstDash val="solid"/>
          </a:ln>
        </p:spPr>
      </p:sp>
      <p:sp>
        <p:nvSpPr>
          <p:cNvPr id="6" name="objective 1 circle"/>
          <p:cNvSpPr/>
          <p:nvPr/>
        </p:nvSpPr>
        <p:spPr>
          <a:xfrm>
            <a:off x="777240" y="2103120"/>
            <a:ext cx="640080" cy="640080"/>
          </a:xfrm>
          <a:prstGeom prst="ellipse">
            <a:avLst/>
          </a:prstGeom>
          <a:solidFill>
            <a:schemeClr val="accent1"/>
          </a:solidFill>
          <a:ln w="12700">
            <a:solidFill>
              <a:schemeClr val="accent1"/>
            </a:solidFill>
            <a:prstDash val="solid"/>
          </a:ln>
        </p:spPr>
      </p:sp>
      <p:pic>
        <p:nvPicPr>
          <p:cNvPr id="7" name="objective 1 icon" descr="preencoded.png">    </p:cNvPr>
          <p:cNvPicPr>
            <a:picLocks noChangeAspect="1"/>
          </p:cNvPicPr>
          <p:nvPr/>
        </p:nvPicPr>
        <p:blipFill>
          <a:blip r:embed="rId1"/>
          <a:stretch>
            <a:fillRect/>
          </a:stretch>
        </p:blipFill>
        <p:spPr>
          <a:xfrm>
            <a:off x="905256" y="2231136"/>
            <a:ext cx="384048" cy="384048"/>
          </a:xfrm>
          <a:prstGeom prst="rect">
            <a:avLst/>
          </a:prstGeom>
        </p:spPr>
      </p:pic>
      <p:sp>
        <p:nvSpPr>
          <p:cNvPr id="8" name="Text 5"/>
          <p:cNvSpPr txBox="1"/>
          <p:nvPr/>
        </p:nvSpPr>
        <p:spPr>
          <a:xfrm>
            <a:off x="2377440" y="2103120"/>
            <a:ext cx="594360" cy="640080"/>
          </a:xfrm>
          <a:prstGeom prst="rect">
            <a:avLst/>
          </a:prstGeom>
          <a:noFill/>
          <a:ln/>
        </p:spPr>
        <p:txBody>
          <a:bodyPr wrap="square" lIns="0" tIns="0" rIns="0" bIns="0" rtlCol="0" anchor="ctr"/>
          <a:lstStyle/>
          <a:p>
            <a:pPr algn="r" indent="0" marL="0">
              <a:buNone/>
            </a:pPr>
            <a:r>
              <a:rPr lang="en-US" sz="3000" b="1" dirty="0">
                <a:solidFill>
                  <a:schemeClr val="accent1"/>
                </a:solidFill>
              </a:rPr>
              <a:t>1</a:t>
            </a:r>
            <a:endParaRPr lang="en-US" sz="3000" dirty="0"/>
          </a:p>
        </p:txBody>
      </p:sp>
      <p:sp>
        <p:nvSpPr>
          <p:cNvPr id="9" name="Text 6"/>
          <p:cNvSpPr txBox="1"/>
          <p:nvPr/>
        </p:nvSpPr>
        <p:spPr>
          <a:xfrm>
            <a:off x="777240" y="2880360"/>
            <a:ext cx="2240280" cy="685800"/>
          </a:xfrm>
          <a:prstGeom prst="rect">
            <a:avLst/>
          </a:prstGeom>
          <a:noFill/>
          <a:ln/>
        </p:spPr>
        <p:txBody>
          <a:bodyPr wrap="square" lIns="0" tIns="0" rIns="0" bIns="0" rtlCol="0" anchor="t"/>
          <a:lstStyle/>
          <a:p>
            <a:pPr indent="0" marL="0">
              <a:buNone/>
            </a:pPr>
            <a:r>
              <a:rPr lang="en-US" sz="1800" b="1" dirty="0">
                <a:solidFill>
                  <a:schemeClr val="tx1"/>
                </a:solidFill>
              </a:rPr>
              <a:t>Understand the model</a:t>
            </a:r>
            <a:endParaRPr lang="en-US" sz="1800" dirty="0"/>
          </a:p>
        </p:txBody>
      </p:sp>
      <p:sp>
        <p:nvSpPr>
          <p:cNvPr id="10" name="Text 7"/>
          <p:cNvSpPr txBox="1"/>
          <p:nvPr/>
        </p:nvSpPr>
        <p:spPr>
          <a:xfrm>
            <a:off x="777240" y="3566160"/>
            <a:ext cx="2240280" cy="1280160"/>
          </a:xfrm>
          <a:prstGeom prst="rect">
            <a:avLst/>
          </a:prstGeom>
          <a:noFill/>
          <a:ln/>
        </p:spPr>
        <p:txBody>
          <a:bodyPr wrap="square" lIns="0" tIns="0" rIns="0" bIns="0" rtlCol="0" anchor="t"/>
          <a:lstStyle/>
          <a:p>
            <a:pPr indent="0" marL="0">
              <a:buNone/>
            </a:pPr>
            <a:r>
              <a:rPr lang="en-US" sz="1400" dirty="0">
                <a:solidFill>
                  <a:schemeClr val="accent6"/>
                </a:solidFill>
              </a:rPr>
              <a:t>Explain the common sanctions control model across onboarding, monitoring and payments — and the first response to a potential match.</a:t>
            </a:r>
            <a:endParaRPr lang="en-US" sz="1400" dirty="0"/>
          </a:p>
        </p:txBody>
      </p:sp>
      <p:sp>
        <p:nvSpPr>
          <p:cNvPr id="11" name="Text 8"/>
          <p:cNvSpPr txBox="1"/>
          <p:nvPr/>
        </p:nvSpPr>
        <p:spPr>
          <a:xfrm>
            <a:off x="777240" y="4919472"/>
            <a:ext cx="2240280" cy="365760"/>
          </a:xfrm>
          <a:prstGeom prst="rect">
            <a:avLst/>
          </a:prstGeom>
          <a:noFill/>
          <a:ln/>
        </p:spPr>
        <p:txBody>
          <a:bodyPr wrap="square" lIns="0" tIns="0" rIns="0" bIns="0" rtlCol="0" anchor="t"/>
          <a:lstStyle/>
          <a:p>
            <a:pPr indent="0" marL="0">
              <a:buNone/>
            </a:pPr>
            <a:r>
              <a:rPr lang="en-US" sz="1400" b="1" i="1" dirty="0">
                <a:solidFill>
                  <a:schemeClr val="accent1"/>
                </a:solidFill>
              </a:rPr>
              <a:t>The control objective is constant.</a:t>
            </a:r>
            <a:endParaRPr lang="en-US" sz="1400" dirty="0"/>
          </a:p>
        </p:txBody>
      </p:sp>
      <p:pic>
        <p:nvPicPr>
          <p:cNvPr id="12" name="Image 1" descr="preencoded.png">    </p:cNvPr>
          <p:cNvPicPr>
            <a:picLocks noChangeAspect="1"/>
          </p:cNvPicPr>
          <p:nvPr/>
        </p:nvPicPr>
        <p:blipFill>
          <a:blip r:embed="rId2"/>
          <a:stretch>
            <a:fillRect/>
          </a:stretch>
        </p:blipFill>
        <p:spPr>
          <a:xfrm>
            <a:off x="3182112" y="3520440"/>
            <a:ext cx="182880" cy="182880"/>
          </a:xfrm>
          <a:prstGeom prst="rect">
            <a:avLst/>
          </a:prstGeom>
        </p:spPr>
      </p:pic>
      <p:sp>
        <p:nvSpPr>
          <p:cNvPr id="13" name="objective 2"/>
          <p:cNvSpPr/>
          <p:nvPr/>
        </p:nvSpPr>
        <p:spPr>
          <a:xfrm>
            <a:off x="3346704" y="1874520"/>
            <a:ext cx="2651760" cy="3520440"/>
          </a:xfrm>
          <a:prstGeom prst="roundRect">
            <a:avLst>
              <a:gd name="adj" fmla="val 4138"/>
            </a:avLst>
          </a:prstGeom>
          <a:solidFill>
            <a:schemeClr val="bg2"/>
          </a:solidFill>
          <a:ln w="12700">
            <a:solidFill>
              <a:schemeClr val="bg2"/>
            </a:solidFill>
            <a:prstDash val="solid"/>
          </a:ln>
        </p:spPr>
      </p:sp>
      <p:sp>
        <p:nvSpPr>
          <p:cNvPr id="14" name="objective 2 circle"/>
          <p:cNvSpPr/>
          <p:nvPr/>
        </p:nvSpPr>
        <p:spPr>
          <a:xfrm>
            <a:off x="3575304" y="2103120"/>
            <a:ext cx="640080" cy="640080"/>
          </a:xfrm>
          <a:prstGeom prst="ellipse">
            <a:avLst/>
          </a:prstGeom>
          <a:solidFill>
            <a:schemeClr val="accent4"/>
          </a:solidFill>
          <a:ln w="12700">
            <a:solidFill>
              <a:schemeClr val="accent4"/>
            </a:solidFill>
            <a:prstDash val="solid"/>
          </a:ln>
        </p:spPr>
      </p:sp>
      <p:pic>
        <p:nvPicPr>
          <p:cNvPr id="15" name="objective 2 icon" descr="preencoded.png">    </p:cNvPr>
          <p:cNvPicPr>
            <a:picLocks noChangeAspect="1"/>
          </p:cNvPicPr>
          <p:nvPr/>
        </p:nvPicPr>
        <p:blipFill>
          <a:blip r:embed="rId3"/>
          <a:stretch>
            <a:fillRect/>
          </a:stretch>
        </p:blipFill>
        <p:spPr>
          <a:xfrm>
            <a:off x="3703320" y="2231136"/>
            <a:ext cx="384048" cy="384048"/>
          </a:xfrm>
          <a:prstGeom prst="rect">
            <a:avLst/>
          </a:prstGeom>
        </p:spPr>
      </p:pic>
      <p:sp>
        <p:nvSpPr>
          <p:cNvPr id="16" name="Text 11"/>
          <p:cNvSpPr txBox="1"/>
          <p:nvPr/>
        </p:nvSpPr>
        <p:spPr>
          <a:xfrm>
            <a:off x="5175504" y="2103120"/>
            <a:ext cx="594360" cy="640080"/>
          </a:xfrm>
          <a:prstGeom prst="rect">
            <a:avLst/>
          </a:prstGeom>
          <a:noFill/>
          <a:ln/>
        </p:spPr>
        <p:txBody>
          <a:bodyPr wrap="square" lIns="0" tIns="0" rIns="0" bIns="0" rtlCol="0" anchor="ctr"/>
          <a:lstStyle/>
          <a:p>
            <a:pPr algn="r" indent="0" marL="0">
              <a:buNone/>
            </a:pPr>
            <a:r>
              <a:rPr lang="en-US" sz="3000" b="1" dirty="0">
                <a:solidFill>
                  <a:schemeClr val="accent4"/>
                </a:solidFill>
              </a:rPr>
              <a:t>2</a:t>
            </a:r>
            <a:endParaRPr lang="en-US" sz="3000" dirty="0"/>
          </a:p>
        </p:txBody>
      </p:sp>
      <p:sp>
        <p:nvSpPr>
          <p:cNvPr id="17" name="Text 12"/>
          <p:cNvSpPr txBox="1"/>
          <p:nvPr/>
        </p:nvSpPr>
        <p:spPr>
          <a:xfrm>
            <a:off x="3575304" y="2880360"/>
            <a:ext cx="2240280" cy="685800"/>
          </a:xfrm>
          <a:prstGeom prst="rect">
            <a:avLst/>
          </a:prstGeom>
          <a:noFill/>
          <a:ln/>
        </p:spPr>
        <p:txBody>
          <a:bodyPr wrap="square" lIns="0" tIns="0" rIns="0" bIns="0" rtlCol="0" anchor="t"/>
          <a:lstStyle/>
          <a:p>
            <a:pPr indent="0" marL="0">
              <a:buNone/>
            </a:pPr>
            <a:r>
              <a:rPr lang="en-US" sz="1800" b="1" dirty="0">
                <a:solidFill>
                  <a:schemeClr val="tx1"/>
                </a:solidFill>
              </a:rPr>
              <a:t>Compare the regions</a:t>
            </a:r>
            <a:endParaRPr lang="en-US" sz="1800" dirty="0"/>
          </a:p>
        </p:txBody>
      </p:sp>
      <p:sp>
        <p:nvSpPr>
          <p:cNvPr id="18" name="Text 13"/>
          <p:cNvSpPr txBox="1"/>
          <p:nvPr/>
        </p:nvSpPr>
        <p:spPr>
          <a:xfrm>
            <a:off x="3575304" y="3566160"/>
            <a:ext cx="2240280" cy="1280160"/>
          </a:xfrm>
          <a:prstGeom prst="rect">
            <a:avLst/>
          </a:prstGeom>
          <a:noFill/>
          <a:ln/>
        </p:spPr>
        <p:txBody>
          <a:bodyPr wrap="square" lIns="0" tIns="0" rIns="0" bIns="0" rtlCol="0" anchor="t"/>
          <a:lstStyle/>
          <a:p>
            <a:pPr indent="0" marL="0">
              <a:buNone/>
            </a:pPr>
            <a:r>
              <a:rPr lang="en-US" sz="1400" dirty="0">
                <a:solidFill>
                  <a:schemeClr val="accent6"/>
                </a:solidFill>
              </a:rPr>
              <a:t>Recognise which regimes a payment touches — UK, EU / France, US, UAE, Singapore, Hong Kong — and what changes when they do.</a:t>
            </a:r>
            <a:endParaRPr lang="en-US" sz="1400" dirty="0"/>
          </a:p>
        </p:txBody>
      </p:sp>
      <p:sp>
        <p:nvSpPr>
          <p:cNvPr id="19" name="Text 14"/>
          <p:cNvSpPr txBox="1"/>
          <p:nvPr/>
        </p:nvSpPr>
        <p:spPr>
          <a:xfrm>
            <a:off x="3575304" y="4919472"/>
            <a:ext cx="2240280" cy="365760"/>
          </a:xfrm>
          <a:prstGeom prst="rect">
            <a:avLst/>
          </a:prstGeom>
          <a:noFill/>
          <a:ln/>
        </p:spPr>
        <p:txBody>
          <a:bodyPr wrap="square" lIns="0" tIns="0" rIns="0" bIns="0" rtlCol="0" anchor="t"/>
          <a:lstStyle/>
          <a:p>
            <a:pPr indent="0" marL="0">
              <a:buNone/>
            </a:pPr>
            <a:r>
              <a:rPr lang="en-US" sz="1400" b="1" i="1" dirty="0">
                <a:solidFill>
                  <a:schemeClr val="accent4"/>
                </a:solidFill>
              </a:rPr>
              <a:t>Regional rules differ.</a:t>
            </a:r>
            <a:endParaRPr lang="en-US" sz="1400" dirty="0"/>
          </a:p>
        </p:txBody>
      </p:sp>
      <p:pic>
        <p:nvPicPr>
          <p:cNvPr id="20" name="Image 3" descr="preencoded.png">    </p:cNvPr>
          <p:cNvPicPr>
            <a:picLocks noChangeAspect="1"/>
          </p:cNvPicPr>
          <p:nvPr/>
        </p:nvPicPr>
        <p:blipFill>
          <a:blip r:embed="rId4"/>
          <a:stretch>
            <a:fillRect/>
          </a:stretch>
        </p:blipFill>
        <p:spPr>
          <a:xfrm>
            <a:off x="5980176" y="3520440"/>
            <a:ext cx="182880" cy="182880"/>
          </a:xfrm>
          <a:prstGeom prst="rect">
            <a:avLst/>
          </a:prstGeom>
        </p:spPr>
      </p:pic>
      <p:sp>
        <p:nvSpPr>
          <p:cNvPr id="21" name="objective 3"/>
          <p:cNvSpPr/>
          <p:nvPr/>
        </p:nvSpPr>
        <p:spPr>
          <a:xfrm>
            <a:off x="6144768" y="1874520"/>
            <a:ext cx="2651760" cy="3520440"/>
          </a:xfrm>
          <a:prstGeom prst="roundRect">
            <a:avLst>
              <a:gd name="adj" fmla="val 4138"/>
            </a:avLst>
          </a:prstGeom>
          <a:solidFill>
            <a:schemeClr val="bg2"/>
          </a:solidFill>
          <a:ln w="12700">
            <a:solidFill>
              <a:schemeClr val="bg2"/>
            </a:solidFill>
            <a:prstDash val="solid"/>
          </a:ln>
        </p:spPr>
      </p:sp>
      <p:sp>
        <p:nvSpPr>
          <p:cNvPr id="22" name="objective 3 circle"/>
          <p:cNvSpPr/>
          <p:nvPr/>
        </p:nvSpPr>
        <p:spPr>
          <a:xfrm>
            <a:off x="6373368" y="2103120"/>
            <a:ext cx="640080" cy="640080"/>
          </a:xfrm>
          <a:prstGeom prst="ellipse">
            <a:avLst/>
          </a:prstGeom>
          <a:solidFill>
            <a:schemeClr val="accent2"/>
          </a:solidFill>
          <a:ln w="12700">
            <a:solidFill>
              <a:schemeClr val="accent2"/>
            </a:solidFill>
            <a:prstDash val="solid"/>
          </a:ln>
        </p:spPr>
      </p:sp>
      <p:pic>
        <p:nvPicPr>
          <p:cNvPr id="23" name="objective 3 icon" descr="preencoded.png">    </p:cNvPr>
          <p:cNvPicPr>
            <a:picLocks noChangeAspect="1"/>
          </p:cNvPicPr>
          <p:nvPr/>
        </p:nvPicPr>
        <p:blipFill>
          <a:blip r:embed="rId5"/>
          <a:stretch>
            <a:fillRect/>
          </a:stretch>
        </p:blipFill>
        <p:spPr>
          <a:xfrm>
            <a:off x="6501384" y="2231136"/>
            <a:ext cx="384048" cy="384048"/>
          </a:xfrm>
          <a:prstGeom prst="rect">
            <a:avLst/>
          </a:prstGeom>
        </p:spPr>
      </p:pic>
      <p:sp>
        <p:nvSpPr>
          <p:cNvPr id="24" name="Text 17"/>
          <p:cNvSpPr txBox="1"/>
          <p:nvPr/>
        </p:nvSpPr>
        <p:spPr>
          <a:xfrm>
            <a:off x="7973568" y="2103120"/>
            <a:ext cx="594360" cy="640080"/>
          </a:xfrm>
          <a:prstGeom prst="rect">
            <a:avLst/>
          </a:prstGeom>
          <a:noFill/>
          <a:ln/>
        </p:spPr>
        <p:txBody>
          <a:bodyPr wrap="square" lIns="0" tIns="0" rIns="0" bIns="0" rtlCol="0" anchor="ctr"/>
          <a:lstStyle/>
          <a:p>
            <a:pPr algn="r" indent="0" marL="0">
              <a:buNone/>
            </a:pPr>
            <a:r>
              <a:rPr lang="en-US" sz="3000" b="1" dirty="0">
                <a:solidFill>
                  <a:schemeClr val="accent2"/>
                </a:solidFill>
              </a:rPr>
              <a:t>3</a:t>
            </a:r>
            <a:endParaRPr lang="en-US" sz="3000" dirty="0"/>
          </a:p>
        </p:txBody>
      </p:sp>
      <p:sp>
        <p:nvSpPr>
          <p:cNvPr id="25" name="Text 18"/>
          <p:cNvSpPr txBox="1"/>
          <p:nvPr/>
        </p:nvSpPr>
        <p:spPr>
          <a:xfrm>
            <a:off x="6373368" y="2880360"/>
            <a:ext cx="2240280" cy="685800"/>
          </a:xfrm>
          <a:prstGeom prst="rect">
            <a:avLst/>
          </a:prstGeom>
          <a:noFill/>
          <a:ln/>
        </p:spPr>
        <p:txBody>
          <a:bodyPr wrap="square" lIns="0" tIns="0" rIns="0" bIns="0" rtlCol="0" anchor="t"/>
          <a:lstStyle/>
          <a:p>
            <a:pPr indent="0" marL="0">
              <a:buNone/>
            </a:pPr>
            <a:r>
              <a:rPr lang="en-US" sz="1800" b="1" dirty="0">
                <a:solidFill>
                  <a:schemeClr val="tx1"/>
                </a:solidFill>
              </a:rPr>
              <a:t>Apply the indicators</a:t>
            </a:r>
            <a:endParaRPr lang="en-US" sz="1800" dirty="0"/>
          </a:p>
        </p:txBody>
      </p:sp>
      <p:sp>
        <p:nvSpPr>
          <p:cNvPr id="26" name="Text 19"/>
          <p:cNvSpPr txBox="1"/>
          <p:nvPr/>
        </p:nvSpPr>
        <p:spPr>
          <a:xfrm>
            <a:off x="6373368" y="3566160"/>
            <a:ext cx="2240280" cy="1280160"/>
          </a:xfrm>
          <a:prstGeom prst="rect">
            <a:avLst/>
          </a:prstGeom>
          <a:noFill/>
          <a:ln/>
        </p:spPr>
        <p:txBody>
          <a:bodyPr wrap="square" lIns="0" tIns="0" rIns="0" bIns="0" rtlCol="0" anchor="t"/>
          <a:lstStyle/>
          <a:p>
            <a:pPr indent="0" marL="0">
              <a:buNone/>
            </a:pPr>
            <a:r>
              <a:rPr lang="en-US" sz="1400" dirty="0">
                <a:solidFill>
                  <a:schemeClr val="accent6"/>
                </a:solidFill>
              </a:rPr>
              <a:t>Apply ownership and control, aliases, geography, indirect exposure and evasion indicators, using the tools you already have.</a:t>
            </a:r>
            <a:endParaRPr lang="en-US" sz="1400" dirty="0"/>
          </a:p>
        </p:txBody>
      </p:sp>
      <p:sp>
        <p:nvSpPr>
          <p:cNvPr id="27" name="Text 20"/>
          <p:cNvSpPr txBox="1"/>
          <p:nvPr/>
        </p:nvSpPr>
        <p:spPr>
          <a:xfrm>
            <a:off x="6373368" y="4919472"/>
            <a:ext cx="2240280" cy="365760"/>
          </a:xfrm>
          <a:prstGeom prst="rect">
            <a:avLst/>
          </a:prstGeom>
          <a:noFill/>
          <a:ln/>
        </p:spPr>
        <p:txBody>
          <a:bodyPr wrap="square" lIns="0" tIns="0" rIns="0" bIns="0" rtlCol="0" anchor="t"/>
          <a:lstStyle/>
          <a:p>
            <a:pPr indent="0" marL="0">
              <a:buNone/>
            </a:pPr>
            <a:r>
              <a:rPr lang="en-US" sz="1400" b="1" i="1" dirty="0">
                <a:solidFill>
                  <a:schemeClr val="accent2"/>
                </a:solidFill>
              </a:rPr>
              <a:t>From alert to evidence.</a:t>
            </a:r>
            <a:endParaRPr lang="en-US" sz="1400" dirty="0"/>
          </a:p>
        </p:txBody>
      </p:sp>
      <p:pic>
        <p:nvPicPr>
          <p:cNvPr id="28" name="Image 5" descr="preencoded.png">    </p:cNvPr>
          <p:cNvPicPr>
            <a:picLocks noChangeAspect="1"/>
          </p:cNvPicPr>
          <p:nvPr/>
        </p:nvPicPr>
        <p:blipFill>
          <a:blip r:embed="rId6"/>
          <a:stretch>
            <a:fillRect/>
          </a:stretch>
        </p:blipFill>
        <p:spPr>
          <a:xfrm>
            <a:off x="8778240" y="3520440"/>
            <a:ext cx="182880" cy="182880"/>
          </a:xfrm>
          <a:prstGeom prst="rect">
            <a:avLst/>
          </a:prstGeom>
        </p:spPr>
      </p:pic>
      <p:sp>
        <p:nvSpPr>
          <p:cNvPr id="29" name="objective 4"/>
          <p:cNvSpPr/>
          <p:nvPr/>
        </p:nvSpPr>
        <p:spPr>
          <a:xfrm>
            <a:off x="8942832" y="1874520"/>
            <a:ext cx="2651760" cy="3520440"/>
          </a:xfrm>
          <a:prstGeom prst="roundRect">
            <a:avLst>
              <a:gd name="adj" fmla="val 4138"/>
            </a:avLst>
          </a:prstGeom>
          <a:solidFill>
            <a:schemeClr val="bg2"/>
          </a:solidFill>
          <a:ln w="12700">
            <a:solidFill>
              <a:schemeClr val="bg2"/>
            </a:solidFill>
            <a:prstDash val="solid"/>
          </a:ln>
        </p:spPr>
      </p:sp>
      <p:sp>
        <p:nvSpPr>
          <p:cNvPr id="30" name="objective 4 circle"/>
          <p:cNvSpPr/>
          <p:nvPr/>
        </p:nvSpPr>
        <p:spPr>
          <a:xfrm>
            <a:off x="9171432" y="2103120"/>
            <a:ext cx="640080" cy="640080"/>
          </a:xfrm>
          <a:prstGeom prst="ellipse">
            <a:avLst/>
          </a:prstGeom>
          <a:solidFill>
            <a:schemeClr val="accent3"/>
          </a:solidFill>
          <a:ln w="12700">
            <a:solidFill>
              <a:schemeClr val="accent3"/>
            </a:solidFill>
            <a:prstDash val="solid"/>
          </a:ln>
        </p:spPr>
      </p:sp>
      <p:pic>
        <p:nvPicPr>
          <p:cNvPr id="31" name="objective 4 icon" descr="preencoded.png">    </p:cNvPr>
          <p:cNvPicPr>
            <a:picLocks noChangeAspect="1"/>
          </p:cNvPicPr>
          <p:nvPr/>
        </p:nvPicPr>
        <p:blipFill>
          <a:blip r:embed="rId7"/>
          <a:stretch>
            <a:fillRect/>
          </a:stretch>
        </p:blipFill>
        <p:spPr>
          <a:xfrm>
            <a:off x="9299448" y="2231136"/>
            <a:ext cx="384048" cy="384048"/>
          </a:xfrm>
          <a:prstGeom prst="rect">
            <a:avLst/>
          </a:prstGeom>
        </p:spPr>
      </p:pic>
      <p:sp>
        <p:nvSpPr>
          <p:cNvPr id="32" name="Text 23"/>
          <p:cNvSpPr txBox="1"/>
          <p:nvPr/>
        </p:nvSpPr>
        <p:spPr>
          <a:xfrm>
            <a:off x="10771632" y="2103120"/>
            <a:ext cx="594360" cy="640080"/>
          </a:xfrm>
          <a:prstGeom prst="rect">
            <a:avLst/>
          </a:prstGeom>
          <a:noFill/>
          <a:ln/>
        </p:spPr>
        <p:txBody>
          <a:bodyPr wrap="square" lIns="0" tIns="0" rIns="0" bIns="0" rtlCol="0" anchor="ctr"/>
          <a:lstStyle/>
          <a:p>
            <a:pPr algn="r" indent="0" marL="0">
              <a:buNone/>
            </a:pPr>
            <a:r>
              <a:rPr lang="en-US" sz="3000" b="1" dirty="0">
                <a:solidFill>
                  <a:schemeClr val="accent3"/>
                </a:solidFill>
              </a:rPr>
              <a:t>4</a:t>
            </a:r>
            <a:endParaRPr lang="en-US" sz="3000" dirty="0"/>
          </a:p>
        </p:txBody>
      </p:sp>
      <p:sp>
        <p:nvSpPr>
          <p:cNvPr id="33" name="Text 24"/>
          <p:cNvSpPr txBox="1"/>
          <p:nvPr/>
        </p:nvSpPr>
        <p:spPr>
          <a:xfrm>
            <a:off x="9171432" y="2880360"/>
            <a:ext cx="2240280" cy="685800"/>
          </a:xfrm>
          <a:prstGeom prst="rect">
            <a:avLst/>
          </a:prstGeom>
          <a:noFill/>
          <a:ln/>
        </p:spPr>
        <p:txBody>
          <a:bodyPr wrap="square" lIns="0" tIns="0" rIns="0" bIns="0" rtlCol="0" anchor="t"/>
          <a:lstStyle/>
          <a:p>
            <a:pPr indent="0" marL="0">
              <a:buNone/>
            </a:pPr>
            <a:r>
              <a:rPr lang="en-US" sz="1800" b="1" dirty="0">
                <a:solidFill>
                  <a:schemeClr val="tx1"/>
                </a:solidFill>
              </a:rPr>
              <a:t>Record the decision</a:t>
            </a:r>
            <a:endParaRPr lang="en-US" sz="1800" dirty="0"/>
          </a:p>
        </p:txBody>
      </p:sp>
      <p:sp>
        <p:nvSpPr>
          <p:cNvPr id="34" name="Text 25"/>
          <p:cNvSpPr txBox="1"/>
          <p:nvPr/>
        </p:nvSpPr>
        <p:spPr>
          <a:xfrm>
            <a:off x="9171432" y="3566160"/>
            <a:ext cx="2240280" cy="1280160"/>
          </a:xfrm>
          <a:prstGeom prst="rect">
            <a:avLst/>
          </a:prstGeom>
          <a:noFill/>
          <a:ln/>
        </p:spPr>
        <p:txBody>
          <a:bodyPr wrap="square" lIns="0" tIns="0" rIns="0" bIns="0" rtlCol="0" anchor="t"/>
          <a:lstStyle/>
          <a:p>
            <a:pPr indent="0" marL="0">
              <a:buNone/>
            </a:pPr>
            <a:r>
              <a:rPr lang="en-US" sz="1400" dirty="0">
                <a:solidFill>
                  <a:schemeClr val="accent6"/>
                </a:solidFill>
              </a:rPr>
              <a:t>Produce a defensible escalation record — facts, sources, decision and next action — and join it up across teams.</a:t>
            </a:r>
            <a:endParaRPr lang="en-US" sz="1400" dirty="0"/>
          </a:p>
        </p:txBody>
      </p:sp>
      <p:sp>
        <p:nvSpPr>
          <p:cNvPr id="35" name="Text 26"/>
          <p:cNvSpPr txBox="1"/>
          <p:nvPr/>
        </p:nvSpPr>
        <p:spPr>
          <a:xfrm>
            <a:off x="9171432" y="4919472"/>
            <a:ext cx="2240280" cy="365760"/>
          </a:xfrm>
          <a:prstGeom prst="rect">
            <a:avLst/>
          </a:prstGeom>
          <a:noFill/>
          <a:ln/>
        </p:spPr>
        <p:txBody>
          <a:bodyPr wrap="square" lIns="0" tIns="0" rIns="0" bIns="0" rtlCol="0" anchor="t"/>
          <a:lstStyle/>
          <a:p>
            <a:pPr indent="0" marL="0">
              <a:buNone/>
            </a:pPr>
            <a:r>
              <a:rPr lang="en-US" sz="1400" b="1" i="1" dirty="0">
                <a:solidFill>
                  <a:schemeClr val="accent3"/>
                </a:solidFill>
              </a:rPr>
              <a:t>Defensible and reproducible.</a:t>
            </a:r>
            <a:endParaRPr lang="en-US" sz="1400" dirty="0"/>
          </a:p>
        </p:txBody>
      </p:sp>
      <p:sp>
        <p:nvSpPr>
          <p:cNvPr id="36" name="On every alert"/>
          <p:cNvSpPr/>
          <p:nvPr/>
        </p:nvSpPr>
        <p:spPr>
          <a:xfrm>
            <a:off x="548640" y="5577840"/>
            <a:ext cx="11064240" cy="457200"/>
          </a:xfrm>
          <a:prstGeom prst="roundRect">
            <a:avLst>
              <a:gd name="adj" fmla="val 24000"/>
            </a:avLst>
          </a:prstGeom>
          <a:solidFill>
            <a:schemeClr val="tx1"/>
          </a:solidFill>
          <a:ln w="12700">
            <a:solidFill>
              <a:schemeClr val="tx1"/>
            </a:solidFill>
            <a:prstDash val="solid"/>
          </a:ln>
        </p:spPr>
      </p:sp>
      <p:sp>
        <p:nvSpPr>
          <p:cNvPr id="37" name="Text 28"/>
          <p:cNvSpPr txBox="1"/>
          <p:nvPr/>
        </p:nvSpPr>
        <p:spPr>
          <a:xfrm>
            <a:off x="777240" y="5577840"/>
            <a:ext cx="10607040" cy="457200"/>
          </a:xfrm>
          <a:prstGeom prst="rect">
            <a:avLst/>
          </a:prstGeom>
          <a:noFill/>
          <a:ln/>
        </p:spPr>
        <p:txBody>
          <a:bodyPr wrap="square" lIns="0" tIns="0" rIns="0" bIns="0" rtlCol="0" anchor="ctr"/>
          <a:lstStyle/>
          <a:p>
            <a:pPr indent="0" marL="0">
              <a:buNone/>
            </a:pPr>
            <a:r>
              <a:rPr lang="en-US" sz="1200" b="1" spc="100" kern="0" dirty="0">
                <a:solidFill>
                  <a:schemeClr val="accent2"/>
                </a:solidFill>
              </a:rPr>
              <a:t>ON EVERY ALERT   </a:t>
            </a:r>
            <a:pPr indent="0" marL="0">
              <a:buNone/>
            </a:pPr>
            <a:r>
              <a:rPr lang="en-US" sz="1500" dirty="0">
                <a:solidFill>
                  <a:schemeClr val="bg1"/>
                </a:solidFill>
              </a:rPr>
              <a:t>Pause → Investigate → Escalate → Record. The regions are operating lenses, not single legal regimes.</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1 OF 4</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bg1"/>
                </a:solidFill>
              </a:rPr>
              <a:t>Understand the model</a:t>
            </a:r>
            <a:endParaRPr lang="en-US" sz="3000" dirty="0"/>
          </a:p>
        </p:txBody>
      </p:sp>
      <p:sp>
        <p:nvSpPr>
          <p:cNvPr id="4" name="part 1 circle"/>
          <p:cNvSpPr/>
          <p:nvPr/>
        </p:nvSpPr>
        <p:spPr>
          <a:xfrm>
            <a:off x="10561320" y="320040"/>
            <a:ext cx="1005840" cy="1005840"/>
          </a:xfrm>
          <a:prstGeom prst="ellipse">
            <a:avLst/>
          </a:prstGeom>
          <a:solidFill>
            <a:schemeClr val="accent1"/>
          </a:solidFill>
          <a:ln w="12700">
            <a:solidFill>
              <a:schemeClr val="accent1"/>
            </a:solidFill>
            <a:prstDash val="solid"/>
          </a:ln>
        </p:spPr>
      </p:sp>
      <p:pic>
        <p:nvPicPr>
          <p:cNvPr id="5" name="part 1 icon" descr="preencoded.png">    </p:cNvPr>
          <p:cNvPicPr>
            <a:picLocks noChangeAspect="1"/>
          </p:cNvPicPr>
          <p:nvPr/>
        </p:nvPicPr>
        <p:blipFill>
          <a:blip r:embed="rId1"/>
          <a:stretch>
            <a:fillRect/>
          </a:stretch>
        </p:blipFill>
        <p:spPr>
          <a:xfrm>
            <a:off x="10762488" y="521208"/>
            <a:ext cx="603504" cy="603504"/>
          </a:xfrm>
          <a:prstGeom prst="rect">
            <a:avLst/>
          </a:prstGeom>
        </p:spPr>
      </p:pic>
      <p:sp>
        <p:nvSpPr>
          <p:cNvPr id="6" name="Text 3"/>
          <p:cNvSpPr txBox="1"/>
          <p:nvPr/>
        </p:nvSpPr>
        <p:spPr>
          <a:xfrm>
            <a:off x="548640" y="1234440"/>
            <a:ext cx="9601200" cy="457200"/>
          </a:xfrm>
          <a:prstGeom prst="rect">
            <a:avLst/>
          </a:prstGeom>
          <a:noFill/>
          <a:ln/>
        </p:spPr>
        <p:txBody>
          <a:bodyPr wrap="square" lIns="0" tIns="0" rIns="0" bIns="0" rtlCol="0" anchor="t"/>
          <a:lstStyle/>
          <a:p>
            <a:pPr indent="0" marL="0">
              <a:buNone/>
            </a:pPr>
            <a:r>
              <a:rPr lang="en-US" sz="2200" b="1" i="1" dirty="0">
                <a:solidFill>
                  <a:schemeClr val="accent2"/>
                </a:solidFill>
              </a:rPr>
              <a:t>The control objective is constant.</a:t>
            </a:r>
            <a:endParaRPr lang="en-US" sz="2200" dirty="0"/>
          </a:p>
        </p:txBody>
      </p:sp>
      <p:sp>
        <p:nvSpPr>
          <p:cNvPr id="7" name="Text 4"/>
          <p:cNvSpPr txBox="1"/>
          <p:nvPr/>
        </p:nvSpPr>
        <p:spPr>
          <a:xfrm>
            <a:off x="548640" y="1828800"/>
            <a:ext cx="10789920" cy="914400"/>
          </a:xfrm>
          <a:prstGeom prst="rect">
            <a:avLst/>
          </a:prstGeom>
          <a:noFill/>
          <a:ln/>
        </p:spPr>
        <p:txBody>
          <a:bodyPr wrap="square" lIns="0" tIns="0" rIns="0" bIns="0" rtlCol="0" anchor="t"/>
          <a:lstStyle/>
          <a:p>
            <a:pPr indent="0" marL="0">
              <a:buNone/>
            </a:pPr>
            <a:r>
              <a:rPr lang="en-US" sz="1800" dirty="0">
                <a:solidFill>
                  <a:schemeClr val="bg1"/>
                </a:solidFill>
              </a:rPr>
              <a:t>Every region runs the same control model: screen, validate, decide, evidence. This part sets out what counts as a sanctions exposure and how you respond in the first minutes of an alert — the same way, every time.</a:t>
            </a:r>
            <a:endParaRPr lang="en-US" sz="1800" dirty="0"/>
          </a:p>
        </p:txBody>
      </p:sp>
      <p:sp>
        <p:nvSpPr>
          <p:cNvPr id="8" name="In this part"/>
          <p:cNvSpPr/>
          <p:nvPr/>
        </p:nvSpPr>
        <p:spPr>
          <a:xfrm>
            <a:off x="548640" y="3200400"/>
            <a:ext cx="3566160" cy="2286000"/>
          </a:xfrm>
          <a:prstGeom prst="roundRect">
            <a:avLst>
              <a:gd name="adj" fmla="val 4800"/>
            </a:avLst>
          </a:prstGeom>
          <a:solidFill>
            <a:schemeClr val="tx1"/>
          </a:solidFill>
          <a:ln w="12700">
            <a:solidFill>
              <a:schemeClr val="accent4"/>
            </a:solidFill>
            <a:prstDash val="solid"/>
          </a:ln>
        </p:spPr>
      </p:sp>
      <p:sp>
        <p:nvSpPr>
          <p:cNvPr id="9" name="Text 6"/>
          <p:cNvSpPr txBox="1"/>
          <p:nvPr/>
        </p:nvSpPr>
        <p:spPr>
          <a:xfrm>
            <a:off x="777240" y="3337560"/>
            <a:ext cx="3108960" cy="228600"/>
          </a:xfrm>
          <a:prstGeom prst="rect">
            <a:avLst/>
          </a:prstGeom>
          <a:noFill/>
          <a:ln/>
        </p:spPr>
        <p:txBody>
          <a:bodyPr wrap="square" lIns="0" tIns="0" rIns="0" bIns="0" rtlCol="0" anchor="t"/>
          <a:lstStyle/>
          <a:p>
            <a:pPr indent="0" marL="0">
              <a:buNone/>
            </a:pPr>
            <a:r>
              <a:rPr lang="en-US" sz="1100" b="1" spc="100" kern="0" dirty="0">
                <a:solidFill>
                  <a:schemeClr val="accent5"/>
                </a:solidFill>
              </a:rPr>
              <a:t>IN THIS PART</a:t>
            </a:r>
            <a:endParaRPr lang="en-US" sz="1100" dirty="0"/>
          </a:p>
        </p:txBody>
      </p:sp>
      <p:sp>
        <p:nvSpPr>
          <p:cNvPr id="10" name="Text 7"/>
          <p:cNvSpPr txBox="1"/>
          <p:nvPr/>
        </p:nvSpPr>
        <p:spPr>
          <a:xfrm>
            <a:off x="777240" y="3657600"/>
            <a:ext cx="3154680" cy="182880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chemeClr val="bg1"/>
                </a:solidFill>
              </a:rPr>
              <a:t>Eight principles that hold in every region</a:t>
            </a:r>
            <a:endParaRPr lang="en-US" sz="1500" dirty="0"/>
          </a:p>
          <a:p>
            <a:pPr marL="342900" indent="-342900">
              <a:spcAft>
                <a:spcPts val="400"/>
              </a:spcAft>
              <a:buSzPct val="100000"/>
              <a:buChar char="•"/>
            </a:pPr>
            <a:r>
              <a:rPr lang="en-US" sz="1500" dirty="0">
                <a:solidFill>
                  <a:schemeClr val="bg1"/>
                </a:solidFill>
              </a:rPr>
              <a:t>What counts as a sanctions exposure</a:t>
            </a:r>
            <a:endParaRPr lang="en-US" sz="1500" dirty="0"/>
          </a:p>
          <a:p>
            <a:pPr marL="342900" indent="-342900">
              <a:spcAft>
                <a:spcPts val="400"/>
              </a:spcAft>
              <a:buSzPct val="100000"/>
              <a:buChar char="•"/>
            </a:pPr>
            <a:r>
              <a:rPr lang="en-US" sz="1500" dirty="0">
                <a:solidFill>
                  <a:schemeClr val="bg1"/>
                </a:solidFill>
              </a:rPr>
              <a:t>First response to a potential true match</a:t>
            </a:r>
            <a:endParaRPr lang="en-US" sz="1500" dirty="0"/>
          </a:p>
        </p:txBody>
      </p:sp>
      <p:sp>
        <p:nvSpPr>
          <p:cNvPr id="11" name="In your process"/>
          <p:cNvSpPr/>
          <p:nvPr/>
        </p:nvSpPr>
        <p:spPr>
          <a:xfrm>
            <a:off x="4297680" y="3200400"/>
            <a:ext cx="3566160" cy="2286000"/>
          </a:xfrm>
          <a:prstGeom prst="roundRect">
            <a:avLst>
              <a:gd name="adj" fmla="val 4800"/>
            </a:avLst>
          </a:prstGeom>
          <a:solidFill>
            <a:schemeClr val="tx1"/>
          </a:solidFill>
          <a:ln w="12700">
            <a:solidFill>
              <a:schemeClr val="accent4"/>
            </a:solidFill>
            <a:prstDash val="solid"/>
          </a:ln>
        </p:spPr>
      </p:sp>
      <p:sp>
        <p:nvSpPr>
          <p:cNvPr id="12" name="Text 9"/>
          <p:cNvSpPr txBox="1"/>
          <p:nvPr/>
        </p:nvSpPr>
        <p:spPr>
          <a:xfrm>
            <a:off x="4526280" y="3337560"/>
            <a:ext cx="3108960" cy="228600"/>
          </a:xfrm>
          <a:prstGeom prst="rect">
            <a:avLst/>
          </a:prstGeom>
          <a:noFill/>
          <a:ln/>
        </p:spPr>
        <p:txBody>
          <a:bodyPr wrap="square" lIns="0" tIns="0" rIns="0" bIns="0" rtlCol="0" anchor="t"/>
          <a:lstStyle/>
          <a:p>
            <a:pPr indent="0" marL="0">
              <a:buNone/>
            </a:pPr>
            <a:r>
              <a:rPr lang="en-US" sz="1100" b="1" spc="100" kern="0" dirty="0">
                <a:solidFill>
                  <a:schemeClr val="accent5"/>
                </a:solidFill>
              </a:rPr>
              <a:t>IN YOUR PROCESS</a:t>
            </a:r>
            <a:endParaRPr lang="en-US" sz="1100" dirty="0"/>
          </a:p>
        </p:txBody>
      </p:sp>
      <p:sp>
        <p:nvSpPr>
          <p:cNvPr id="13" name="Text 10"/>
          <p:cNvSpPr txBox="1"/>
          <p:nvPr/>
        </p:nvSpPr>
        <p:spPr>
          <a:xfrm>
            <a:off x="4526280" y="3657600"/>
            <a:ext cx="3154680" cy="1828800"/>
          </a:xfrm>
          <a:prstGeom prst="rect">
            <a:avLst/>
          </a:prstGeom>
          <a:noFill/>
          <a:ln/>
        </p:spPr>
        <p:txBody>
          <a:bodyPr wrap="square" lIns="0" tIns="0" rIns="0" bIns="0" rtlCol="0" anchor="t"/>
          <a:lstStyle/>
          <a:p>
            <a:pPr indent="0" marL="0">
              <a:buNone/>
            </a:pPr>
            <a:r>
              <a:rPr lang="en-US" sz="1500" dirty="0">
                <a:solidFill>
                  <a:schemeClr val="bg1"/>
                </a:solidFill>
              </a:rPr>
              <a:t>A Firco alert lands in your L1 queue. You review it, a 4-eye check confirms it, and anything confirmed or unresolved goes to L2 Sanctions Compliance.</a:t>
            </a:r>
            <a:endParaRPr lang="en-US" sz="1500" dirty="0"/>
          </a:p>
        </p:txBody>
      </p:sp>
      <p:sp>
        <p:nvSpPr>
          <p:cNvPr id="14" name="Ask yourself"/>
          <p:cNvSpPr/>
          <p:nvPr/>
        </p:nvSpPr>
        <p:spPr>
          <a:xfrm>
            <a:off x="8046720" y="3200400"/>
            <a:ext cx="3566160" cy="2286000"/>
          </a:xfrm>
          <a:prstGeom prst="roundRect">
            <a:avLst>
              <a:gd name="adj" fmla="val 4800"/>
            </a:avLst>
          </a:prstGeom>
          <a:solidFill>
            <a:schemeClr val="tx1"/>
          </a:solidFill>
          <a:ln w="12700">
            <a:solidFill>
              <a:schemeClr val="accent4"/>
            </a:solidFill>
            <a:prstDash val="solid"/>
          </a:ln>
        </p:spPr>
      </p:sp>
      <p:sp>
        <p:nvSpPr>
          <p:cNvPr id="15" name="Text 12"/>
          <p:cNvSpPr txBox="1"/>
          <p:nvPr/>
        </p:nvSpPr>
        <p:spPr>
          <a:xfrm>
            <a:off x="8275320" y="3337560"/>
            <a:ext cx="3108960" cy="228600"/>
          </a:xfrm>
          <a:prstGeom prst="rect">
            <a:avLst/>
          </a:prstGeom>
          <a:noFill/>
          <a:ln/>
        </p:spPr>
        <p:txBody>
          <a:bodyPr wrap="square" lIns="0" tIns="0" rIns="0" bIns="0" rtlCol="0" anchor="t"/>
          <a:lstStyle/>
          <a:p>
            <a:pPr indent="0" marL="0">
              <a:buNone/>
            </a:pPr>
            <a:r>
              <a:rPr lang="en-US" sz="1100" b="1" spc="100" kern="0" dirty="0">
                <a:solidFill>
                  <a:schemeClr val="accent2"/>
                </a:solidFill>
              </a:rPr>
              <a:t>ASK YOURSELF</a:t>
            </a:r>
            <a:endParaRPr lang="en-US" sz="1100" dirty="0"/>
          </a:p>
        </p:txBody>
      </p:sp>
      <p:sp>
        <p:nvSpPr>
          <p:cNvPr id="16" name="Text 13"/>
          <p:cNvSpPr txBox="1"/>
          <p:nvPr/>
        </p:nvSpPr>
        <p:spPr>
          <a:xfrm>
            <a:off x="8275320" y="3657600"/>
            <a:ext cx="3154680" cy="1828800"/>
          </a:xfrm>
          <a:prstGeom prst="rect">
            <a:avLst/>
          </a:prstGeom>
          <a:noFill/>
          <a:ln/>
        </p:spPr>
        <p:txBody>
          <a:bodyPr wrap="square" lIns="0" tIns="0" rIns="0" bIns="0" rtlCol="0" anchor="t"/>
          <a:lstStyle/>
          <a:p>
            <a:pPr indent="0" marL="0">
              <a:buNone/>
            </a:pPr>
            <a:r>
              <a:rPr lang="en-US" sz="1700" i="1" dirty="0">
                <a:solidFill>
                  <a:schemeClr val="bg1"/>
                </a:solidFill>
              </a:rPr>
              <a:t>What would make me stop this payment — and what would I need to see before releasing it?</a:t>
            </a:r>
            <a:endParaRPr lang="en-US" sz="1700" dirty="0"/>
          </a:p>
        </p:txBody>
      </p:sp>
      <p:sp>
        <p:nvSpPr>
          <p:cNvPr id="17" name="progress 1"/>
          <p:cNvSpPr/>
          <p:nvPr/>
        </p:nvSpPr>
        <p:spPr>
          <a:xfrm>
            <a:off x="548640" y="5806440"/>
            <a:ext cx="2651760" cy="384048"/>
          </a:xfrm>
          <a:prstGeom prst="roundRect">
            <a:avLst>
              <a:gd name="adj" fmla="val 50000"/>
            </a:avLst>
          </a:prstGeom>
          <a:solidFill>
            <a:schemeClr val="accent1"/>
          </a:solidFill>
          <a:ln w="12700">
            <a:solidFill>
              <a:schemeClr val="accent1"/>
            </a:solidFill>
            <a:prstDash val="solid"/>
          </a:ln>
        </p:spPr>
      </p:sp>
      <p:sp>
        <p:nvSpPr>
          <p:cNvPr id="18" name="Text 15"/>
          <p:cNvSpPr txBox="1"/>
          <p:nvPr/>
        </p:nvSpPr>
        <p:spPr>
          <a:xfrm>
            <a:off x="548640" y="5806440"/>
            <a:ext cx="2651760" cy="384048"/>
          </a:xfrm>
          <a:prstGeom prst="rect">
            <a:avLst/>
          </a:prstGeom>
          <a:noFill/>
          <a:ln/>
        </p:spPr>
        <p:txBody>
          <a:bodyPr wrap="square" lIns="0" tIns="0" rIns="0" bIns="0" rtlCol="0" anchor="ctr"/>
          <a:lstStyle/>
          <a:p>
            <a:pPr algn="ctr" indent="0" marL="0">
              <a:buNone/>
            </a:pPr>
            <a:r>
              <a:rPr lang="en-US" sz="1300" b="1" dirty="0">
                <a:solidFill>
                  <a:schemeClr val="bg1"/>
                </a:solidFill>
              </a:rPr>
              <a:t>1  Understand the model</a:t>
            </a:r>
            <a:endParaRPr lang="en-US" sz="1300" dirty="0"/>
          </a:p>
        </p:txBody>
      </p:sp>
      <p:sp>
        <p:nvSpPr>
          <p:cNvPr id="19" name="progress 2"/>
          <p:cNvSpPr/>
          <p:nvPr/>
        </p:nvSpPr>
        <p:spPr>
          <a:xfrm>
            <a:off x="3346704" y="5806440"/>
            <a:ext cx="2651760" cy="384048"/>
          </a:xfrm>
          <a:prstGeom prst="roundRect">
            <a:avLst>
              <a:gd name="adj" fmla="val 50000"/>
            </a:avLst>
          </a:prstGeom>
          <a:solidFill>
            <a:schemeClr val="tx2"/>
          </a:solidFill>
          <a:ln w="12700">
            <a:solidFill>
              <a:schemeClr val="accent4"/>
            </a:solidFill>
            <a:prstDash val="solid"/>
          </a:ln>
        </p:spPr>
      </p:sp>
      <p:sp>
        <p:nvSpPr>
          <p:cNvPr id="20" name="Text 17"/>
          <p:cNvSpPr txBox="1"/>
          <p:nvPr/>
        </p:nvSpPr>
        <p:spPr>
          <a:xfrm>
            <a:off x="3346704" y="5806440"/>
            <a:ext cx="2651760" cy="384048"/>
          </a:xfrm>
          <a:prstGeom prst="rect">
            <a:avLst/>
          </a:prstGeom>
          <a:noFill/>
          <a:ln/>
        </p:spPr>
        <p:txBody>
          <a:bodyPr wrap="square" lIns="0" tIns="0" rIns="0" bIns="0" rtlCol="0" anchor="ctr"/>
          <a:lstStyle/>
          <a:p>
            <a:pPr algn="ctr" indent="0" marL="0">
              <a:buNone/>
            </a:pPr>
            <a:r>
              <a:rPr lang="en-US" sz="1300" dirty="0">
                <a:solidFill>
                  <a:schemeClr val="accent5"/>
                </a:solidFill>
              </a:rPr>
              <a:t>2  Compare the regions</a:t>
            </a:r>
            <a:endParaRPr lang="en-US" sz="1300" dirty="0"/>
          </a:p>
        </p:txBody>
      </p:sp>
      <p:sp>
        <p:nvSpPr>
          <p:cNvPr id="21" name="progress 3"/>
          <p:cNvSpPr/>
          <p:nvPr/>
        </p:nvSpPr>
        <p:spPr>
          <a:xfrm>
            <a:off x="6144768" y="5806440"/>
            <a:ext cx="2651760" cy="384048"/>
          </a:xfrm>
          <a:prstGeom prst="roundRect">
            <a:avLst>
              <a:gd name="adj" fmla="val 50000"/>
            </a:avLst>
          </a:prstGeom>
          <a:solidFill>
            <a:schemeClr val="tx2"/>
          </a:solidFill>
          <a:ln w="12700">
            <a:solidFill>
              <a:schemeClr val="accent4"/>
            </a:solidFill>
            <a:prstDash val="solid"/>
          </a:ln>
        </p:spPr>
      </p:sp>
      <p:sp>
        <p:nvSpPr>
          <p:cNvPr id="22" name="Text 19"/>
          <p:cNvSpPr txBox="1"/>
          <p:nvPr/>
        </p:nvSpPr>
        <p:spPr>
          <a:xfrm>
            <a:off x="6144768" y="5806440"/>
            <a:ext cx="2651760" cy="384048"/>
          </a:xfrm>
          <a:prstGeom prst="rect">
            <a:avLst/>
          </a:prstGeom>
          <a:noFill/>
          <a:ln/>
        </p:spPr>
        <p:txBody>
          <a:bodyPr wrap="square" lIns="0" tIns="0" rIns="0" bIns="0" rtlCol="0" anchor="ctr"/>
          <a:lstStyle/>
          <a:p>
            <a:pPr algn="ctr" indent="0" marL="0">
              <a:buNone/>
            </a:pPr>
            <a:r>
              <a:rPr lang="en-US" sz="1300" dirty="0">
                <a:solidFill>
                  <a:schemeClr val="accent5"/>
                </a:solidFill>
              </a:rPr>
              <a:t>3  Apply the indicators</a:t>
            </a:r>
            <a:endParaRPr lang="en-US" sz="1300" dirty="0"/>
          </a:p>
        </p:txBody>
      </p:sp>
      <p:sp>
        <p:nvSpPr>
          <p:cNvPr id="23" name="progress 4"/>
          <p:cNvSpPr/>
          <p:nvPr/>
        </p:nvSpPr>
        <p:spPr>
          <a:xfrm>
            <a:off x="8942832" y="5806440"/>
            <a:ext cx="2651760" cy="384048"/>
          </a:xfrm>
          <a:prstGeom prst="roundRect">
            <a:avLst>
              <a:gd name="adj" fmla="val 50000"/>
            </a:avLst>
          </a:prstGeom>
          <a:solidFill>
            <a:schemeClr val="tx2"/>
          </a:solidFill>
          <a:ln w="12700">
            <a:solidFill>
              <a:schemeClr val="accent4"/>
            </a:solidFill>
            <a:prstDash val="solid"/>
          </a:ln>
        </p:spPr>
      </p:sp>
      <p:sp>
        <p:nvSpPr>
          <p:cNvPr id="24" name="Text 21"/>
          <p:cNvSpPr txBox="1"/>
          <p:nvPr/>
        </p:nvSpPr>
        <p:spPr>
          <a:xfrm>
            <a:off x="8942832" y="5806440"/>
            <a:ext cx="2651760" cy="384048"/>
          </a:xfrm>
          <a:prstGeom prst="rect">
            <a:avLst/>
          </a:prstGeom>
          <a:noFill/>
          <a:ln/>
        </p:spPr>
        <p:txBody>
          <a:bodyPr wrap="square" lIns="0" tIns="0" rIns="0" bIns="0" rtlCol="0" anchor="ctr"/>
          <a:lstStyle/>
          <a:p>
            <a:pPr algn="ctr" indent="0" marL="0">
              <a:buNone/>
            </a:pPr>
            <a:r>
              <a:rPr lang="en-US" sz="1300" dirty="0">
                <a:solidFill>
                  <a:schemeClr val="accent5"/>
                </a:solidFill>
              </a:rPr>
              <a:t>4  Record the decision</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1 · COMMON CONTROL MODEL</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tx1"/>
                </a:solidFill>
              </a:rPr>
              <a:t>Eight principles hold in every region</a:t>
            </a:r>
            <a:endParaRPr lang="en-US" sz="3000" dirty="0"/>
          </a:p>
        </p:txBody>
      </p:sp>
      <p:sp>
        <p:nvSpPr>
          <p:cNvPr id="4" name="Shape 2"/>
          <p:cNvSpPr/>
          <p:nvPr/>
        </p:nvSpPr>
        <p:spPr>
          <a:xfrm>
            <a:off x="548640" y="1444752"/>
            <a:ext cx="594360" cy="594360"/>
          </a:xfrm>
          <a:prstGeom prst="ellipse">
            <a:avLst/>
          </a:prstGeom>
          <a:solidFill>
            <a:schemeClr val="accent1"/>
          </a:solidFill>
          <a:ln w="12700">
            <a:solidFill>
              <a:schemeClr val="accent1"/>
            </a:solidFill>
            <a:prstDash val="solid"/>
          </a:ln>
        </p:spPr>
      </p:sp>
      <p:sp>
        <p:nvSpPr>
          <p:cNvPr id="5" name="Text 3"/>
          <p:cNvSpPr txBox="1"/>
          <p:nvPr/>
        </p:nvSpPr>
        <p:spPr>
          <a:xfrm>
            <a:off x="548640" y="1444752"/>
            <a:ext cx="594360" cy="59436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4"/>
          <p:cNvSpPr txBox="1"/>
          <p:nvPr/>
        </p:nvSpPr>
        <p:spPr>
          <a:xfrm>
            <a:off x="1371600" y="1371600"/>
            <a:ext cx="4572000" cy="384048"/>
          </a:xfrm>
          <a:prstGeom prst="rect">
            <a:avLst/>
          </a:prstGeom>
          <a:noFill/>
          <a:ln/>
        </p:spPr>
        <p:txBody>
          <a:bodyPr wrap="square" lIns="0" tIns="0" rIns="0" bIns="0" rtlCol="0" anchor="t"/>
          <a:lstStyle/>
          <a:p>
            <a:pPr indent="0" marL="0">
              <a:buNone/>
            </a:pPr>
            <a:r>
              <a:rPr lang="en-US" sz="1900" b="1" dirty="0">
                <a:solidFill>
                  <a:schemeClr val="accent1"/>
                </a:solidFill>
              </a:rPr>
              <a:t>Hold under uncertainty</a:t>
            </a:r>
            <a:endParaRPr lang="en-US" sz="1900" dirty="0"/>
          </a:p>
        </p:txBody>
      </p:sp>
      <p:sp>
        <p:nvSpPr>
          <p:cNvPr id="7" name="Text 5"/>
          <p:cNvSpPr txBox="1"/>
          <p:nvPr/>
        </p:nvSpPr>
        <p:spPr>
          <a:xfrm>
            <a:off x="1371600" y="1773936"/>
            <a:ext cx="4572000" cy="658368"/>
          </a:xfrm>
          <a:prstGeom prst="rect">
            <a:avLst/>
          </a:prstGeom>
          <a:noFill/>
          <a:ln/>
        </p:spPr>
        <p:txBody>
          <a:bodyPr wrap="square" lIns="0" tIns="0" rIns="0" bIns="0" rtlCol="0" anchor="t"/>
          <a:lstStyle/>
          <a:p>
            <a:pPr indent="0" marL="0">
              <a:buNone/>
            </a:pPr>
            <a:r>
              <a:rPr lang="en-US" sz="1500" dirty="0">
                <a:solidFill>
                  <a:schemeClr val="accent6"/>
                </a:solidFill>
              </a:rPr>
              <a:t>Do not release, complete or bypass a payment while material uncertainty remains.</a:t>
            </a:r>
            <a:endParaRPr lang="en-US" sz="1500" dirty="0"/>
          </a:p>
        </p:txBody>
      </p:sp>
      <p:sp>
        <p:nvSpPr>
          <p:cNvPr id="8" name="Shape 6"/>
          <p:cNvSpPr/>
          <p:nvPr/>
        </p:nvSpPr>
        <p:spPr>
          <a:xfrm>
            <a:off x="548640" y="2615184"/>
            <a:ext cx="594360" cy="594360"/>
          </a:xfrm>
          <a:prstGeom prst="ellipse">
            <a:avLst/>
          </a:prstGeom>
          <a:solidFill>
            <a:schemeClr val="tx1"/>
          </a:solidFill>
          <a:ln w="12700">
            <a:solidFill>
              <a:schemeClr val="tx1"/>
            </a:solidFill>
            <a:prstDash val="solid"/>
          </a:ln>
        </p:spPr>
      </p:sp>
      <p:sp>
        <p:nvSpPr>
          <p:cNvPr id="9" name="Text 7"/>
          <p:cNvSpPr txBox="1"/>
          <p:nvPr/>
        </p:nvSpPr>
        <p:spPr>
          <a:xfrm>
            <a:off x="548640" y="2615184"/>
            <a:ext cx="594360" cy="59436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ext 8"/>
          <p:cNvSpPr txBox="1"/>
          <p:nvPr/>
        </p:nvSpPr>
        <p:spPr>
          <a:xfrm>
            <a:off x="1371600" y="2542032"/>
            <a:ext cx="4572000" cy="384048"/>
          </a:xfrm>
          <a:prstGeom prst="rect">
            <a:avLst/>
          </a:prstGeom>
          <a:noFill/>
          <a:ln/>
        </p:spPr>
        <p:txBody>
          <a:bodyPr wrap="square" lIns="0" tIns="0" rIns="0" bIns="0" rtlCol="0" anchor="t"/>
          <a:lstStyle/>
          <a:p>
            <a:pPr indent="0" marL="0">
              <a:buNone/>
            </a:pPr>
            <a:r>
              <a:rPr lang="en-US" sz="1900" b="1" dirty="0">
                <a:solidFill>
                  <a:schemeClr val="tx1"/>
                </a:solidFill>
              </a:rPr>
              <a:t>Identity, not just name</a:t>
            </a:r>
            <a:endParaRPr lang="en-US" sz="1900" dirty="0"/>
          </a:p>
        </p:txBody>
      </p:sp>
      <p:sp>
        <p:nvSpPr>
          <p:cNvPr id="11" name="Text 9"/>
          <p:cNvSpPr txBox="1"/>
          <p:nvPr/>
        </p:nvSpPr>
        <p:spPr>
          <a:xfrm>
            <a:off x="1371600" y="2944368"/>
            <a:ext cx="4572000" cy="658368"/>
          </a:xfrm>
          <a:prstGeom prst="rect">
            <a:avLst/>
          </a:prstGeom>
          <a:noFill/>
          <a:ln/>
        </p:spPr>
        <p:txBody>
          <a:bodyPr wrap="square" lIns="0" tIns="0" rIns="0" bIns="0" rtlCol="0" anchor="t"/>
          <a:lstStyle/>
          <a:p>
            <a:pPr indent="0" marL="0">
              <a:buNone/>
            </a:pPr>
            <a:r>
              <a:rPr lang="en-US" sz="1500" dirty="0">
                <a:solidFill>
                  <a:schemeClr val="accent6"/>
                </a:solidFill>
              </a:rPr>
              <a:t>A name match starts the analysis. Compare date of birth, nationality, address and ID or registration number.</a:t>
            </a:r>
            <a:endParaRPr lang="en-US" sz="1500" dirty="0"/>
          </a:p>
        </p:txBody>
      </p:sp>
      <p:sp>
        <p:nvSpPr>
          <p:cNvPr id="12" name="Shape 10"/>
          <p:cNvSpPr/>
          <p:nvPr/>
        </p:nvSpPr>
        <p:spPr>
          <a:xfrm>
            <a:off x="548640" y="3785616"/>
            <a:ext cx="594360" cy="594360"/>
          </a:xfrm>
          <a:prstGeom prst="ellipse">
            <a:avLst/>
          </a:prstGeom>
          <a:solidFill>
            <a:schemeClr val="tx1"/>
          </a:solidFill>
          <a:ln w="12700">
            <a:solidFill>
              <a:schemeClr val="tx1"/>
            </a:solidFill>
            <a:prstDash val="solid"/>
          </a:ln>
        </p:spPr>
      </p:sp>
      <p:sp>
        <p:nvSpPr>
          <p:cNvPr id="13" name="Text 11"/>
          <p:cNvSpPr txBox="1"/>
          <p:nvPr/>
        </p:nvSpPr>
        <p:spPr>
          <a:xfrm>
            <a:off x="548640" y="3785616"/>
            <a:ext cx="594360" cy="59436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Text 12"/>
          <p:cNvSpPr txBox="1"/>
          <p:nvPr/>
        </p:nvSpPr>
        <p:spPr>
          <a:xfrm>
            <a:off x="1371600" y="3712464"/>
            <a:ext cx="4572000" cy="384048"/>
          </a:xfrm>
          <a:prstGeom prst="rect">
            <a:avLst/>
          </a:prstGeom>
          <a:noFill/>
          <a:ln/>
        </p:spPr>
        <p:txBody>
          <a:bodyPr wrap="square" lIns="0" tIns="0" rIns="0" bIns="0" rtlCol="0" anchor="t"/>
          <a:lstStyle/>
          <a:p>
            <a:pPr indent="0" marL="0">
              <a:buNone/>
            </a:pPr>
            <a:r>
              <a:rPr lang="en-US" sz="1900" b="1" dirty="0">
                <a:solidFill>
                  <a:schemeClr val="tx1"/>
                </a:solidFill>
              </a:rPr>
              <a:t>Ownership and control</a:t>
            </a:r>
            <a:endParaRPr lang="en-US" sz="1900" dirty="0"/>
          </a:p>
        </p:txBody>
      </p:sp>
      <p:sp>
        <p:nvSpPr>
          <p:cNvPr id="15" name="Text 13"/>
          <p:cNvSpPr txBox="1"/>
          <p:nvPr/>
        </p:nvSpPr>
        <p:spPr>
          <a:xfrm>
            <a:off x="1371600" y="4114800"/>
            <a:ext cx="4572000" cy="658368"/>
          </a:xfrm>
          <a:prstGeom prst="rect">
            <a:avLst/>
          </a:prstGeom>
          <a:noFill/>
          <a:ln/>
        </p:spPr>
        <p:txBody>
          <a:bodyPr wrap="square" lIns="0" tIns="0" rIns="0" bIns="0" rtlCol="0" anchor="t"/>
          <a:lstStyle/>
          <a:p>
            <a:pPr indent="0" marL="0">
              <a:buNone/>
            </a:pPr>
            <a:r>
              <a:rPr lang="en-US" sz="1500" dirty="0">
                <a:solidFill>
                  <a:schemeClr val="accent6"/>
                </a:solidFill>
              </a:rPr>
              <a:t>A party that is not listed can still carry exposure through a designated owner, controller or beneficiary.</a:t>
            </a:r>
            <a:endParaRPr lang="en-US" sz="1500" dirty="0"/>
          </a:p>
        </p:txBody>
      </p:sp>
      <p:sp>
        <p:nvSpPr>
          <p:cNvPr id="16" name="Shape 14"/>
          <p:cNvSpPr/>
          <p:nvPr/>
        </p:nvSpPr>
        <p:spPr>
          <a:xfrm>
            <a:off x="548640" y="4956048"/>
            <a:ext cx="594360" cy="594360"/>
          </a:xfrm>
          <a:prstGeom prst="ellipse">
            <a:avLst/>
          </a:prstGeom>
          <a:solidFill>
            <a:schemeClr val="tx1"/>
          </a:solidFill>
          <a:ln w="12700">
            <a:solidFill>
              <a:schemeClr val="tx1"/>
            </a:solidFill>
            <a:prstDash val="solid"/>
          </a:ln>
        </p:spPr>
      </p:sp>
      <p:sp>
        <p:nvSpPr>
          <p:cNvPr id="17" name="Text 15"/>
          <p:cNvSpPr txBox="1"/>
          <p:nvPr/>
        </p:nvSpPr>
        <p:spPr>
          <a:xfrm>
            <a:off x="548640" y="4956048"/>
            <a:ext cx="594360" cy="59436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8" name="Text 16"/>
          <p:cNvSpPr txBox="1"/>
          <p:nvPr/>
        </p:nvSpPr>
        <p:spPr>
          <a:xfrm>
            <a:off x="1371600" y="4882896"/>
            <a:ext cx="4572000" cy="384048"/>
          </a:xfrm>
          <a:prstGeom prst="rect">
            <a:avLst/>
          </a:prstGeom>
          <a:noFill/>
          <a:ln/>
        </p:spPr>
        <p:txBody>
          <a:bodyPr wrap="square" lIns="0" tIns="0" rIns="0" bIns="0" rtlCol="0" anchor="t"/>
          <a:lstStyle/>
          <a:p>
            <a:pPr indent="0" marL="0">
              <a:buNone/>
            </a:pPr>
            <a:r>
              <a:rPr lang="en-US" sz="1900" b="1" dirty="0">
                <a:solidFill>
                  <a:schemeClr val="tx1"/>
                </a:solidFill>
              </a:rPr>
              <a:t>Every applicable regime</a:t>
            </a:r>
            <a:endParaRPr lang="en-US" sz="1900" dirty="0"/>
          </a:p>
        </p:txBody>
      </p:sp>
      <p:sp>
        <p:nvSpPr>
          <p:cNvPr id="19" name="Text 17"/>
          <p:cNvSpPr txBox="1"/>
          <p:nvPr/>
        </p:nvSpPr>
        <p:spPr>
          <a:xfrm>
            <a:off x="1371600" y="5285232"/>
            <a:ext cx="4572000" cy="658368"/>
          </a:xfrm>
          <a:prstGeom prst="rect">
            <a:avLst/>
          </a:prstGeom>
          <a:noFill/>
          <a:ln/>
        </p:spPr>
        <p:txBody>
          <a:bodyPr wrap="square" lIns="0" tIns="0" rIns="0" bIns="0" rtlCol="0" anchor="t"/>
          <a:lstStyle/>
          <a:p>
            <a:pPr indent="0" marL="0">
              <a:buNone/>
            </a:pPr>
            <a:r>
              <a:rPr lang="en-US" sz="1500" dirty="0">
                <a:solidFill>
                  <a:schemeClr val="accent6"/>
                </a:solidFill>
              </a:rPr>
              <a:t>A clear result on the local list does not clear the payment. Every jurisdiction it touches applies.</a:t>
            </a:r>
            <a:endParaRPr lang="en-US" sz="1500" dirty="0"/>
          </a:p>
        </p:txBody>
      </p:sp>
      <p:sp>
        <p:nvSpPr>
          <p:cNvPr id="20" name="Shape 18"/>
          <p:cNvSpPr/>
          <p:nvPr/>
        </p:nvSpPr>
        <p:spPr>
          <a:xfrm>
            <a:off x="6217920" y="1444752"/>
            <a:ext cx="594360" cy="594360"/>
          </a:xfrm>
          <a:prstGeom prst="ellipse">
            <a:avLst/>
          </a:prstGeom>
          <a:solidFill>
            <a:schemeClr val="tx1"/>
          </a:solidFill>
          <a:ln w="12700">
            <a:solidFill>
              <a:schemeClr val="tx1"/>
            </a:solidFill>
            <a:prstDash val="solid"/>
          </a:ln>
        </p:spPr>
      </p:sp>
      <p:sp>
        <p:nvSpPr>
          <p:cNvPr id="21" name="Text 19"/>
          <p:cNvSpPr txBox="1"/>
          <p:nvPr/>
        </p:nvSpPr>
        <p:spPr>
          <a:xfrm>
            <a:off x="6217920" y="1444752"/>
            <a:ext cx="594360" cy="59436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2" name="Text 20"/>
          <p:cNvSpPr txBox="1"/>
          <p:nvPr/>
        </p:nvSpPr>
        <p:spPr>
          <a:xfrm>
            <a:off x="7040880" y="1371600"/>
            <a:ext cx="4572000" cy="384048"/>
          </a:xfrm>
          <a:prstGeom prst="rect">
            <a:avLst/>
          </a:prstGeom>
          <a:noFill/>
          <a:ln/>
        </p:spPr>
        <p:txBody>
          <a:bodyPr wrap="square" lIns="0" tIns="0" rIns="0" bIns="0" rtlCol="0" anchor="t"/>
          <a:lstStyle/>
          <a:p>
            <a:pPr indent="0" marL="0">
              <a:buNone/>
            </a:pPr>
            <a:r>
              <a:rPr lang="en-US" sz="1900" b="1" dirty="0">
                <a:solidFill>
                  <a:schemeClr val="tx1"/>
                </a:solidFill>
              </a:rPr>
              <a:t>Missing data is not a clear</a:t>
            </a:r>
            <a:endParaRPr lang="en-US" sz="1900" dirty="0"/>
          </a:p>
        </p:txBody>
      </p:sp>
      <p:sp>
        <p:nvSpPr>
          <p:cNvPr id="23" name="Text 21"/>
          <p:cNvSpPr txBox="1"/>
          <p:nvPr/>
        </p:nvSpPr>
        <p:spPr>
          <a:xfrm>
            <a:off x="7040880" y="1773936"/>
            <a:ext cx="4572000" cy="658368"/>
          </a:xfrm>
          <a:prstGeom prst="rect">
            <a:avLst/>
          </a:prstGeom>
          <a:noFill/>
          <a:ln/>
        </p:spPr>
        <p:txBody>
          <a:bodyPr wrap="square" lIns="0" tIns="0" rIns="0" bIns="0" rtlCol="0" anchor="t"/>
          <a:lstStyle/>
          <a:p>
            <a:pPr indent="0" marL="0">
              <a:buNone/>
            </a:pPr>
            <a:r>
              <a:rPr lang="en-US" sz="1500" dirty="0">
                <a:solidFill>
                  <a:schemeClr val="accent6"/>
                </a:solidFill>
              </a:rPr>
              <a:t>Where identifiers are missing, request them. If they cannot be obtained, escalate.</a:t>
            </a:r>
            <a:endParaRPr lang="en-US" sz="1500" dirty="0"/>
          </a:p>
        </p:txBody>
      </p:sp>
      <p:sp>
        <p:nvSpPr>
          <p:cNvPr id="24" name="Shape 22"/>
          <p:cNvSpPr/>
          <p:nvPr/>
        </p:nvSpPr>
        <p:spPr>
          <a:xfrm>
            <a:off x="6217920" y="2615184"/>
            <a:ext cx="594360" cy="594360"/>
          </a:xfrm>
          <a:prstGeom prst="ellipse">
            <a:avLst/>
          </a:prstGeom>
          <a:solidFill>
            <a:schemeClr val="tx1"/>
          </a:solidFill>
          <a:ln w="12700">
            <a:solidFill>
              <a:schemeClr val="tx1"/>
            </a:solidFill>
            <a:prstDash val="solid"/>
          </a:ln>
        </p:spPr>
      </p:sp>
      <p:sp>
        <p:nvSpPr>
          <p:cNvPr id="25" name="Text 23"/>
          <p:cNvSpPr txBox="1"/>
          <p:nvPr/>
        </p:nvSpPr>
        <p:spPr>
          <a:xfrm>
            <a:off x="6217920" y="2615184"/>
            <a:ext cx="594360" cy="59436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26" name="Text 24"/>
          <p:cNvSpPr txBox="1"/>
          <p:nvPr/>
        </p:nvSpPr>
        <p:spPr>
          <a:xfrm>
            <a:off x="7040880" y="2542032"/>
            <a:ext cx="4572000" cy="384048"/>
          </a:xfrm>
          <a:prstGeom prst="rect">
            <a:avLst/>
          </a:prstGeom>
          <a:noFill/>
          <a:ln/>
        </p:spPr>
        <p:txBody>
          <a:bodyPr wrap="square" lIns="0" tIns="0" rIns="0" bIns="0" rtlCol="0" anchor="t"/>
          <a:lstStyle/>
          <a:p>
            <a:pPr indent="0" marL="0">
              <a:buNone/>
            </a:pPr>
            <a:r>
              <a:rPr lang="en-US" sz="1900" b="1" dirty="0">
                <a:solidFill>
                  <a:schemeClr val="tx1"/>
                </a:solidFill>
              </a:rPr>
              <a:t>Merchant comfort is not evidence</a:t>
            </a:r>
            <a:endParaRPr lang="en-US" sz="1900" dirty="0"/>
          </a:p>
        </p:txBody>
      </p:sp>
      <p:sp>
        <p:nvSpPr>
          <p:cNvPr id="27" name="Text 25"/>
          <p:cNvSpPr txBox="1"/>
          <p:nvPr/>
        </p:nvSpPr>
        <p:spPr>
          <a:xfrm>
            <a:off x="7040880" y="2944368"/>
            <a:ext cx="4572000" cy="658368"/>
          </a:xfrm>
          <a:prstGeom prst="rect">
            <a:avLst/>
          </a:prstGeom>
          <a:noFill/>
          <a:ln/>
        </p:spPr>
        <p:txBody>
          <a:bodyPr wrap="square" lIns="0" tIns="0" rIns="0" bIns="0" rtlCol="0" anchor="t"/>
          <a:lstStyle/>
          <a:p>
            <a:pPr indent="0" marL="0">
              <a:buNone/>
            </a:pPr>
            <a:r>
              <a:rPr lang="en-US" sz="1500" dirty="0">
                <a:solidFill>
                  <a:schemeClr val="accent6"/>
                </a:solidFill>
              </a:rPr>
              <a:t>A merchant's assurance is a commercial view. It does not resolve a sanctions match.</a:t>
            </a:r>
            <a:endParaRPr lang="en-US" sz="1500" dirty="0"/>
          </a:p>
        </p:txBody>
      </p:sp>
      <p:sp>
        <p:nvSpPr>
          <p:cNvPr id="28" name="Shape 26"/>
          <p:cNvSpPr/>
          <p:nvPr/>
        </p:nvSpPr>
        <p:spPr>
          <a:xfrm>
            <a:off x="6217920" y="3785616"/>
            <a:ext cx="594360" cy="594360"/>
          </a:xfrm>
          <a:prstGeom prst="ellipse">
            <a:avLst/>
          </a:prstGeom>
          <a:solidFill>
            <a:schemeClr val="tx1"/>
          </a:solidFill>
          <a:ln w="12700">
            <a:solidFill>
              <a:schemeClr val="tx1"/>
            </a:solidFill>
            <a:prstDash val="solid"/>
          </a:ln>
        </p:spPr>
      </p:sp>
      <p:sp>
        <p:nvSpPr>
          <p:cNvPr id="29" name="Text 27"/>
          <p:cNvSpPr txBox="1"/>
          <p:nvPr/>
        </p:nvSpPr>
        <p:spPr>
          <a:xfrm>
            <a:off x="6217920" y="3785616"/>
            <a:ext cx="594360" cy="594360"/>
          </a:xfrm>
          <a:prstGeom prst="rect">
            <a:avLst/>
          </a:prstGeom>
          <a:noFill/>
          <a:ln/>
        </p:spPr>
        <p:txBody>
          <a:bodyPr wrap="square" lIns="0" tIns="0" rIns="0" bIns="0" rtlCol="0" anchor="ctr"/>
          <a:lstStyle/>
          <a:p>
            <a:pPr algn="ctr" indent="0" marL="0">
              <a:buNone/>
            </a:pPr>
            <a:r>
              <a:rPr lang="en-US" sz="2000" b="1" dirty="0">
                <a:solidFill>
                  <a:schemeClr val="bg1"/>
                </a:solidFill>
              </a:rPr>
              <a:t>7</a:t>
            </a:r>
            <a:endParaRPr lang="en-US" sz="2000" dirty="0"/>
          </a:p>
        </p:txBody>
      </p:sp>
      <p:sp>
        <p:nvSpPr>
          <p:cNvPr id="30" name="Text 28"/>
          <p:cNvSpPr txBox="1"/>
          <p:nvPr/>
        </p:nvSpPr>
        <p:spPr>
          <a:xfrm>
            <a:off x="7040880" y="3712464"/>
            <a:ext cx="4572000" cy="384048"/>
          </a:xfrm>
          <a:prstGeom prst="rect">
            <a:avLst/>
          </a:prstGeom>
          <a:noFill/>
          <a:ln/>
        </p:spPr>
        <p:txBody>
          <a:bodyPr wrap="square" lIns="0" tIns="0" rIns="0" bIns="0" rtlCol="0" anchor="t"/>
          <a:lstStyle/>
          <a:p>
            <a:pPr indent="0" marL="0">
              <a:buNone/>
            </a:pPr>
            <a:r>
              <a:rPr lang="en-US" sz="1900" b="1" dirty="0">
                <a:solidFill>
                  <a:schemeClr val="tx1"/>
                </a:solidFill>
              </a:rPr>
              <a:t>Focused RFIs, no tipping off</a:t>
            </a:r>
            <a:endParaRPr lang="en-US" sz="1900" dirty="0"/>
          </a:p>
        </p:txBody>
      </p:sp>
      <p:sp>
        <p:nvSpPr>
          <p:cNvPr id="31" name="Text 29"/>
          <p:cNvSpPr txBox="1"/>
          <p:nvPr/>
        </p:nvSpPr>
        <p:spPr>
          <a:xfrm>
            <a:off x="7040880" y="4114800"/>
            <a:ext cx="4572000" cy="658368"/>
          </a:xfrm>
          <a:prstGeom prst="rect">
            <a:avLst/>
          </a:prstGeom>
          <a:noFill/>
          <a:ln/>
        </p:spPr>
        <p:txBody>
          <a:bodyPr wrap="square" lIns="0" tIns="0" rIns="0" bIns="0" rtlCol="0" anchor="t"/>
          <a:lstStyle/>
          <a:p>
            <a:pPr indent="0" marL="0">
              <a:buNone/>
            </a:pPr>
            <a:r>
              <a:rPr lang="en-US" sz="1500" dirty="0">
                <a:solidFill>
                  <a:schemeClr val="accent6"/>
                </a:solidFill>
              </a:rPr>
              <a:t>Request only the information you need, without disclosing why you need it.</a:t>
            </a:r>
            <a:endParaRPr lang="en-US" sz="1500" dirty="0"/>
          </a:p>
        </p:txBody>
      </p:sp>
      <p:sp>
        <p:nvSpPr>
          <p:cNvPr id="32" name="Shape 30"/>
          <p:cNvSpPr/>
          <p:nvPr/>
        </p:nvSpPr>
        <p:spPr>
          <a:xfrm>
            <a:off x="6217920" y="4956048"/>
            <a:ext cx="594360" cy="594360"/>
          </a:xfrm>
          <a:prstGeom prst="ellipse">
            <a:avLst/>
          </a:prstGeom>
          <a:solidFill>
            <a:schemeClr val="tx1"/>
          </a:solidFill>
          <a:ln w="12700">
            <a:solidFill>
              <a:schemeClr val="tx1"/>
            </a:solidFill>
            <a:prstDash val="solid"/>
          </a:ln>
        </p:spPr>
      </p:sp>
      <p:sp>
        <p:nvSpPr>
          <p:cNvPr id="33" name="Text 31"/>
          <p:cNvSpPr txBox="1"/>
          <p:nvPr/>
        </p:nvSpPr>
        <p:spPr>
          <a:xfrm>
            <a:off x="6217920" y="4956048"/>
            <a:ext cx="594360" cy="594360"/>
          </a:xfrm>
          <a:prstGeom prst="rect">
            <a:avLst/>
          </a:prstGeom>
          <a:noFill/>
          <a:ln/>
        </p:spPr>
        <p:txBody>
          <a:bodyPr wrap="square" lIns="0" tIns="0" rIns="0" bIns="0" rtlCol="0" anchor="ctr"/>
          <a:lstStyle/>
          <a:p>
            <a:pPr algn="ctr" indent="0" marL="0">
              <a:buNone/>
            </a:pPr>
            <a:r>
              <a:rPr lang="en-US" sz="2000" b="1" dirty="0">
                <a:solidFill>
                  <a:schemeClr val="bg1"/>
                </a:solidFill>
              </a:rPr>
              <a:t>8</a:t>
            </a:r>
            <a:endParaRPr lang="en-US" sz="2000" dirty="0"/>
          </a:p>
        </p:txBody>
      </p:sp>
      <p:sp>
        <p:nvSpPr>
          <p:cNvPr id="34" name="Text 32"/>
          <p:cNvSpPr txBox="1"/>
          <p:nvPr/>
        </p:nvSpPr>
        <p:spPr>
          <a:xfrm>
            <a:off x="7040880" y="4882896"/>
            <a:ext cx="4572000" cy="384048"/>
          </a:xfrm>
          <a:prstGeom prst="rect">
            <a:avLst/>
          </a:prstGeom>
          <a:noFill/>
          <a:ln/>
        </p:spPr>
        <p:txBody>
          <a:bodyPr wrap="square" lIns="0" tIns="0" rIns="0" bIns="0" rtlCol="0" anchor="t"/>
          <a:lstStyle/>
          <a:p>
            <a:pPr indent="0" marL="0">
              <a:buNone/>
            </a:pPr>
            <a:r>
              <a:rPr lang="en-US" sz="1900" b="1" dirty="0">
                <a:solidFill>
                  <a:schemeClr val="tx1"/>
                </a:solidFill>
              </a:rPr>
              <a:t>A reproducible record</a:t>
            </a:r>
            <a:endParaRPr lang="en-US" sz="1900" dirty="0"/>
          </a:p>
        </p:txBody>
      </p:sp>
      <p:sp>
        <p:nvSpPr>
          <p:cNvPr id="35" name="Text 33"/>
          <p:cNvSpPr txBox="1"/>
          <p:nvPr/>
        </p:nvSpPr>
        <p:spPr>
          <a:xfrm>
            <a:off x="7040880" y="5285232"/>
            <a:ext cx="4572000" cy="658368"/>
          </a:xfrm>
          <a:prstGeom prst="rect">
            <a:avLst/>
          </a:prstGeom>
          <a:noFill/>
          <a:ln/>
        </p:spPr>
        <p:txBody>
          <a:bodyPr wrap="square" lIns="0" tIns="0" rIns="0" bIns="0" rtlCol="0" anchor="t"/>
          <a:lstStyle/>
          <a:p>
            <a:pPr indent="0" marL="0">
              <a:buNone/>
            </a:pPr>
            <a:r>
              <a:rPr lang="en-US" sz="1500" dirty="0">
                <a:solidFill>
                  <a:schemeClr val="accent6"/>
                </a:solidFill>
              </a:rPr>
              <a:t>Every decision must be reproducible from the case record alone.</a:t>
            </a:r>
            <a:endParaRPr lang="en-US" sz="1500" dirty="0"/>
          </a:p>
        </p:txBody>
      </p:sp>
      <p:sp>
        <p:nvSpPr>
          <p:cNvPr id="36" name="Text 34"/>
          <p:cNvSpPr txBox="1"/>
          <p:nvPr/>
        </p:nvSpPr>
        <p:spPr>
          <a:xfrm>
            <a:off x="548640" y="6053328"/>
            <a:ext cx="11064240" cy="292608"/>
          </a:xfrm>
          <a:prstGeom prst="rect">
            <a:avLst/>
          </a:prstGeom>
          <a:noFill/>
          <a:ln/>
        </p:spPr>
        <p:txBody>
          <a:bodyPr wrap="square" lIns="0" tIns="0" rIns="0" bIns="0" rtlCol="0" anchor="b"/>
          <a:lstStyle/>
          <a:p>
            <a:pPr indent="0" marL="0">
              <a:buNone/>
            </a:pPr>
            <a:r>
              <a:rPr lang="en-US" sz="1000" i="1" dirty="0">
                <a:solidFill>
                  <a:schemeClr val="accent6"/>
                </a:solidFill>
              </a:rPr>
              <a:t>Source: Checkout Global Sanctions Reporting Procedure (cite section); OFSI Financial Sanctions General Guidance; OFAC Framework for Compliance Commitments (2019).</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1 · COMMON CONTROL MODEL</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tx1"/>
                </a:solidFill>
              </a:rPr>
              <a:t>What counts as a sanctions exposure?</a:t>
            </a:r>
            <a:endParaRPr lang="en-US" sz="3000" dirty="0"/>
          </a:p>
        </p:txBody>
      </p:sp>
      <p:sp>
        <p:nvSpPr>
          <p:cNvPr id="4" name="Direct hit"/>
          <p:cNvSpPr/>
          <p:nvPr/>
        </p:nvSpPr>
        <p:spPr>
          <a:xfrm>
            <a:off x="548640" y="1371600"/>
            <a:ext cx="5440680" cy="1920240"/>
          </a:xfrm>
          <a:prstGeom prst="roundRect">
            <a:avLst>
              <a:gd name="adj" fmla="val 5714"/>
            </a:avLst>
          </a:prstGeom>
          <a:solidFill>
            <a:schemeClr val="bg2"/>
          </a:solidFill>
          <a:ln w="12700">
            <a:solidFill>
              <a:schemeClr val="bg2"/>
            </a:solidFill>
            <a:prstDash val="solid"/>
          </a:ln>
        </p:spPr>
      </p:sp>
      <p:sp>
        <p:nvSpPr>
          <p:cNvPr id="5" name="Direct hit circle"/>
          <p:cNvSpPr/>
          <p:nvPr/>
        </p:nvSpPr>
        <p:spPr>
          <a:xfrm>
            <a:off x="822960" y="1645920"/>
            <a:ext cx="685800" cy="685800"/>
          </a:xfrm>
          <a:prstGeom prst="ellipse">
            <a:avLst/>
          </a:prstGeom>
          <a:solidFill>
            <a:schemeClr val="accent1"/>
          </a:solidFill>
          <a:ln w="12700">
            <a:solidFill>
              <a:schemeClr val="accent1"/>
            </a:solidFill>
            <a:prstDash val="solid"/>
          </a:ln>
        </p:spPr>
      </p:sp>
      <p:pic>
        <p:nvPicPr>
          <p:cNvPr id="6" name="Direct hit icon" descr="preencoded.png">    </p:cNvPr>
          <p:cNvPicPr>
            <a:picLocks noChangeAspect="1"/>
          </p:cNvPicPr>
          <p:nvPr/>
        </p:nvPicPr>
        <p:blipFill>
          <a:blip r:embed="rId1"/>
          <a:stretch>
            <a:fillRect/>
          </a:stretch>
        </p:blipFill>
        <p:spPr>
          <a:xfrm>
            <a:off x="960120" y="1783080"/>
            <a:ext cx="411480" cy="411480"/>
          </a:xfrm>
          <a:prstGeom prst="rect">
            <a:avLst/>
          </a:prstGeom>
        </p:spPr>
      </p:pic>
      <p:sp>
        <p:nvSpPr>
          <p:cNvPr id="7" name="Text 4"/>
          <p:cNvSpPr txBox="1"/>
          <p:nvPr/>
        </p:nvSpPr>
        <p:spPr>
          <a:xfrm>
            <a:off x="1691640" y="1600200"/>
            <a:ext cx="4069080" cy="411480"/>
          </a:xfrm>
          <a:prstGeom prst="rect">
            <a:avLst/>
          </a:prstGeom>
          <a:noFill/>
          <a:ln/>
        </p:spPr>
        <p:txBody>
          <a:bodyPr wrap="square" lIns="0" tIns="0" rIns="0" bIns="0" rtlCol="0" anchor="t"/>
          <a:lstStyle/>
          <a:p>
            <a:pPr indent="0" marL="0">
              <a:buNone/>
            </a:pPr>
            <a:r>
              <a:rPr lang="en-US" sz="1900" b="1" dirty="0">
                <a:solidFill>
                  <a:schemeClr val="tx1"/>
                </a:solidFill>
              </a:rPr>
              <a:t>Direct hit</a:t>
            </a:r>
            <a:endParaRPr lang="en-US" sz="1900" dirty="0"/>
          </a:p>
        </p:txBody>
      </p:sp>
      <p:sp>
        <p:nvSpPr>
          <p:cNvPr id="8" name="Text 5"/>
          <p:cNvSpPr txBox="1"/>
          <p:nvPr/>
        </p:nvSpPr>
        <p:spPr>
          <a:xfrm>
            <a:off x="1691640" y="2029968"/>
            <a:ext cx="4069080" cy="685800"/>
          </a:xfrm>
          <a:prstGeom prst="rect">
            <a:avLst/>
          </a:prstGeom>
          <a:noFill/>
          <a:ln/>
        </p:spPr>
        <p:txBody>
          <a:bodyPr wrap="square" lIns="0" tIns="0" rIns="0" bIns="0" rtlCol="0" anchor="t"/>
          <a:lstStyle/>
          <a:p>
            <a:pPr indent="0" marL="0">
              <a:buNone/>
            </a:pPr>
            <a:r>
              <a:rPr lang="en-US" sz="1500" dirty="0">
                <a:solidFill>
                  <a:schemeClr val="tx1"/>
                </a:solidFill>
              </a:rPr>
              <a:t>The named party is itself a designated person or entity.</a:t>
            </a:r>
            <a:endParaRPr lang="en-US" sz="1500" dirty="0"/>
          </a:p>
        </p:txBody>
      </p:sp>
      <p:sp>
        <p:nvSpPr>
          <p:cNvPr id="9" name="Text 6"/>
          <p:cNvSpPr txBox="1"/>
          <p:nvPr/>
        </p:nvSpPr>
        <p:spPr>
          <a:xfrm>
            <a:off x="1691640" y="2743200"/>
            <a:ext cx="4069080" cy="457200"/>
          </a:xfrm>
          <a:prstGeom prst="rect">
            <a:avLst/>
          </a:prstGeom>
          <a:noFill/>
          <a:ln/>
        </p:spPr>
        <p:txBody>
          <a:bodyPr wrap="square" lIns="0" tIns="0" rIns="0" bIns="0" rtlCol="0" anchor="t"/>
          <a:lstStyle/>
          <a:p>
            <a:pPr indent="0" marL="0">
              <a:buNone/>
            </a:pPr>
            <a:r>
              <a:rPr lang="en-US" sz="1400" i="1" dirty="0">
                <a:solidFill>
                  <a:schemeClr val="accent6"/>
                </a:solidFill>
              </a:rPr>
              <a:t>Example: The beneficiary bank is a listed Russian bank.</a:t>
            </a:r>
            <a:endParaRPr lang="en-US" sz="1400" dirty="0"/>
          </a:p>
        </p:txBody>
      </p:sp>
      <p:sp>
        <p:nvSpPr>
          <p:cNvPr id="10" name="Indirect hit"/>
          <p:cNvSpPr/>
          <p:nvPr/>
        </p:nvSpPr>
        <p:spPr>
          <a:xfrm>
            <a:off x="6172200" y="1371600"/>
            <a:ext cx="5440680" cy="1920240"/>
          </a:xfrm>
          <a:prstGeom prst="roundRect">
            <a:avLst>
              <a:gd name="adj" fmla="val 5714"/>
            </a:avLst>
          </a:prstGeom>
          <a:solidFill>
            <a:schemeClr val="bg2"/>
          </a:solidFill>
          <a:ln w="12700">
            <a:solidFill>
              <a:schemeClr val="bg2"/>
            </a:solidFill>
            <a:prstDash val="solid"/>
          </a:ln>
        </p:spPr>
      </p:sp>
      <p:sp>
        <p:nvSpPr>
          <p:cNvPr id="11" name="Indirect hit circle"/>
          <p:cNvSpPr/>
          <p:nvPr/>
        </p:nvSpPr>
        <p:spPr>
          <a:xfrm>
            <a:off x="6446520" y="1645920"/>
            <a:ext cx="685800" cy="685800"/>
          </a:xfrm>
          <a:prstGeom prst="ellipse">
            <a:avLst/>
          </a:prstGeom>
          <a:solidFill>
            <a:schemeClr val="tx1"/>
          </a:solidFill>
          <a:ln w="12700">
            <a:solidFill>
              <a:schemeClr val="tx1"/>
            </a:solidFill>
            <a:prstDash val="solid"/>
          </a:ln>
        </p:spPr>
      </p:sp>
      <p:pic>
        <p:nvPicPr>
          <p:cNvPr id="12" name="Indirect hit icon" descr="preencoded.png">    </p:cNvPr>
          <p:cNvPicPr>
            <a:picLocks noChangeAspect="1"/>
          </p:cNvPicPr>
          <p:nvPr/>
        </p:nvPicPr>
        <p:blipFill>
          <a:blip r:embed="rId2"/>
          <a:stretch>
            <a:fillRect/>
          </a:stretch>
        </p:blipFill>
        <p:spPr>
          <a:xfrm>
            <a:off x="6583680" y="1783080"/>
            <a:ext cx="411480" cy="411480"/>
          </a:xfrm>
          <a:prstGeom prst="rect">
            <a:avLst/>
          </a:prstGeom>
        </p:spPr>
      </p:pic>
      <p:sp>
        <p:nvSpPr>
          <p:cNvPr id="13" name="Text 9"/>
          <p:cNvSpPr txBox="1"/>
          <p:nvPr/>
        </p:nvSpPr>
        <p:spPr>
          <a:xfrm>
            <a:off x="7315200" y="1600200"/>
            <a:ext cx="4069080" cy="411480"/>
          </a:xfrm>
          <a:prstGeom prst="rect">
            <a:avLst/>
          </a:prstGeom>
          <a:noFill/>
          <a:ln/>
        </p:spPr>
        <p:txBody>
          <a:bodyPr wrap="square" lIns="0" tIns="0" rIns="0" bIns="0" rtlCol="0" anchor="t"/>
          <a:lstStyle/>
          <a:p>
            <a:pPr indent="0" marL="0">
              <a:buNone/>
            </a:pPr>
            <a:r>
              <a:rPr lang="en-US" sz="1900" b="1" dirty="0">
                <a:solidFill>
                  <a:schemeClr val="tx1"/>
                </a:solidFill>
              </a:rPr>
              <a:t>Indirect hit</a:t>
            </a:r>
            <a:endParaRPr lang="en-US" sz="1900" dirty="0"/>
          </a:p>
        </p:txBody>
      </p:sp>
      <p:sp>
        <p:nvSpPr>
          <p:cNvPr id="14" name="Text 10"/>
          <p:cNvSpPr txBox="1"/>
          <p:nvPr/>
        </p:nvSpPr>
        <p:spPr>
          <a:xfrm>
            <a:off x="7315200" y="2029968"/>
            <a:ext cx="4069080" cy="685800"/>
          </a:xfrm>
          <a:prstGeom prst="rect">
            <a:avLst/>
          </a:prstGeom>
          <a:noFill/>
          <a:ln/>
        </p:spPr>
        <p:txBody>
          <a:bodyPr wrap="square" lIns="0" tIns="0" rIns="0" bIns="0" rtlCol="0" anchor="t"/>
          <a:lstStyle/>
          <a:p>
            <a:pPr indent="0" marL="0">
              <a:buNone/>
            </a:pPr>
            <a:r>
              <a:rPr lang="en-US" sz="1500" dirty="0">
                <a:solidFill>
                  <a:schemeClr val="tx1"/>
                </a:solidFill>
              </a:rPr>
              <a:t>The party is owned, controlled, acting for, or benefitting a designated person or entity.</a:t>
            </a:r>
            <a:endParaRPr lang="en-US" sz="1500" dirty="0"/>
          </a:p>
        </p:txBody>
      </p:sp>
      <p:sp>
        <p:nvSpPr>
          <p:cNvPr id="15" name="Text 11"/>
          <p:cNvSpPr txBox="1"/>
          <p:nvPr/>
        </p:nvSpPr>
        <p:spPr>
          <a:xfrm>
            <a:off x="7315200" y="2743200"/>
            <a:ext cx="4069080" cy="457200"/>
          </a:xfrm>
          <a:prstGeom prst="rect">
            <a:avLst/>
          </a:prstGeom>
          <a:noFill/>
          <a:ln/>
        </p:spPr>
        <p:txBody>
          <a:bodyPr wrap="square" lIns="0" tIns="0" rIns="0" bIns="0" rtlCol="0" anchor="t"/>
          <a:lstStyle/>
          <a:p>
            <a:pPr indent="0" marL="0">
              <a:buNone/>
            </a:pPr>
            <a:r>
              <a:rPr lang="en-US" sz="1400" i="1" dirty="0">
                <a:solidFill>
                  <a:schemeClr val="accent6"/>
                </a:solidFill>
              </a:rPr>
              <a:t>Example: A newly added director is designated and signs payouts.</a:t>
            </a:r>
            <a:endParaRPr lang="en-US" sz="1400" dirty="0"/>
          </a:p>
        </p:txBody>
      </p:sp>
      <p:sp>
        <p:nvSpPr>
          <p:cNvPr id="16" name="Prohibited geography or activity"/>
          <p:cNvSpPr/>
          <p:nvPr/>
        </p:nvSpPr>
        <p:spPr>
          <a:xfrm>
            <a:off x="548640" y="3474720"/>
            <a:ext cx="5440680" cy="1920240"/>
          </a:xfrm>
          <a:prstGeom prst="roundRect">
            <a:avLst>
              <a:gd name="adj" fmla="val 5714"/>
            </a:avLst>
          </a:prstGeom>
          <a:solidFill>
            <a:schemeClr val="bg2"/>
          </a:solidFill>
          <a:ln w="12700">
            <a:solidFill>
              <a:schemeClr val="bg2"/>
            </a:solidFill>
            <a:prstDash val="solid"/>
          </a:ln>
        </p:spPr>
      </p:sp>
      <p:sp>
        <p:nvSpPr>
          <p:cNvPr id="17" name="Prohibited geography or activity circle"/>
          <p:cNvSpPr/>
          <p:nvPr/>
        </p:nvSpPr>
        <p:spPr>
          <a:xfrm>
            <a:off x="822960" y="3749040"/>
            <a:ext cx="685800" cy="685800"/>
          </a:xfrm>
          <a:prstGeom prst="ellipse">
            <a:avLst/>
          </a:prstGeom>
          <a:solidFill>
            <a:schemeClr val="accent4"/>
          </a:solidFill>
          <a:ln w="12700">
            <a:solidFill>
              <a:schemeClr val="accent4"/>
            </a:solidFill>
            <a:prstDash val="solid"/>
          </a:ln>
        </p:spPr>
      </p:sp>
      <p:pic>
        <p:nvPicPr>
          <p:cNvPr id="18" name="Prohibited geography or activity icon" descr="preencoded.png">    </p:cNvPr>
          <p:cNvPicPr>
            <a:picLocks noChangeAspect="1"/>
          </p:cNvPicPr>
          <p:nvPr/>
        </p:nvPicPr>
        <p:blipFill>
          <a:blip r:embed="rId3"/>
          <a:stretch>
            <a:fillRect/>
          </a:stretch>
        </p:blipFill>
        <p:spPr>
          <a:xfrm>
            <a:off x="960120" y="3886200"/>
            <a:ext cx="411480" cy="411480"/>
          </a:xfrm>
          <a:prstGeom prst="rect">
            <a:avLst/>
          </a:prstGeom>
        </p:spPr>
      </p:pic>
      <p:sp>
        <p:nvSpPr>
          <p:cNvPr id="19" name="Text 14"/>
          <p:cNvSpPr txBox="1"/>
          <p:nvPr/>
        </p:nvSpPr>
        <p:spPr>
          <a:xfrm>
            <a:off x="1691640" y="3703320"/>
            <a:ext cx="4069080" cy="411480"/>
          </a:xfrm>
          <a:prstGeom prst="rect">
            <a:avLst/>
          </a:prstGeom>
          <a:noFill/>
          <a:ln/>
        </p:spPr>
        <p:txBody>
          <a:bodyPr wrap="square" lIns="0" tIns="0" rIns="0" bIns="0" rtlCol="0" anchor="t"/>
          <a:lstStyle/>
          <a:p>
            <a:pPr indent="0" marL="0">
              <a:buNone/>
            </a:pPr>
            <a:r>
              <a:rPr lang="en-US" sz="1900" b="1" dirty="0">
                <a:solidFill>
                  <a:schemeClr val="tx1"/>
                </a:solidFill>
              </a:rPr>
              <a:t>Prohibited geography or activity</a:t>
            </a:r>
            <a:endParaRPr lang="en-US" sz="1900" dirty="0"/>
          </a:p>
        </p:txBody>
      </p:sp>
      <p:sp>
        <p:nvSpPr>
          <p:cNvPr id="20" name="Text 15"/>
          <p:cNvSpPr txBox="1"/>
          <p:nvPr/>
        </p:nvSpPr>
        <p:spPr>
          <a:xfrm>
            <a:off x="1691640" y="4133088"/>
            <a:ext cx="4069080" cy="685800"/>
          </a:xfrm>
          <a:prstGeom prst="rect">
            <a:avLst/>
          </a:prstGeom>
          <a:noFill/>
          <a:ln/>
        </p:spPr>
        <p:txBody>
          <a:bodyPr wrap="square" lIns="0" tIns="0" rIns="0" bIns="0" rtlCol="0" anchor="t"/>
          <a:lstStyle/>
          <a:p>
            <a:pPr indent="0" marL="0">
              <a:buNone/>
            </a:pPr>
            <a:r>
              <a:rPr lang="en-US" sz="1500" dirty="0">
                <a:solidFill>
                  <a:schemeClr val="tx1"/>
                </a:solidFill>
              </a:rPr>
              <a:t>A country or territory, sector, service, vessel, commodity or end-use is restricted.</a:t>
            </a:r>
            <a:endParaRPr lang="en-US" sz="1500" dirty="0"/>
          </a:p>
        </p:txBody>
      </p:sp>
      <p:sp>
        <p:nvSpPr>
          <p:cNvPr id="21" name="Text 16"/>
          <p:cNvSpPr txBox="1"/>
          <p:nvPr/>
        </p:nvSpPr>
        <p:spPr>
          <a:xfrm>
            <a:off x="1691640" y="4846320"/>
            <a:ext cx="4069080" cy="457200"/>
          </a:xfrm>
          <a:prstGeom prst="rect">
            <a:avLst/>
          </a:prstGeom>
          <a:noFill/>
          <a:ln/>
        </p:spPr>
        <p:txBody>
          <a:bodyPr wrap="square" lIns="0" tIns="0" rIns="0" bIns="0" rtlCol="0" anchor="t"/>
          <a:lstStyle/>
          <a:p>
            <a:pPr indent="0" marL="0">
              <a:buNone/>
            </a:pPr>
            <a:r>
              <a:rPr lang="en-US" sz="1400" i="1" dirty="0">
                <a:solidFill>
                  <a:schemeClr val="accent6"/>
                </a:solidFill>
              </a:rPr>
              <a:t>Example: The customer's IP address is in a sanctioned region.</a:t>
            </a:r>
            <a:endParaRPr lang="en-US" sz="1400" dirty="0"/>
          </a:p>
        </p:txBody>
      </p:sp>
      <p:sp>
        <p:nvSpPr>
          <p:cNvPr id="22" name="Evasion / circumvention"/>
          <p:cNvSpPr/>
          <p:nvPr/>
        </p:nvSpPr>
        <p:spPr>
          <a:xfrm>
            <a:off x="6172200" y="3474720"/>
            <a:ext cx="5440680" cy="1920240"/>
          </a:xfrm>
          <a:prstGeom prst="roundRect">
            <a:avLst>
              <a:gd name="adj" fmla="val 5714"/>
            </a:avLst>
          </a:prstGeom>
          <a:solidFill>
            <a:schemeClr val="bg2"/>
          </a:solidFill>
          <a:ln w="12700">
            <a:solidFill>
              <a:schemeClr val="bg2"/>
            </a:solidFill>
            <a:prstDash val="solid"/>
          </a:ln>
        </p:spPr>
      </p:sp>
      <p:sp>
        <p:nvSpPr>
          <p:cNvPr id="23" name="Evasion / circumvention circle"/>
          <p:cNvSpPr/>
          <p:nvPr/>
        </p:nvSpPr>
        <p:spPr>
          <a:xfrm>
            <a:off x="6446520" y="3749040"/>
            <a:ext cx="685800" cy="685800"/>
          </a:xfrm>
          <a:prstGeom prst="ellipse">
            <a:avLst/>
          </a:prstGeom>
          <a:solidFill>
            <a:schemeClr val="accent2"/>
          </a:solidFill>
          <a:ln w="12700">
            <a:solidFill>
              <a:schemeClr val="accent2"/>
            </a:solidFill>
            <a:prstDash val="solid"/>
          </a:ln>
        </p:spPr>
      </p:sp>
      <p:pic>
        <p:nvPicPr>
          <p:cNvPr id="24" name="Evasion / circumvention icon" descr="preencoded.png">    </p:cNvPr>
          <p:cNvPicPr>
            <a:picLocks noChangeAspect="1"/>
          </p:cNvPicPr>
          <p:nvPr/>
        </p:nvPicPr>
        <p:blipFill>
          <a:blip r:embed="rId4"/>
          <a:stretch>
            <a:fillRect/>
          </a:stretch>
        </p:blipFill>
        <p:spPr>
          <a:xfrm>
            <a:off x="6583680" y="3886200"/>
            <a:ext cx="411480" cy="411480"/>
          </a:xfrm>
          <a:prstGeom prst="rect">
            <a:avLst/>
          </a:prstGeom>
        </p:spPr>
      </p:pic>
      <p:sp>
        <p:nvSpPr>
          <p:cNvPr id="25" name="Text 19"/>
          <p:cNvSpPr txBox="1"/>
          <p:nvPr/>
        </p:nvSpPr>
        <p:spPr>
          <a:xfrm>
            <a:off x="7315200" y="3703320"/>
            <a:ext cx="4069080" cy="411480"/>
          </a:xfrm>
          <a:prstGeom prst="rect">
            <a:avLst/>
          </a:prstGeom>
          <a:noFill/>
          <a:ln/>
        </p:spPr>
        <p:txBody>
          <a:bodyPr wrap="square" lIns="0" tIns="0" rIns="0" bIns="0" rtlCol="0" anchor="t"/>
          <a:lstStyle/>
          <a:p>
            <a:pPr indent="0" marL="0">
              <a:buNone/>
            </a:pPr>
            <a:r>
              <a:rPr lang="en-US" sz="1900" b="1" dirty="0">
                <a:solidFill>
                  <a:schemeClr val="tx1"/>
                </a:solidFill>
              </a:rPr>
              <a:t>Evasion / circumvention</a:t>
            </a:r>
            <a:endParaRPr lang="en-US" sz="1900" dirty="0"/>
          </a:p>
        </p:txBody>
      </p:sp>
      <p:sp>
        <p:nvSpPr>
          <p:cNvPr id="26" name="Text 20"/>
          <p:cNvSpPr txBox="1"/>
          <p:nvPr/>
        </p:nvSpPr>
        <p:spPr>
          <a:xfrm>
            <a:off x="7315200" y="4133088"/>
            <a:ext cx="4069080" cy="685800"/>
          </a:xfrm>
          <a:prstGeom prst="rect">
            <a:avLst/>
          </a:prstGeom>
          <a:noFill/>
          <a:ln/>
        </p:spPr>
        <p:txBody>
          <a:bodyPr wrap="square" lIns="0" tIns="0" rIns="0" bIns="0" rtlCol="0" anchor="t"/>
          <a:lstStyle/>
          <a:p>
            <a:pPr indent="0" marL="0">
              <a:buNone/>
            </a:pPr>
            <a:r>
              <a:rPr lang="en-US" sz="1500" dirty="0">
                <a:solidFill>
                  <a:schemeClr val="tx1"/>
                </a:solidFill>
              </a:rPr>
              <a:t>Layering intermediaries, opaque ownership, rapid routing changes or inconsistent commercial explanations.</a:t>
            </a:r>
            <a:endParaRPr lang="en-US" sz="1500" dirty="0"/>
          </a:p>
        </p:txBody>
      </p:sp>
      <p:sp>
        <p:nvSpPr>
          <p:cNvPr id="27" name="Text 21"/>
          <p:cNvSpPr txBox="1"/>
          <p:nvPr/>
        </p:nvSpPr>
        <p:spPr>
          <a:xfrm>
            <a:off x="7315200" y="4846320"/>
            <a:ext cx="4069080" cy="457200"/>
          </a:xfrm>
          <a:prstGeom prst="rect">
            <a:avLst/>
          </a:prstGeom>
          <a:noFill/>
          <a:ln/>
        </p:spPr>
        <p:txBody>
          <a:bodyPr wrap="square" lIns="0" tIns="0" rIns="0" bIns="0" rtlCol="0" anchor="t"/>
          <a:lstStyle/>
          <a:p>
            <a:pPr indent="0" marL="0">
              <a:buNone/>
            </a:pPr>
            <a:r>
              <a:rPr lang="en-US" sz="1400" i="1" dirty="0">
                <a:solidFill>
                  <a:schemeClr val="accent6"/>
                </a:solidFill>
              </a:rPr>
              <a:t>Example: Payouts split across new intermediaries with vague descriptions.</a:t>
            </a:r>
            <a:endParaRPr lang="en-US" sz="1400" dirty="0"/>
          </a:p>
        </p:txBody>
      </p:sp>
      <p:sp>
        <p:nvSpPr>
          <p:cNvPr id="28" name="Key principle"/>
          <p:cNvSpPr/>
          <p:nvPr/>
        </p:nvSpPr>
        <p:spPr>
          <a:xfrm>
            <a:off x="548640" y="5669280"/>
            <a:ext cx="11064240" cy="502920"/>
          </a:xfrm>
          <a:prstGeom prst="roundRect">
            <a:avLst>
              <a:gd name="adj" fmla="val 21818"/>
            </a:avLst>
          </a:prstGeom>
          <a:solidFill>
            <a:schemeClr val="tx1"/>
          </a:solidFill>
          <a:ln w="12700">
            <a:solidFill>
              <a:schemeClr val="tx1"/>
            </a:solidFill>
            <a:prstDash val="solid"/>
          </a:ln>
        </p:spPr>
      </p:sp>
      <p:sp>
        <p:nvSpPr>
          <p:cNvPr id="29" name="Text 23"/>
          <p:cNvSpPr txBox="1"/>
          <p:nvPr/>
        </p:nvSpPr>
        <p:spPr>
          <a:xfrm>
            <a:off x="777240" y="5669280"/>
            <a:ext cx="10607040" cy="502920"/>
          </a:xfrm>
          <a:prstGeom prst="rect">
            <a:avLst/>
          </a:prstGeom>
          <a:noFill/>
          <a:ln/>
        </p:spPr>
        <p:txBody>
          <a:bodyPr wrap="square" lIns="0" tIns="0" rIns="0" bIns="0" rtlCol="0" anchor="ctr"/>
          <a:lstStyle/>
          <a:p>
            <a:pPr indent="0" marL="0">
              <a:buNone/>
            </a:pPr>
            <a:r>
              <a:rPr lang="en-US" sz="1200" b="1" spc="100" kern="0" dirty="0">
                <a:solidFill>
                  <a:schemeClr val="accent2"/>
                </a:solidFill>
              </a:rPr>
              <a:t>KEY PRINCIPLE   </a:t>
            </a:r>
            <a:pPr indent="0" marL="0">
              <a:buNone/>
            </a:pPr>
            <a:r>
              <a:rPr lang="en-US" sz="1500" dirty="0">
                <a:solidFill>
                  <a:schemeClr val="bg1"/>
                </a:solidFill>
              </a:rPr>
              <a:t>Any one of the four is enough to require investigation — they are not mutually exclusive.</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1 · FIRST RESPONSE</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tx1"/>
                </a:solidFill>
              </a:rPr>
              <a:t>First response to a potential true match</a:t>
            </a:r>
            <a:endParaRPr lang="en-US" sz="3000" dirty="0"/>
          </a:p>
        </p:txBody>
      </p:sp>
      <p:sp>
        <p:nvSpPr>
          <p:cNvPr id="4" name="PAUSE circle"/>
          <p:cNvSpPr/>
          <p:nvPr/>
        </p:nvSpPr>
        <p:spPr>
          <a:xfrm>
            <a:off x="548640" y="1371600"/>
            <a:ext cx="731520" cy="731520"/>
          </a:xfrm>
          <a:prstGeom prst="ellipse">
            <a:avLst/>
          </a:prstGeom>
          <a:solidFill>
            <a:schemeClr val="accent1"/>
          </a:solidFill>
          <a:ln w="12700">
            <a:solidFill>
              <a:schemeClr val="accent1"/>
            </a:solidFill>
            <a:prstDash val="solid"/>
          </a:ln>
        </p:spPr>
      </p:sp>
      <p:pic>
        <p:nvPicPr>
          <p:cNvPr id="5" name="PAUSE icon" descr="preencoded.png">    </p:cNvPr>
          <p:cNvPicPr>
            <a:picLocks noChangeAspect="1"/>
          </p:cNvPicPr>
          <p:nvPr/>
        </p:nvPicPr>
        <p:blipFill>
          <a:blip r:embed="rId1"/>
          <a:stretch>
            <a:fillRect/>
          </a:stretch>
        </p:blipFill>
        <p:spPr>
          <a:xfrm>
            <a:off x="694944" y="1517904"/>
            <a:ext cx="438912" cy="438912"/>
          </a:xfrm>
          <a:prstGeom prst="rect">
            <a:avLst/>
          </a:prstGeom>
        </p:spPr>
      </p:pic>
      <p:sp>
        <p:nvSpPr>
          <p:cNvPr id="6" name="Text 3"/>
          <p:cNvSpPr txBox="1"/>
          <p:nvPr/>
        </p:nvSpPr>
        <p:spPr>
          <a:xfrm>
            <a:off x="1463040" y="1371600"/>
            <a:ext cx="2468880" cy="731520"/>
          </a:xfrm>
          <a:prstGeom prst="rect">
            <a:avLst/>
          </a:prstGeom>
          <a:noFill/>
          <a:ln/>
        </p:spPr>
        <p:txBody>
          <a:bodyPr wrap="square" lIns="0" tIns="0" rIns="0" bIns="0" rtlCol="0" anchor="ctr"/>
          <a:lstStyle/>
          <a:p>
            <a:pPr indent="0" marL="0">
              <a:buNone/>
            </a:pPr>
            <a:r>
              <a:rPr lang="en-US" sz="2200" b="1" dirty="0">
                <a:solidFill>
                  <a:schemeClr val="accent1"/>
                </a:solidFill>
              </a:rPr>
              <a:t>PAUSE</a:t>
            </a:r>
            <a:endParaRPr lang="en-US" sz="2200" dirty="0"/>
          </a:p>
        </p:txBody>
      </p:sp>
      <p:sp>
        <p:nvSpPr>
          <p:cNvPr id="7" name="Text 4"/>
          <p:cNvSpPr txBox="1"/>
          <p:nvPr/>
        </p:nvSpPr>
        <p:spPr>
          <a:xfrm>
            <a:off x="548640" y="2286000"/>
            <a:ext cx="3429000" cy="1371600"/>
          </a:xfrm>
          <a:prstGeom prst="rect">
            <a:avLst/>
          </a:prstGeom>
          <a:noFill/>
          <a:ln/>
        </p:spPr>
        <p:txBody>
          <a:bodyPr wrap="square" lIns="0" tIns="0" rIns="0" bIns="0" rtlCol="0" anchor="t"/>
          <a:lstStyle/>
          <a:p>
            <a:pPr indent="0" marL="0">
              <a:buNone/>
            </a:pPr>
            <a:r>
              <a:rPr lang="en-US" sz="1600" dirty="0">
                <a:solidFill>
                  <a:schemeClr val="tx1"/>
                </a:solidFill>
              </a:rPr>
              <a:t>Stop the transaction. No release, completion or manual bypass while uncertainty remains — and no refund or return to the sender.</a:t>
            </a:r>
            <a:endParaRPr lang="en-US" sz="1600" dirty="0"/>
          </a:p>
        </p:txBody>
      </p:sp>
      <p:pic>
        <p:nvPicPr>
          <p:cNvPr id="8" name="Image 1" descr="preencoded.png">    </p:cNvPr>
          <p:cNvPicPr>
            <a:picLocks noChangeAspect="1"/>
          </p:cNvPicPr>
          <p:nvPr/>
        </p:nvPicPr>
        <p:blipFill>
          <a:blip r:embed="rId2"/>
          <a:stretch>
            <a:fillRect/>
          </a:stretch>
        </p:blipFill>
        <p:spPr>
          <a:xfrm>
            <a:off x="3977640" y="1536192"/>
            <a:ext cx="384048" cy="384048"/>
          </a:xfrm>
          <a:prstGeom prst="rect">
            <a:avLst/>
          </a:prstGeom>
        </p:spPr>
      </p:pic>
      <p:sp>
        <p:nvSpPr>
          <p:cNvPr id="9" name="INVESTIGATE circle"/>
          <p:cNvSpPr/>
          <p:nvPr/>
        </p:nvSpPr>
        <p:spPr>
          <a:xfrm>
            <a:off x="4343400" y="1371600"/>
            <a:ext cx="731520" cy="731520"/>
          </a:xfrm>
          <a:prstGeom prst="ellipse">
            <a:avLst/>
          </a:prstGeom>
          <a:solidFill>
            <a:schemeClr val="accent2"/>
          </a:solidFill>
          <a:ln w="12700">
            <a:solidFill>
              <a:schemeClr val="accent2"/>
            </a:solidFill>
            <a:prstDash val="solid"/>
          </a:ln>
        </p:spPr>
      </p:sp>
      <p:pic>
        <p:nvPicPr>
          <p:cNvPr id="10" name="INVESTIGATE icon" descr="preencoded.png">    </p:cNvPr>
          <p:cNvPicPr>
            <a:picLocks noChangeAspect="1"/>
          </p:cNvPicPr>
          <p:nvPr/>
        </p:nvPicPr>
        <p:blipFill>
          <a:blip r:embed="rId3"/>
          <a:stretch>
            <a:fillRect/>
          </a:stretch>
        </p:blipFill>
        <p:spPr>
          <a:xfrm>
            <a:off x="4489704" y="1517904"/>
            <a:ext cx="438912" cy="438912"/>
          </a:xfrm>
          <a:prstGeom prst="rect">
            <a:avLst/>
          </a:prstGeom>
        </p:spPr>
      </p:pic>
      <p:sp>
        <p:nvSpPr>
          <p:cNvPr id="11" name="Text 6"/>
          <p:cNvSpPr txBox="1"/>
          <p:nvPr/>
        </p:nvSpPr>
        <p:spPr>
          <a:xfrm>
            <a:off x="5257800" y="1371600"/>
            <a:ext cx="2468880" cy="731520"/>
          </a:xfrm>
          <a:prstGeom prst="rect">
            <a:avLst/>
          </a:prstGeom>
          <a:noFill/>
          <a:ln/>
        </p:spPr>
        <p:txBody>
          <a:bodyPr wrap="square" lIns="0" tIns="0" rIns="0" bIns="0" rtlCol="0" anchor="ctr"/>
          <a:lstStyle/>
          <a:p>
            <a:pPr indent="0" marL="0">
              <a:buNone/>
            </a:pPr>
            <a:r>
              <a:rPr lang="en-US" sz="2200" b="1" dirty="0">
                <a:solidFill>
                  <a:schemeClr val="accent2"/>
                </a:solidFill>
              </a:rPr>
              <a:t>INVESTIGATE</a:t>
            </a:r>
            <a:endParaRPr lang="en-US" sz="2200" dirty="0"/>
          </a:p>
        </p:txBody>
      </p:sp>
      <p:sp>
        <p:nvSpPr>
          <p:cNvPr id="12" name="Text 7"/>
          <p:cNvSpPr txBox="1"/>
          <p:nvPr/>
        </p:nvSpPr>
        <p:spPr>
          <a:xfrm>
            <a:off x="4343400" y="2286000"/>
            <a:ext cx="3429000" cy="1371600"/>
          </a:xfrm>
          <a:prstGeom prst="rect">
            <a:avLst/>
          </a:prstGeom>
          <a:noFill/>
          <a:ln/>
        </p:spPr>
        <p:txBody>
          <a:bodyPr wrap="square" lIns="0" tIns="0" rIns="0" bIns="0" rtlCol="0" anchor="t"/>
          <a:lstStyle/>
          <a:p>
            <a:pPr indent="0" marL="0">
              <a:buNone/>
            </a:pPr>
            <a:r>
              <a:rPr lang="en-US" sz="1600" dirty="0">
                <a:solidFill>
                  <a:schemeClr val="tx1"/>
                </a:solidFill>
              </a:rPr>
              <a:t>Preserve the alert, payment details and list record. Compare identifiers and raise a focused RFI to resolve identity or exposure.</a:t>
            </a:r>
            <a:endParaRPr lang="en-US" sz="1600" dirty="0"/>
          </a:p>
        </p:txBody>
      </p:sp>
      <p:pic>
        <p:nvPicPr>
          <p:cNvPr id="13" name="Image 3" descr="preencoded.png">    </p:cNvPr>
          <p:cNvPicPr>
            <a:picLocks noChangeAspect="1"/>
          </p:cNvPicPr>
          <p:nvPr/>
        </p:nvPicPr>
        <p:blipFill>
          <a:blip r:embed="rId4"/>
          <a:stretch>
            <a:fillRect/>
          </a:stretch>
        </p:blipFill>
        <p:spPr>
          <a:xfrm>
            <a:off x="7772400" y="1536192"/>
            <a:ext cx="384048" cy="384048"/>
          </a:xfrm>
          <a:prstGeom prst="rect">
            <a:avLst/>
          </a:prstGeom>
        </p:spPr>
      </p:pic>
      <p:sp>
        <p:nvSpPr>
          <p:cNvPr id="14" name="ESCALATE circle"/>
          <p:cNvSpPr/>
          <p:nvPr/>
        </p:nvSpPr>
        <p:spPr>
          <a:xfrm>
            <a:off x="8138160" y="1371600"/>
            <a:ext cx="731520" cy="731520"/>
          </a:xfrm>
          <a:prstGeom prst="ellipse">
            <a:avLst/>
          </a:prstGeom>
          <a:solidFill>
            <a:schemeClr val="accent4"/>
          </a:solidFill>
          <a:ln w="12700">
            <a:solidFill>
              <a:schemeClr val="accent4"/>
            </a:solidFill>
            <a:prstDash val="solid"/>
          </a:ln>
        </p:spPr>
      </p:sp>
      <p:pic>
        <p:nvPicPr>
          <p:cNvPr id="15" name="ESCALATE icon" descr="preencoded.png">    </p:cNvPr>
          <p:cNvPicPr>
            <a:picLocks noChangeAspect="1"/>
          </p:cNvPicPr>
          <p:nvPr/>
        </p:nvPicPr>
        <p:blipFill>
          <a:blip r:embed="rId5"/>
          <a:stretch>
            <a:fillRect/>
          </a:stretch>
        </p:blipFill>
        <p:spPr>
          <a:xfrm>
            <a:off x="8284464" y="1517904"/>
            <a:ext cx="438912" cy="438912"/>
          </a:xfrm>
          <a:prstGeom prst="rect">
            <a:avLst/>
          </a:prstGeom>
        </p:spPr>
      </p:pic>
      <p:sp>
        <p:nvSpPr>
          <p:cNvPr id="16" name="Text 9"/>
          <p:cNvSpPr txBox="1"/>
          <p:nvPr/>
        </p:nvSpPr>
        <p:spPr>
          <a:xfrm>
            <a:off x="9052560" y="1371600"/>
            <a:ext cx="2468880" cy="731520"/>
          </a:xfrm>
          <a:prstGeom prst="rect">
            <a:avLst/>
          </a:prstGeom>
          <a:noFill/>
          <a:ln/>
        </p:spPr>
        <p:txBody>
          <a:bodyPr wrap="square" lIns="0" tIns="0" rIns="0" bIns="0" rtlCol="0" anchor="ctr"/>
          <a:lstStyle/>
          <a:p>
            <a:pPr indent="0" marL="0">
              <a:buNone/>
            </a:pPr>
            <a:r>
              <a:rPr lang="en-US" sz="2200" b="1" dirty="0">
                <a:solidFill>
                  <a:schemeClr val="accent4"/>
                </a:solidFill>
              </a:rPr>
              <a:t>ESCALATE</a:t>
            </a:r>
            <a:endParaRPr lang="en-US" sz="2200" dirty="0"/>
          </a:p>
        </p:txBody>
      </p:sp>
      <p:sp>
        <p:nvSpPr>
          <p:cNvPr id="17" name="Text 10"/>
          <p:cNvSpPr txBox="1"/>
          <p:nvPr/>
        </p:nvSpPr>
        <p:spPr>
          <a:xfrm>
            <a:off x="8138160" y="2286000"/>
            <a:ext cx="3429000" cy="1371600"/>
          </a:xfrm>
          <a:prstGeom prst="rect">
            <a:avLst/>
          </a:prstGeom>
          <a:noFill/>
          <a:ln/>
        </p:spPr>
        <p:txBody>
          <a:bodyPr wrap="square" lIns="0" tIns="0" rIns="0" bIns="0" rtlCol="0" anchor="t"/>
          <a:lstStyle/>
          <a:p>
            <a:pPr indent="0" marL="0">
              <a:buNone/>
            </a:pPr>
            <a:r>
              <a:rPr lang="en-US" sz="1600" dirty="0">
                <a:solidFill>
                  <a:schemeClr val="tx1"/>
                </a:solidFill>
              </a:rPr>
              <a:t>Route confirmed or unresolved matches through the approved sanctions path, with your findings recorded. Do not tip off.</a:t>
            </a:r>
            <a:endParaRPr lang="en-US" sz="1600" dirty="0"/>
          </a:p>
        </p:txBody>
      </p:sp>
      <p:sp>
        <p:nvSpPr>
          <p:cNvPr id="18" name="analyst decision"/>
          <p:cNvSpPr/>
          <p:nvPr/>
        </p:nvSpPr>
        <p:spPr>
          <a:xfrm>
            <a:off x="548640" y="3840480"/>
            <a:ext cx="5440680" cy="1508760"/>
          </a:xfrm>
          <a:prstGeom prst="roundRect">
            <a:avLst>
              <a:gd name="adj" fmla="val 7273"/>
            </a:avLst>
          </a:prstGeom>
          <a:solidFill>
            <a:schemeClr val="bg2"/>
          </a:solidFill>
          <a:ln w="12700">
            <a:solidFill>
              <a:schemeClr val="bg2"/>
            </a:solidFill>
            <a:prstDash val="solid"/>
          </a:ln>
        </p:spPr>
      </p:sp>
      <p:sp>
        <p:nvSpPr>
          <p:cNvPr id="19" name="Text 12"/>
          <p:cNvSpPr txBox="1"/>
          <p:nvPr/>
        </p:nvSpPr>
        <p:spPr>
          <a:xfrm>
            <a:off x="777240" y="3977640"/>
            <a:ext cx="5029200" cy="228600"/>
          </a:xfrm>
          <a:prstGeom prst="rect">
            <a:avLst/>
          </a:prstGeom>
          <a:noFill/>
          <a:ln/>
        </p:spPr>
        <p:txBody>
          <a:bodyPr wrap="square" lIns="0" tIns="0" rIns="0" bIns="0" rtlCol="0" anchor="t"/>
          <a:lstStyle/>
          <a:p>
            <a:pPr indent="0" marL="0">
              <a:buNone/>
            </a:pPr>
            <a:r>
              <a:rPr lang="en-US" sz="1100" b="1" spc="100" kern="0" dirty="0">
                <a:solidFill>
                  <a:schemeClr val="accent3"/>
                </a:solidFill>
              </a:rPr>
              <a:t>THE ANALYST'S DECISION (L1)</a:t>
            </a:r>
            <a:endParaRPr lang="en-US" sz="1100" dirty="0"/>
          </a:p>
        </p:txBody>
      </p:sp>
      <p:sp>
        <p:nvSpPr>
          <p:cNvPr id="20" name="Text 13"/>
          <p:cNvSpPr txBox="1"/>
          <p:nvPr/>
        </p:nvSpPr>
        <p:spPr>
          <a:xfrm>
            <a:off x="777240" y="4279392"/>
            <a:ext cx="5029200" cy="1005840"/>
          </a:xfrm>
          <a:prstGeom prst="rect">
            <a:avLst/>
          </a:prstGeom>
          <a:noFill/>
          <a:ln/>
        </p:spPr>
        <p:txBody>
          <a:bodyPr wrap="square" lIns="0" tIns="0" rIns="0" bIns="0" rtlCol="0" anchor="t"/>
          <a:lstStyle/>
          <a:p>
            <a:pPr indent="0" marL="0">
              <a:buNone/>
            </a:pPr>
            <a:r>
              <a:rPr lang="en-US" sz="1500" dirty="0">
                <a:solidFill>
                  <a:schemeClr val="tx1"/>
                </a:solidFill>
              </a:rPr>
              <a:t>Close a false positive where the mismatch is evidenced and independently checked. Request information. Escalate.</a:t>
            </a:r>
            <a:endParaRPr lang="en-US" sz="1500" dirty="0"/>
          </a:p>
        </p:txBody>
      </p:sp>
      <p:sp>
        <p:nvSpPr>
          <p:cNvPr id="21" name="reserved"/>
          <p:cNvSpPr/>
          <p:nvPr/>
        </p:nvSpPr>
        <p:spPr>
          <a:xfrm>
            <a:off x="6172200" y="3840480"/>
            <a:ext cx="5440680" cy="1508760"/>
          </a:xfrm>
          <a:prstGeom prst="roundRect">
            <a:avLst>
              <a:gd name="adj" fmla="val 7273"/>
            </a:avLst>
          </a:prstGeom>
          <a:solidFill>
            <a:schemeClr val="bg2"/>
          </a:solidFill>
          <a:ln w="12700">
            <a:solidFill>
              <a:schemeClr val="bg2"/>
            </a:solidFill>
            <a:prstDash val="solid"/>
          </a:ln>
        </p:spPr>
      </p:sp>
      <p:sp>
        <p:nvSpPr>
          <p:cNvPr id="22" name="Text 15"/>
          <p:cNvSpPr txBox="1"/>
          <p:nvPr/>
        </p:nvSpPr>
        <p:spPr>
          <a:xfrm>
            <a:off x="6400800" y="3977640"/>
            <a:ext cx="5029200" cy="228600"/>
          </a:xfrm>
          <a:prstGeom prst="rect">
            <a:avLst/>
          </a:prstGeom>
          <a:noFill/>
          <a:ln/>
        </p:spPr>
        <p:txBody>
          <a:bodyPr wrap="square" lIns="0" tIns="0" rIns="0" bIns="0" rtlCol="0" anchor="t"/>
          <a:lstStyle/>
          <a:p>
            <a:pPr indent="0" marL="0">
              <a:buNone/>
            </a:pPr>
            <a:r>
              <a:rPr lang="en-US" sz="1100" b="1" spc="100" kern="0" dirty="0">
                <a:solidFill>
                  <a:schemeClr val="accent1"/>
                </a:solidFill>
              </a:rPr>
              <a:t>RESERVED FOR L2 / L3</a:t>
            </a:r>
            <a:endParaRPr lang="en-US" sz="1100" dirty="0"/>
          </a:p>
        </p:txBody>
      </p:sp>
      <p:sp>
        <p:nvSpPr>
          <p:cNvPr id="23" name="Text 16"/>
          <p:cNvSpPr txBox="1"/>
          <p:nvPr/>
        </p:nvSpPr>
        <p:spPr>
          <a:xfrm>
            <a:off x="6400800" y="4279392"/>
            <a:ext cx="5029200" cy="1005840"/>
          </a:xfrm>
          <a:prstGeom prst="rect">
            <a:avLst/>
          </a:prstGeom>
          <a:noFill/>
          <a:ln/>
        </p:spPr>
        <p:txBody>
          <a:bodyPr wrap="square" lIns="0" tIns="0" rIns="0" bIns="0" rtlCol="0" anchor="t"/>
          <a:lstStyle/>
          <a:p>
            <a:pPr indent="0" marL="0">
              <a:buNone/>
            </a:pPr>
            <a:r>
              <a:rPr lang="en-US" sz="1500" dirty="0">
                <a:solidFill>
                  <a:schemeClr val="tx1"/>
                </a:solidFill>
              </a:rPr>
              <a:t>Releasing an unresolved match, choosing between freeze and reject, licence and exception questions, regulatory reporting, and any explanation to the customer.</a:t>
            </a:r>
            <a:endParaRPr lang="en-US" sz="1500" dirty="0"/>
          </a:p>
        </p:txBody>
      </p:sp>
      <p:sp>
        <p:nvSpPr>
          <p:cNvPr id="24" name="Text 17"/>
          <p:cNvSpPr txBox="1"/>
          <p:nvPr/>
        </p:nvSpPr>
        <p:spPr>
          <a:xfrm>
            <a:off x="548640" y="5486400"/>
            <a:ext cx="11064240" cy="502920"/>
          </a:xfrm>
          <a:prstGeom prst="rect">
            <a:avLst/>
          </a:prstGeom>
          <a:noFill/>
          <a:ln/>
        </p:spPr>
        <p:txBody>
          <a:bodyPr wrap="square" lIns="0" tIns="0" rIns="0" bIns="0" rtlCol="0" anchor="t"/>
          <a:lstStyle/>
          <a:p>
            <a:pPr indent="0" marL="0">
              <a:buNone/>
            </a:pPr>
            <a:r>
              <a:rPr lang="en-US" sz="1400" b="1" dirty="0">
                <a:solidFill>
                  <a:schemeClr val="tx1"/>
                </a:solidFill>
              </a:rPr>
              <a:t>In your process:  </a:t>
            </a:r>
            <a:pPr indent="0" marL="0">
              <a:buNone/>
            </a:pPr>
            <a:r>
              <a:rPr lang="en-US" sz="1400" dirty="0">
                <a:solidFill>
                  <a:schemeClr val="tx1"/>
                </a:solidFill>
              </a:rPr>
              <a:t>L1 analyst → 4-eye review → L2 Sanctions Compliance → L3 / Global Head of Sanctions and CCO → Treasury and regional MLROs execute the freeze and reporting steps.</a:t>
            </a:r>
            <a:endParaRPr lang="en-US" sz="1400" dirty="0"/>
          </a:p>
        </p:txBody>
      </p:sp>
      <p:sp>
        <p:nvSpPr>
          <p:cNvPr id="25" name="Text 18"/>
          <p:cNvSpPr txBox="1"/>
          <p:nvPr/>
        </p:nvSpPr>
        <p:spPr>
          <a:xfrm>
            <a:off x="548640" y="6053328"/>
            <a:ext cx="11064240" cy="292608"/>
          </a:xfrm>
          <a:prstGeom prst="rect">
            <a:avLst/>
          </a:prstGeom>
          <a:noFill/>
          <a:ln/>
        </p:spPr>
        <p:txBody>
          <a:bodyPr wrap="square" lIns="0" tIns="0" rIns="0" bIns="0" rtlCol="0" anchor="b"/>
          <a:lstStyle/>
          <a:p>
            <a:pPr indent="0" marL="0">
              <a:buNone/>
            </a:pPr>
            <a:r>
              <a:rPr lang="en-US" sz="1000" i="1" dirty="0">
                <a:solidFill>
                  <a:schemeClr val="accent6"/>
                </a:solidFill>
              </a:rPr>
              <a:t>Source: Checkout Global Sanctions Reporting Procedure — escalation and operating model (cite section).</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2 OF 4</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bg1"/>
                </a:solidFill>
              </a:rPr>
              <a:t>Compare the regions</a:t>
            </a:r>
            <a:endParaRPr lang="en-US" sz="3000" dirty="0"/>
          </a:p>
        </p:txBody>
      </p:sp>
      <p:sp>
        <p:nvSpPr>
          <p:cNvPr id="4" name="part 2 circle"/>
          <p:cNvSpPr/>
          <p:nvPr/>
        </p:nvSpPr>
        <p:spPr>
          <a:xfrm>
            <a:off x="10561320" y="320040"/>
            <a:ext cx="1005840" cy="1005840"/>
          </a:xfrm>
          <a:prstGeom prst="ellipse">
            <a:avLst/>
          </a:prstGeom>
          <a:solidFill>
            <a:schemeClr val="accent4"/>
          </a:solidFill>
          <a:ln w="12700">
            <a:solidFill>
              <a:schemeClr val="accent4"/>
            </a:solidFill>
            <a:prstDash val="solid"/>
          </a:ln>
        </p:spPr>
      </p:sp>
      <p:pic>
        <p:nvPicPr>
          <p:cNvPr id="5" name="part 2 icon" descr="preencoded.png">    </p:cNvPr>
          <p:cNvPicPr>
            <a:picLocks noChangeAspect="1"/>
          </p:cNvPicPr>
          <p:nvPr/>
        </p:nvPicPr>
        <p:blipFill>
          <a:blip r:embed="rId1"/>
          <a:stretch>
            <a:fillRect/>
          </a:stretch>
        </p:blipFill>
        <p:spPr>
          <a:xfrm>
            <a:off x="10762488" y="521208"/>
            <a:ext cx="603504" cy="603504"/>
          </a:xfrm>
          <a:prstGeom prst="rect">
            <a:avLst/>
          </a:prstGeom>
        </p:spPr>
      </p:pic>
      <p:sp>
        <p:nvSpPr>
          <p:cNvPr id="6" name="Text 3"/>
          <p:cNvSpPr txBox="1"/>
          <p:nvPr/>
        </p:nvSpPr>
        <p:spPr>
          <a:xfrm>
            <a:off x="548640" y="1234440"/>
            <a:ext cx="9601200" cy="457200"/>
          </a:xfrm>
          <a:prstGeom prst="rect">
            <a:avLst/>
          </a:prstGeom>
          <a:noFill/>
          <a:ln/>
        </p:spPr>
        <p:txBody>
          <a:bodyPr wrap="square" lIns="0" tIns="0" rIns="0" bIns="0" rtlCol="0" anchor="t"/>
          <a:lstStyle/>
          <a:p>
            <a:pPr indent="0" marL="0">
              <a:buNone/>
            </a:pPr>
            <a:r>
              <a:rPr lang="en-US" sz="2200" b="1" i="1" dirty="0">
                <a:solidFill>
                  <a:schemeClr val="accent2"/>
                </a:solidFill>
              </a:rPr>
              <a:t>Regional rules differ.</a:t>
            </a:r>
            <a:endParaRPr lang="en-US" sz="2200" dirty="0"/>
          </a:p>
        </p:txBody>
      </p:sp>
      <p:sp>
        <p:nvSpPr>
          <p:cNvPr id="7" name="Text 4"/>
          <p:cNvSpPr txBox="1"/>
          <p:nvPr/>
        </p:nvSpPr>
        <p:spPr>
          <a:xfrm>
            <a:off x="548640" y="1737360"/>
            <a:ext cx="10515600" cy="320040"/>
          </a:xfrm>
          <a:prstGeom prst="rect">
            <a:avLst/>
          </a:prstGeom>
          <a:noFill/>
          <a:ln/>
        </p:spPr>
        <p:txBody>
          <a:bodyPr wrap="square" lIns="0" tIns="0" rIns="0" bIns="0" rtlCol="0" anchor="t"/>
          <a:lstStyle/>
          <a:p>
            <a:pPr indent="0" marL="0">
              <a:buNone/>
            </a:pPr>
            <a:r>
              <a:rPr lang="en-US" sz="1400" i="1" dirty="0">
                <a:solidFill>
                  <a:schemeClr val="accent5"/>
                </a:solidFill>
              </a:rPr>
              <a:t>Building on Part 1: you can recognise exposure and know the first response.</a:t>
            </a:r>
            <a:endParaRPr lang="en-US" sz="1400" dirty="0"/>
          </a:p>
        </p:txBody>
      </p:sp>
      <p:sp>
        <p:nvSpPr>
          <p:cNvPr id="8" name="Text 5"/>
          <p:cNvSpPr txBox="1"/>
          <p:nvPr/>
        </p:nvSpPr>
        <p:spPr>
          <a:xfrm>
            <a:off x="548640" y="2103120"/>
            <a:ext cx="10789920" cy="914400"/>
          </a:xfrm>
          <a:prstGeom prst="rect">
            <a:avLst/>
          </a:prstGeom>
          <a:noFill/>
          <a:ln/>
        </p:spPr>
        <p:txBody>
          <a:bodyPr wrap="square" lIns="0" tIns="0" rIns="0" bIns="0" rtlCol="0" anchor="t"/>
          <a:lstStyle/>
          <a:p>
            <a:pPr indent="0" marL="0">
              <a:buNone/>
            </a:pPr>
            <a:r>
              <a:rPr lang="en-US" sz="1800" dirty="0">
                <a:solidFill>
                  <a:schemeClr val="bg1"/>
                </a:solidFill>
              </a:rPr>
              <a:t>The model is constant, but the rulebooks are not. You do not need to memorise six regimes. You need to recognise which ones a payment touches, and what changes in the outcome when they do.</a:t>
            </a:r>
            <a:endParaRPr lang="en-US" sz="1800" dirty="0"/>
          </a:p>
        </p:txBody>
      </p:sp>
      <p:sp>
        <p:nvSpPr>
          <p:cNvPr id="9" name="In this part"/>
          <p:cNvSpPr/>
          <p:nvPr/>
        </p:nvSpPr>
        <p:spPr>
          <a:xfrm>
            <a:off x="548640" y="3200400"/>
            <a:ext cx="3566160" cy="2286000"/>
          </a:xfrm>
          <a:prstGeom prst="roundRect">
            <a:avLst>
              <a:gd name="adj" fmla="val 4800"/>
            </a:avLst>
          </a:prstGeom>
          <a:solidFill>
            <a:schemeClr val="tx1"/>
          </a:solidFill>
          <a:ln w="12700">
            <a:solidFill>
              <a:schemeClr val="accent4"/>
            </a:solidFill>
            <a:prstDash val="solid"/>
          </a:ln>
        </p:spPr>
      </p:sp>
      <p:sp>
        <p:nvSpPr>
          <p:cNvPr id="10" name="Text 7"/>
          <p:cNvSpPr txBox="1"/>
          <p:nvPr/>
        </p:nvSpPr>
        <p:spPr>
          <a:xfrm>
            <a:off x="777240" y="3337560"/>
            <a:ext cx="3108960" cy="228600"/>
          </a:xfrm>
          <a:prstGeom prst="rect">
            <a:avLst/>
          </a:prstGeom>
          <a:noFill/>
          <a:ln/>
        </p:spPr>
        <p:txBody>
          <a:bodyPr wrap="square" lIns="0" tIns="0" rIns="0" bIns="0" rtlCol="0" anchor="t"/>
          <a:lstStyle/>
          <a:p>
            <a:pPr indent="0" marL="0">
              <a:buNone/>
            </a:pPr>
            <a:r>
              <a:rPr lang="en-US" sz="1100" b="1" spc="100" kern="0" dirty="0">
                <a:solidFill>
                  <a:schemeClr val="accent5"/>
                </a:solidFill>
              </a:rPr>
              <a:t>IN THIS PART</a:t>
            </a:r>
            <a:endParaRPr lang="en-US" sz="1100" dirty="0"/>
          </a:p>
        </p:txBody>
      </p:sp>
      <p:sp>
        <p:nvSpPr>
          <p:cNvPr id="11" name="Text 8"/>
          <p:cNvSpPr txBox="1"/>
          <p:nvPr/>
        </p:nvSpPr>
        <p:spPr>
          <a:xfrm>
            <a:off x="777240" y="3657600"/>
            <a:ext cx="3154680" cy="182880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chemeClr val="bg1"/>
                </a:solidFill>
              </a:rPr>
              <a:t>Which rules apply</a:t>
            </a:r>
            <a:endParaRPr lang="en-US" sz="1500" dirty="0"/>
          </a:p>
          <a:p>
            <a:pPr marL="342900" indent="-342900">
              <a:spcAft>
                <a:spcPts val="400"/>
              </a:spcAft>
              <a:buSzPct val="100000"/>
              <a:buChar char="•"/>
            </a:pPr>
            <a:r>
              <a:rPr lang="en-US" sz="1500" dirty="0">
                <a:solidFill>
                  <a:schemeClr val="bg1"/>
                </a:solidFill>
              </a:rPr>
              <a:t>UK, EU / France and US</a:t>
            </a:r>
            <a:endParaRPr lang="en-US" sz="1500" dirty="0"/>
          </a:p>
          <a:p>
            <a:pPr marL="342900" indent="-342900">
              <a:spcAft>
                <a:spcPts val="400"/>
              </a:spcAft>
              <a:buSzPct val="100000"/>
              <a:buChar char="•"/>
            </a:pPr>
            <a:r>
              <a:rPr lang="en-US" sz="1500" dirty="0">
                <a:solidFill>
                  <a:schemeClr val="bg1"/>
                </a:solidFill>
              </a:rPr>
              <a:t>UAE, Singapore and Hong Kong</a:t>
            </a:r>
            <a:endParaRPr lang="en-US" sz="1500" dirty="0"/>
          </a:p>
          <a:p>
            <a:pPr marL="342900" indent="-342900">
              <a:spcAft>
                <a:spcPts val="400"/>
              </a:spcAft>
              <a:buSzPct val="100000"/>
              <a:buChar char="•"/>
            </a:pPr>
            <a:r>
              <a:rPr lang="en-US" sz="1500" dirty="0">
                <a:solidFill>
                  <a:schemeClr val="bg1"/>
                </a:solidFill>
              </a:rPr>
              <a:t>Ownership and control</a:t>
            </a:r>
            <a:endParaRPr lang="en-US" sz="1500" dirty="0"/>
          </a:p>
          <a:p>
            <a:pPr marL="342900" indent="-342900">
              <a:spcAft>
                <a:spcPts val="400"/>
              </a:spcAft>
              <a:buSzPct val="100000"/>
              <a:buChar char="•"/>
            </a:pPr>
            <a:r>
              <a:rPr lang="en-US" sz="1500" dirty="0">
                <a:solidFill>
                  <a:schemeClr val="bg1"/>
                </a:solidFill>
              </a:rPr>
              <a:t>Freeze, block and reject</a:t>
            </a:r>
            <a:endParaRPr lang="en-US" sz="1500" dirty="0"/>
          </a:p>
        </p:txBody>
      </p:sp>
      <p:sp>
        <p:nvSpPr>
          <p:cNvPr id="12" name="In your process"/>
          <p:cNvSpPr/>
          <p:nvPr/>
        </p:nvSpPr>
        <p:spPr>
          <a:xfrm>
            <a:off x="4297680" y="3200400"/>
            <a:ext cx="3566160" cy="2286000"/>
          </a:xfrm>
          <a:prstGeom prst="roundRect">
            <a:avLst>
              <a:gd name="adj" fmla="val 4800"/>
            </a:avLst>
          </a:prstGeom>
          <a:solidFill>
            <a:schemeClr val="tx1"/>
          </a:solidFill>
          <a:ln w="12700">
            <a:solidFill>
              <a:schemeClr val="accent4"/>
            </a:solidFill>
            <a:prstDash val="solid"/>
          </a:ln>
        </p:spPr>
      </p:sp>
      <p:sp>
        <p:nvSpPr>
          <p:cNvPr id="13" name="Text 10"/>
          <p:cNvSpPr txBox="1"/>
          <p:nvPr/>
        </p:nvSpPr>
        <p:spPr>
          <a:xfrm>
            <a:off x="4526280" y="3337560"/>
            <a:ext cx="3108960" cy="228600"/>
          </a:xfrm>
          <a:prstGeom prst="rect">
            <a:avLst/>
          </a:prstGeom>
          <a:noFill/>
          <a:ln/>
        </p:spPr>
        <p:txBody>
          <a:bodyPr wrap="square" lIns="0" tIns="0" rIns="0" bIns="0" rtlCol="0" anchor="t"/>
          <a:lstStyle/>
          <a:p>
            <a:pPr indent="0" marL="0">
              <a:buNone/>
            </a:pPr>
            <a:r>
              <a:rPr lang="en-US" sz="1100" b="1" spc="100" kern="0" dirty="0">
                <a:solidFill>
                  <a:schemeClr val="accent5"/>
                </a:solidFill>
              </a:rPr>
              <a:t>IN YOUR PROCESS</a:t>
            </a:r>
            <a:endParaRPr lang="en-US" sz="1100" dirty="0"/>
          </a:p>
        </p:txBody>
      </p:sp>
      <p:sp>
        <p:nvSpPr>
          <p:cNvPr id="14" name="Text 11"/>
          <p:cNvSpPr txBox="1"/>
          <p:nvPr/>
        </p:nvSpPr>
        <p:spPr>
          <a:xfrm>
            <a:off x="4526280" y="3657600"/>
            <a:ext cx="3154680" cy="1828800"/>
          </a:xfrm>
          <a:prstGeom prst="rect">
            <a:avLst/>
          </a:prstGeom>
          <a:noFill/>
          <a:ln/>
        </p:spPr>
        <p:txBody>
          <a:bodyPr wrap="square" lIns="0" tIns="0" rIns="0" bIns="0" rtlCol="0" anchor="t"/>
          <a:lstStyle/>
          <a:p>
            <a:pPr indent="0" marL="0">
              <a:buNone/>
            </a:pPr>
            <a:r>
              <a:rPr lang="en-US" sz="1500" dirty="0">
                <a:solidFill>
                  <a:schemeClr val="bg1"/>
                </a:solidFill>
              </a:rPr>
              <a:t>Confirm the Checkout legal entity, payment route and currency from the case record, and check the Country Risk Rating and legal-entity HRTC registers.</a:t>
            </a:r>
            <a:endParaRPr lang="en-US" sz="1500" dirty="0"/>
          </a:p>
        </p:txBody>
      </p:sp>
      <p:sp>
        <p:nvSpPr>
          <p:cNvPr id="15" name="Ask yourself"/>
          <p:cNvSpPr/>
          <p:nvPr/>
        </p:nvSpPr>
        <p:spPr>
          <a:xfrm>
            <a:off x="8046720" y="3200400"/>
            <a:ext cx="3566160" cy="2286000"/>
          </a:xfrm>
          <a:prstGeom prst="roundRect">
            <a:avLst>
              <a:gd name="adj" fmla="val 4800"/>
            </a:avLst>
          </a:prstGeom>
          <a:solidFill>
            <a:schemeClr val="tx1"/>
          </a:solidFill>
          <a:ln w="12700">
            <a:solidFill>
              <a:schemeClr val="accent4"/>
            </a:solidFill>
            <a:prstDash val="solid"/>
          </a:ln>
        </p:spPr>
      </p:sp>
      <p:sp>
        <p:nvSpPr>
          <p:cNvPr id="16" name="Text 13"/>
          <p:cNvSpPr txBox="1"/>
          <p:nvPr/>
        </p:nvSpPr>
        <p:spPr>
          <a:xfrm>
            <a:off x="8275320" y="3337560"/>
            <a:ext cx="3108960" cy="228600"/>
          </a:xfrm>
          <a:prstGeom prst="rect">
            <a:avLst/>
          </a:prstGeom>
          <a:noFill/>
          <a:ln/>
        </p:spPr>
        <p:txBody>
          <a:bodyPr wrap="square" lIns="0" tIns="0" rIns="0" bIns="0" rtlCol="0" anchor="t"/>
          <a:lstStyle/>
          <a:p>
            <a:pPr indent="0" marL="0">
              <a:buNone/>
            </a:pPr>
            <a:r>
              <a:rPr lang="en-US" sz="1100" b="1" spc="100" kern="0" dirty="0">
                <a:solidFill>
                  <a:schemeClr val="accent2"/>
                </a:solidFill>
              </a:rPr>
              <a:t>ASK YOURSELF</a:t>
            </a:r>
            <a:endParaRPr lang="en-US" sz="1100" dirty="0"/>
          </a:p>
        </p:txBody>
      </p:sp>
      <p:sp>
        <p:nvSpPr>
          <p:cNvPr id="17" name="Text 14"/>
          <p:cNvSpPr txBox="1"/>
          <p:nvPr/>
        </p:nvSpPr>
        <p:spPr>
          <a:xfrm>
            <a:off x="8275320" y="3657600"/>
            <a:ext cx="3154680" cy="1828800"/>
          </a:xfrm>
          <a:prstGeom prst="rect">
            <a:avLst/>
          </a:prstGeom>
          <a:noFill/>
          <a:ln/>
        </p:spPr>
        <p:txBody>
          <a:bodyPr wrap="square" lIns="0" tIns="0" rIns="0" bIns="0" rtlCol="0" anchor="t"/>
          <a:lstStyle/>
          <a:p>
            <a:pPr indent="0" marL="0">
              <a:buNone/>
            </a:pPr>
            <a:r>
              <a:rPr lang="en-US" sz="1700" i="1" dirty="0">
                <a:solidFill>
                  <a:schemeClr val="bg1"/>
                </a:solidFill>
              </a:rPr>
              <a:t>Which Checkout entity processed this payment — and which countries, currencies and banks does it touch?</a:t>
            </a:r>
            <a:endParaRPr lang="en-US" sz="1700" dirty="0"/>
          </a:p>
        </p:txBody>
      </p:sp>
      <p:sp>
        <p:nvSpPr>
          <p:cNvPr id="18" name="progress 1"/>
          <p:cNvSpPr/>
          <p:nvPr/>
        </p:nvSpPr>
        <p:spPr>
          <a:xfrm>
            <a:off x="548640" y="5806440"/>
            <a:ext cx="2651760" cy="384048"/>
          </a:xfrm>
          <a:prstGeom prst="roundRect">
            <a:avLst>
              <a:gd name="adj" fmla="val 50000"/>
            </a:avLst>
          </a:prstGeom>
          <a:solidFill>
            <a:schemeClr val="tx2"/>
          </a:solidFill>
          <a:ln w="12700">
            <a:solidFill>
              <a:schemeClr val="accent4"/>
            </a:solidFill>
            <a:prstDash val="solid"/>
          </a:ln>
        </p:spPr>
      </p:sp>
      <p:sp>
        <p:nvSpPr>
          <p:cNvPr id="19" name="Text 16"/>
          <p:cNvSpPr txBox="1"/>
          <p:nvPr/>
        </p:nvSpPr>
        <p:spPr>
          <a:xfrm>
            <a:off x="548640" y="5806440"/>
            <a:ext cx="2651760" cy="384048"/>
          </a:xfrm>
          <a:prstGeom prst="rect">
            <a:avLst/>
          </a:prstGeom>
          <a:noFill/>
          <a:ln/>
        </p:spPr>
        <p:txBody>
          <a:bodyPr wrap="square" lIns="0" tIns="0" rIns="0" bIns="0" rtlCol="0" anchor="ctr"/>
          <a:lstStyle/>
          <a:p>
            <a:pPr algn="ctr" indent="0" marL="0">
              <a:buNone/>
            </a:pPr>
            <a:r>
              <a:rPr lang="en-US" sz="1300" dirty="0">
                <a:solidFill>
                  <a:schemeClr val="accent5"/>
                </a:solidFill>
              </a:rPr>
              <a:t>1  Understand the model</a:t>
            </a:r>
            <a:endParaRPr lang="en-US" sz="1300" dirty="0"/>
          </a:p>
        </p:txBody>
      </p:sp>
      <p:sp>
        <p:nvSpPr>
          <p:cNvPr id="20" name="progress 2"/>
          <p:cNvSpPr/>
          <p:nvPr/>
        </p:nvSpPr>
        <p:spPr>
          <a:xfrm>
            <a:off x="3346704" y="5806440"/>
            <a:ext cx="2651760" cy="384048"/>
          </a:xfrm>
          <a:prstGeom prst="roundRect">
            <a:avLst>
              <a:gd name="adj" fmla="val 50000"/>
            </a:avLst>
          </a:prstGeom>
          <a:solidFill>
            <a:schemeClr val="accent4"/>
          </a:solidFill>
          <a:ln w="12700">
            <a:solidFill>
              <a:schemeClr val="accent4"/>
            </a:solidFill>
            <a:prstDash val="solid"/>
          </a:ln>
        </p:spPr>
      </p:sp>
      <p:sp>
        <p:nvSpPr>
          <p:cNvPr id="21" name="Text 18"/>
          <p:cNvSpPr txBox="1"/>
          <p:nvPr/>
        </p:nvSpPr>
        <p:spPr>
          <a:xfrm>
            <a:off x="3346704" y="5806440"/>
            <a:ext cx="2651760" cy="384048"/>
          </a:xfrm>
          <a:prstGeom prst="rect">
            <a:avLst/>
          </a:prstGeom>
          <a:noFill/>
          <a:ln/>
        </p:spPr>
        <p:txBody>
          <a:bodyPr wrap="square" lIns="0" tIns="0" rIns="0" bIns="0" rtlCol="0" anchor="ctr"/>
          <a:lstStyle/>
          <a:p>
            <a:pPr algn="ctr" indent="0" marL="0">
              <a:buNone/>
            </a:pPr>
            <a:r>
              <a:rPr lang="en-US" sz="1300" b="1" dirty="0">
                <a:solidFill>
                  <a:schemeClr val="bg1"/>
                </a:solidFill>
              </a:rPr>
              <a:t>2  Compare the regions</a:t>
            </a:r>
            <a:endParaRPr lang="en-US" sz="1300" dirty="0"/>
          </a:p>
        </p:txBody>
      </p:sp>
      <p:sp>
        <p:nvSpPr>
          <p:cNvPr id="22" name="progress 3"/>
          <p:cNvSpPr/>
          <p:nvPr/>
        </p:nvSpPr>
        <p:spPr>
          <a:xfrm>
            <a:off x="6144768" y="5806440"/>
            <a:ext cx="2651760" cy="384048"/>
          </a:xfrm>
          <a:prstGeom prst="roundRect">
            <a:avLst>
              <a:gd name="adj" fmla="val 50000"/>
            </a:avLst>
          </a:prstGeom>
          <a:solidFill>
            <a:schemeClr val="tx2"/>
          </a:solidFill>
          <a:ln w="12700">
            <a:solidFill>
              <a:schemeClr val="accent4"/>
            </a:solidFill>
            <a:prstDash val="solid"/>
          </a:ln>
        </p:spPr>
      </p:sp>
      <p:sp>
        <p:nvSpPr>
          <p:cNvPr id="23" name="Text 20"/>
          <p:cNvSpPr txBox="1"/>
          <p:nvPr/>
        </p:nvSpPr>
        <p:spPr>
          <a:xfrm>
            <a:off x="6144768" y="5806440"/>
            <a:ext cx="2651760" cy="384048"/>
          </a:xfrm>
          <a:prstGeom prst="rect">
            <a:avLst/>
          </a:prstGeom>
          <a:noFill/>
          <a:ln/>
        </p:spPr>
        <p:txBody>
          <a:bodyPr wrap="square" lIns="0" tIns="0" rIns="0" bIns="0" rtlCol="0" anchor="ctr"/>
          <a:lstStyle/>
          <a:p>
            <a:pPr algn="ctr" indent="0" marL="0">
              <a:buNone/>
            </a:pPr>
            <a:r>
              <a:rPr lang="en-US" sz="1300" dirty="0">
                <a:solidFill>
                  <a:schemeClr val="accent5"/>
                </a:solidFill>
              </a:rPr>
              <a:t>3  Apply the indicators</a:t>
            </a:r>
            <a:endParaRPr lang="en-US" sz="1300" dirty="0"/>
          </a:p>
        </p:txBody>
      </p:sp>
      <p:sp>
        <p:nvSpPr>
          <p:cNvPr id="24" name="progress 4"/>
          <p:cNvSpPr/>
          <p:nvPr/>
        </p:nvSpPr>
        <p:spPr>
          <a:xfrm>
            <a:off x="8942832" y="5806440"/>
            <a:ext cx="2651760" cy="384048"/>
          </a:xfrm>
          <a:prstGeom prst="roundRect">
            <a:avLst>
              <a:gd name="adj" fmla="val 50000"/>
            </a:avLst>
          </a:prstGeom>
          <a:solidFill>
            <a:schemeClr val="tx2"/>
          </a:solidFill>
          <a:ln w="12700">
            <a:solidFill>
              <a:schemeClr val="accent4"/>
            </a:solidFill>
            <a:prstDash val="solid"/>
          </a:ln>
        </p:spPr>
      </p:sp>
      <p:sp>
        <p:nvSpPr>
          <p:cNvPr id="25" name="Text 22"/>
          <p:cNvSpPr txBox="1"/>
          <p:nvPr/>
        </p:nvSpPr>
        <p:spPr>
          <a:xfrm>
            <a:off x="8942832" y="5806440"/>
            <a:ext cx="2651760" cy="384048"/>
          </a:xfrm>
          <a:prstGeom prst="rect">
            <a:avLst/>
          </a:prstGeom>
          <a:noFill/>
          <a:ln/>
        </p:spPr>
        <p:txBody>
          <a:bodyPr wrap="square" lIns="0" tIns="0" rIns="0" bIns="0" rtlCol="0" anchor="ctr"/>
          <a:lstStyle/>
          <a:p>
            <a:pPr algn="ctr" indent="0" marL="0">
              <a:buNone/>
            </a:pPr>
            <a:r>
              <a:rPr lang="en-US" sz="1300" dirty="0">
                <a:solidFill>
                  <a:schemeClr val="accent5"/>
                </a:solidFill>
              </a:rPr>
              <a:t>4  Record the decision</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2 · REGIONAL LENS</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tx1"/>
                </a:solidFill>
              </a:rPr>
              <a:t>Which rules apply? Every regime the payment touches</a:t>
            </a:r>
            <a:endParaRPr lang="en-US" sz="3000" dirty="0"/>
          </a:p>
        </p:txBody>
      </p:sp>
      <p:sp>
        <p:nvSpPr>
          <p:cNvPr id="4" name="Text 2"/>
          <p:cNvSpPr txBox="1"/>
          <p:nvPr/>
        </p:nvSpPr>
        <p:spPr>
          <a:xfrm>
            <a:off x="548640" y="1325880"/>
            <a:ext cx="512064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APPLY EVERY LAYER, IN ORDER</a:t>
            </a:r>
            <a:endParaRPr lang="en-US" sz="1100" dirty="0"/>
          </a:p>
        </p:txBody>
      </p:sp>
      <p:sp>
        <p:nvSpPr>
          <p:cNvPr id="5" name="layer 1"/>
          <p:cNvSpPr/>
          <p:nvPr/>
        </p:nvSpPr>
        <p:spPr>
          <a:xfrm>
            <a:off x="548640" y="1645920"/>
            <a:ext cx="5120640" cy="868680"/>
          </a:xfrm>
          <a:prstGeom prst="roundRect">
            <a:avLst>
              <a:gd name="adj" fmla="val 12632"/>
            </a:avLst>
          </a:prstGeom>
          <a:solidFill>
            <a:schemeClr val="tx1"/>
          </a:solidFill>
          <a:ln w="12700">
            <a:solidFill>
              <a:schemeClr val="tx1"/>
            </a:solidFill>
            <a:prstDash val="solid"/>
          </a:ln>
        </p:spPr>
      </p:sp>
      <p:sp>
        <p:nvSpPr>
          <p:cNvPr id="6" name="Shape 4"/>
          <p:cNvSpPr/>
          <p:nvPr/>
        </p:nvSpPr>
        <p:spPr>
          <a:xfrm>
            <a:off x="731520" y="1810512"/>
            <a:ext cx="548640" cy="548640"/>
          </a:xfrm>
          <a:prstGeom prst="ellipse">
            <a:avLst/>
          </a:prstGeom>
          <a:solidFill>
            <a:schemeClr val="accent1"/>
          </a:solidFill>
          <a:ln w="12700">
            <a:solidFill>
              <a:schemeClr val="accent1"/>
            </a:solidFill>
            <a:prstDash val="solid"/>
          </a:ln>
        </p:spPr>
      </p:sp>
      <p:sp>
        <p:nvSpPr>
          <p:cNvPr id="7" name="Text 5"/>
          <p:cNvSpPr txBox="1"/>
          <p:nvPr/>
        </p:nvSpPr>
        <p:spPr>
          <a:xfrm>
            <a:off x="731520" y="1810512"/>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8" name="Text 6"/>
          <p:cNvSpPr txBox="1"/>
          <p:nvPr/>
        </p:nvSpPr>
        <p:spPr>
          <a:xfrm>
            <a:off x="1463040" y="1737360"/>
            <a:ext cx="4069080" cy="347472"/>
          </a:xfrm>
          <a:prstGeom prst="rect">
            <a:avLst/>
          </a:prstGeom>
          <a:noFill/>
          <a:ln/>
        </p:spPr>
        <p:txBody>
          <a:bodyPr wrap="square" lIns="0" tIns="0" rIns="0" bIns="0" rtlCol="0" anchor="t"/>
          <a:lstStyle/>
          <a:p>
            <a:pPr indent="0" marL="0">
              <a:buNone/>
            </a:pPr>
            <a:r>
              <a:rPr lang="en-US" sz="1700" b="1" dirty="0">
                <a:solidFill>
                  <a:schemeClr val="bg1"/>
                </a:solidFill>
              </a:rPr>
              <a:t>Local law</a:t>
            </a:r>
            <a:endParaRPr lang="en-US" sz="1700" dirty="0"/>
          </a:p>
        </p:txBody>
      </p:sp>
      <p:sp>
        <p:nvSpPr>
          <p:cNvPr id="9" name="Text 7"/>
          <p:cNvSpPr txBox="1"/>
          <p:nvPr/>
        </p:nvSpPr>
        <p:spPr>
          <a:xfrm>
            <a:off x="1463040" y="2103120"/>
            <a:ext cx="4069080" cy="365760"/>
          </a:xfrm>
          <a:prstGeom prst="rect">
            <a:avLst/>
          </a:prstGeom>
          <a:noFill/>
          <a:ln/>
        </p:spPr>
        <p:txBody>
          <a:bodyPr wrap="square" lIns="0" tIns="0" rIns="0" bIns="0" rtlCol="0" anchor="t"/>
          <a:lstStyle/>
          <a:p>
            <a:pPr indent="0" marL="0">
              <a:buNone/>
            </a:pPr>
            <a:r>
              <a:rPr lang="en-US" sz="1400" dirty="0">
                <a:solidFill>
                  <a:schemeClr val="accent5"/>
                </a:solidFill>
              </a:rPr>
              <a:t>Of the Checkout legal entity processing the payment</a:t>
            </a:r>
            <a:endParaRPr lang="en-US" sz="1400" dirty="0"/>
          </a:p>
        </p:txBody>
      </p:sp>
      <p:sp>
        <p:nvSpPr>
          <p:cNvPr id="10" name="layer 2"/>
          <p:cNvSpPr/>
          <p:nvPr/>
        </p:nvSpPr>
        <p:spPr>
          <a:xfrm>
            <a:off x="548640" y="2651760"/>
            <a:ext cx="5120640" cy="868680"/>
          </a:xfrm>
          <a:prstGeom prst="roundRect">
            <a:avLst>
              <a:gd name="adj" fmla="val 12632"/>
            </a:avLst>
          </a:prstGeom>
          <a:solidFill>
            <a:schemeClr val="bg2"/>
          </a:solidFill>
          <a:ln w="12700">
            <a:solidFill>
              <a:schemeClr val="bg2"/>
            </a:solidFill>
            <a:prstDash val="solid"/>
          </a:ln>
        </p:spPr>
      </p:sp>
      <p:sp>
        <p:nvSpPr>
          <p:cNvPr id="11" name="Shape 9"/>
          <p:cNvSpPr/>
          <p:nvPr/>
        </p:nvSpPr>
        <p:spPr>
          <a:xfrm>
            <a:off x="731520" y="2816352"/>
            <a:ext cx="548640" cy="548640"/>
          </a:xfrm>
          <a:prstGeom prst="ellipse">
            <a:avLst/>
          </a:prstGeom>
          <a:solidFill>
            <a:schemeClr val="tx1"/>
          </a:solidFill>
          <a:ln w="12700">
            <a:solidFill>
              <a:schemeClr val="tx1"/>
            </a:solidFill>
            <a:prstDash val="solid"/>
          </a:ln>
        </p:spPr>
      </p:sp>
      <p:sp>
        <p:nvSpPr>
          <p:cNvPr id="12" name="Text 10"/>
          <p:cNvSpPr txBox="1"/>
          <p:nvPr/>
        </p:nvSpPr>
        <p:spPr>
          <a:xfrm>
            <a:off x="731520" y="2816352"/>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3" name="Text 11"/>
          <p:cNvSpPr txBox="1"/>
          <p:nvPr/>
        </p:nvSpPr>
        <p:spPr>
          <a:xfrm>
            <a:off x="1463040" y="2743200"/>
            <a:ext cx="4069080" cy="347472"/>
          </a:xfrm>
          <a:prstGeom prst="rect">
            <a:avLst/>
          </a:prstGeom>
          <a:noFill/>
          <a:ln/>
        </p:spPr>
        <p:txBody>
          <a:bodyPr wrap="square" lIns="0" tIns="0" rIns="0" bIns="0" rtlCol="0" anchor="t"/>
          <a:lstStyle/>
          <a:p>
            <a:pPr indent="0" marL="0">
              <a:buNone/>
            </a:pPr>
            <a:r>
              <a:rPr lang="en-US" sz="1700" b="1" dirty="0">
                <a:solidFill>
                  <a:schemeClr val="tx1"/>
                </a:solidFill>
              </a:rPr>
              <a:t>Group policy</a:t>
            </a:r>
            <a:endParaRPr lang="en-US" sz="1700" dirty="0"/>
          </a:p>
        </p:txBody>
      </p:sp>
      <p:sp>
        <p:nvSpPr>
          <p:cNvPr id="14" name="Text 12"/>
          <p:cNvSpPr txBox="1"/>
          <p:nvPr/>
        </p:nvSpPr>
        <p:spPr>
          <a:xfrm>
            <a:off x="1463040" y="3108960"/>
            <a:ext cx="4069080" cy="365760"/>
          </a:xfrm>
          <a:prstGeom prst="rect">
            <a:avLst/>
          </a:prstGeom>
          <a:noFill/>
          <a:ln/>
        </p:spPr>
        <p:txBody>
          <a:bodyPr wrap="square" lIns="0" tIns="0" rIns="0" bIns="0" rtlCol="0" anchor="t"/>
          <a:lstStyle/>
          <a:p>
            <a:pPr indent="0" marL="0">
              <a:buNone/>
            </a:pPr>
            <a:r>
              <a:rPr lang="en-US" sz="1400" dirty="0">
                <a:solidFill>
                  <a:schemeClr val="accent6"/>
                </a:solidFill>
              </a:rPr>
              <a:t>The Global Sanctions Reporting Procedure, which applies everywhere</a:t>
            </a:r>
            <a:endParaRPr lang="en-US" sz="1400" dirty="0"/>
          </a:p>
        </p:txBody>
      </p:sp>
      <p:sp>
        <p:nvSpPr>
          <p:cNvPr id="15" name="layer 3"/>
          <p:cNvSpPr/>
          <p:nvPr/>
        </p:nvSpPr>
        <p:spPr>
          <a:xfrm>
            <a:off x="548640" y="3657600"/>
            <a:ext cx="5120640" cy="868680"/>
          </a:xfrm>
          <a:prstGeom prst="roundRect">
            <a:avLst>
              <a:gd name="adj" fmla="val 12632"/>
            </a:avLst>
          </a:prstGeom>
          <a:solidFill>
            <a:schemeClr val="bg2"/>
          </a:solidFill>
          <a:ln w="12700">
            <a:solidFill>
              <a:schemeClr val="bg2"/>
            </a:solidFill>
            <a:prstDash val="solid"/>
          </a:ln>
        </p:spPr>
      </p:sp>
      <p:sp>
        <p:nvSpPr>
          <p:cNvPr id="16" name="Shape 14"/>
          <p:cNvSpPr/>
          <p:nvPr/>
        </p:nvSpPr>
        <p:spPr>
          <a:xfrm>
            <a:off x="731520" y="3822192"/>
            <a:ext cx="548640" cy="548640"/>
          </a:xfrm>
          <a:prstGeom prst="ellipse">
            <a:avLst/>
          </a:prstGeom>
          <a:solidFill>
            <a:schemeClr val="tx1"/>
          </a:solidFill>
          <a:ln w="12700">
            <a:solidFill>
              <a:schemeClr val="tx1"/>
            </a:solidFill>
            <a:prstDash val="solid"/>
          </a:ln>
        </p:spPr>
      </p:sp>
      <p:sp>
        <p:nvSpPr>
          <p:cNvPr id="17" name="Text 15"/>
          <p:cNvSpPr txBox="1"/>
          <p:nvPr/>
        </p:nvSpPr>
        <p:spPr>
          <a:xfrm>
            <a:off x="731520" y="3822192"/>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8" name="Text 16"/>
          <p:cNvSpPr txBox="1"/>
          <p:nvPr/>
        </p:nvSpPr>
        <p:spPr>
          <a:xfrm>
            <a:off x="1463040" y="3749040"/>
            <a:ext cx="4069080" cy="347472"/>
          </a:xfrm>
          <a:prstGeom prst="rect">
            <a:avLst/>
          </a:prstGeom>
          <a:noFill/>
          <a:ln/>
        </p:spPr>
        <p:txBody>
          <a:bodyPr wrap="square" lIns="0" tIns="0" rIns="0" bIns="0" rtlCol="0" anchor="t"/>
          <a:lstStyle/>
          <a:p>
            <a:pPr indent="0" marL="0">
              <a:buNone/>
            </a:pPr>
            <a:r>
              <a:rPr lang="en-US" sz="1700" b="1" dirty="0">
                <a:solidFill>
                  <a:schemeClr val="tx1"/>
                </a:solidFill>
              </a:rPr>
              <a:t>Correspondent / partner constraints</a:t>
            </a:r>
            <a:endParaRPr lang="en-US" sz="1700" dirty="0"/>
          </a:p>
        </p:txBody>
      </p:sp>
      <p:sp>
        <p:nvSpPr>
          <p:cNvPr id="19" name="Text 17"/>
          <p:cNvSpPr txBox="1"/>
          <p:nvPr/>
        </p:nvSpPr>
        <p:spPr>
          <a:xfrm>
            <a:off x="1463040" y="4114800"/>
            <a:ext cx="4069080" cy="365760"/>
          </a:xfrm>
          <a:prstGeom prst="rect">
            <a:avLst/>
          </a:prstGeom>
          <a:noFill/>
          <a:ln/>
        </p:spPr>
        <p:txBody>
          <a:bodyPr wrap="square" lIns="0" tIns="0" rIns="0" bIns="0" rtlCol="0" anchor="t"/>
          <a:lstStyle/>
          <a:p>
            <a:pPr indent="0" marL="0">
              <a:buNone/>
            </a:pPr>
            <a:r>
              <a:rPr lang="en-US" sz="1400" dirty="0">
                <a:solidFill>
                  <a:schemeClr val="accent6"/>
                </a:solidFill>
              </a:rPr>
              <a:t>Banks, card schemes and correspondents bind us by contract</a:t>
            </a:r>
            <a:endParaRPr lang="en-US" sz="1400" dirty="0"/>
          </a:p>
        </p:txBody>
      </p:sp>
      <p:sp>
        <p:nvSpPr>
          <p:cNvPr id="20" name="layer 4"/>
          <p:cNvSpPr/>
          <p:nvPr/>
        </p:nvSpPr>
        <p:spPr>
          <a:xfrm>
            <a:off x="548640" y="4663440"/>
            <a:ext cx="5120640" cy="868680"/>
          </a:xfrm>
          <a:prstGeom prst="roundRect">
            <a:avLst>
              <a:gd name="adj" fmla="val 12632"/>
            </a:avLst>
          </a:prstGeom>
          <a:solidFill>
            <a:schemeClr val="bg2"/>
          </a:solidFill>
          <a:ln w="12700">
            <a:solidFill>
              <a:schemeClr val="bg2"/>
            </a:solidFill>
            <a:prstDash val="solid"/>
          </a:ln>
        </p:spPr>
      </p:sp>
      <p:sp>
        <p:nvSpPr>
          <p:cNvPr id="21" name="Shape 19"/>
          <p:cNvSpPr/>
          <p:nvPr/>
        </p:nvSpPr>
        <p:spPr>
          <a:xfrm>
            <a:off x="731520" y="4828032"/>
            <a:ext cx="548640" cy="548640"/>
          </a:xfrm>
          <a:prstGeom prst="ellipse">
            <a:avLst/>
          </a:prstGeom>
          <a:solidFill>
            <a:schemeClr val="tx1"/>
          </a:solidFill>
          <a:ln w="12700">
            <a:solidFill>
              <a:schemeClr val="tx1"/>
            </a:solidFill>
            <a:prstDash val="solid"/>
          </a:ln>
        </p:spPr>
      </p:sp>
      <p:sp>
        <p:nvSpPr>
          <p:cNvPr id="22" name="Text 20"/>
          <p:cNvSpPr txBox="1"/>
          <p:nvPr/>
        </p:nvSpPr>
        <p:spPr>
          <a:xfrm>
            <a:off x="731520" y="4828032"/>
            <a:ext cx="548640" cy="54864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3" name="Text 21"/>
          <p:cNvSpPr txBox="1"/>
          <p:nvPr/>
        </p:nvSpPr>
        <p:spPr>
          <a:xfrm>
            <a:off x="1463040" y="4754880"/>
            <a:ext cx="4069080" cy="347472"/>
          </a:xfrm>
          <a:prstGeom prst="rect">
            <a:avLst/>
          </a:prstGeom>
          <a:noFill/>
          <a:ln/>
        </p:spPr>
        <p:txBody>
          <a:bodyPr wrap="square" lIns="0" tIns="0" rIns="0" bIns="0" rtlCol="0" anchor="t"/>
          <a:lstStyle/>
          <a:p>
            <a:pPr indent="0" marL="0">
              <a:buNone/>
            </a:pPr>
            <a:r>
              <a:rPr lang="en-US" sz="1700" b="1" dirty="0">
                <a:solidFill>
                  <a:schemeClr val="tx1"/>
                </a:solidFill>
              </a:rPr>
              <a:t>Product rules</a:t>
            </a:r>
            <a:endParaRPr lang="en-US" sz="1700" dirty="0"/>
          </a:p>
        </p:txBody>
      </p:sp>
      <p:sp>
        <p:nvSpPr>
          <p:cNvPr id="24" name="Text 22"/>
          <p:cNvSpPr txBox="1"/>
          <p:nvPr/>
        </p:nvSpPr>
        <p:spPr>
          <a:xfrm>
            <a:off x="1463040" y="5120640"/>
            <a:ext cx="4069080" cy="365760"/>
          </a:xfrm>
          <a:prstGeom prst="rect">
            <a:avLst/>
          </a:prstGeom>
          <a:noFill/>
          <a:ln/>
        </p:spPr>
        <p:txBody>
          <a:bodyPr wrap="square" lIns="0" tIns="0" rIns="0" bIns="0" rtlCol="0" anchor="t"/>
          <a:lstStyle/>
          <a:p>
            <a:pPr indent="0" marL="0">
              <a:buNone/>
            </a:pPr>
            <a:r>
              <a:rPr lang="en-US" sz="1400" dirty="0">
                <a:solidFill>
                  <a:schemeClr val="accent6"/>
                </a:solidFill>
              </a:rPr>
              <a:t>What this product is permitted to do</a:t>
            </a:r>
            <a:endParaRPr lang="en-US" sz="1400" dirty="0"/>
          </a:p>
        </p:txBody>
      </p:sp>
      <p:sp>
        <p:nvSpPr>
          <p:cNvPr id="25" name="Text 23"/>
          <p:cNvSpPr txBox="1"/>
          <p:nvPr/>
        </p:nvSpPr>
        <p:spPr>
          <a:xfrm>
            <a:off x="6035040" y="1325880"/>
            <a:ext cx="557784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THEN TEST FOR EACH NEXUS</a:t>
            </a:r>
            <a:endParaRPr lang="en-US" sz="1100" dirty="0"/>
          </a:p>
        </p:txBody>
      </p:sp>
      <p:sp>
        <p:nvSpPr>
          <p:cNvPr id="26" name="UK nexus?"/>
          <p:cNvSpPr/>
          <p:nvPr/>
        </p:nvSpPr>
        <p:spPr>
          <a:xfrm>
            <a:off x="6035040" y="1645920"/>
            <a:ext cx="5577840" cy="1207008"/>
          </a:xfrm>
          <a:prstGeom prst="roundRect">
            <a:avLst>
              <a:gd name="adj" fmla="val 9091"/>
            </a:avLst>
          </a:prstGeom>
          <a:solidFill>
            <a:schemeClr val="bg2"/>
          </a:solidFill>
          <a:ln w="12700">
            <a:solidFill>
              <a:schemeClr val="bg2"/>
            </a:solidFill>
            <a:prstDash val="solid"/>
          </a:ln>
        </p:spPr>
      </p:sp>
      <p:sp>
        <p:nvSpPr>
          <p:cNvPr id="27" name="Text 25"/>
          <p:cNvSpPr txBox="1"/>
          <p:nvPr/>
        </p:nvSpPr>
        <p:spPr>
          <a:xfrm>
            <a:off x="6263640" y="1755648"/>
            <a:ext cx="2377440" cy="347472"/>
          </a:xfrm>
          <a:prstGeom prst="rect">
            <a:avLst/>
          </a:prstGeom>
          <a:noFill/>
          <a:ln/>
        </p:spPr>
        <p:txBody>
          <a:bodyPr wrap="square" lIns="0" tIns="0" rIns="0" bIns="0" rtlCol="0" anchor="t"/>
          <a:lstStyle/>
          <a:p>
            <a:pPr indent="0" marL="0">
              <a:buNone/>
            </a:pPr>
            <a:r>
              <a:rPr lang="en-US" sz="1700" b="1" dirty="0">
                <a:solidFill>
                  <a:schemeClr val="tx1"/>
                </a:solidFill>
              </a:rPr>
              <a:t>UK nexus?</a:t>
            </a:r>
            <a:endParaRPr lang="en-US" sz="1700" dirty="0"/>
          </a:p>
        </p:txBody>
      </p:sp>
      <p:sp>
        <p:nvSpPr>
          <p:cNvPr id="28" name="Text 26"/>
          <p:cNvSpPr txBox="1"/>
          <p:nvPr/>
        </p:nvSpPr>
        <p:spPr>
          <a:xfrm>
            <a:off x="8641080" y="1755648"/>
            <a:ext cx="2788920" cy="347472"/>
          </a:xfrm>
          <a:prstGeom prst="rect">
            <a:avLst/>
          </a:prstGeom>
          <a:noFill/>
          <a:ln/>
        </p:spPr>
        <p:txBody>
          <a:bodyPr wrap="square" lIns="0" tIns="0" rIns="0" bIns="0" rtlCol="0" anchor="t"/>
          <a:lstStyle/>
          <a:p>
            <a:pPr algn="r" indent="0" marL="0">
              <a:buNone/>
            </a:pPr>
            <a:r>
              <a:rPr lang="en-US" sz="1400" b="1" dirty="0">
                <a:solidFill>
                  <a:schemeClr val="accent1"/>
                </a:solidFill>
              </a:rPr>
              <a:t>Apply UK sanctions</a:t>
            </a:r>
            <a:endParaRPr lang="en-US" sz="1400" dirty="0"/>
          </a:p>
        </p:txBody>
      </p:sp>
      <p:sp>
        <p:nvSpPr>
          <p:cNvPr id="29" name="Text 27"/>
          <p:cNvSpPr txBox="1"/>
          <p:nvPr/>
        </p:nvSpPr>
        <p:spPr>
          <a:xfrm>
            <a:off x="6263640" y="2121408"/>
            <a:ext cx="5166360" cy="685800"/>
          </a:xfrm>
          <a:prstGeom prst="rect">
            <a:avLst/>
          </a:prstGeom>
          <a:noFill/>
          <a:ln/>
        </p:spPr>
        <p:txBody>
          <a:bodyPr wrap="square" lIns="0" tIns="0" rIns="0" bIns="0" rtlCol="0" anchor="t"/>
          <a:lstStyle/>
          <a:p>
            <a:pPr indent="0" marL="0">
              <a:buNone/>
            </a:pPr>
            <a:r>
              <a:rPr lang="en-US" sz="1400" dirty="0">
                <a:solidFill>
                  <a:schemeClr val="tx1"/>
                </a:solidFill>
              </a:rPr>
              <a:t>A UK entity or UK person anywhere, or activity routed through the UK — for example, GBP clearing.</a:t>
            </a:r>
            <a:endParaRPr lang="en-US" sz="1400" dirty="0"/>
          </a:p>
        </p:txBody>
      </p:sp>
      <p:sp>
        <p:nvSpPr>
          <p:cNvPr id="30" name="EU nexus?"/>
          <p:cNvSpPr/>
          <p:nvPr/>
        </p:nvSpPr>
        <p:spPr>
          <a:xfrm>
            <a:off x="6035040" y="2990088"/>
            <a:ext cx="5577840" cy="1207008"/>
          </a:xfrm>
          <a:prstGeom prst="roundRect">
            <a:avLst>
              <a:gd name="adj" fmla="val 9091"/>
            </a:avLst>
          </a:prstGeom>
          <a:solidFill>
            <a:schemeClr val="bg2"/>
          </a:solidFill>
          <a:ln w="12700">
            <a:solidFill>
              <a:schemeClr val="bg2"/>
            </a:solidFill>
            <a:prstDash val="solid"/>
          </a:ln>
        </p:spPr>
      </p:sp>
      <p:sp>
        <p:nvSpPr>
          <p:cNvPr id="31" name="Text 29"/>
          <p:cNvSpPr txBox="1"/>
          <p:nvPr/>
        </p:nvSpPr>
        <p:spPr>
          <a:xfrm>
            <a:off x="6263640" y="3099816"/>
            <a:ext cx="2377440" cy="347472"/>
          </a:xfrm>
          <a:prstGeom prst="rect">
            <a:avLst/>
          </a:prstGeom>
          <a:noFill/>
          <a:ln/>
        </p:spPr>
        <p:txBody>
          <a:bodyPr wrap="square" lIns="0" tIns="0" rIns="0" bIns="0" rtlCol="0" anchor="t"/>
          <a:lstStyle/>
          <a:p>
            <a:pPr indent="0" marL="0">
              <a:buNone/>
            </a:pPr>
            <a:r>
              <a:rPr lang="en-US" sz="1700" b="1" dirty="0">
                <a:solidFill>
                  <a:schemeClr val="tx1"/>
                </a:solidFill>
              </a:rPr>
              <a:t>EU nexus?</a:t>
            </a:r>
            <a:endParaRPr lang="en-US" sz="1700" dirty="0"/>
          </a:p>
        </p:txBody>
      </p:sp>
      <p:sp>
        <p:nvSpPr>
          <p:cNvPr id="32" name="Text 30"/>
          <p:cNvSpPr txBox="1"/>
          <p:nvPr/>
        </p:nvSpPr>
        <p:spPr>
          <a:xfrm>
            <a:off x="8641080" y="3099816"/>
            <a:ext cx="2788920" cy="347472"/>
          </a:xfrm>
          <a:prstGeom prst="rect">
            <a:avLst/>
          </a:prstGeom>
          <a:noFill/>
          <a:ln/>
        </p:spPr>
        <p:txBody>
          <a:bodyPr wrap="square" lIns="0" tIns="0" rIns="0" bIns="0" rtlCol="0" anchor="t"/>
          <a:lstStyle/>
          <a:p>
            <a:pPr algn="r" indent="0" marL="0">
              <a:buNone/>
            </a:pPr>
            <a:r>
              <a:rPr lang="en-US" sz="1400" b="1" dirty="0">
                <a:solidFill>
                  <a:schemeClr val="accent1"/>
                </a:solidFill>
              </a:rPr>
              <a:t>Apply EU measures</a:t>
            </a:r>
            <a:endParaRPr lang="en-US" sz="1400" dirty="0"/>
          </a:p>
        </p:txBody>
      </p:sp>
      <p:sp>
        <p:nvSpPr>
          <p:cNvPr id="33" name="Text 31"/>
          <p:cNvSpPr txBox="1"/>
          <p:nvPr/>
        </p:nvSpPr>
        <p:spPr>
          <a:xfrm>
            <a:off x="6263640" y="3465576"/>
            <a:ext cx="5166360" cy="685800"/>
          </a:xfrm>
          <a:prstGeom prst="rect">
            <a:avLst/>
          </a:prstGeom>
          <a:noFill/>
          <a:ln/>
        </p:spPr>
        <p:txBody>
          <a:bodyPr wrap="square" lIns="0" tIns="0" rIns="0" bIns="0" rtlCol="0" anchor="t"/>
          <a:lstStyle/>
          <a:p>
            <a:pPr indent="0" marL="0">
              <a:buNone/>
            </a:pPr>
            <a:r>
              <a:rPr lang="en-US" sz="1400" dirty="0">
                <a:solidFill>
                  <a:schemeClr val="tx1"/>
                </a:solidFill>
              </a:rPr>
              <a:t>An EU entity or EU national anywhere, or business conducted in the EU. For France, also check the national asset-freeze register.</a:t>
            </a:r>
            <a:endParaRPr lang="en-US" sz="1400" dirty="0"/>
          </a:p>
        </p:txBody>
      </p:sp>
      <p:sp>
        <p:nvSpPr>
          <p:cNvPr id="34" name="US nexus?"/>
          <p:cNvSpPr/>
          <p:nvPr/>
        </p:nvSpPr>
        <p:spPr>
          <a:xfrm>
            <a:off x="6035040" y="4334256"/>
            <a:ext cx="5577840" cy="1207008"/>
          </a:xfrm>
          <a:prstGeom prst="roundRect">
            <a:avLst>
              <a:gd name="adj" fmla="val 9091"/>
            </a:avLst>
          </a:prstGeom>
          <a:solidFill>
            <a:schemeClr val="bg2"/>
          </a:solidFill>
          <a:ln w="12700">
            <a:solidFill>
              <a:schemeClr val="bg2"/>
            </a:solidFill>
            <a:prstDash val="solid"/>
          </a:ln>
        </p:spPr>
      </p:sp>
      <p:sp>
        <p:nvSpPr>
          <p:cNvPr id="35" name="Text 33"/>
          <p:cNvSpPr txBox="1"/>
          <p:nvPr/>
        </p:nvSpPr>
        <p:spPr>
          <a:xfrm>
            <a:off x="6263640" y="4443984"/>
            <a:ext cx="2377440" cy="347472"/>
          </a:xfrm>
          <a:prstGeom prst="rect">
            <a:avLst/>
          </a:prstGeom>
          <a:noFill/>
          <a:ln/>
        </p:spPr>
        <p:txBody>
          <a:bodyPr wrap="square" lIns="0" tIns="0" rIns="0" bIns="0" rtlCol="0" anchor="t"/>
          <a:lstStyle/>
          <a:p>
            <a:pPr indent="0" marL="0">
              <a:buNone/>
            </a:pPr>
            <a:r>
              <a:rPr lang="en-US" sz="1700" b="1" dirty="0">
                <a:solidFill>
                  <a:schemeClr val="tx1"/>
                </a:solidFill>
              </a:rPr>
              <a:t>US nexus?</a:t>
            </a:r>
            <a:endParaRPr lang="en-US" sz="1700" dirty="0"/>
          </a:p>
        </p:txBody>
      </p:sp>
      <p:sp>
        <p:nvSpPr>
          <p:cNvPr id="36" name="Text 34"/>
          <p:cNvSpPr txBox="1"/>
          <p:nvPr/>
        </p:nvSpPr>
        <p:spPr>
          <a:xfrm>
            <a:off x="8641080" y="4443984"/>
            <a:ext cx="2788920" cy="347472"/>
          </a:xfrm>
          <a:prstGeom prst="rect">
            <a:avLst/>
          </a:prstGeom>
          <a:noFill/>
          <a:ln/>
        </p:spPr>
        <p:txBody>
          <a:bodyPr wrap="square" lIns="0" tIns="0" rIns="0" bIns="0" rtlCol="0" anchor="t"/>
          <a:lstStyle/>
          <a:p>
            <a:pPr algn="r" indent="0" marL="0">
              <a:buNone/>
            </a:pPr>
            <a:r>
              <a:rPr lang="en-US" sz="1400" b="1" dirty="0">
                <a:solidFill>
                  <a:schemeClr val="accent1"/>
                </a:solidFill>
              </a:rPr>
              <a:t>Apply OFAC</a:t>
            </a:r>
            <a:endParaRPr lang="en-US" sz="1400" dirty="0"/>
          </a:p>
        </p:txBody>
      </p:sp>
      <p:sp>
        <p:nvSpPr>
          <p:cNvPr id="37" name="Text 35"/>
          <p:cNvSpPr txBox="1"/>
          <p:nvPr/>
        </p:nvSpPr>
        <p:spPr>
          <a:xfrm>
            <a:off x="6263640" y="4809744"/>
            <a:ext cx="5166360" cy="685800"/>
          </a:xfrm>
          <a:prstGeom prst="rect">
            <a:avLst/>
          </a:prstGeom>
          <a:noFill/>
          <a:ln/>
        </p:spPr>
        <p:txBody>
          <a:bodyPr wrap="square" lIns="0" tIns="0" rIns="0" bIns="0" rtlCol="0" anchor="t"/>
          <a:lstStyle/>
          <a:p>
            <a:pPr indent="0" marL="0">
              <a:buNone/>
            </a:pPr>
            <a:r>
              <a:rPr lang="en-US" sz="1400" dirty="0">
                <a:solidFill>
                  <a:schemeClr val="tx1"/>
                </a:solidFill>
              </a:rPr>
              <a:t>USD clearing, a US bank in the chain, a US person, or US-origin goods or services.</a:t>
            </a:r>
            <a:endParaRPr lang="en-US" sz="1400" dirty="0"/>
          </a:p>
        </p:txBody>
      </p:sp>
      <p:sp>
        <p:nvSpPr>
          <p:cNvPr id="38" name="In your process"/>
          <p:cNvSpPr/>
          <p:nvPr/>
        </p:nvSpPr>
        <p:spPr>
          <a:xfrm>
            <a:off x="548640" y="5669280"/>
            <a:ext cx="11064240" cy="502920"/>
          </a:xfrm>
          <a:prstGeom prst="roundRect">
            <a:avLst>
              <a:gd name="adj" fmla="val 21818"/>
            </a:avLst>
          </a:prstGeom>
          <a:solidFill>
            <a:schemeClr val="tx1"/>
          </a:solidFill>
          <a:ln w="12700">
            <a:solidFill>
              <a:schemeClr val="tx1"/>
            </a:solidFill>
            <a:prstDash val="solid"/>
          </a:ln>
        </p:spPr>
      </p:sp>
      <p:sp>
        <p:nvSpPr>
          <p:cNvPr id="39" name="Text 37"/>
          <p:cNvSpPr txBox="1"/>
          <p:nvPr/>
        </p:nvSpPr>
        <p:spPr>
          <a:xfrm>
            <a:off x="777240" y="5669280"/>
            <a:ext cx="10607040" cy="502920"/>
          </a:xfrm>
          <a:prstGeom prst="rect">
            <a:avLst/>
          </a:prstGeom>
          <a:noFill/>
          <a:ln/>
        </p:spPr>
        <p:txBody>
          <a:bodyPr wrap="square" lIns="0" tIns="0" rIns="0" bIns="0" rtlCol="0" anchor="ctr"/>
          <a:lstStyle/>
          <a:p>
            <a:pPr indent="0" marL="0">
              <a:buNone/>
            </a:pPr>
            <a:r>
              <a:rPr lang="en-US" sz="1200" b="1" spc="100" kern="0" dirty="0">
                <a:solidFill>
                  <a:schemeClr val="accent2"/>
                </a:solidFill>
              </a:rPr>
              <a:t>IN YOUR PROCESS   </a:t>
            </a:r>
            <a:pPr indent="0" marL="0">
              <a:buNone/>
            </a:pPr>
            <a:r>
              <a:rPr lang="en-US" sz="1500" dirty="0">
                <a:solidFill>
                  <a:schemeClr val="bg1"/>
                </a:solidFill>
              </a:rPr>
              <a:t>Confirm the legal entity, payment route and currency from the case record before deciding which rules apply.</a:t>
            </a:r>
            <a:endParaRPr lang="en-US" sz="1500" dirty="0"/>
          </a:p>
        </p:txBody>
      </p:sp>
      <p:sp>
        <p:nvSpPr>
          <p:cNvPr id="40" name="Text 38"/>
          <p:cNvSpPr txBox="1"/>
          <p:nvPr/>
        </p:nvSpPr>
        <p:spPr>
          <a:xfrm>
            <a:off x="548640" y="6053328"/>
            <a:ext cx="11064240" cy="292608"/>
          </a:xfrm>
          <a:prstGeom prst="rect">
            <a:avLst/>
          </a:prstGeom>
          <a:noFill/>
          <a:ln/>
        </p:spPr>
        <p:txBody>
          <a:bodyPr wrap="square" lIns="0" tIns="0" rIns="0" bIns="0" rtlCol="0" anchor="b"/>
          <a:lstStyle/>
          <a:p>
            <a:pPr indent="0" marL="0">
              <a:buNone/>
            </a:pPr>
            <a:r>
              <a:rPr lang="en-US" sz="1000" i="1" dirty="0">
                <a:solidFill>
                  <a:schemeClr val="accent6"/>
                </a:solidFill>
              </a:rPr>
              <a:t>Source: OFSI General Guidance — UK nexus; EU Council Best Practices — jurisdiction; OFAC Basic Information on Sanctions; Checkout Global Sanctions Reporting Procedure (cite section).</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2 · REGIONAL COMPARISON — UK · EU / FRANCE · US</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tx1"/>
                </a:solidFill>
              </a:rPr>
              <a:t>UK, EU and US: the differences that change the outcome</a:t>
            </a:r>
            <a:endParaRPr lang="en-US" sz="3000" dirty="0"/>
          </a:p>
        </p:txBody>
      </p:sp>
      <p:sp>
        <p:nvSpPr>
          <p:cNvPr id="4" name="United Kingdom card"/>
          <p:cNvSpPr/>
          <p:nvPr/>
        </p:nvSpPr>
        <p:spPr>
          <a:xfrm>
            <a:off x="548640" y="1325880"/>
            <a:ext cx="3566160" cy="4572000"/>
          </a:xfrm>
          <a:prstGeom prst="roundRect">
            <a:avLst>
              <a:gd name="adj" fmla="val 3077"/>
            </a:avLst>
          </a:prstGeom>
          <a:solidFill>
            <a:schemeClr val="bg2"/>
          </a:solidFill>
          <a:ln w="12700">
            <a:solidFill>
              <a:schemeClr val="bg2"/>
            </a:solidFill>
            <a:prstDash val="solid"/>
          </a:ln>
        </p:spPr>
      </p:sp>
      <p:sp>
        <p:nvSpPr>
          <p:cNvPr id="5" name="United Kingdom header"/>
          <p:cNvSpPr/>
          <p:nvPr/>
        </p:nvSpPr>
        <p:spPr>
          <a:xfrm>
            <a:off x="548640" y="1325880"/>
            <a:ext cx="3566160" cy="685800"/>
          </a:xfrm>
          <a:prstGeom prst="roundRect">
            <a:avLst>
              <a:gd name="adj" fmla="val 16000"/>
            </a:avLst>
          </a:prstGeom>
          <a:solidFill>
            <a:schemeClr val="tx1"/>
          </a:solidFill>
          <a:ln w="12700">
            <a:solidFill>
              <a:schemeClr val="tx1"/>
            </a:solidFill>
            <a:prstDash val="solid"/>
          </a:ln>
        </p:spPr>
      </p:sp>
      <p:sp>
        <p:nvSpPr>
          <p:cNvPr id="6" name="Text 4"/>
          <p:cNvSpPr txBox="1"/>
          <p:nvPr/>
        </p:nvSpPr>
        <p:spPr>
          <a:xfrm>
            <a:off x="777240" y="1325880"/>
            <a:ext cx="3108960" cy="685800"/>
          </a:xfrm>
          <a:prstGeom prst="rect">
            <a:avLst/>
          </a:prstGeom>
          <a:noFill/>
          <a:ln/>
        </p:spPr>
        <p:txBody>
          <a:bodyPr wrap="square" lIns="0" tIns="0" rIns="0" bIns="0" rtlCol="0" anchor="ctr"/>
          <a:lstStyle/>
          <a:p>
            <a:pPr indent="0" marL="0">
              <a:buNone/>
            </a:pPr>
            <a:r>
              <a:rPr lang="en-US" sz="2000" b="1" dirty="0">
                <a:solidFill>
                  <a:schemeClr val="bg1"/>
                </a:solidFill>
              </a:rPr>
              <a:t>United Kingdom</a:t>
            </a:r>
            <a:pPr indent="0" marL="0">
              <a:buNone/>
            </a:pPr>
            <a:r>
              <a:rPr lang="en-US" sz="1400" dirty="0">
                <a:solidFill>
                  <a:schemeClr val="bg1"/>
                </a:solidFill>
              </a:rPr>
              <a:t>   OFSI</a:t>
            </a:r>
            <a:endParaRPr lang="en-US" sz="1500" dirty="0"/>
          </a:p>
        </p:txBody>
      </p:sp>
      <p:sp>
        <p:nvSpPr>
          <p:cNvPr id="7" name="Text 5"/>
          <p:cNvSpPr txBox="1"/>
          <p:nvPr/>
        </p:nvSpPr>
        <p:spPr>
          <a:xfrm>
            <a:off x="777240" y="2148840"/>
            <a:ext cx="310896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LIST SOURCE</a:t>
            </a:r>
            <a:endParaRPr lang="en-US" sz="1100" dirty="0"/>
          </a:p>
        </p:txBody>
      </p:sp>
      <p:sp>
        <p:nvSpPr>
          <p:cNvPr id="8" name="Text 6"/>
          <p:cNvSpPr txBox="1"/>
          <p:nvPr/>
        </p:nvSpPr>
        <p:spPr>
          <a:xfrm>
            <a:off x="777240" y="2395728"/>
            <a:ext cx="3108960" cy="685800"/>
          </a:xfrm>
          <a:prstGeom prst="rect">
            <a:avLst/>
          </a:prstGeom>
          <a:noFill/>
          <a:ln/>
        </p:spPr>
        <p:txBody>
          <a:bodyPr wrap="square" lIns="0" tIns="0" rIns="0" bIns="0" rtlCol="0" anchor="t"/>
          <a:lstStyle/>
          <a:p>
            <a:pPr indent="0" marL="0">
              <a:buNone/>
            </a:pPr>
            <a:r>
              <a:rPr lang="en-US" sz="1400" dirty="0">
                <a:solidFill>
                  <a:schemeClr val="tx1"/>
                </a:solidFill>
              </a:rPr>
              <a:t>UK Sanctions List — the single source for UK designations since 28 Jan 2026</a:t>
            </a:r>
            <a:endParaRPr lang="en-US" sz="1400" dirty="0"/>
          </a:p>
        </p:txBody>
      </p:sp>
      <p:sp>
        <p:nvSpPr>
          <p:cNvPr id="9" name="Text 7"/>
          <p:cNvSpPr txBox="1"/>
          <p:nvPr/>
        </p:nvSpPr>
        <p:spPr>
          <a:xfrm>
            <a:off x="777240" y="3081528"/>
            <a:ext cx="310896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OWNERSHIP / CONTROL</a:t>
            </a:r>
            <a:endParaRPr lang="en-US" sz="1100" dirty="0"/>
          </a:p>
        </p:txBody>
      </p:sp>
      <p:sp>
        <p:nvSpPr>
          <p:cNvPr id="10" name="Text 8"/>
          <p:cNvSpPr txBox="1"/>
          <p:nvPr/>
        </p:nvSpPr>
        <p:spPr>
          <a:xfrm>
            <a:off x="777240" y="3328416"/>
            <a:ext cx="3108960" cy="685800"/>
          </a:xfrm>
          <a:prstGeom prst="rect">
            <a:avLst/>
          </a:prstGeom>
          <a:noFill/>
          <a:ln/>
        </p:spPr>
        <p:txBody>
          <a:bodyPr wrap="square" lIns="0" tIns="0" rIns="0" bIns="0" rtlCol="0" anchor="t"/>
          <a:lstStyle/>
          <a:p>
            <a:pPr indent="0" marL="0">
              <a:buNone/>
            </a:pPr>
            <a:r>
              <a:rPr lang="en-US" sz="1400" dirty="0">
                <a:solidFill>
                  <a:schemeClr val="tx1"/>
                </a:solidFill>
              </a:rPr>
              <a:t>More than 50%, not aggregated across designated persons. Control also counts</a:t>
            </a:r>
            <a:endParaRPr lang="en-US" sz="1400" dirty="0"/>
          </a:p>
        </p:txBody>
      </p:sp>
      <p:sp>
        <p:nvSpPr>
          <p:cNvPr id="11" name="Text 9"/>
          <p:cNvSpPr txBox="1"/>
          <p:nvPr/>
        </p:nvSpPr>
        <p:spPr>
          <a:xfrm>
            <a:off x="777240" y="4014216"/>
            <a:ext cx="310896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REPORTING ROUTE (VIA L2)</a:t>
            </a:r>
            <a:endParaRPr lang="en-US" sz="1100" dirty="0"/>
          </a:p>
        </p:txBody>
      </p:sp>
      <p:sp>
        <p:nvSpPr>
          <p:cNvPr id="12" name="Text 10"/>
          <p:cNvSpPr txBox="1"/>
          <p:nvPr/>
        </p:nvSpPr>
        <p:spPr>
          <a:xfrm>
            <a:off x="777240" y="4261104"/>
            <a:ext cx="3108960" cy="685800"/>
          </a:xfrm>
          <a:prstGeom prst="rect">
            <a:avLst/>
          </a:prstGeom>
          <a:noFill/>
          <a:ln/>
        </p:spPr>
        <p:txBody>
          <a:bodyPr wrap="square" lIns="0" tIns="0" rIns="0" bIns="0" rtlCol="0" anchor="t"/>
          <a:lstStyle/>
          <a:p>
            <a:pPr indent="0" marL="0">
              <a:buNone/>
            </a:pPr>
            <a:r>
              <a:rPr lang="en-US" sz="1400" dirty="0">
                <a:solidFill>
                  <a:schemeClr val="tx1"/>
                </a:solidFill>
              </a:rPr>
              <a:t>OFSI, as soon as practicable</a:t>
            </a:r>
            <a:endParaRPr lang="en-US" sz="1400" dirty="0"/>
          </a:p>
        </p:txBody>
      </p:sp>
      <p:sp>
        <p:nvSpPr>
          <p:cNvPr id="13" name="Text 11"/>
          <p:cNvSpPr txBox="1"/>
          <p:nvPr/>
        </p:nvSpPr>
        <p:spPr>
          <a:xfrm>
            <a:off x="777240" y="4946904"/>
            <a:ext cx="3108960" cy="228600"/>
          </a:xfrm>
          <a:prstGeom prst="rect">
            <a:avLst/>
          </a:prstGeom>
          <a:noFill/>
          <a:ln/>
        </p:spPr>
        <p:txBody>
          <a:bodyPr wrap="square" lIns="0" tIns="0" rIns="0" bIns="0" rtlCol="0" anchor="t"/>
          <a:lstStyle/>
          <a:p>
            <a:pPr indent="0" marL="0">
              <a:buNone/>
            </a:pPr>
            <a:r>
              <a:rPr lang="en-US" sz="1100" b="1" spc="100" kern="0" dirty="0">
                <a:solidFill>
                  <a:schemeClr val="accent1"/>
                </a:solidFill>
              </a:rPr>
              <a:t>KEY NUANCE</a:t>
            </a:r>
            <a:endParaRPr lang="en-US" sz="1100" dirty="0"/>
          </a:p>
        </p:txBody>
      </p:sp>
      <p:sp>
        <p:nvSpPr>
          <p:cNvPr id="14" name="Text 12"/>
          <p:cNvSpPr txBox="1"/>
          <p:nvPr/>
        </p:nvSpPr>
        <p:spPr>
          <a:xfrm>
            <a:off x="777240" y="5193792"/>
            <a:ext cx="3108960" cy="685800"/>
          </a:xfrm>
          <a:prstGeom prst="rect">
            <a:avLst/>
          </a:prstGeom>
          <a:noFill/>
          <a:ln/>
        </p:spPr>
        <p:txBody>
          <a:bodyPr wrap="square" lIns="0" tIns="0" rIns="0" bIns="0" rtlCol="0" anchor="t"/>
          <a:lstStyle/>
          <a:p>
            <a:pPr indent="0" marL="0">
              <a:buNone/>
            </a:pPr>
            <a:r>
              <a:rPr lang="en-US" sz="1400" b="1" dirty="0">
                <a:solidFill>
                  <a:schemeClr val="tx1"/>
                </a:solidFill>
              </a:rPr>
              <a:t>Strict liability: lack of knowledge is no defence to a civil penalty</a:t>
            </a:r>
            <a:endParaRPr lang="en-US" sz="1400" dirty="0"/>
          </a:p>
        </p:txBody>
      </p:sp>
      <p:sp>
        <p:nvSpPr>
          <p:cNvPr id="15" name="EU / France card"/>
          <p:cNvSpPr/>
          <p:nvPr/>
        </p:nvSpPr>
        <p:spPr>
          <a:xfrm>
            <a:off x="4297680" y="1325880"/>
            <a:ext cx="3566160" cy="4572000"/>
          </a:xfrm>
          <a:prstGeom prst="roundRect">
            <a:avLst>
              <a:gd name="adj" fmla="val 3077"/>
            </a:avLst>
          </a:prstGeom>
          <a:solidFill>
            <a:schemeClr val="bg2"/>
          </a:solidFill>
          <a:ln w="12700">
            <a:solidFill>
              <a:schemeClr val="bg2"/>
            </a:solidFill>
            <a:prstDash val="solid"/>
          </a:ln>
        </p:spPr>
      </p:sp>
      <p:sp>
        <p:nvSpPr>
          <p:cNvPr id="16" name="EU / France header"/>
          <p:cNvSpPr/>
          <p:nvPr/>
        </p:nvSpPr>
        <p:spPr>
          <a:xfrm>
            <a:off x="4297680" y="1325880"/>
            <a:ext cx="3566160" cy="685800"/>
          </a:xfrm>
          <a:prstGeom prst="roundRect">
            <a:avLst>
              <a:gd name="adj" fmla="val 16000"/>
            </a:avLst>
          </a:prstGeom>
          <a:solidFill>
            <a:schemeClr val="accent4"/>
          </a:solidFill>
          <a:ln w="12700">
            <a:solidFill>
              <a:schemeClr val="accent4"/>
            </a:solidFill>
            <a:prstDash val="solid"/>
          </a:ln>
        </p:spPr>
      </p:sp>
      <p:sp>
        <p:nvSpPr>
          <p:cNvPr id="17" name="Text 15"/>
          <p:cNvSpPr txBox="1"/>
          <p:nvPr/>
        </p:nvSpPr>
        <p:spPr>
          <a:xfrm>
            <a:off x="4526280" y="1325880"/>
            <a:ext cx="3108960" cy="685800"/>
          </a:xfrm>
          <a:prstGeom prst="rect">
            <a:avLst/>
          </a:prstGeom>
          <a:noFill/>
          <a:ln/>
        </p:spPr>
        <p:txBody>
          <a:bodyPr wrap="square" lIns="0" tIns="0" rIns="0" bIns="0" rtlCol="0" anchor="ctr"/>
          <a:lstStyle/>
          <a:p>
            <a:pPr indent="0" marL="0">
              <a:buNone/>
            </a:pPr>
            <a:r>
              <a:rPr lang="en-US" sz="2000" b="1" dirty="0">
                <a:solidFill>
                  <a:schemeClr val="bg1"/>
                </a:solidFill>
              </a:rPr>
              <a:t>EU / France</a:t>
            </a:r>
            <a:pPr indent="0" marL="0">
              <a:buNone/>
            </a:pPr>
            <a:r>
              <a:rPr lang="en-US" sz="1400" dirty="0">
                <a:solidFill>
                  <a:schemeClr val="bg1"/>
                </a:solidFill>
              </a:rPr>
              <a:t>   DG Trésor</a:t>
            </a:r>
            <a:endParaRPr lang="en-US" sz="1500" dirty="0"/>
          </a:p>
        </p:txBody>
      </p:sp>
      <p:sp>
        <p:nvSpPr>
          <p:cNvPr id="18" name="Text 16"/>
          <p:cNvSpPr txBox="1"/>
          <p:nvPr/>
        </p:nvSpPr>
        <p:spPr>
          <a:xfrm>
            <a:off x="4526280" y="2148840"/>
            <a:ext cx="310896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LIST SOURCE</a:t>
            </a:r>
            <a:endParaRPr lang="en-US" sz="1100" dirty="0"/>
          </a:p>
        </p:txBody>
      </p:sp>
      <p:sp>
        <p:nvSpPr>
          <p:cNvPr id="19" name="Text 17"/>
          <p:cNvSpPr txBox="1"/>
          <p:nvPr/>
        </p:nvSpPr>
        <p:spPr>
          <a:xfrm>
            <a:off x="4526280" y="2395728"/>
            <a:ext cx="3108960" cy="685800"/>
          </a:xfrm>
          <a:prstGeom prst="rect">
            <a:avLst/>
          </a:prstGeom>
          <a:noFill/>
          <a:ln/>
        </p:spPr>
        <p:txBody>
          <a:bodyPr wrap="square" lIns="0" tIns="0" rIns="0" bIns="0" rtlCol="0" anchor="t"/>
          <a:lstStyle/>
          <a:p>
            <a:pPr indent="0" marL="0">
              <a:buNone/>
            </a:pPr>
            <a:r>
              <a:rPr lang="en-US" sz="1400" dirty="0">
                <a:solidFill>
                  <a:schemeClr val="tx1"/>
                </a:solidFill>
              </a:rPr>
              <a:t>EU consolidated list plus the French national asset-freeze register</a:t>
            </a:r>
            <a:endParaRPr lang="en-US" sz="1400" dirty="0"/>
          </a:p>
        </p:txBody>
      </p:sp>
      <p:sp>
        <p:nvSpPr>
          <p:cNvPr id="20" name="Text 18"/>
          <p:cNvSpPr txBox="1"/>
          <p:nvPr/>
        </p:nvSpPr>
        <p:spPr>
          <a:xfrm>
            <a:off x="4526280" y="3081528"/>
            <a:ext cx="310896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OWNERSHIP / CONTROL</a:t>
            </a:r>
            <a:endParaRPr lang="en-US" sz="1100" dirty="0"/>
          </a:p>
        </p:txBody>
      </p:sp>
      <p:sp>
        <p:nvSpPr>
          <p:cNvPr id="21" name="Text 19"/>
          <p:cNvSpPr txBox="1"/>
          <p:nvPr/>
        </p:nvSpPr>
        <p:spPr>
          <a:xfrm>
            <a:off x="4526280" y="3328416"/>
            <a:ext cx="3108960" cy="685800"/>
          </a:xfrm>
          <a:prstGeom prst="rect">
            <a:avLst/>
          </a:prstGeom>
          <a:noFill/>
          <a:ln/>
        </p:spPr>
        <p:txBody>
          <a:bodyPr wrap="square" lIns="0" tIns="0" rIns="0" bIns="0" rtlCol="0" anchor="t"/>
          <a:lstStyle/>
          <a:p>
            <a:pPr indent="0" marL="0">
              <a:buNone/>
            </a:pPr>
            <a:r>
              <a:rPr lang="en-US" sz="1400" dirty="0">
                <a:solidFill>
                  <a:schemeClr val="tx1"/>
                </a:solidFill>
              </a:rPr>
              <a:t>50% or more. Holdings of listed persons are aggregated. Control also counts</a:t>
            </a:r>
            <a:endParaRPr lang="en-US" sz="1400" dirty="0"/>
          </a:p>
        </p:txBody>
      </p:sp>
      <p:sp>
        <p:nvSpPr>
          <p:cNvPr id="22" name="Text 20"/>
          <p:cNvSpPr txBox="1"/>
          <p:nvPr/>
        </p:nvSpPr>
        <p:spPr>
          <a:xfrm>
            <a:off x="4526280" y="4014216"/>
            <a:ext cx="310896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REPORTING ROUTE (VIA L2)</a:t>
            </a:r>
            <a:endParaRPr lang="en-US" sz="1100" dirty="0"/>
          </a:p>
        </p:txBody>
      </p:sp>
      <p:sp>
        <p:nvSpPr>
          <p:cNvPr id="23" name="Text 21"/>
          <p:cNvSpPr txBox="1"/>
          <p:nvPr/>
        </p:nvSpPr>
        <p:spPr>
          <a:xfrm>
            <a:off x="4526280" y="4261104"/>
            <a:ext cx="3108960" cy="685800"/>
          </a:xfrm>
          <a:prstGeom prst="rect">
            <a:avLst/>
          </a:prstGeom>
          <a:noFill/>
          <a:ln/>
        </p:spPr>
        <p:txBody>
          <a:bodyPr wrap="square" lIns="0" tIns="0" rIns="0" bIns="0" rtlCol="0" anchor="t"/>
          <a:lstStyle/>
          <a:p>
            <a:pPr indent="0" marL="0">
              <a:buNone/>
            </a:pPr>
            <a:r>
              <a:rPr lang="en-US" sz="1400" dirty="0">
                <a:solidFill>
                  <a:schemeClr val="tx1"/>
                </a:solidFill>
              </a:rPr>
              <a:t>DG Trésor for freezes; TRACFIN for suspicion</a:t>
            </a:r>
            <a:endParaRPr lang="en-US" sz="1400" dirty="0"/>
          </a:p>
        </p:txBody>
      </p:sp>
      <p:sp>
        <p:nvSpPr>
          <p:cNvPr id="24" name="Text 22"/>
          <p:cNvSpPr txBox="1"/>
          <p:nvPr/>
        </p:nvSpPr>
        <p:spPr>
          <a:xfrm>
            <a:off x="4526280" y="4946904"/>
            <a:ext cx="3108960" cy="228600"/>
          </a:xfrm>
          <a:prstGeom prst="rect">
            <a:avLst/>
          </a:prstGeom>
          <a:noFill/>
          <a:ln/>
        </p:spPr>
        <p:txBody>
          <a:bodyPr wrap="square" lIns="0" tIns="0" rIns="0" bIns="0" rtlCol="0" anchor="t"/>
          <a:lstStyle/>
          <a:p>
            <a:pPr indent="0" marL="0">
              <a:buNone/>
            </a:pPr>
            <a:r>
              <a:rPr lang="en-US" sz="1100" b="1" spc="100" kern="0" dirty="0">
                <a:solidFill>
                  <a:schemeClr val="accent1"/>
                </a:solidFill>
              </a:rPr>
              <a:t>KEY NUANCE</a:t>
            </a:r>
            <a:endParaRPr lang="en-US" sz="1100" dirty="0"/>
          </a:p>
        </p:txBody>
      </p:sp>
      <p:sp>
        <p:nvSpPr>
          <p:cNvPr id="25" name="Text 23"/>
          <p:cNvSpPr txBox="1"/>
          <p:nvPr/>
        </p:nvSpPr>
        <p:spPr>
          <a:xfrm>
            <a:off x="4526280" y="5193792"/>
            <a:ext cx="3108960" cy="685800"/>
          </a:xfrm>
          <a:prstGeom prst="rect">
            <a:avLst/>
          </a:prstGeom>
          <a:noFill/>
          <a:ln/>
        </p:spPr>
        <p:txBody>
          <a:bodyPr wrap="square" lIns="0" tIns="0" rIns="0" bIns="0" rtlCol="0" anchor="t"/>
          <a:lstStyle/>
          <a:p>
            <a:pPr indent="0" marL="0">
              <a:buNone/>
            </a:pPr>
            <a:r>
              <a:rPr lang="en-US" sz="1400" b="1" dirty="0">
                <a:solidFill>
                  <a:schemeClr val="tx1"/>
                </a:solidFill>
              </a:rPr>
              <a:t>The French register includes names that are not on the EU list</a:t>
            </a:r>
            <a:endParaRPr lang="en-US" sz="1400" dirty="0"/>
          </a:p>
        </p:txBody>
      </p:sp>
      <p:sp>
        <p:nvSpPr>
          <p:cNvPr id="26" name="United States card"/>
          <p:cNvSpPr/>
          <p:nvPr/>
        </p:nvSpPr>
        <p:spPr>
          <a:xfrm>
            <a:off x="8046720" y="1325880"/>
            <a:ext cx="3566160" cy="4572000"/>
          </a:xfrm>
          <a:prstGeom prst="roundRect">
            <a:avLst>
              <a:gd name="adj" fmla="val 3077"/>
            </a:avLst>
          </a:prstGeom>
          <a:solidFill>
            <a:schemeClr val="bg2"/>
          </a:solidFill>
          <a:ln w="12700">
            <a:solidFill>
              <a:schemeClr val="bg2"/>
            </a:solidFill>
            <a:prstDash val="solid"/>
          </a:ln>
        </p:spPr>
      </p:sp>
      <p:sp>
        <p:nvSpPr>
          <p:cNvPr id="27" name="United States header"/>
          <p:cNvSpPr/>
          <p:nvPr/>
        </p:nvSpPr>
        <p:spPr>
          <a:xfrm>
            <a:off x="8046720" y="1325880"/>
            <a:ext cx="3566160" cy="685800"/>
          </a:xfrm>
          <a:prstGeom prst="roundRect">
            <a:avLst>
              <a:gd name="adj" fmla="val 16000"/>
            </a:avLst>
          </a:prstGeom>
          <a:solidFill>
            <a:schemeClr val="accent1"/>
          </a:solidFill>
          <a:ln w="12700">
            <a:solidFill>
              <a:schemeClr val="accent1"/>
            </a:solidFill>
            <a:prstDash val="solid"/>
          </a:ln>
        </p:spPr>
      </p:sp>
      <p:sp>
        <p:nvSpPr>
          <p:cNvPr id="28" name="Text 26"/>
          <p:cNvSpPr txBox="1"/>
          <p:nvPr/>
        </p:nvSpPr>
        <p:spPr>
          <a:xfrm>
            <a:off x="8275320" y="1325880"/>
            <a:ext cx="3108960" cy="685800"/>
          </a:xfrm>
          <a:prstGeom prst="rect">
            <a:avLst/>
          </a:prstGeom>
          <a:noFill/>
          <a:ln/>
        </p:spPr>
        <p:txBody>
          <a:bodyPr wrap="square" lIns="0" tIns="0" rIns="0" bIns="0" rtlCol="0" anchor="ctr"/>
          <a:lstStyle/>
          <a:p>
            <a:pPr indent="0" marL="0">
              <a:buNone/>
            </a:pPr>
            <a:r>
              <a:rPr lang="en-US" sz="2000" b="1" dirty="0">
                <a:solidFill>
                  <a:schemeClr val="bg1"/>
                </a:solidFill>
              </a:rPr>
              <a:t>United States</a:t>
            </a:r>
            <a:pPr indent="0" marL="0">
              <a:buNone/>
            </a:pPr>
            <a:r>
              <a:rPr lang="en-US" sz="1400" dirty="0">
                <a:solidFill>
                  <a:schemeClr val="bg1"/>
                </a:solidFill>
              </a:rPr>
              <a:t>   OFAC</a:t>
            </a:r>
            <a:endParaRPr lang="en-US" sz="1500" dirty="0"/>
          </a:p>
        </p:txBody>
      </p:sp>
      <p:sp>
        <p:nvSpPr>
          <p:cNvPr id="29" name="Text 27"/>
          <p:cNvSpPr txBox="1"/>
          <p:nvPr/>
        </p:nvSpPr>
        <p:spPr>
          <a:xfrm>
            <a:off x="8275320" y="2148840"/>
            <a:ext cx="310896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LIST SOURCE</a:t>
            </a:r>
            <a:endParaRPr lang="en-US" sz="1100" dirty="0"/>
          </a:p>
        </p:txBody>
      </p:sp>
      <p:sp>
        <p:nvSpPr>
          <p:cNvPr id="30" name="Text 28"/>
          <p:cNvSpPr txBox="1"/>
          <p:nvPr/>
        </p:nvSpPr>
        <p:spPr>
          <a:xfrm>
            <a:off x="8275320" y="2395728"/>
            <a:ext cx="3108960" cy="685800"/>
          </a:xfrm>
          <a:prstGeom prst="rect">
            <a:avLst/>
          </a:prstGeom>
          <a:noFill/>
          <a:ln/>
        </p:spPr>
        <p:txBody>
          <a:bodyPr wrap="square" lIns="0" tIns="0" rIns="0" bIns="0" rtlCol="0" anchor="t"/>
          <a:lstStyle/>
          <a:p>
            <a:pPr indent="0" marL="0">
              <a:buNone/>
            </a:pPr>
            <a:r>
              <a:rPr lang="en-US" sz="1400" dirty="0">
                <a:solidFill>
                  <a:schemeClr val="tx1"/>
                </a:solidFill>
              </a:rPr>
              <a:t>OFAC SDN List and other OFAC lists</a:t>
            </a:r>
            <a:endParaRPr lang="en-US" sz="1400" dirty="0"/>
          </a:p>
        </p:txBody>
      </p:sp>
      <p:sp>
        <p:nvSpPr>
          <p:cNvPr id="31" name="Text 29"/>
          <p:cNvSpPr txBox="1"/>
          <p:nvPr/>
        </p:nvSpPr>
        <p:spPr>
          <a:xfrm>
            <a:off x="8275320" y="3081528"/>
            <a:ext cx="310896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OWNERSHIP / CONTROL</a:t>
            </a:r>
            <a:endParaRPr lang="en-US" sz="1100" dirty="0"/>
          </a:p>
        </p:txBody>
      </p:sp>
      <p:sp>
        <p:nvSpPr>
          <p:cNvPr id="32" name="Text 30"/>
          <p:cNvSpPr txBox="1"/>
          <p:nvPr/>
        </p:nvSpPr>
        <p:spPr>
          <a:xfrm>
            <a:off x="8275320" y="3328416"/>
            <a:ext cx="3108960" cy="685800"/>
          </a:xfrm>
          <a:prstGeom prst="rect">
            <a:avLst/>
          </a:prstGeom>
          <a:noFill/>
          <a:ln/>
        </p:spPr>
        <p:txBody>
          <a:bodyPr wrap="square" lIns="0" tIns="0" rIns="0" bIns="0" rtlCol="0" anchor="t"/>
          <a:lstStyle/>
          <a:p>
            <a:pPr indent="0" marL="0">
              <a:buNone/>
            </a:pPr>
            <a:r>
              <a:rPr lang="en-US" sz="1400" dirty="0">
                <a:solidFill>
                  <a:schemeClr val="tx1"/>
                </a:solidFill>
              </a:rPr>
              <a:t>50% or more. Holdings of blocked persons are aggregated</a:t>
            </a:r>
            <a:endParaRPr lang="en-US" sz="1400" dirty="0"/>
          </a:p>
        </p:txBody>
      </p:sp>
      <p:sp>
        <p:nvSpPr>
          <p:cNvPr id="33" name="Text 31"/>
          <p:cNvSpPr txBox="1"/>
          <p:nvPr/>
        </p:nvSpPr>
        <p:spPr>
          <a:xfrm>
            <a:off x="8275320" y="4014216"/>
            <a:ext cx="310896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REPORTING ROUTE (VIA L2)</a:t>
            </a:r>
            <a:endParaRPr lang="en-US" sz="1100" dirty="0"/>
          </a:p>
        </p:txBody>
      </p:sp>
      <p:sp>
        <p:nvSpPr>
          <p:cNvPr id="34" name="Text 32"/>
          <p:cNvSpPr txBox="1"/>
          <p:nvPr/>
        </p:nvSpPr>
        <p:spPr>
          <a:xfrm>
            <a:off x="8275320" y="4261104"/>
            <a:ext cx="3108960" cy="685800"/>
          </a:xfrm>
          <a:prstGeom prst="rect">
            <a:avLst/>
          </a:prstGeom>
          <a:noFill/>
          <a:ln/>
        </p:spPr>
        <p:txBody>
          <a:bodyPr wrap="square" lIns="0" tIns="0" rIns="0" bIns="0" rtlCol="0" anchor="t"/>
          <a:lstStyle/>
          <a:p>
            <a:pPr indent="0" marL="0">
              <a:buNone/>
            </a:pPr>
            <a:r>
              <a:rPr lang="en-US" sz="1400" dirty="0">
                <a:solidFill>
                  <a:schemeClr val="tx1"/>
                </a:solidFill>
              </a:rPr>
              <a:t>OFAC within 10 business days, for blocked or rejected transactions</a:t>
            </a:r>
            <a:endParaRPr lang="en-US" sz="1400" dirty="0"/>
          </a:p>
        </p:txBody>
      </p:sp>
      <p:sp>
        <p:nvSpPr>
          <p:cNvPr id="35" name="Text 33"/>
          <p:cNvSpPr txBox="1"/>
          <p:nvPr/>
        </p:nvSpPr>
        <p:spPr>
          <a:xfrm>
            <a:off x="8275320" y="4946904"/>
            <a:ext cx="3108960" cy="228600"/>
          </a:xfrm>
          <a:prstGeom prst="rect">
            <a:avLst/>
          </a:prstGeom>
          <a:noFill/>
          <a:ln/>
        </p:spPr>
        <p:txBody>
          <a:bodyPr wrap="square" lIns="0" tIns="0" rIns="0" bIns="0" rtlCol="0" anchor="t"/>
          <a:lstStyle/>
          <a:p>
            <a:pPr indent="0" marL="0">
              <a:buNone/>
            </a:pPr>
            <a:r>
              <a:rPr lang="en-US" sz="1100" b="1" spc="100" kern="0" dirty="0">
                <a:solidFill>
                  <a:schemeClr val="accent1"/>
                </a:solidFill>
              </a:rPr>
              <a:t>KEY NUANCE</a:t>
            </a:r>
            <a:endParaRPr lang="en-US" sz="1100" dirty="0"/>
          </a:p>
        </p:txBody>
      </p:sp>
      <p:sp>
        <p:nvSpPr>
          <p:cNvPr id="36" name="Text 34"/>
          <p:cNvSpPr txBox="1"/>
          <p:nvPr/>
        </p:nvSpPr>
        <p:spPr>
          <a:xfrm>
            <a:off x="8275320" y="5193792"/>
            <a:ext cx="3108960" cy="685800"/>
          </a:xfrm>
          <a:prstGeom prst="rect">
            <a:avLst/>
          </a:prstGeom>
          <a:noFill/>
          <a:ln/>
        </p:spPr>
        <p:txBody>
          <a:bodyPr wrap="square" lIns="0" tIns="0" rIns="0" bIns="0" rtlCol="0" anchor="t"/>
          <a:lstStyle/>
          <a:p>
            <a:pPr indent="0" marL="0">
              <a:buNone/>
            </a:pPr>
            <a:r>
              <a:rPr lang="en-US" sz="1400" b="1" dirty="0">
                <a:solidFill>
                  <a:schemeClr val="tx1"/>
                </a:solidFill>
              </a:rPr>
              <a:t>Blocking and rejecting differ. Do not reduce US analysis to “USD = automatic OFAC”</a:t>
            </a:r>
            <a:endParaRPr lang="en-US" sz="1400" dirty="0"/>
          </a:p>
        </p:txBody>
      </p:sp>
      <p:sp>
        <p:nvSpPr>
          <p:cNvPr id="37" name="Text 35"/>
          <p:cNvSpPr txBox="1"/>
          <p:nvPr/>
        </p:nvSpPr>
        <p:spPr>
          <a:xfrm>
            <a:off x="548640" y="6053328"/>
            <a:ext cx="11064240" cy="292608"/>
          </a:xfrm>
          <a:prstGeom prst="rect">
            <a:avLst/>
          </a:prstGeom>
          <a:noFill/>
          <a:ln/>
        </p:spPr>
        <p:txBody>
          <a:bodyPr wrap="square" lIns="0" tIns="0" rIns="0" bIns="0" rtlCol="0" anchor="b"/>
          <a:lstStyle/>
          <a:p>
            <a:pPr indent="0" marL="0">
              <a:buNone/>
            </a:pPr>
            <a:r>
              <a:rPr lang="en-US" sz="1000" i="1" dirty="0">
                <a:solidFill>
                  <a:schemeClr val="accent6"/>
                </a:solidFill>
              </a:rPr>
              <a:t>Source: Russia Regs 2019 regs 7, 70; OFSI General Guidance; EU Best Practices ST 11623/24 + Commission asset-freeze FAQ; CMF L562-1 ff.; OFAC 50 Percent Rule (2014); 31 CFR 501.603–604.</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2 · REGIONAL COMPARISON — UAE · SINGAPORE · HONG KONG</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tx1"/>
                </a:solidFill>
              </a:rPr>
              <a:t>UAE, Singapore and Hong Kong: UN plus a local overlay</a:t>
            </a:r>
            <a:endParaRPr lang="en-US" sz="3000" dirty="0"/>
          </a:p>
        </p:txBody>
      </p:sp>
      <p:sp>
        <p:nvSpPr>
          <p:cNvPr id="4" name="UAE card"/>
          <p:cNvSpPr/>
          <p:nvPr/>
        </p:nvSpPr>
        <p:spPr>
          <a:xfrm>
            <a:off x="548640" y="1325880"/>
            <a:ext cx="3566160" cy="4572000"/>
          </a:xfrm>
          <a:prstGeom prst="roundRect">
            <a:avLst>
              <a:gd name="adj" fmla="val 3077"/>
            </a:avLst>
          </a:prstGeom>
          <a:solidFill>
            <a:schemeClr val="bg2"/>
          </a:solidFill>
          <a:ln w="12700">
            <a:solidFill>
              <a:schemeClr val="bg2"/>
            </a:solidFill>
            <a:prstDash val="solid"/>
          </a:ln>
        </p:spPr>
      </p:sp>
      <p:sp>
        <p:nvSpPr>
          <p:cNvPr id="5" name="UAE header"/>
          <p:cNvSpPr/>
          <p:nvPr/>
        </p:nvSpPr>
        <p:spPr>
          <a:xfrm>
            <a:off x="548640" y="1325880"/>
            <a:ext cx="3566160" cy="685800"/>
          </a:xfrm>
          <a:prstGeom prst="roundRect">
            <a:avLst>
              <a:gd name="adj" fmla="val 16000"/>
            </a:avLst>
          </a:prstGeom>
          <a:solidFill>
            <a:schemeClr val="accent3"/>
          </a:solidFill>
          <a:ln w="12700">
            <a:solidFill>
              <a:schemeClr val="accent3"/>
            </a:solidFill>
            <a:prstDash val="solid"/>
          </a:ln>
        </p:spPr>
      </p:sp>
      <p:sp>
        <p:nvSpPr>
          <p:cNvPr id="6" name="Text 4"/>
          <p:cNvSpPr txBox="1"/>
          <p:nvPr/>
        </p:nvSpPr>
        <p:spPr>
          <a:xfrm>
            <a:off x="777240" y="1325880"/>
            <a:ext cx="3108960" cy="685800"/>
          </a:xfrm>
          <a:prstGeom prst="rect">
            <a:avLst/>
          </a:prstGeom>
          <a:noFill/>
          <a:ln/>
        </p:spPr>
        <p:txBody>
          <a:bodyPr wrap="square" lIns="0" tIns="0" rIns="0" bIns="0" rtlCol="0" anchor="ctr"/>
          <a:lstStyle/>
          <a:p>
            <a:pPr indent="0" marL="0">
              <a:buNone/>
            </a:pPr>
            <a:r>
              <a:rPr lang="en-US" sz="2000" b="1" dirty="0">
                <a:solidFill>
                  <a:schemeClr val="bg1"/>
                </a:solidFill>
              </a:rPr>
              <a:t>UAE</a:t>
            </a:r>
            <a:pPr indent="0" marL="0">
              <a:buNone/>
            </a:pPr>
            <a:r>
              <a:rPr lang="en-US" sz="1400" dirty="0">
                <a:solidFill>
                  <a:schemeClr val="bg1"/>
                </a:solidFill>
              </a:rPr>
              <a:t>   EOCN</a:t>
            </a:r>
            <a:endParaRPr lang="en-US" sz="1500" dirty="0"/>
          </a:p>
        </p:txBody>
      </p:sp>
      <p:sp>
        <p:nvSpPr>
          <p:cNvPr id="7" name="Text 5"/>
          <p:cNvSpPr txBox="1"/>
          <p:nvPr/>
        </p:nvSpPr>
        <p:spPr>
          <a:xfrm>
            <a:off x="777240" y="2148840"/>
            <a:ext cx="310896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LIST SOURCE</a:t>
            </a:r>
            <a:endParaRPr lang="en-US" sz="1100" dirty="0"/>
          </a:p>
        </p:txBody>
      </p:sp>
      <p:sp>
        <p:nvSpPr>
          <p:cNvPr id="8" name="Text 6"/>
          <p:cNvSpPr txBox="1"/>
          <p:nvPr/>
        </p:nvSpPr>
        <p:spPr>
          <a:xfrm>
            <a:off x="777240" y="2395728"/>
            <a:ext cx="3108960" cy="685800"/>
          </a:xfrm>
          <a:prstGeom prst="rect">
            <a:avLst/>
          </a:prstGeom>
          <a:noFill/>
          <a:ln/>
        </p:spPr>
        <p:txBody>
          <a:bodyPr wrap="square" lIns="0" tIns="0" rIns="0" bIns="0" rtlCol="0" anchor="t"/>
          <a:lstStyle/>
          <a:p>
            <a:pPr indent="0" marL="0">
              <a:buNone/>
            </a:pPr>
            <a:r>
              <a:rPr lang="en-US" sz="1400" dirty="0">
                <a:solidFill>
                  <a:schemeClr val="tx1"/>
                </a:solidFill>
              </a:rPr>
              <a:t>UN Consolidated List and the UAE Local Terrorist List</a:t>
            </a:r>
            <a:endParaRPr lang="en-US" sz="1400" dirty="0"/>
          </a:p>
        </p:txBody>
      </p:sp>
      <p:sp>
        <p:nvSpPr>
          <p:cNvPr id="9" name="Text 7"/>
          <p:cNvSpPr txBox="1"/>
          <p:nvPr/>
        </p:nvSpPr>
        <p:spPr>
          <a:xfrm>
            <a:off x="777240" y="3081528"/>
            <a:ext cx="310896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REQUIRED ACTION</a:t>
            </a:r>
            <a:endParaRPr lang="en-US" sz="1100" dirty="0"/>
          </a:p>
        </p:txBody>
      </p:sp>
      <p:sp>
        <p:nvSpPr>
          <p:cNvPr id="10" name="Text 8"/>
          <p:cNvSpPr txBox="1"/>
          <p:nvPr/>
        </p:nvSpPr>
        <p:spPr>
          <a:xfrm>
            <a:off x="777240" y="3328416"/>
            <a:ext cx="3108960" cy="685800"/>
          </a:xfrm>
          <a:prstGeom prst="rect">
            <a:avLst/>
          </a:prstGeom>
          <a:noFill/>
          <a:ln/>
        </p:spPr>
        <p:txBody>
          <a:bodyPr wrap="square" lIns="0" tIns="0" rIns="0" bIns="0" rtlCol="0" anchor="t"/>
          <a:lstStyle/>
          <a:p>
            <a:pPr indent="0" marL="0">
              <a:buNone/>
            </a:pPr>
            <a:r>
              <a:rPr lang="en-US" sz="1400" dirty="0">
                <a:solidFill>
                  <a:schemeClr val="tx1"/>
                </a:solidFill>
              </a:rPr>
              <a:t>Freeze without delay — within 24 hours of a listing</a:t>
            </a:r>
            <a:endParaRPr lang="en-US" sz="1400" dirty="0"/>
          </a:p>
        </p:txBody>
      </p:sp>
      <p:sp>
        <p:nvSpPr>
          <p:cNvPr id="11" name="Text 9"/>
          <p:cNvSpPr txBox="1"/>
          <p:nvPr/>
        </p:nvSpPr>
        <p:spPr>
          <a:xfrm>
            <a:off x="777240" y="4014216"/>
            <a:ext cx="310896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REPORTING ROUTE (VIA L2)</a:t>
            </a:r>
            <a:endParaRPr lang="en-US" sz="1100" dirty="0"/>
          </a:p>
        </p:txBody>
      </p:sp>
      <p:sp>
        <p:nvSpPr>
          <p:cNvPr id="12" name="Text 10"/>
          <p:cNvSpPr txBox="1"/>
          <p:nvPr/>
        </p:nvSpPr>
        <p:spPr>
          <a:xfrm>
            <a:off x="777240" y="4261104"/>
            <a:ext cx="3108960" cy="685800"/>
          </a:xfrm>
          <a:prstGeom prst="rect">
            <a:avLst/>
          </a:prstGeom>
          <a:noFill/>
          <a:ln/>
        </p:spPr>
        <p:txBody>
          <a:bodyPr wrap="square" lIns="0" tIns="0" rIns="0" bIns="0" rtlCol="0" anchor="t"/>
          <a:lstStyle/>
          <a:p>
            <a:pPr indent="0" marL="0">
              <a:buNone/>
            </a:pPr>
            <a:r>
              <a:rPr lang="en-US" sz="1400" dirty="0">
                <a:solidFill>
                  <a:schemeClr val="tx1"/>
                </a:solidFill>
              </a:rPr>
              <a:t>EOCN via goAML (CNMR or PNMR) within 5 business days</a:t>
            </a:r>
            <a:endParaRPr lang="en-US" sz="1400" dirty="0"/>
          </a:p>
        </p:txBody>
      </p:sp>
      <p:sp>
        <p:nvSpPr>
          <p:cNvPr id="13" name="Text 11"/>
          <p:cNvSpPr txBox="1"/>
          <p:nvPr/>
        </p:nvSpPr>
        <p:spPr>
          <a:xfrm>
            <a:off x="777240" y="4946904"/>
            <a:ext cx="3108960" cy="228600"/>
          </a:xfrm>
          <a:prstGeom prst="rect">
            <a:avLst/>
          </a:prstGeom>
          <a:noFill/>
          <a:ln/>
        </p:spPr>
        <p:txBody>
          <a:bodyPr wrap="square" lIns="0" tIns="0" rIns="0" bIns="0" rtlCol="0" anchor="t"/>
          <a:lstStyle/>
          <a:p>
            <a:pPr indent="0" marL="0">
              <a:buNone/>
            </a:pPr>
            <a:r>
              <a:rPr lang="en-US" sz="1100" b="1" spc="100" kern="0" dirty="0">
                <a:solidFill>
                  <a:schemeClr val="accent1"/>
                </a:solidFill>
              </a:rPr>
              <a:t>KEY NUANCE</a:t>
            </a:r>
            <a:endParaRPr lang="en-US" sz="1100" dirty="0"/>
          </a:p>
        </p:txBody>
      </p:sp>
      <p:sp>
        <p:nvSpPr>
          <p:cNvPr id="14" name="Text 12"/>
          <p:cNvSpPr txBox="1"/>
          <p:nvPr/>
        </p:nvSpPr>
        <p:spPr>
          <a:xfrm>
            <a:off x="777240" y="5193792"/>
            <a:ext cx="3108960" cy="685800"/>
          </a:xfrm>
          <a:prstGeom prst="rect">
            <a:avLst/>
          </a:prstGeom>
          <a:noFill/>
          <a:ln/>
        </p:spPr>
        <p:txBody>
          <a:bodyPr wrap="square" lIns="0" tIns="0" rIns="0" bIns="0" rtlCol="0" anchor="t"/>
          <a:lstStyle/>
          <a:p>
            <a:pPr indent="0" marL="0">
              <a:buNone/>
            </a:pPr>
            <a:r>
              <a:rPr lang="en-US" sz="1400" b="1" dirty="0">
                <a:solidFill>
                  <a:schemeClr val="tx1"/>
                </a:solidFill>
              </a:rPr>
              <a:t>An unresolved partial match stays suspended until EOCN instructs</a:t>
            </a:r>
            <a:endParaRPr lang="en-US" sz="1400" dirty="0"/>
          </a:p>
        </p:txBody>
      </p:sp>
      <p:sp>
        <p:nvSpPr>
          <p:cNvPr id="15" name="Singapore card"/>
          <p:cNvSpPr/>
          <p:nvPr/>
        </p:nvSpPr>
        <p:spPr>
          <a:xfrm>
            <a:off x="4297680" y="1325880"/>
            <a:ext cx="3566160" cy="4572000"/>
          </a:xfrm>
          <a:prstGeom prst="roundRect">
            <a:avLst>
              <a:gd name="adj" fmla="val 3077"/>
            </a:avLst>
          </a:prstGeom>
          <a:solidFill>
            <a:schemeClr val="bg2"/>
          </a:solidFill>
          <a:ln w="12700">
            <a:solidFill>
              <a:schemeClr val="bg2"/>
            </a:solidFill>
            <a:prstDash val="solid"/>
          </a:ln>
        </p:spPr>
      </p:sp>
      <p:sp>
        <p:nvSpPr>
          <p:cNvPr id="16" name="Singapore header"/>
          <p:cNvSpPr/>
          <p:nvPr/>
        </p:nvSpPr>
        <p:spPr>
          <a:xfrm>
            <a:off x="4297680" y="1325880"/>
            <a:ext cx="3566160" cy="685800"/>
          </a:xfrm>
          <a:prstGeom prst="roundRect">
            <a:avLst>
              <a:gd name="adj" fmla="val 16000"/>
            </a:avLst>
          </a:prstGeom>
          <a:solidFill>
            <a:schemeClr val="accent2"/>
          </a:solidFill>
          <a:ln w="12700">
            <a:solidFill>
              <a:schemeClr val="accent2"/>
            </a:solidFill>
            <a:prstDash val="solid"/>
          </a:ln>
        </p:spPr>
      </p:sp>
      <p:sp>
        <p:nvSpPr>
          <p:cNvPr id="17" name="Text 15"/>
          <p:cNvSpPr txBox="1"/>
          <p:nvPr/>
        </p:nvSpPr>
        <p:spPr>
          <a:xfrm>
            <a:off x="4526280" y="1325880"/>
            <a:ext cx="3108960" cy="685800"/>
          </a:xfrm>
          <a:prstGeom prst="rect">
            <a:avLst/>
          </a:prstGeom>
          <a:noFill/>
          <a:ln/>
        </p:spPr>
        <p:txBody>
          <a:bodyPr wrap="square" lIns="0" tIns="0" rIns="0" bIns="0" rtlCol="0" anchor="ctr"/>
          <a:lstStyle/>
          <a:p>
            <a:pPr indent="0" marL="0">
              <a:buNone/>
            </a:pPr>
            <a:r>
              <a:rPr lang="en-US" sz="2000" b="1" dirty="0">
                <a:solidFill>
                  <a:schemeClr val="bg1"/>
                </a:solidFill>
              </a:rPr>
              <a:t>Singapore</a:t>
            </a:r>
            <a:pPr indent="0" marL="0">
              <a:buNone/>
            </a:pPr>
            <a:r>
              <a:rPr lang="en-US" sz="1400" dirty="0">
                <a:solidFill>
                  <a:schemeClr val="bg1"/>
                </a:solidFill>
              </a:rPr>
              <a:t>   MAS</a:t>
            </a:r>
            <a:endParaRPr lang="en-US" sz="1500" dirty="0"/>
          </a:p>
        </p:txBody>
      </p:sp>
      <p:sp>
        <p:nvSpPr>
          <p:cNvPr id="18" name="Text 16"/>
          <p:cNvSpPr txBox="1"/>
          <p:nvPr/>
        </p:nvSpPr>
        <p:spPr>
          <a:xfrm>
            <a:off x="4526280" y="2148840"/>
            <a:ext cx="310896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LIST SOURCE</a:t>
            </a:r>
            <a:endParaRPr lang="en-US" sz="1100" dirty="0"/>
          </a:p>
        </p:txBody>
      </p:sp>
      <p:sp>
        <p:nvSpPr>
          <p:cNvPr id="19" name="Text 17"/>
          <p:cNvSpPr txBox="1"/>
          <p:nvPr/>
        </p:nvSpPr>
        <p:spPr>
          <a:xfrm>
            <a:off x="4526280" y="2395728"/>
            <a:ext cx="3108960" cy="685800"/>
          </a:xfrm>
          <a:prstGeom prst="rect">
            <a:avLst/>
          </a:prstGeom>
          <a:noFill/>
          <a:ln/>
        </p:spPr>
        <p:txBody>
          <a:bodyPr wrap="square" lIns="0" tIns="0" rIns="0" bIns="0" rtlCol="0" anchor="t"/>
          <a:lstStyle/>
          <a:p>
            <a:pPr indent="0" marL="0">
              <a:buNone/>
            </a:pPr>
            <a:r>
              <a:rPr lang="en-US" sz="1400" dirty="0">
                <a:solidFill>
                  <a:schemeClr val="tx1"/>
                </a:solidFill>
              </a:rPr>
              <a:t>UN lists, Singapore terrorist designations and MAS Russia measures</a:t>
            </a:r>
            <a:endParaRPr lang="en-US" sz="1400" dirty="0"/>
          </a:p>
        </p:txBody>
      </p:sp>
      <p:sp>
        <p:nvSpPr>
          <p:cNvPr id="20" name="Text 18"/>
          <p:cNvSpPr txBox="1"/>
          <p:nvPr/>
        </p:nvSpPr>
        <p:spPr>
          <a:xfrm>
            <a:off x="4526280" y="3081528"/>
            <a:ext cx="310896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REQUIRED ACTION</a:t>
            </a:r>
            <a:endParaRPr lang="en-US" sz="1100" dirty="0"/>
          </a:p>
        </p:txBody>
      </p:sp>
      <p:sp>
        <p:nvSpPr>
          <p:cNvPr id="21" name="Text 19"/>
          <p:cNvSpPr txBox="1"/>
          <p:nvPr/>
        </p:nvSpPr>
        <p:spPr>
          <a:xfrm>
            <a:off x="4526280" y="3328416"/>
            <a:ext cx="3108960" cy="685800"/>
          </a:xfrm>
          <a:prstGeom prst="rect">
            <a:avLst/>
          </a:prstGeom>
          <a:noFill/>
          <a:ln/>
        </p:spPr>
        <p:txBody>
          <a:bodyPr wrap="square" lIns="0" tIns="0" rIns="0" bIns="0" rtlCol="0" anchor="t"/>
          <a:lstStyle/>
          <a:p>
            <a:pPr indent="0" marL="0">
              <a:buNone/>
            </a:pPr>
            <a:r>
              <a:rPr lang="en-US" sz="1400" dirty="0">
                <a:solidFill>
                  <a:schemeClr val="tx1"/>
                </a:solidFill>
              </a:rPr>
              <a:t>Freeze, and do not deal with listed parties</a:t>
            </a:r>
            <a:endParaRPr lang="en-US" sz="1400" dirty="0"/>
          </a:p>
        </p:txBody>
      </p:sp>
      <p:sp>
        <p:nvSpPr>
          <p:cNvPr id="22" name="Text 20"/>
          <p:cNvSpPr txBox="1"/>
          <p:nvPr/>
        </p:nvSpPr>
        <p:spPr>
          <a:xfrm>
            <a:off x="4526280" y="4014216"/>
            <a:ext cx="310896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REPORTING ROUTE (VIA L2)</a:t>
            </a:r>
            <a:endParaRPr lang="en-US" sz="1100" dirty="0"/>
          </a:p>
        </p:txBody>
      </p:sp>
      <p:sp>
        <p:nvSpPr>
          <p:cNvPr id="23" name="Text 21"/>
          <p:cNvSpPr txBox="1"/>
          <p:nvPr/>
        </p:nvSpPr>
        <p:spPr>
          <a:xfrm>
            <a:off x="4526280" y="4261104"/>
            <a:ext cx="3108960" cy="685800"/>
          </a:xfrm>
          <a:prstGeom prst="rect">
            <a:avLst/>
          </a:prstGeom>
          <a:noFill/>
          <a:ln/>
        </p:spPr>
        <p:txBody>
          <a:bodyPr wrap="square" lIns="0" tIns="0" rIns="0" bIns="0" rtlCol="0" anchor="t"/>
          <a:lstStyle/>
          <a:p>
            <a:pPr indent="0" marL="0">
              <a:buNone/>
            </a:pPr>
            <a:r>
              <a:rPr lang="en-US" sz="1400" dirty="0">
                <a:solidFill>
                  <a:schemeClr val="tx1"/>
                </a:solidFill>
              </a:rPr>
              <a:t>MAS immediately; suspicion reports to STRO</a:t>
            </a:r>
            <a:endParaRPr lang="en-US" sz="1400" dirty="0"/>
          </a:p>
        </p:txBody>
      </p:sp>
      <p:sp>
        <p:nvSpPr>
          <p:cNvPr id="24" name="Text 22"/>
          <p:cNvSpPr txBox="1"/>
          <p:nvPr/>
        </p:nvSpPr>
        <p:spPr>
          <a:xfrm>
            <a:off x="4526280" y="4946904"/>
            <a:ext cx="3108960" cy="228600"/>
          </a:xfrm>
          <a:prstGeom prst="rect">
            <a:avLst/>
          </a:prstGeom>
          <a:noFill/>
          <a:ln/>
        </p:spPr>
        <p:txBody>
          <a:bodyPr wrap="square" lIns="0" tIns="0" rIns="0" bIns="0" rtlCol="0" anchor="t"/>
          <a:lstStyle/>
          <a:p>
            <a:pPr indent="0" marL="0">
              <a:buNone/>
            </a:pPr>
            <a:r>
              <a:rPr lang="en-US" sz="1100" b="1" spc="100" kern="0" dirty="0">
                <a:solidFill>
                  <a:schemeClr val="accent1"/>
                </a:solidFill>
              </a:rPr>
              <a:t>KEY NUANCE</a:t>
            </a:r>
            <a:endParaRPr lang="en-US" sz="1100" dirty="0"/>
          </a:p>
        </p:txBody>
      </p:sp>
      <p:sp>
        <p:nvSpPr>
          <p:cNvPr id="25" name="Text 23"/>
          <p:cNvSpPr txBox="1"/>
          <p:nvPr/>
        </p:nvSpPr>
        <p:spPr>
          <a:xfrm>
            <a:off x="4526280" y="5193792"/>
            <a:ext cx="3108960" cy="685800"/>
          </a:xfrm>
          <a:prstGeom prst="rect">
            <a:avLst/>
          </a:prstGeom>
          <a:noFill/>
          <a:ln/>
        </p:spPr>
        <p:txBody>
          <a:bodyPr wrap="square" lIns="0" tIns="0" rIns="0" bIns="0" rtlCol="0" anchor="t"/>
          <a:lstStyle/>
          <a:p>
            <a:pPr indent="0" marL="0">
              <a:buNone/>
            </a:pPr>
            <a:r>
              <a:rPr lang="en-US" sz="1400" b="1" dirty="0">
                <a:solidFill>
                  <a:schemeClr val="tx1"/>
                </a:solidFill>
              </a:rPr>
              <a:t>MAS Russia measures name four banks and the entities they own or control</a:t>
            </a:r>
            <a:endParaRPr lang="en-US" sz="1400" dirty="0"/>
          </a:p>
        </p:txBody>
      </p:sp>
      <p:sp>
        <p:nvSpPr>
          <p:cNvPr id="26" name="Hong Kong card"/>
          <p:cNvSpPr/>
          <p:nvPr/>
        </p:nvSpPr>
        <p:spPr>
          <a:xfrm>
            <a:off x="8046720" y="1325880"/>
            <a:ext cx="3566160" cy="4572000"/>
          </a:xfrm>
          <a:prstGeom prst="roundRect">
            <a:avLst>
              <a:gd name="adj" fmla="val 3077"/>
            </a:avLst>
          </a:prstGeom>
          <a:solidFill>
            <a:schemeClr val="bg2"/>
          </a:solidFill>
          <a:ln w="12700">
            <a:solidFill>
              <a:schemeClr val="bg2"/>
            </a:solidFill>
            <a:prstDash val="solid"/>
          </a:ln>
        </p:spPr>
      </p:sp>
      <p:sp>
        <p:nvSpPr>
          <p:cNvPr id="27" name="Hong Kong header"/>
          <p:cNvSpPr/>
          <p:nvPr/>
        </p:nvSpPr>
        <p:spPr>
          <a:xfrm>
            <a:off x="8046720" y="1325880"/>
            <a:ext cx="3566160" cy="685800"/>
          </a:xfrm>
          <a:prstGeom prst="roundRect">
            <a:avLst>
              <a:gd name="adj" fmla="val 16000"/>
            </a:avLst>
          </a:prstGeom>
          <a:solidFill>
            <a:schemeClr val="accent6"/>
          </a:solidFill>
          <a:ln w="12700">
            <a:solidFill>
              <a:schemeClr val="accent6"/>
            </a:solidFill>
            <a:prstDash val="solid"/>
          </a:ln>
        </p:spPr>
      </p:sp>
      <p:sp>
        <p:nvSpPr>
          <p:cNvPr id="28" name="Text 26"/>
          <p:cNvSpPr txBox="1"/>
          <p:nvPr/>
        </p:nvSpPr>
        <p:spPr>
          <a:xfrm>
            <a:off x="8275320" y="1325880"/>
            <a:ext cx="3108960" cy="685800"/>
          </a:xfrm>
          <a:prstGeom prst="rect">
            <a:avLst/>
          </a:prstGeom>
          <a:noFill/>
          <a:ln/>
        </p:spPr>
        <p:txBody>
          <a:bodyPr wrap="square" lIns="0" tIns="0" rIns="0" bIns="0" rtlCol="0" anchor="ctr"/>
          <a:lstStyle/>
          <a:p>
            <a:pPr indent="0" marL="0">
              <a:buNone/>
            </a:pPr>
            <a:r>
              <a:rPr lang="en-US" sz="2000" b="1" dirty="0">
                <a:solidFill>
                  <a:schemeClr val="bg1"/>
                </a:solidFill>
              </a:rPr>
              <a:t>Hong Kong</a:t>
            </a:r>
            <a:pPr indent="0" marL="0">
              <a:buNone/>
            </a:pPr>
            <a:r>
              <a:rPr lang="en-US" sz="1400" dirty="0">
                <a:solidFill>
                  <a:schemeClr val="bg1"/>
                </a:solidFill>
              </a:rPr>
              <a:t>   UN only</a:t>
            </a:r>
            <a:endParaRPr lang="en-US" sz="1500" dirty="0"/>
          </a:p>
        </p:txBody>
      </p:sp>
      <p:sp>
        <p:nvSpPr>
          <p:cNvPr id="29" name="Text 27"/>
          <p:cNvSpPr txBox="1"/>
          <p:nvPr/>
        </p:nvSpPr>
        <p:spPr>
          <a:xfrm>
            <a:off x="8275320" y="2148840"/>
            <a:ext cx="310896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LIST SOURCE</a:t>
            </a:r>
            <a:endParaRPr lang="en-US" sz="1100" dirty="0"/>
          </a:p>
        </p:txBody>
      </p:sp>
      <p:sp>
        <p:nvSpPr>
          <p:cNvPr id="30" name="Text 28"/>
          <p:cNvSpPr txBox="1"/>
          <p:nvPr/>
        </p:nvSpPr>
        <p:spPr>
          <a:xfrm>
            <a:off x="8275320" y="2395728"/>
            <a:ext cx="3108960" cy="685800"/>
          </a:xfrm>
          <a:prstGeom prst="rect">
            <a:avLst/>
          </a:prstGeom>
          <a:noFill/>
          <a:ln/>
        </p:spPr>
        <p:txBody>
          <a:bodyPr wrap="square" lIns="0" tIns="0" rIns="0" bIns="0" rtlCol="0" anchor="t"/>
          <a:lstStyle/>
          <a:p>
            <a:pPr indent="0" marL="0">
              <a:buNone/>
            </a:pPr>
            <a:r>
              <a:rPr lang="en-US" sz="1400" dirty="0">
                <a:solidFill>
                  <a:schemeClr val="tx1"/>
                </a:solidFill>
              </a:rPr>
              <a:t>UN sanctions (Cap. 537) and UN terrorist designations (Cap. 575)</a:t>
            </a:r>
            <a:endParaRPr lang="en-US" sz="1400" dirty="0"/>
          </a:p>
        </p:txBody>
      </p:sp>
      <p:sp>
        <p:nvSpPr>
          <p:cNvPr id="31" name="Text 29"/>
          <p:cNvSpPr txBox="1"/>
          <p:nvPr/>
        </p:nvSpPr>
        <p:spPr>
          <a:xfrm>
            <a:off x="8275320" y="3081528"/>
            <a:ext cx="310896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REQUIRED ACTION</a:t>
            </a:r>
            <a:endParaRPr lang="en-US" sz="1100" dirty="0"/>
          </a:p>
        </p:txBody>
      </p:sp>
      <p:sp>
        <p:nvSpPr>
          <p:cNvPr id="32" name="Text 30"/>
          <p:cNvSpPr txBox="1"/>
          <p:nvPr/>
        </p:nvSpPr>
        <p:spPr>
          <a:xfrm>
            <a:off x="8275320" y="3328416"/>
            <a:ext cx="3108960" cy="685800"/>
          </a:xfrm>
          <a:prstGeom prst="rect">
            <a:avLst/>
          </a:prstGeom>
          <a:noFill/>
          <a:ln/>
        </p:spPr>
        <p:txBody>
          <a:bodyPr wrap="square" lIns="0" tIns="0" rIns="0" bIns="0" rtlCol="0" anchor="t"/>
          <a:lstStyle/>
          <a:p>
            <a:pPr indent="0" marL="0">
              <a:buNone/>
            </a:pPr>
            <a:r>
              <a:rPr lang="en-US" sz="1400" dirty="0">
                <a:solidFill>
                  <a:schemeClr val="tx1"/>
                </a:solidFill>
              </a:rPr>
              <a:t>Freeze where a UN measure applies</a:t>
            </a:r>
            <a:endParaRPr lang="en-US" sz="1400" dirty="0"/>
          </a:p>
        </p:txBody>
      </p:sp>
      <p:sp>
        <p:nvSpPr>
          <p:cNvPr id="33" name="Text 31"/>
          <p:cNvSpPr txBox="1"/>
          <p:nvPr/>
        </p:nvSpPr>
        <p:spPr>
          <a:xfrm>
            <a:off x="8275320" y="4014216"/>
            <a:ext cx="310896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REPORTING ROUTE (VIA L2)</a:t>
            </a:r>
            <a:endParaRPr lang="en-US" sz="1100" dirty="0"/>
          </a:p>
        </p:txBody>
      </p:sp>
      <p:sp>
        <p:nvSpPr>
          <p:cNvPr id="34" name="Text 32"/>
          <p:cNvSpPr txBox="1"/>
          <p:nvPr/>
        </p:nvSpPr>
        <p:spPr>
          <a:xfrm>
            <a:off x="8275320" y="4261104"/>
            <a:ext cx="3108960" cy="685800"/>
          </a:xfrm>
          <a:prstGeom prst="rect">
            <a:avLst/>
          </a:prstGeom>
          <a:noFill/>
          <a:ln/>
        </p:spPr>
        <p:txBody>
          <a:bodyPr wrap="square" lIns="0" tIns="0" rIns="0" bIns="0" rtlCol="0" anchor="t"/>
          <a:lstStyle/>
          <a:p>
            <a:pPr indent="0" marL="0">
              <a:buNone/>
            </a:pPr>
            <a:r>
              <a:rPr lang="en-US" sz="1400" dirty="0">
                <a:solidFill>
                  <a:schemeClr val="tx1"/>
                </a:solidFill>
              </a:rPr>
              <a:t>JFIU, via the approved local process</a:t>
            </a:r>
            <a:endParaRPr lang="en-US" sz="1400" dirty="0"/>
          </a:p>
        </p:txBody>
      </p:sp>
      <p:sp>
        <p:nvSpPr>
          <p:cNvPr id="35" name="Text 33"/>
          <p:cNvSpPr txBox="1"/>
          <p:nvPr/>
        </p:nvSpPr>
        <p:spPr>
          <a:xfrm>
            <a:off x="8275320" y="4946904"/>
            <a:ext cx="3108960" cy="228600"/>
          </a:xfrm>
          <a:prstGeom prst="rect">
            <a:avLst/>
          </a:prstGeom>
          <a:noFill/>
          <a:ln/>
        </p:spPr>
        <p:txBody>
          <a:bodyPr wrap="square" lIns="0" tIns="0" rIns="0" bIns="0" rtlCol="0" anchor="t"/>
          <a:lstStyle/>
          <a:p>
            <a:pPr indent="0" marL="0">
              <a:buNone/>
            </a:pPr>
            <a:r>
              <a:rPr lang="en-US" sz="1100" b="1" spc="100" kern="0" dirty="0">
                <a:solidFill>
                  <a:schemeClr val="accent1"/>
                </a:solidFill>
              </a:rPr>
              <a:t>KEY NUANCE</a:t>
            </a:r>
            <a:endParaRPr lang="en-US" sz="1100" dirty="0"/>
          </a:p>
        </p:txBody>
      </p:sp>
      <p:sp>
        <p:nvSpPr>
          <p:cNvPr id="36" name="Text 34"/>
          <p:cNvSpPr txBox="1"/>
          <p:nvPr/>
        </p:nvSpPr>
        <p:spPr>
          <a:xfrm>
            <a:off x="8275320" y="5193792"/>
            <a:ext cx="3108960" cy="685800"/>
          </a:xfrm>
          <a:prstGeom prst="rect">
            <a:avLst/>
          </a:prstGeom>
          <a:noFill/>
          <a:ln/>
        </p:spPr>
        <p:txBody>
          <a:bodyPr wrap="square" lIns="0" tIns="0" rIns="0" bIns="0" rtlCol="0" anchor="t"/>
          <a:lstStyle/>
          <a:p>
            <a:pPr indent="0" marL="0">
              <a:buNone/>
            </a:pPr>
            <a:r>
              <a:rPr lang="en-US" sz="1400" b="1" dirty="0">
                <a:solidFill>
                  <a:schemeClr val="tx1"/>
                </a:solidFill>
              </a:rPr>
              <a:t>UN sanctions only — group policy and UK, EU and US rules still apply</a:t>
            </a:r>
            <a:endParaRPr lang="en-US" sz="1400" dirty="0"/>
          </a:p>
        </p:txBody>
      </p:sp>
      <p:sp>
        <p:nvSpPr>
          <p:cNvPr id="37" name="Text 35"/>
          <p:cNvSpPr txBox="1"/>
          <p:nvPr/>
        </p:nvSpPr>
        <p:spPr>
          <a:xfrm>
            <a:off x="548640" y="6053328"/>
            <a:ext cx="11064240" cy="292608"/>
          </a:xfrm>
          <a:prstGeom prst="rect">
            <a:avLst/>
          </a:prstGeom>
          <a:noFill/>
          <a:ln/>
        </p:spPr>
        <p:txBody>
          <a:bodyPr wrap="square" lIns="0" tIns="0" rIns="0" bIns="0" rtlCol="0" anchor="b"/>
          <a:lstStyle/>
          <a:p>
            <a:pPr indent="0" marL="0">
              <a:buNone/>
            </a:pPr>
            <a:r>
              <a:rPr lang="en-US" sz="1000" i="1" dirty="0">
                <a:solidFill>
                  <a:schemeClr val="accent6"/>
                </a:solidFill>
              </a:rPr>
              <a:t>Source: UAE Cabinet Decision No. 74 of 2020, EOCN guidance, CBUAE Rulebook; Singapore FSM (Sanctions and Freezing of Assets of Persons) Regs 2023, MAS Notice SNR-N01 (2025, amended 2026); HK Cap. 537, Cap. 575 s.12.</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2 · OWNERSHIP &amp; CONTROL</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tx1"/>
                </a:solidFill>
              </a:rPr>
              <a:t>Ownership and control: same facts, different answers</a:t>
            </a:r>
            <a:endParaRPr lang="en-US" sz="3000" dirty="0"/>
          </a:p>
        </p:txBody>
      </p:sp>
      <p:sp>
        <p:nvSpPr>
          <p:cNvPr id="4" name="diagram"/>
          <p:cNvSpPr/>
          <p:nvPr/>
        </p:nvSpPr>
        <p:spPr>
          <a:xfrm>
            <a:off x="548640" y="1371600"/>
            <a:ext cx="5760720" cy="4206240"/>
          </a:xfrm>
          <a:prstGeom prst="roundRect">
            <a:avLst>
              <a:gd name="adj" fmla="val 2609"/>
            </a:avLst>
          </a:prstGeom>
          <a:solidFill>
            <a:schemeClr val="bg2"/>
          </a:solidFill>
          <a:ln w="12700">
            <a:solidFill>
              <a:schemeClr val="bg2"/>
            </a:solidFill>
            <a:prstDash val="solid"/>
          </a:ln>
        </p:spPr>
      </p:sp>
      <p:sp>
        <p:nvSpPr>
          <p:cNvPr id="5" name="Shape 3"/>
          <p:cNvSpPr/>
          <p:nvPr/>
        </p:nvSpPr>
        <p:spPr>
          <a:xfrm>
            <a:off x="822960" y="1645920"/>
            <a:ext cx="1600200" cy="960120"/>
          </a:xfrm>
          <a:prstGeom prst="roundRect">
            <a:avLst>
              <a:gd name="adj" fmla="val 9524"/>
            </a:avLst>
          </a:prstGeom>
          <a:solidFill>
            <a:schemeClr val="accent1"/>
          </a:solidFill>
          <a:ln w="12700">
            <a:solidFill>
              <a:schemeClr val="accent1"/>
            </a:solidFill>
            <a:prstDash val="solid"/>
          </a:ln>
        </p:spPr>
      </p:sp>
      <p:sp>
        <p:nvSpPr>
          <p:cNvPr id="6" name="Text 4"/>
          <p:cNvSpPr txBox="1"/>
          <p:nvPr/>
        </p:nvSpPr>
        <p:spPr>
          <a:xfrm>
            <a:off x="896112" y="1645920"/>
            <a:ext cx="1453896" cy="960120"/>
          </a:xfrm>
          <a:prstGeom prst="rect">
            <a:avLst/>
          </a:prstGeom>
          <a:noFill/>
          <a:ln/>
        </p:spPr>
        <p:txBody>
          <a:bodyPr wrap="square" lIns="0" tIns="0" rIns="0" bIns="0" rtlCol="0" anchor="ctr"/>
          <a:lstStyle/>
          <a:p>
            <a:pPr algn="ctr" indent="0" marL="0">
              <a:buNone/>
            </a:pPr>
            <a:r>
              <a:rPr lang="en-US" sz="1400" b="1" dirty="0">
                <a:solidFill>
                  <a:schemeClr val="bg1"/>
                </a:solidFill>
              </a:rPr>
              <a:t>Designated A</a:t>
            </a:r>
            <a:endParaRPr lang="en-US" sz="1400" dirty="0"/>
          </a:p>
          <a:p>
            <a:pPr algn="ctr" indent="0" marL="0">
              <a:buNone/>
            </a:pPr>
            <a:r>
              <a:rPr lang="en-US" sz="1200" dirty="0">
                <a:solidFill>
                  <a:schemeClr val="bg1"/>
                </a:solidFill>
              </a:rPr>
              <a:t>owns 30%</a:t>
            </a:r>
            <a:endParaRPr lang="en-US" sz="1400" dirty="0"/>
          </a:p>
        </p:txBody>
      </p:sp>
      <p:sp>
        <p:nvSpPr>
          <p:cNvPr id="7" name="Shape 5"/>
          <p:cNvSpPr/>
          <p:nvPr/>
        </p:nvSpPr>
        <p:spPr>
          <a:xfrm>
            <a:off x="1623060" y="2606040"/>
            <a:ext cx="1805940" cy="1097280"/>
          </a:xfrm>
          <a:prstGeom prst="line">
            <a:avLst/>
          </a:prstGeom>
          <a:noFill/>
          <a:ln w="25400">
            <a:solidFill>
              <a:srgbClr val="5B6472"/>
            </a:solidFill>
            <a:prstDash val="solid"/>
            <a:tailEnd type="triangle"/>
          </a:ln>
        </p:spPr>
      </p:sp>
      <p:sp>
        <p:nvSpPr>
          <p:cNvPr id="8" name="Shape 6"/>
          <p:cNvSpPr/>
          <p:nvPr/>
        </p:nvSpPr>
        <p:spPr>
          <a:xfrm>
            <a:off x="2514600" y="1645920"/>
            <a:ext cx="1600200" cy="960120"/>
          </a:xfrm>
          <a:prstGeom prst="roundRect">
            <a:avLst>
              <a:gd name="adj" fmla="val 9524"/>
            </a:avLst>
          </a:prstGeom>
          <a:solidFill>
            <a:schemeClr val="accent1"/>
          </a:solidFill>
          <a:ln w="12700">
            <a:solidFill>
              <a:schemeClr val="accent1"/>
            </a:solidFill>
            <a:prstDash val="solid"/>
          </a:ln>
        </p:spPr>
      </p:sp>
      <p:sp>
        <p:nvSpPr>
          <p:cNvPr id="9" name="Text 7"/>
          <p:cNvSpPr txBox="1"/>
          <p:nvPr/>
        </p:nvSpPr>
        <p:spPr>
          <a:xfrm>
            <a:off x="2587752" y="1645920"/>
            <a:ext cx="1453896" cy="960120"/>
          </a:xfrm>
          <a:prstGeom prst="rect">
            <a:avLst/>
          </a:prstGeom>
          <a:noFill/>
          <a:ln/>
        </p:spPr>
        <p:txBody>
          <a:bodyPr wrap="square" lIns="0" tIns="0" rIns="0" bIns="0" rtlCol="0" anchor="ctr"/>
          <a:lstStyle/>
          <a:p>
            <a:pPr algn="ctr" indent="0" marL="0">
              <a:buNone/>
            </a:pPr>
            <a:r>
              <a:rPr lang="en-US" sz="1400" b="1" dirty="0">
                <a:solidFill>
                  <a:schemeClr val="bg1"/>
                </a:solidFill>
              </a:rPr>
              <a:t>Designated B</a:t>
            </a:r>
            <a:endParaRPr lang="en-US" sz="1400" dirty="0"/>
          </a:p>
          <a:p>
            <a:pPr algn="ctr" indent="0" marL="0">
              <a:buNone/>
            </a:pPr>
            <a:r>
              <a:rPr lang="en-US" sz="1200" dirty="0">
                <a:solidFill>
                  <a:schemeClr val="bg1"/>
                </a:solidFill>
              </a:rPr>
              <a:t>owns 25%</a:t>
            </a:r>
            <a:endParaRPr lang="en-US" sz="1400" dirty="0"/>
          </a:p>
        </p:txBody>
      </p:sp>
      <p:sp>
        <p:nvSpPr>
          <p:cNvPr id="10" name="Shape 8"/>
          <p:cNvSpPr/>
          <p:nvPr/>
        </p:nvSpPr>
        <p:spPr>
          <a:xfrm>
            <a:off x="3314700" y="2606040"/>
            <a:ext cx="114300" cy="1097280"/>
          </a:xfrm>
          <a:prstGeom prst="line">
            <a:avLst/>
          </a:prstGeom>
          <a:noFill/>
          <a:ln w="25400">
            <a:solidFill>
              <a:srgbClr val="5B6472"/>
            </a:solidFill>
            <a:prstDash val="solid"/>
            <a:tailEnd type="triangle"/>
          </a:ln>
        </p:spPr>
      </p:sp>
      <p:sp>
        <p:nvSpPr>
          <p:cNvPr id="11" name="Shape 9"/>
          <p:cNvSpPr/>
          <p:nvPr/>
        </p:nvSpPr>
        <p:spPr>
          <a:xfrm>
            <a:off x="4206240" y="1645920"/>
            <a:ext cx="1600200" cy="960120"/>
          </a:xfrm>
          <a:prstGeom prst="roundRect">
            <a:avLst>
              <a:gd name="adj" fmla="val 9524"/>
            </a:avLst>
          </a:prstGeom>
          <a:solidFill>
            <a:schemeClr val="accent2"/>
          </a:solidFill>
          <a:ln w="12700">
            <a:solidFill>
              <a:schemeClr val="accent2"/>
            </a:solidFill>
            <a:prstDash val="solid"/>
          </a:ln>
        </p:spPr>
      </p:sp>
      <p:sp>
        <p:nvSpPr>
          <p:cNvPr id="12" name="Text 10"/>
          <p:cNvSpPr txBox="1"/>
          <p:nvPr/>
        </p:nvSpPr>
        <p:spPr>
          <a:xfrm>
            <a:off x="4279392" y="1645920"/>
            <a:ext cx="1453896" cy="960120"/>
          </a:xfrm>
          <a:prstGeom prst="rect">
            <a:avLst/>
          </a:prstGeom>
          <a:noFill/>
          <a:ln/>
        </p:spPr>
        <p:txBody>
          <a:bodyPr wrap="square" lIns="0" tIns="0" rIns="0" bIns="0" rtlCol="0" anchor="ctr"/>
          <a:lstStyle/>
          <a:p>
            <a:pPr algn="ctr" indent="0" marL="0">
              <a:buNone/>
            </a:pPr>
            <a:r>
              <a:rPr lang="en-US" sz="1400" b="1" dirty="0">
                <a:solidFill>
                  <a:schemeClr val="bg1"/>
                </a:solidFill>
              </a:rPr>
              <a:t>Designated C</a:t>
            </a:r>
            <a:endParaRPr lang="en-US" sz="1400" dirty="0"/>
          </a:p>
          <a:p>
            <a:pPr algn="ctr" indent="0" marL="0">
              <a:buNone/>
            </a:pPr>
            <a:r>
              <a:rPr lang="en-US" sz="1200" dirty="0">
                <a:solidFill>
                  <a:schemeClr val="bg1"/>
                </a:solidFill>
              </a:rPr>
              <a:t>director · signs payouts</a:t>
            </a:r>
            <a:endParaRPr lang="en-US" sz="1400" dirty="0"/>
          </a:p>
        </p:txBody>
      </p:sp>
      <p:sp>
        <p:nvSpPr>
          <p:cNvPr id="13" name="Shape 11"/>
          <p:cNvSpPr/>
          <p:nvPr/>
        </p:nvSpPr>
        <p:spPr>
          <a:xfrm flipH="1">
            <a:off x="3429000" y="2606040"/>
            <a:ext cx="1577340" cy="1097280"/>
          </a:xfrm>
          <a:prstGeom prst="line">
            <a:avLst/>
          </a:prstGeom>
          <a:noFill/>
          <a:ln w="25400">
            <a:solidFill>
              <a:srgbClr val="5B6472"/>
            </a:solidFill>
            <a:prstDash val="dash"/>
            <a:tailEnd type="triangle"/>
          </a:ln>
        </p:spPr>
      </p:sp>
      <p:sp>
        <p:nvSpPr>
          <p:cNvPr id="14" name="Shape 12"/>
          <p:cNvSpPr/>
          <p:nvPr/>
        </p:nvSpPr>
        <p:spPr>
          <a:xfrm>
            <a:off x="2423160" y="3703320"/>
            <a:ext cx="2011680" cy="914400"/>
          </a:xfrm>
          <a:prstGeom prst="roundRect">
            <a:avLst>
              <a:gd name="adj" fmla="val 10000"/>
            </a:avLst>
          </a:prstGeom>
          <a:solidFill>
            <a:schemeClr val="tx1"/>
          </a:solidFill>
          <a:ln w="12700">
            <a:solidFill>
              <a:schemeClr val="tx1"/>
            </a:solidFill>
            <a:prstDash val="solid"/>
          </a:ln>
        </p:spPr>
      </p:sp>
      <p:sp>
        <p:nvSpPr>
          <p:cNvPr id="15" name="Text 13"/>
          <p:cNvSpPr txBox="1"/>
          <p:nvPr/>
        </p:nvSpPr>
        <p:spPr>
          <a:xfrm>
            <a:off x="2423160" y="3703320"/>
            <a:ext cx="2011680" cy="914400"/>
          </a:xfrm>
          <a:prstGeom prst="rect">
            <a:avLst/>
          </a:prstGeom>
          <a:noFill/>
          <a:ln/>
        </p:spPr>
        <p:txBody>
          <a:bodyPr wrap="square" lIns="0" tIns="0" rIns="0" bIns="0" rtlCol="0" anchor="ctr"/>
          <a:lstStyle/>
          <a:p>
            <a:pPr algn="ctr" indent="0" marL="0">
              <a:buNone/>
            </a:pPr>
            <a:r>
              <a:rPr lang="en-US" sz="1600" b="1" dirty="0">
                <a:solidFill>
                  <a:schemeClr val="bg1"/>
                </a:solidFill>
              </a:rPr>
              <a:t>Company X</a:t>
            </a:r>
            <a:endParaRPr lang="en-US" sz="1600" dirty="0"/>
          </a:p>
          <a:p>
            <a:pPr algn="ctr" indent="0" marL="0">
              <a:buNone/>
            </a:pPr>
            <a:r>
              <a:rPr lang="en-US" sz="1200" dirty="0">
                <a:solidFill>
                  <a:schemeClr val="bg1"/>
                </a:solidFill>
              </a:rPr>
              <a:t>not listed</a:t>
            </a:r>
            <a:endParaRPr lang="en-US" sz="1600" dirty="0"/>
          </a:p>
        </p:txBody>
      </p:sp>
      <p:sp>
        <p:nvSpPr>
          <p:cNvPr id="16" name="Text 14"/>
          <p:cNvSpPr txBox="1"/>
          <p:nvPr/>
        </p:nvSpPr>
        <p:spPr>
          <a:xfrm>
            <a:off x="822960" y="4846320"/>
            <a:ext cx="5212080" cy="640080"/>
          </a:xfrm>
          <a:prstGeom prst="rect">
            <a:avLst/>
          </a:prstGeom>
          <a:noFill/>
          <a:ln/>
        </p:spPr>
        <p:txBody>
          <a:bodyPr wrap="square" lIns="0" tIns="0" rIns="0" bIns="0" rtlCol="0" anchor="t"/>
          <a:lstStyle/>
          <a:p>
            <a:pPr indent="0" marL="0">
              <a:buNone/>
            </a:pPr>
            <a:r>
              <a:rPr lang="en-US" sz="1300" i="1" dirty="0">
                <a:solidFill>
                  <a:schemeClr val="accent6"/>
                </a:solidFill>
              </a:rPr>
              <a:t>Solid line: ownership. Dashed line: control.</a:t>
            </a:r>
            <a:endParaRPr lang="en-US" sz="1300" dirty="0"/>
          </a:p>
          <a:p>
            <a:pPr indent="0" marL="0">
              <a:buNone/>
            </a:pPr>
            <a:r>
              <a:rPr lang="en-US" sz="1300" b="1" i="1" dirty="0">
                <a:solidFill>
                  <a:schemeClr val="tx1"/>
                </a:solidFill>
              </a:rPr>
              <a:t>In your process: map owners, directors and signatories from Orbis and corporate documents.</a:t>
            </a:r>
            <a:endParaRPr lang="en-US" sz="1300" dirty="0"/>
          </a:p>
        </p:txBody>
      </p:sp>
      <p:sp>
        <p:nvSpPr>
          <p:cNvPr id="17" name="Shape 15"/>
          <p:cNvSpPr/>
          <p:nvPr/>
        </p:nvSpPr>
        <p:spPr>
          <a:xfrm>
            <a:off x="6583680" y="1508760"/>
            <a:ext cx="640080" cy="640080"/>
          </a:xfrm>
          <a:prstGeom prst="ellipse">
            <a:avLst/>
          </a:prstGeom>
          <a:solidFill>
            <a:schemeClr val="accent1"/>
          </a:solidFill>
          <a:ln w="12700">
            <a:solidFill>
              <a:schemeClr val="accent1"/>
            </a:solidFill>
            <a:prstDash val="solid"/>
          </a:ln>
        </p:spPr>
      </p:sp>
      <p:sp>
        <p:nvSpPr>
          <p:cNvPr id="18" name="Text 16"/>
          <p:cNvSpPr txBox="1"/>
          <p:nvPr/>
        </p:nvSpPr>
        <p:spPr>
          <a:xfrm>
            <a:off x="6583680" y="150876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US</a:t>
            </a:r>
            <a:endParaRPr lang="en-US" sz="1600" dirty="0"/>
          </a:p>
        </p:txBody>
      </p:sp>
      <p:sp>
        <p:nvSpPr>
          <p:cNvPr id="19" name="Text 17"/>
          <p:cNvSpPr txBox="1"/>
          <p:nvPr/>
        </p:nvSpPr>
        <p:spPr>
          <a:xfrm>
            <a:off x="7406640" y="1371600"/>
            <a:ext cx="4206240" cy="914400"/>
          </a:xfrm>
          <a:prstGeom prst="rect">
            <a:avLst/>
          </a:prstGeom>
          <a:noFill/>
          <a:ln/>
        </p:spPr>
        <p:txBody>
          <a:bodyPr wrap="square" lIns="0" tIns="0" rIns="0" bIns="0" rtlCol="0" anchor="ctr"/>
          <a:lstStyle/>
          <a:p>
            <a:pPr indent="0" marL="0">
              <a:buNone/>
            </a:pPr>
            <a:r>
              <a:rPr lang="en-US" sz="1500" dirty="0">
                <a:solidFill>
                  <a:schemeClr val="tx1"/>
                </a:solidFill>
              </a:rPr>
              <a:t>30% + 25% = 55%. OFAC aggregates the holdings of blocked persons, so Company X is blocked.</a:t>
            </a:r>
            <a:endParaRPr lang="en-US" sz="1500" dirty="0"/>
          </a:p>
        </p:txBody>
      </p:sp>
      <p:sp>
        <p:nvSpPr>
          <p:cNvPr id="20" name="Shape 18"/>
          <p:cNvSpPr/>
          <p:nvPr/>
        </p:nvSpPr>
        <p:spPr>
          <a:xfrm>
            <a:off x="6583680" y="2560320"/>
            <a:ext cx="640080" cy="640080"/>
          </a:xfrm>
          <a:prstGeom prst="ellipse">
            <a:avLst/>
          </a:prstGeom>
          <a:solidFill>
            <a:schemeClr val="accent4"/>
          </a:solidFill>
          <a:ln w="12700">
            <a:solidFill>
              <a:schemeClr val="accent4"/>
            </a:solidFill>
            <a:prstDash val="solid"/>
          </a:ln>
        </p:spPr>
      </p:sp>
      <p:sp>
        <p:nvSpPr>
          <p:cNvPr id="21" name="Text 19"/>
          <p:cNvSpPr txBox="1"/>
          <p:nvPr/>
        </p:nvSpPr>
        <p:spPr>
          <a:xfrm>
            <a:off x="6583680" y="256032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EU</a:t>
            </a:r>
            <a:endParaRPr lang="en-US" sz="1600" dirty="0"/>
          </a:p>
        </p:txBody>
      </p:sp>
      <p:sp>
        <p:nvSpPr>
          <p:cNvPr id="22" name="Text 20"/>
          <p:cNvSpPr txBox="1"/>
          <p:nvPr/>
        </p:nvSpPr>
        <p:spPr>
          <a:xfrm>
            <a:off x="7406640" y="2423160"/>
            <a:ext cx="4206240" cy="914400"/>
          </a:xfrm>
          <a:prstGeom prst="rect">
            <a:avLst/>
          </a:prstGeom>
          <a:noFill/>
          <a:ln/>
        </p:spPr>
        <p:txBody>
          <a:bodyPr wrap="square" lIns="0" tIns="0" rIns="0" bIns="0" rtlCol="0" anchor="ctr"/>
          <a:lstStyle/>
          <a:p>
            <a:pPr indent="0" marL="0">
              <a:buNone/>
            </a:pPr>
            <a:r>
              <a:rPr lang="en-US" sz="1500" dirty="0">
                <a:solidFill>
                  <a:schemeClr val="tx1"/>
                </a:solidFill>
              </a:rPr>
              <a:t>The EU also aggregates holdings at 50% or more, so Company X is treated as owned.</a:t>
            </a:r>
            <a:endParaRPr lang="en-US" sz="1500" dirty="0"/>
          </a:p>
        </p:txBody>
      </p:sp>
      <p:sp>
        <p:nvSpPr>
          <p:cNvPr id="23" name="Shape 21"/>
          <p:cNvSpPr/>
          <p:nvPr/>
        </p:nvSpPr>
        <p:spPr>
          <a:xfrm>
            <a:off x="6583680" y="3611880"/>
            <a:ext cx="640080" cy="640080"/>
          </a:xfrm>
          <a:prstGeom prst="ellipse">
            <a:avLst/>
          </a:prstGeom>
          <a:solidFill>
            <a:schemeClr val="tx1"/>
          </a:solidFill>
          <a:ln w="12700">
            <a:solidFill>
              <a:schemeClr val="tx1"/>
            </a:solidFill>
            <a:prstDash val="solid"/>
          </a:ln>
        </p:spPr>
      </p:sp>
      <p:sp>
        <p:nvSpPr>
          <p:cNvPr id="24" name="Text 22"/>
          <p:cNvSpPr txBox="1"/>
          <p:nvPr/>
        </p:nvSpPr>
        <p:spPr>
          <a:xfrm>
            <a:off x="6583680" y="3611880"/>
            <a:ext cx="640080" cy="640080"/>
          </a:xfrm>
          <a:prstGeom prst="rect">
            <a:avLst/>
          </a:prstGeom>
          <a:noFill/>
          <a:ln/>
        </p:spPr>
        <p:txBody>
          <a:bodyPr wrap="square" lIns="0" tIns="0" rIns="0" bIns="0" rtlCol="0" anchor="ctr"/>
          <a:lstStyle/>
          <a:p>
            <a:pPr algn="ctr" indent="0" marL="0">
              <a:buNone/>
            </a:pPr>
            <a:r>
              <a:rPr lang="en-US" sz="1600" b="1" dirty="0">
                <a:solidFill>
                  <a:schemeClr val="bg1"/>
                </a:solidFill>
              </a:rPr>
              <a:t>UK</a:t>
            </a:r>
            <a:endParaRPr lang="en-US" sz="1600" dirty="0"/>
          </a:p>
        </p:txBody>
      </p:sp>
      <p:sp>
        <p:nvSpPr>
          <p:cNvPr id="25" name="Text 23"/>
          <p:cNvSpPr txBox="1"/>
          <p:nvPr/>
        </p:nvSpPr>
        <p:spPr>
          <a:xfrm>
            <a:off x="7406640" y="3474720"/>
            <a:ext cx="4206240" cy="914400"/>
          </a:xfrm>
          <a:prstGeom prst="rect">
            <a:avLst/>
          </a:prstGeom>
          <a:noFill/>
          <a:ln/>
        </p:spPr>
        <p:txBody>
          <a:bodyPr wrap="square" lIns="0" tIns="0" rIns="0" bIns="0" rtlCol="0" anchor="ctr"/>
          <a:lstStyle/>
          <a:p>
            <a:pPr indent="0" marL="0">
              <a:buNone/>
            </a:pPr>
            <a:r>
              <a:rPr lang="en-US" sz="1500" dirty="0">
                <a:solidFill>
                  <a:schemeClr val="tx1"/>
                </a:solidFill>
              </a:rPr>
              <a:t>OFSI does not aggregate holdings of different designated persons unless held jointly. But C signs the payouts, so control must be assessed.</a:t>
            </a:r>
            <a:endParaRPr lang="en-US" sz="1500" dirty="0"/>
          </a:p>
        </p:txBody>
      </p:sp>
      <p:sp>
        <p:nvSpPr>
          <p:cNvPr id="26" name="decision"/>
          <p:cNvSpPr/>
          <p:nvPr/>
        </p:nvSpPr>
        <p:spPr>
          <a:xfrm>
            <a:off x="6583680" y="4572000"/>
            <a:ext cx="5029200" cy="1005840"/>
          </a:xfrm>
          <a:prstGeom prst="roundRect">
            <a:avLst>
              <a:gd name="adj" fmla="val 10909"/>
            </a:avLst>
          </a:prstGeom>
          <a:solidFill>
            <a:schemeClr val="accent1"/>
          </a:solidFill>
          <a:ln w="12700">
            <a:solidFill>
              <a:schemeClr val="accent1"/>
            </a:solidFill>
            <a:prstDash val="solid"/>
          </a:ln>
        </p:spPr>
      </p:sp>
      <p:sp>
        <p:nvSpPr>
          <p:cNvPr id="27" name="Text 25"/>
          <p:cNvSpPr txBox="1"/>
          <p:nvPr/>
        </p:nvSpPr>
        <p:spPr>
          <a:xfrm>
            <a:off x="6766560" y="4572000"/>
            <a:ext cx="4663440" cy="1005840"/>
          </a:xfrm>
          <a:prstGeom prst="rect">
            <a:avLst/>
          </a:prstGeom>
          <a:noFill/>
          <a:ln/>
        </p:spPr>
        <p:txBody>
          <a:bodyPr wrap="square" lIns="0" tIns="0" rIns="0" bIns="0" rtlCol="0" anchor="ctr"/>
          <a:lstStyle/>
          <a:p>
            <a:pPr indent="0" marL="0">
              <a:buNone/>
            </a:pPr>
            <a:r>
              <a:rPr lang="en-US" sz="1200" b="1" spc="100" kern="0" dirty="0">
                <a:solidFill>
                  <a:schemeClr val="bg1"/>
                </a:solidFill>
              </a:rPr>
              <a:t>DECISION PRINCIPLE  </a:t>
            </a:r>
            <a:pPr indent="0" marL="0">
              <a:buNone/>
            </a:pPr>
            <a:r>
              <a:rPr lang="en-US" sz="1500" dirty="0">
                <a:solidFill>
                  <a:schemeClr val="bg1"/>
                </a:solidFill>
              </a:rPr>
              <a:t>Do not rely on a single percentage threshold. Escalate whenever a designated person appears in the ownership or control picture.</a:t>
            </a:r>
            <a:endParaRPr lang="en-US" sz="1500" dirty="0"/>
          </a:p>
        </p:txBody>
      </p:sp>
      <p:sp>
        <p:nvSpPr>
          <p:cNvPr id="28" name="Text 26"/>
          <p:cNvSpPr txBox="1"/>
          <p:nvPr/>
        </p:nvSpPr>
        <p:spPr>
          <a:xfrm>
            <a:off x="548640" y="6053328"/>
            <a:ext cx="11064240" cy="292608"/>
          </a:xfrm>
          <a:prstGeom prst="rect">
            <a:avLst/>
          </a:prstGeom>
          <a:noFill/>
          <a:ln/>
        </p:spPr>
        <p:txBody>
          <a:bodyPr wrap="square" lIns="0" tIns="0" rIns="0" bIns="0" rtlCol="0" anchor="b"/>
          <a:lstStyle/>
          <a:p>
            <a:pPr indent="0" marL="0">
              <a:buNone/>
            </a:pPr>
            <a:r>
              <a:rPr lang="en-US" sz="1000" i="1" dirty="0">
                <a:solidFill>
                  <a:schemeClr val="accent6"/>
                </a:solidFill>
              </a:rPr>
              <a:t>Source: OFAC 50 Percent Rule (2014); Russia Regs 2019 reg 7 + OFSI General Guidance; EU Best Practices ST 11623/24 paras 63–64, Commission FAQ, CJEU C-84/24 (Mar 2026).</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2 · OUTCOMES BY REGIME</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tx1"/>
                </a:solidFill>
              </a:rPr>
              <a:t>Freeze, block and reject mean different things</a:t>
            </a:r>
            <a:endParaRPr lang="en-US" sz="3000" dirty="0"/>
          </a:p>
        </p:txBody>
      </p:sp>
      <p:sp>
        <p:nvSpPr>
          <p:cNvPr id="4" name="FREEZE"/>
          <p:cNvSpPr/>
          <p:nvPr/>
        </p:nvSpPr>
        <p:spPr>
          <a:xfrm>
            <a:off x="548640" y="1371600"/>
            <a:ext cx="3566160" cy="2377440"/>
          </a:xfrm>
          <a:prstGeom prst="roundRect">
            <a:avLst>
              <a:gd name="adj" fmla="val 4615"/>
            </a:avLst>
          </a:prstGeom>
          <a:solidFill>
            <a:schemeClr val="bg2"/>
          </a:solidFill>
          <a:ln w="12700">
            <a:solidFill>
              <a:schemeClr val="bg2"/>
            </a:solidFill>
            <a:prstDash val="solid"/>
          </a:ln>
        </p:spPr>
      </p:sp>
      <p:sp>
        <p:nvSpPr>
          <p:cNvPr id="5" name="FREEZE circle"/>
          <p:cNvSpPr/>
          <p:nvPr/>
        </p:nvSpPr>
        <p:spPr>
          <a:xfrm>
            <a:off x="822960" y="1572768"/>
            <a:ext cx="685800" cy="685800"/>
          </a:xfrm>
          <a:prstGeom prst="ellipse">
            <a:avLst/>
          </a:prstGeom>
          <a:solidFill>
            <a:schemeClr val="tx1"/>
          </a:solidFill>
          <a:ln w="12700">
            <a:solidFill>
              <a:schemeClr val="tx1"/>
            </a:solidFill>
            <a:prstDash val="solid"/>
          </a:ln>
        </p:spPr>
      </p:sp>
      <p:pic>
        <p:nvPicPr>
          <p:cNvPr id="6" name="FREEZE icon" descr="preencoded.png">    </p:cNvPr>
          <p:cNvPicPr>
            <a:picLocks noChangeAspect="1"/>
          </p:cNvPicPr>
          <p:nvPr/>
        </p:nvPicPr>
        <p:blipFill>
          <a:blip r:embed="rId1"/>
          <a:stretch>
            <a:fillRect/>
          </a:stretch>
        </p:blipFill>
        <p:spPr>
          <a:xfrm>
            <a:off x="960120" y="1709928"/>
            <a:ext cx="411480" cy="411480"/>
          </a:xfrm>
          <a:prstGeom prst="rect">
            <a:avLst/>
          </a:prstGeom>
        </p:spPr>
      </p:pic>
      <p:sp>
        <p:nvSpPr>
          <p:cNvPr id="7" name="Text 4"/>
          <p:cNvSpPr txBox="1"/>
          <p:nvPr/>
        </p:nvSpPr>
        <p:spPr>
          <a:xfrm>
            <a:off x="1691640" y="1572768"/>
            <a:ext cx="2240280" cy="384048"/>
          </a:xfrm>
          <a:prstGeom prst="rect">
            <a:avLst/>
          </a:prstGeom>
          <a:noFill/>
          <a:ln/>
        </p:spPr>
        <p:txBody>
          <a:bodyPr wrap="square" lIns="0" tIns="0" rIns="0" bIns="0" rtlCol="0" anchor="t"/>
          <a:lstStyle/>
          <a:p>
            <a:pPr indent="0" marL="0">
              <a:buNone/>
            </a:pPr>
            <a:r>
              <a:rPr lang="en-US" sz="2100" b="1" dirty="0">
                <a:solidFill>
                  <a:schemeClr val="tx1"/>
                </a:solidFill>
              </a:rPr>
              <a:t>FREEZE</a:t>
            </a:r>
            <a:endParaRPr lang="en-US" sz="2100" dirty="0"/>
          </a:p>
        </p:txBody>
      </p:sp>
      <p:sp>
        <p:nvSpPr>
          <p:cNvPr id="8" name="Text 5"/>
          <p:cNvSpPr txBox="1"/>
          <p:nvPr/>
        </p:nvSpPr>
        <p:spPr>
          <a:xfrm>
            <a:off x="1691640" y="1956816"/>
            <a:ext cx="2240280" cy="320040"/>
          </a:xfrm>
          <a:prstGeom prst="rect">
            <a:avLst/>
          </a:prstGeom>
          <a:noFill/>
          <a:ln/>
        </p:spPr>
        <p:txBody>
          <a:bodyPr wrap="square" lIns="0" tIns="0" rIns="0" bIns="0" rtlCol="0" anchor="t"/>
          <a:lstStyle/>
          <a:p>
            <a:pPr indent="0" marL="0">
              <a:buNone/>
            </a:pPr>
            <a:r>
              <a:rPr lang="en-US" sz="1300" dirty="0">
                <a:solidFill>
                  <a:schemeClr val="accent6"/>
                </a:solidFill>
              </a:rPr>
              <a:t>UK · EU · UN · local regimes</a:t>
            </a:r>
            <a:endParaRPr lang="en-US" sz="1300" dirty="0"/>
          </a:p>
        </p:txBody>
      </p:sp>
      <p:sp>
        <p:nvSpPr>
          <p:cNvPr id="9" name="Text 6"/>
          <p:cNvSpPr txBox="1"/>
          <p:nvPr/>
        </p:nvSpPr>
        <p:spPr>
          <a:xfrm>
            <a:off x="822960" y="2468880"/>
            <a:ext cx="3017520" cy="1234440"/>
          </a:xfrm>
          <a:prstGeom prst="rect">
            <a:avLst/>
          </a:prstGeom>
          <a:noFill/>
          <a:ln/>
        </p:spPr>
        <p:txBody>
          <a:bodyPr wrap="square" lIns="0" tIns="0" rIns="0" bIns="0" rtlCol="0" anchor="t"/>
          <a:lstStyle/>
          <a:p>
            <a:pPr indent="0" marL="0">
              <a:buNone/>
            </a:pPr>
            <a:r>
              <a:rPr lang="en-US" sz="1500" dirty="0">
                <a:solidFill>
                  <a:schemeClr val="tx1"/>
                </a:solidFill>
              </a:rPr>
              <a:t>Funds are held and nothing moves in or out. The freeze is reported to the competent authority.</a:t>
            </a:r>
            <a:endParaRPr lang="en-US" sz="1500" dirty="0"/>
          </a:p>
        </p:txBody>
      </p:sp>
      <p:sp>
        <p:nvSpPr>
          <p:cNvPr id="10" name="BLOCK"/>
          <p:cNvSpPr/>
          <p:nvPr/>
        </p:nvSpPr>
        <p:spPr>
          <a:xfrm>
            <a:off x="4297680" y="1371600"/>
            <a:ext cx="3566160" cy="2377440"/>
          </a:xfrm>
          <a:prstGeom prst="roundRect">
            <a:avLst>
              <a:gd name="adj" fmla="val 4615"/>
            </a:avLst>
          </a:prstGeom>
          <a:solidFill>
            <a:schemeClr val="bg2"/>
          </a:solidFill>
          <a:ln w="12700">
            <a:solidFill>
              <a:schemeClr val="bg2"/>
            </a:solidFill>
            <a:prstDash val="solid"/>
          </a:ln>
        </p:spPr>
      </p:sp>
      <p:sp>
        <p:nvSpPr>
          <p:cNvPr id="11" name="BLOCK circle"/>
          <p:cNvSpPr/>
          <p:nvPr/>
        </p:nvSpPr>
        <p:spPr>
          <a:xfrm>
            <a:off x="4572000" y="1572768"/>
            <a:ext cx="685800" cy="685800"/>
          </a:xfrm>
          <a:prstGeom prst="ellipse">
            <a:avLst/>
          </a:prstGeom>
          <a:solidFill>
            <a:schemeClr val="accent1"/>
          </a:solidFill>
          <a:ln w="12700">
            <a:solidFill>
              <a:schemeClr val="accent1"/>
            </a:solidFill>
            <a:prstDash val="solid"/>
          </a:ln>
        </p:spPr>
      </p:sp>
      <p:pic>
        <p:nvPicPr>
          <p:cNvPr id="12" name="BLOCK icon" descr="preencoded.png">    </p:cNvPr>
          <p:cNvPicPr>
            <a:picLocks noChangeAspect="1"/>
          </p:cNvPicPr>
          <p:nvPr/>
        </p:nvPicPr>
        <p:blipFill>
          <a:blip r:embed="rId2"/>
          <a:stretch>
            <a:fillRect/>
          </a:stretch>
        </p:blipFill>
        <p:spPr>
          <a:xfrm>
            <a:off x="4709160" y="1709928"/>
            <a:ext cx="411480" cy="411480"/>
          </a:xfrm>
          <a:prstGeom prst="rect">
            <a:avLst/>
          </a:prstGeom>
        </p:spPr>
      </p:pic>
      <p:sp>
        <p:nvSpPr>
          <p:cNvPr id="13" name="Text 9"/>
          <p:cNvSpPr txBox="1"/>
          <p:nvPr/>
        </p:nvSpPr>
        <p:spPr>
          <a:xfrm>
            <a:off x="5440680" y="1572768"/>
            <a:ext cx="2240280" cy="384048"/>
          </a:xfrm>
          <a:prstGeom prst="rect">
            <a:avLst/>
          </a:prstGeom>
          <a:noFill/>
          <a:ln/>
        </p:spPr>
        <p:txBody>
          <a:bodyPr wrap="square" lIns="0" tIns="0" rIns="0" bIns="0" rtlCol="0" anchor="t"/>
          <a:lstStyle/>
          <a:p>
            <a:pPr indent="0" marL="0">
              <a:buNone/>
            </a:pPr>
            <a:r>
              <a:rPr lang="en-US" sz="2100" b="1" dirty="0">
                <a:solidFill>
                  <a:schemeClr val="accent1"/>
                </a:solidFill>
              </a:rPr>
              <a:t>BLOCK</a:t>
            </a:r>
            <a:endParaRPr lang="en-US" sz="2100" dirty="0"/>
          </a:p>
        </p:txBody>
      </p:sp>
      <p:sp>
        <p:nvSpPr>
          <p:cNvPr id="14" name="Text 10"/>
          <p:cNvSpPr txBox="1"/>
          <p:nvPr/>
        </p:nvSpPr>
        <p:spPr>
          <a:xfrm>
            <a:off x="5440680" y="1956816"/>
            <a:ext cx="2240280" cy="320040"/>
          </a:xfrm>
          <a:prstGeom prst="rect">
            <a:avLst/>
          </a:prstGeom>
          <a:noFill/>
          <a:ln/>
        </p:spPr>
        <p:txBody>
          <a:bodyPr wrap="square" lIns="0" tIns="0" rIns="0" bIns="0" rtlCol="0" anchor="t"/>
          <a:lstStyle/>
          <a:p>
            <a:pPr indent="0" marL="0">
              <a:buNone/>
            </a:pPr>
            <a:r>
              <a:rPr lang="en-US" sz="1300" dirty="0">
                <a:solidFill>
                  <a:schemeClr val="accent6"/>
                </a:solidFill>
              </a:rPr>
              <a:t>US — OFAC</a:t>
            </a:r>
            <a:endParaRPr lang="en-US" sz="1300" dirty="0"/>
          </a:p>
        </p:txBody>
      </p:sp>
      <p:sp>
        <p:nvSpPr>
          <p:cNvPr id="15" name="Text 11"/>
          <p:cNvSpPr txBox="1"/>
          <p:nvPr/>
        </p:nvSpPr>
        <p:spPr>
          <a:xfrm>
            <a:off x="4572000" y="2468880"/>
            <a:ext cx="3017520" cy="1234440"/>
          </a:xfrm>
          <a:prstGeom prst="rect">
            <a:avLst/>
          </a:prstGeom>
          <a:noFill/>
          <a:ln/>
        </p:spPr>
        <p:txBody>
          <a:bodyPr wrap="square" lIns="0" tIns="0" rIns="0" bIns="0" rtlCol="0" anchor="t"/>
          <a:lstStyle/>
          <a:p>
            <a:pPr indent="0" marL="0">
              <a:buNone/>
            </a:pPr>
            <a:r>
              <a:rPr lang="en-US" sz="1500" dirty="0">
                <a:solidFill>
                  <a:schemeClr val="tx1"/>
                </a:solidFill>
              </a:rPr>
              <a:t>OFAC's term for a freeze, where a blocked person has an interest. The property stays in place and is reported to OFAC.</a:t>
            </a:r>
            <a:endParaRPr lang="en-US" sz="1500" dirty="0"/>
          </a:p>
        </p:txBody>
      </p:sp>
      <p:sp>
        <p:nvSpPr>
          <p:cNvPr id="16" name="REJECT"/>
          <p:cNvSpPr/>
          <p:nvPr/>
        </p:nvSpPr>
        <p:spPr>
          <a:xfrm>
            <a:off x="8046720" y="1371600"/>
            <a:ext cx="3566160" cy="2377440"/>
          </a:xfrm>
          <a:prstGeom prst="roundRect">
            <a:avLst>
              <a:gd name="adj" fmla="val 4615"/>
            </a:avLst>
          </a:prstGeom>
          <a:solidFill>
            <a:schemeClr val="bg2"/>
          </a:solidFill>
          <a:ln w="12700">
            <a:solidFill>
              <a:schemeClr val="bg2"/>
            </a:solidFill>
            <a:prstDash val="solid"/>
          </a:ln>
        </p:spPr>
      </p:sp>
      <p:sp>
        <p:nvSpPr>
          <p:cNvPr id="17" name="REJECT circle"/>
          <p:cNvSpPr/>
          <p:nvPr/>
        </p:nvSpPr>
        <p:spPr>
          <a:xfrm>
            <a:off x="8321040" y="1572768"/>
            <a:ext cx="685800" cy="685800"/>
          </a:xfrm>
          <a:prstGeom prst="ellipse">
            <a:avLst/>
          </a:prstGeom>
          <a:solidFill>
            <a:schemeClr val="accent2"/>
          </a:solidFill>
          <a:ln w="12700">
            <a:solidFill>
              <a:schemeClr val="accent2"/>
            </a:solidFill>
            <a:prstDash val="solid"/>
          </a:ln>
        </p:spPr>
      </p:sp>
      <p:pic>
        <p:nvPicPr>
          <p:cNvPr id="18" name="REJECT icon" descr="preencoded.png">    </p:cNvPr>
          <p:cNvPicPr>
            <a:picLocks noChangeAspect="1"/>
          </p:cNvPicPr>
          <p:nvPr/>
        </p:nvPicPr>
        <p:blipFill>
          <a:blip r:embed="rId3"/>
          <a:stretch>
            <a:fillRect/>
          </a:stretch>
        </p:blipFill>
        <p:spPr>
          <a:xfrm>
            <a:off x="8458200" y="1709928"/>
            <a:ext cx="411480" cy="411480"/>
          </a:xfrm>
          <a:prstGeom prst="rect">
            <a:avLst/>
          </a:prstGeom>
        </p:spPr>
      </p:pic>
      <p:sp>
        <p:nvSpPr>
          <p:cNvPr id="19" name="Text 14"/>
          <p:cNvSpPr txBox="1"/>
          <p:nvPr/>
        </p:nvSpPr>
        <p:spPr>
          <a:xfrm>
            <a:off x="9189720" y="1572768"/>
            <a:ext cx="2240280" cy="384048"/>
          </a:xfrm>
          <a:prstGeom prst="rect">
            <a:avLst/>
          </a:prstGeom>
          <a:noFill/>
          <a:ln/>
        </p:spPr>
        <p:txBody>
          <a:bodyPr wrap="square" lIns="0" tIns="0" rIns="0" bIns="0" rtlCol="0" anchor="t"/>
          <a:lstStyle/>
          <a:p>
            <a:pPr indent="0" marL="0">
              <a:buNone/>
            </a:pPr>
            <a:r>
              <a:rPr lang="en-US" sz="2100" b="1" dirty="0">
                <a:solidFill>
                  <a:schemeClr val="accent2"/>
                </a:solidFill>
              </a:rPr>
              <a:t>REJECT</a:t>
            </a:r>
            <a:endParaRPr lang="en-US" sz="2100" dirty="0"/>
          </a:p>
        </p:txBody>
      </p:sp>
      <p:sp>
        <p:nvSpPr>
          <p:cNvPr id="20" name="Text 15"/>
          <p:cNvSpPr txBox="1"/>
          <p:nvPr/>
        </p:nvSpPr>
        <p:spPr>
          <a:xfrm>
            <a:off x="9189720" y="1956816"/>
            <a:ext cx="2240280" cy="320040"/>
          </a:xfrm>
          <a:prstGeom prst="rect">
            <a:avLst/>
          </a:prstGeom>
          <a:noFill/>
          <a:ln/>
        </p:spPr>
        <p:txBody>
          <a:bodyPr wrap="square" lIns="0" tIns="0" rIns="0" bIns="0" rtlCol="0" anchor="t"/>
          <a:lstStyle/>
          <a:p>
            <a:pPr indent="0" marL="0">
              <a:buNone/>
            </a:pPr>
            <a:r>
              <a:rPr lang="en-US" sz="1300" dirty="0">
                <a:solidFill>
                  <a:schemeClr val="accent6"/>
                </a:solidFill>
              </a:rPr>
              <a:t>US — OFAC</a:t>
            </a:r>
            <a:endParaRPr lang="en-US" sz="1300" dirty="0"/>
          </a:p>
        </p:txBody>
      </p:sp>
      <p:sp>
        <p:nvSpPr>
          <p:cNvPr id="21" name="Text 16"/>
          <p:cNvSpPr txBox="1"/>
          <p:nvPr/>
        </p:nvSpPr>
        <p:spPr>
          <a:xfrm>
            <a:off x="8321040" y="2468880"/>
            <a:ext cx="3017520" cy="1234440"/>
          </a:xfrm>
          <a:prstGeom prst="rect">
            <a:avLst/>
          </a:prstGeom>
          <a:noFill/>
          <a:ln/>
        </p:spPr>
        <p:txBody>
          <a:bodyPr wrap="square" lIns="0" tIns="0" rIns="0" bIns="0" rtlCol="0" anchor="t"/>
          <a:lstStyle/>
          <a:p>
            <a:pPr indent="0" marL="0">
              <a:buNone/>
            </a:pPr>
            <a:r>
              <a:rPr lang="en-US" sz="1500" dirty="0">
                <a:solidFill>
                  <a:schemeClr val="tx1"/>
                </a:solidFill>
              </a:rPr>
              <a:t>The transaction is prohibited but no blocked person has an interest, so it is refused. Rejections are also reported to OFAC.</a:t>
            </a:r>
            <a:endParaRPr lang="en-US" sz="1500" dirty="0"/>
          </a:p>
        </p:txBody>
      </p:sp>
      <p:sp>
        <p:nvSpPr>
          <p:cNvPr id="22" name="warning"/>
          <p:cNvSpPr/>
          <p:nvPr/>
        </p:nvSpPr>
        <p:spPr>
          <a:xfrm>
            <a:off x="548640" y="3931920"/>
            <a:ext cx="11064240" cy="822960"/>
          </a:xfrm>
          <a:prstGeom prst="roundRect">
            <a:avLst>
              <a:gd name="adj" fmla="val 13333"/>
            </a:avLst>
          </a:prstGeom>
          <a:solidFill>
            <a:schemeClr val="accent1"/>
          </a:solidFill>
          <a:ln w="12700">
            <a:solidFill>
              <a:schemeClr val="accent1"/>
            </a:solidFill>
            <a:prstDash val="solid"/>
          </a:ln>
        </p:spPr>
      </p:sp>
      <p:pic>
        <p:nvPicPr>
          <p:cNvPr id="23" name="Image 3" descr="preencoded.png">    </p:cNvPr>
          <p:cNvPicPr>
            <a:picLocks noChangeAspect="1"/>
          </p:cNvPicPr>
          <p:nvPr/>
        </p:nvPicPr>
        <p:blipFill>
          <a:blip r:embed="rId4"/>
          <a:stretch>
            <a:fillRect/>
          </a:stretch>
        </p:blipFill>
        <p:spPr>
          <a:xfrm>
            <a:off x="777240" y="4087368"/>
            <a:ext cx="502920" cy="502920"/>
          </a:xfrm>
          <a:prstGeom prst="rect">
            <a:avLst/>
          </a:prstGeom>
        </p:spPr>
      </p:pic>
      <p:sp>
        <p:nvSpPr>
          <p:cNvPr id="24" name="Text 18"/>
          <p:cNvSpPr txBox="1"/>
          <p:nvPr/>
        </p:nvSpPr>
        <p:spPr>
          <a:xfrm>
            <a:off x="1463040" y="3931920"/>
            <a:ext cx="9966960" cy="822960"/>
          </a:xfrm>
          <a:prstGeom prst="rect">
            <a:avLst/>
          </a:prstGeom>
          <a:noFill/>
          <a:ln/>
        </p:spPr>
        <p:txBody>
          <a:bodyPr wrap="square" lIns="0" tIns="0" rIns="0" bIns="0" rtlCol="0" anchor="ctr"/>
          <a:lstStyle/>
          <a:p>
            <a:pPr indent="0" marL="0">
              <a:buNone/>
            </a:pPr>
            <a:r>
              <a:rPr lang="en-US" sz="1800" b="1" dirty="0">
                <a:solidFill>
                  <a:schemeClr val="bg1"/>
                </a:solidFill>
              </a:rPr>
              <a:t>Never return funds to a designated person: returning them is itself making funds available.</a:t>
            </a:r>
            <a:endParaRPr lang="en-US" sz="1800" dirty="0"/>
          </a:p>
        </p:txBody>
      </p:sp>
      <p:sp>
        <p:nvSpPr>
          <p:cNvPr id="25" name="The analyst's role"/>
          <p:cNvSpPr/>
          <p:nvPr/>
        </p:nvSpPr>
        <p:spPr>
          <a:xfrm>
            <a:off x="548640" y="4937760"/>
            <a:ext cx="11064240" cy="1005840"/>
          </a:xfrm>
          <a:prstGeom prst="roundRect">
            <a:avLst>
              <a:gd name="adj" fmla="val 10909"/>
            </a:avLst>
          </a:prstGeom>
          <a:solidFill>
            <a:schemeClr val="tx1"/>
          </a:solidFill>
          <a:ln w="12700">
            <a:solidFill>
              <a:schemeClr val="tx1"/>
            </a:solidFill>
            <a:prstDash val="solid"/>
          </a:ln>
        </p:spPr>
      </p:sp>
      <p:sp>
        <p:nvSpPr>
          <p:cNvPr id="26" name="Text 20"/>
          <p:cNvSpPr txBox="1"/>
          <p:nvPr/>
        </p:nvSpPr>
        <p:spPr>
          <a:xfrm>
            <a:off x="777240" y="4937760"/>
            <a:ext cx="10607040" cy="1005840"/>
          </a:xfrm>
          <a:prstGeom prst="rect">
            <a:avLst/>
          </a:prstGeom>
          <a:noFill/>
          <a:ln/>
        </p:spPr>
        <p:txBody>
          <a:bodyPr wrap="square" lIns="0" tIns="0" rIns="0" bIns="0" rtlCol="0" anchor="ctr"/>
          <a:lstStyle/>
          <a:p>
            <a:pPr indent="0" marL="0">
              <a:buNone/>
            </a:pPr>
            <a:r>
              <a:rPr lang="en-US" sz="1200" b="1" spc="100" kern="0" dirty="0">
                <a:solidFill>
                  <a:schemeClr val="accent2"/>
                </a:solidFill>
              </a:rPr>
              <a:t>THE ANALYST'S ROLE   </a:t>
            </a:r>
            <a:pPr indent="0" marL="0">
              <a:buNone/>
            </a:pPr>
            <a:r>
              <a:rPr lang="en-US" sz="1500" dirty="0">
                <a:solidFill>
                  <a:schemeClr val="bg1"/>
                </a:solidFill>
              </a:rPr>
              <a:t>Hold the payment and escalate. L2 and L3 decide whether to freeze, block or reject, and file any report. A rejected payment may still need to be reported: in the UK, the trigger is knowledge or reasonable cause to suspect, not whether the funds were retained.</a:t>
            </a:r>
            <a:endParaRPr lang="en-US" sz="1500" dirty="0"/>
          </a:p>
        </p:txBody>
      </p:sp>
      <p:sp>
        <p:nvSpPr>
          <p:cNvPr id="27" name="Text 21"/>
          <p:cNvSpPr txBox="1"/>
          <p:nvPr/>
        </p:nvSpPr>
        <p:spPr>
          <a:xfrm>
            <a:off x="548640" y="6053328"/>
            <a:ext cx="11064240" cy="292608"/>
          </a:xfrm>
          <a:prstGeom prst="rect">
            <a:avLst/>
          </a:prstGeom>
          <a:noFill/>
          <a:ln/>
        </p:spPr>
        <p:txBody>
          <a:bodyPr wrap="square" lIns="0" tIns="0" rIns="0" bIns="0" rtlCol="0" anchor="b"/>
          <a:lstStyle/>
          <a:p>
            <a:pPr indent="0" marL="0">
              <a:buNone/>
            </a:pPr>
            <a:r>
              <a:rPr lang="en-US" sz="1000" i="1" dirty="0">
                <a:solidFill>
                  <a:schemeClr val="accent6"/>
                </a:solidFill>
              </a:rPr>
              <a:t>Source: 31 CFR 501.603 (blocked property) and 501.604 (rejected transactions); Russia Regs 2019 regs 11–15 (asset freeze; making funds available) and reg 70 (reporting).</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3 OF 4</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bg1"/>
                </a:solidFill>
              </a:rPr>
              <a:t>Apply the indicators</a:t>
            </a:r>
            <a:endParaRPr lang="en-US" sz="3000" dirty="0"/>
          </a:p>
        </p:txBody>
      </p:sp>
      <p:sp>
        <p:nvSpPr>
          <p:cNvPr id="4" name="part 3 circle"/>
          <p:cNvSpPr/>
          <p:nvPr/>
        </p:nvSpPr>
        <p:spPr>
          <a:xfrm>
            <a:off x="10561320" y="320040"/>
            <a:ext cx="1005840" cy="1005840"/>
          </a:xfrm>
          <a:prstGeom prst="ellipse">
            <a:avLst/>
          </a:prstGeom>
          <a:solidFill>
            <a:schemeClr val="accent2"/>
          </a:solidFill>
          <a:ln w="12700">
            <a:solidFill>
              <a:schemeClr val="accent2"/>
            </a:solidFill>
            <a:prstDash val="solid"/>
          </a:ln>
        </p:spPr>
      </p:sp>
      <p:pic>
        <p:nvPicPr>
          <p:cNvPr id="5" name="part 3 icon" descr="preencoded.png">    </p:cNvPr>
          <p:cNvPicPr>
            <a:picLocks noChangeAspect="1"/>
          </p:cNvPicPr>
          <p:nvPr/>
        </p:nvPicPr>
        <p:blipFill>
          <a:blip r:embed="rId1"/>
          <a:stretch>
            <a:fillRect/>
          </a:stretch>
        </p:blipFill>
        <p:spPr>
          <a:xfrm>
            <a:off x="10762488" y="521208"/>
            <a:ext cx="603504" cy="603504"/>
          </a:xfrm>
          <a:prstGeom prst="rect">
            <a:avLst/>
          </a:prstGeom>
        </p:spPr>
      </p:pic>
      <p:sp>
        <p:nvSpPr>
          <p:cNvPr id="6" name="Text 3"/>
          <p:cNvSpPr txBox="1"/>
          <p:nvPr/>
        </p:nvSpPr>
        <p:spPr>
          <a:xfrm>
            <a:off x="548640" y="1234440"/>
            <a:ext cx="9601200" cy="457200"/>
          </a:xfrm>
          <a:prstGeom prst="rect">
            <a:avLst/>
          </a:prstGeom>
          <a:noFill/>
          <a:ln/>
        </p:spPr>
        <p:txBody>
          <a:bodyPr wrap="square" lIns="0" tIns="0" rIns="0" bIns="0" rtlCol="0" anchor="t"/>
          <a:lstStyle/>
          <a:p>
            <a:pPr indent="0" marL="0">
              <a:buNone/>
            </a:pPr>
            <a:r>
              <a:rPr lang="en-US" sz="2200" b="1" i="1" dirty="0">
                <a:solidFill>
                  <a:schemeClr val="accent2"/>
                </a:solidFill>
              </a:rPr>
              <a:t>From alert to evidence.</a:t>
            </a:r>
            <a:endParaRPr lang="en-US" sz="2200" dirty="0"/>
          </a:p>
        </p:txBody>
      </p:sp>
      <p:sp>
        <p:nvSpPr>
          <p:cNvPr id="7" name="Text 4"/>
          <p:cNvSpPr txBox="1"/>
          <p:nvPr/>
        </p:nvSpPr>
        <p:spPr>
          <a:xfrm>
            <a:off x="548640" y="1737360"/>
            <a:ext cx="10515600" cy="320040"/>
          </a:xfrm>
          <a:prstGeom prst="rect">
            <a:avLst/>
          </a:prstGeom>
          <a:noFill/>
          <a:ln/>
        </p:spPr>
        <p:txBody>
          <a:bodyPr wrap="square" lIns="0" tIns="0" rIns="0" bIns="0" rtlCol="0" anchor="t"/>
          <a:lstStyle/>
          <a:p>
            <a:pPr indent="0" marL="0">
              <a:buNone/>
            </a:pPr>
            <a:r>
              <a:rPr lang="en-US" sz="1400" i="1" dirty="0">
                <a:solidFill>
                  <a:schemeClr val="accent5"/>
                </a:solidFill>
              </a:rPr>
              <a:t>Building on Part 2: you know which rules apply and how outcomes differ.</a:t>
            </a:r>
            <a:endParaRPr lang="en-US" sz="1400" dirty="0"/>
          </a:p>
        </p:txBody>
      </p:sp>
      <p:sp>
        <p:nvSpPr>
          <p:cNvPr id="8" name="Text 5"/>
          <p:cNvSpPr txBox="1"/>
          <p:nvPr/>
        </p:nvSpPr>
        <p:spPr>
          <a:xfrm>
            <a:off x="548640" y="2103120"/>
            <a:ext cx="10789920" cy="914400"/>
          </a:xfrm>
          <a:prstGeom prst="rect">
            <a:avLst/>
          </a:prstGeom>
          <a:noFill/>
          <a:ln/>
        </p:spPr>
        <p:txBody>
          <a:bodyPr wrap="square" lIns="0" tIns="0" rIns="0" bIns="0" rtlCol="0" anchor="t"/>
          <a:lstStyle/>
          <a:p>
            <a:pPr indent="0" marL="0">
              <a:buNone/>
            </a:pPr>
            <a:r>
              <a:rPr lang="en-US" sz="1800" dirty="0">
                <a:solidFill>
                  <a:schemeClr val="bg1"/>
                </a:solidFill>
              </a:rPr>
              <a:t>Now use what you already know — identifiers, ownership, geography and payment behaviour — and the tools you already have, to resolve the alert or escalate it with evidence.</a:t>
            </a:r>
            <a:endParaRPr lang="en-US" sz="1800" dirty="0"/>
          </a:p>
        </p:txBody>
      </p:sp>
      <p:sp>
        <p:nvSpPr>
          <p:cNvPr id="9" name="In this part"/>
          <p:cNvSpPr/>
          <p:nvPr/>
        </p:nvSpPr>
        <p:spPr>
          <a:xfrm>
            <a:off x="548640" y="3200400"/>
            <a:ext cx="3566160" cy="2286000"/>
          </a:xfrm>
          <a:prstGeom prst="roundRect">
            <a:avLst>
              <a:gd name="adj" fmla="val 4800"/>
            </a:avLst>
          </a:prstGeom>
          <a:solidFill>
            <a:schemeClr val="tx1"/>
          </a:solidFill>
          <a:ln w="12700">
            <a:solidFill>
              <a:schemeClr val="accent4"/>
            </a:solidFill>
            <a:prstDash val="solid"/>
          </a:ln>
        </p:spPr>
      </p:sp>
      <p:sp>
        <p:nvSpPr>
          <p:cNvPr id="10" name="Text 7"/>
          <p:cNvSpPr txBox="1"/>
          <p:nvPr/>
        </p:nvSpPr>
        <p:spPr>
          <a:xfrm>
            <a:off x="777240" y="3337560"/>
            <a:ext cx="3108960" cy="228600"/>
          </a:xfrm>
          <a:prstGeom prst="rect">
            <a:avLst/>
          </a:prstGeom>
          <a:noFill/>
          <a:ln/>
        </p:spPr>
        <p:txBody>
          <a:bodyPr wrap="square" lIns="0" tIns="0" rIns="0" bIns="0" rtlCol="0" anchor="t"/>
          <a:lstStyle/>
          <a:p>
            <a:pPr indent="0" marL="0">
              <a:buNone/>
            </a:pPr>
            <a:r>
              <a:rPr lang="en-US" sz="1100" b="1" spc="100" kern="0" dirty="0">
                <a:solidFill>
                  <a:schemeClr val="accent5"/>
                </a:solidFill>
              </a:rPr>
              <a:t>IN THIS PART</a:t>
            </a:r>
            <a:endParaRPr lang="en-US" sz="1100" dirty="0"/>
          </a:p>
        </p:txBody>
      </p:sp>
      <p:sp>
        <p:nvSpPr>
          <p:cNvPr id="11" name="Text 8"/>
          <p:cNvSpPr txBox="1"/>
          <p:nvPr/>
        </p:nvSpPr>
        <p:spPr>
          <a:xfrm>
            <a:off x="777240" y="3657600"/>
            <a:ext cx="3154680" cy="182880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chemeClr val="bg1"/>
                </a:solidFill>
              </a:rPr>
              <a:t>Name variants and identifiers</a:t>
            </a:r>
            <a:endParaRPr lang="en-US" sz="1500" dirty="0"/>
          </a:p>
          <a:p>
            <a:pPr marL="342900" indent="-342900">
              <a:spcAft>
                <a:spcPts val="400"/>
              </a:spcAft>
              <a:buSzPct val="100000"/>
              <a:buChar char="•"/>
            </a:pPr>
            <a:r>
              <a:rPr lang="en-US" sz="1500" dirty="0">
                <a:solidFill>
                  <a:schemeClr val="bg1"/>
                </a:solidFill>
              </a:rPr>
              <a:t>Requesting information without tipping off</a:t>
            </a:r>
            <a:endParaRPr lang="en-US" sz="1500" dirty="0"/>
          </a:p>
          <a:p>
            <a:pPr marL="342900" indent="-342900">
              <a:spcAft>
                <a:spcPts val="400"/>
              </a:spcAft>
              <a:buSzPct val="100000"/>
              <a:buChar char="•"/>
            </a:pPr>
            <a:r>
              <a:rPr lang="en-US" sz="1500" dirty="0">
                <a:solidFill>
                  <a:schemeClr val="bg1"/>
                </a:solidFill>
              </a:rPr>
              <a:t>Case studies 01–04</a:t>
            </a:r>
            <a:endParaRPr lang="en-US" sz="1500" dirty="0"/>
          </a:p>
        </p:txBody>
      </p:sp>
      <p:sp>
        <p:nvSpPr>
          <p:cNvPr id="12" name="In your process"/>
          <p:cNvSpPr/>
          <p:nvPr/>
        </p:nvSpPr>
        <p:spPr>
          <a:xfrm>
            <a:off x="4297680" y="3200400"/>
            <a:ext cx="3566160" cy="2286000"/>
          </a:xfrm>
          <a:prstGeom prst="roundRect">
            <a:avLst>
              <a:gd name="adj" fmla="val 4800"/>
            </a:avLst>
          </a:prstGeom>
          <a:solidFill>
            <a:schemeClr val="tx1"/>
          </a:solidFill>
          <a:ln w="12700">
            <a:solidFill>
              <a:schemeClr val="accent4"/>
            </a:solidFill>
            <a:prstDash val="solid"/>
          </a:ln>
        </p:spPr>
      </p:sp>
      <p:sp>
        <p:nvSpPr>
          <p:cNvPr id="13" name="Text 10"/>
          <p:cNvSpPr txBox="1"/>
          <p:nvPr/>
        </p:nvSpPr>
        <p:spPr>
          <a:xfrm>
            <a:off x="4526280" y="3337560"/>
            <a:ext cx="3108960" cy="228600"/>
          </a:xfrm>
          <a:prstGeom prst="rect">
            <a:avLst/>
          </a:prstGeom>
          <a:noFill/>
          <a:ln/>
        </p:spPr>
        <p:txBody>
          <a:bodyPr wrap="square" lIns="0" tIns="0" rIns="0" bIns="0" rtlCol="0" anchor="t"/>
          <a:lstStyle/>
          <a:p>
            <a:pPr indent="0" marL="0">
              <a:buNone/>
            </a:pPr>
            <a:r>
              <a:rPr lang="en-US" sz="1100" b="1" spc="100" kern="0" dirty="0">
                <a:solidFill>
                  <a:schemeClr val="accent5"/>
                </a:solidFill>
              </a:rPr>
              <a:t>IN YOUR PROCESS</a:t>
            </a:r>
            <a:endParaRPr lang="en-US" sz="1100" dirty="0"/>
          </a:p>
        </p:txBody>
      </p:sp>
      <p:sp>
        <p:nvSpPr>
          <p:cNvPr id="14" name="Text 11"/>
          <p:cNvSpPr txBox="1"/>
          <p:nvPr/>
        </p:nvSpPr>
        <p:spPr>
          <a:xfrm>
            <a:off x="4526280" y="3657600"/>
            <a:ext cx="3154680" cy="1828800"/>
          </a:xfrm>
          <a:prstGeom prst="rect">
            <a:avLst/>
          </a:prstGeom>
          <a:noFill/>
          <a:ln/>
        </p:spPr>
        <p:txBody>
          <a:bodyPr wrap="square" lIns="0" tIns="0" rIns="0" bIns="0" rtlCol="0" anchor="t"/>
          <a:lstStyle/>
          <a:p>
            <a:pPr indent="0" marL="0">
              <a:buNone/>
            </a:pPr>
            <a:r>
              <a:rPr lang="en-US" sz="1500" dirty="0">
                <a:solidFill>
                  <a:schemeClr val="bg1"/>
                </a:solidFill>
              </a:rPr>
              <a:t>Firco match details and the list record; Orbis and corporate registries for ownership; the approved RFI template; re-screening once new data arrives.</a:t>
            </a:r>
            <a:endParaRPr lang="en-US" sz="1500" dirty="0"/>
          </a:p>
        </p:txBody>
      </p:sp>
      <p:sp>
        <p:nvSpPr>
          <p:cNvPr id="15" name="Ask yourself"/>
          <p:cNvSpPr/>
          <p:nvPr/>
        </p:nvSpPr>
        <p:spPr>
          <a:xfrm>
            <a:off x="8046720" y="3200400"/>
            <a:ext cx="3566160" cy="2286000"/>
          </a:xfrm>
          <a:prstGeom prst="roundRect">
            <a:avLst>
              <a:gd name="adj" fmla="val 4800"/>
            </a:avLst>
          </a:prstGeom>
          <a:solidFill>
            <a:schemeClr val="tx1"/>
          </a:solidFill>
          <a:ln w="12700">
            <a:solidFill>
              <a:schemeClr val="accent4"/>
            </a:solidFill>
            <a:prstDash val="solid"/>
          </a:ln>
        </p:spPr>
      </p:sp>
      <p:sp>
        <p:nvSpPr>
          <p:cNvPr id="16" name="Text 13"/>
          <p:cNvSpPr txBox="1"/>
          <p:nvPr/>
        </p:nvSpPr>
        <p:spPr>
          <a:xfrm>
            <a:off x="8275320" y="3337560"/>
            <a:ext cx="3108960" cy="228600"/>
          </a:xfrm>
          <a:prstGeom prst="rect">
            <a:avLst/>
          </a:prstGeom>
          <a:noFill/>
          <a:ln/>
        </p:spPr>
        <p:txBody>
          <a:bodyPr wrap="square" lIns="0" tIns="0" rIns="0" bIns="0" rtlCol="0" anchor="t"/>
          <a:lstStyle/>
          <a:p>
            <a:pPr indent="0" marL="0">
              <a:buNone/>
            </a:pPr>
            <a:r>
              <a:rPr lang="en-US" sz="1100" b="1" spc="100" kern="0" dirty="0">
                <a:solidFill>
                  <a:schemeClr val="accent2"/>
                </a:solidFill>
              </a:rPr>
              <a:t>ASK YOURSELF</a:t>
            </a:r>
            <a:endParaRPr lang="en-US" sz="1100" dirty="0"/>
          </a:p>
        </p:txBody>
      </p:sp>
      <p:sp>
        <p:nvSpPr>
          <p:cNvPr id="17" name="Text 14"/>
          <p:cNvSpPr txBox="1"/>
          <p:nvPr/>
        </p:nvSpPr>
        <p:spPr>
          <a:xfrm>
            <a:off x="8275320" y="3657600"/>
            <a:ext cx="3154680" cy="1828800"/>
          </a:xfrm>
          <a:prstGeom prst="rect">
            <a:avLst/>
          </a:prstGeom>
          <a:noFill/>
          <a:ln/>
        </p:spPr>
        <p:txBody>
          <a:bodyPr wrap="square" lIns="0" tIns="0" rIns="0" bIns="0" rtlCol="0" anchor="t"/>
          <a:lstStyle/>
          <a:p>
            <a:pPr indent="0" marL="0">
              <a:buNone/>
            </a:pPr>
            <a:r>
              <a:rPr lang="en-US" sz="1700" i="1" dirty="0">
                <a:solidFill>
                  <a:schemeClr val="bg1"/>
                </a:solidFill>
              </a:rPr>
              <a:t>What evidence would resolve this alert — and where in our process do I get it?</a:t>
            </a:r>
            <a:endParaRPr lang="en-US" sz="1700" dirty="0"/>
          </a:p>
        </p:txBody>
      </p:sp>
      <p:sp>
        <p:nvSpPr>
          <p:cNvPr id="18" name="progress 1"/>
          <p:cNvSpPr/>
          <p:nvPr/>
        </p:nvSpPr>
        <p:spPr>
          <a:xfrm>
            <a:off x="548640" y="5806440"/>
            <a:ext cx="2651760" cy="384048"/>
          </a:xfrm>
          <a:prstGeom prst="roundRect">
            <a:avLst>
              <a:gd name="adj" fmla="val 50000"/>
            </a:avLst>
          </a:prstGeom>
          <a:solidFill>
            <a:schemeClr val="tx2"/>
          </a:solidFill>
          <a:ln w="12700">
            <a:solidFill>
              <a:schemeClr val="accent4"/>
            </a:solidFill>
            <a:prstDash val="solid"/>
          </a:ln>
        </p:spPr>
      </p:sp>
      <p:sp>
        <p:nvSpPr>
          <p:cNvPr id="19" name="Text 16"/>
          <p:cNvSpPr txBox="1"/>
          <p:nvPr/>
        </p:nvSpPr>
        <p:spPr>
          <a:xfrm>
            <a:off x="548640" y="5806440"/>
            <a:ext cx="2651760" cy="384048"/>
          </a:xfrm>
          <a:prstGeom prst="rect">
            <a:avLst/>
          </a:prstGeom>
          <a:noFill/>
          <a:ln/>
        </p:spPr>
        <p:txBody>
          <a:bodyPr wrap="square" lIns="0" tIns="0" rIns="0" bIns="0" rtlCol="0" anchor="ctr"/>
          <a:lstStyle/>
          <a:p>
            <a:pPr algn="ctr" indent="0" marL="0">
              <a:buNone/>
            </a:pPr>
            <a:r>
              <a:rPr lang="en-US" sz="1300" dirty="0">
                <a:solidFill>
                  <a:schemeClr val="accent5"/>
                </a:solidFill>
              </a:rPr>
              <a:t>1  Understand the model</a:t>
            </a:r>
            <a:endParaRPr lang="en-US" sz="1300" dirty="0"/>
          </a:p>
        </p:txBody>
      </p:sp>
      <p:sp>
        <p:nvSpPr>
          <p:cNvPr id="20" name="progress 2"/>
          <p:cNvSpPr/>
          <p:nvPr/>
        </p:nvSpPr>
        <p:spPr>
          <a:xfrm>
            <a:off x="3346704" y="5806440"/>
            <a:ext cx="2651760" cy="384048"/>
          </a:xfrm>
          <a:prstGeom prst="roundRect">
            <a:avLst>
              <a:gd name="adj" fmla="val 50000"/>
            </a:avLst>
          </a:prstGeom>
          <a:solidFill>
            <a:schemeClr val="tx2"/>
          </a:solidFill>
          <a:ln w="12700">
            <a:solidFill>
              <a:schemeClr val="accent4"/>
            </a:solidFill>
            <a:prstDash val="solid"/>
          </a:ln>
        </p:spPr>
      </p:sp>
      <p:sp>
        <p:nvSpPr>
          <p:cNvPr id="21" name="Text 18"/>
          <p:cNvSpPr txBox="1"/>
          <p:nvPr/>
        </p:nvSpPr>
        <p:spPr>
          <a:xfrm>
            <a:off x="3346704" y="5806440"/>
            <a:ext cx="2651760" cy="384048"/>
          </a:xfrm>
          <a:prstGeom prst="rect">
            <a:avLst/>
          </a:prstGeom>
          <a:noFill/>
          <a:ln/>
        </p:spPr>
        <p:txBody>
          <a:bodyPr wrap="square" lIns="0" tIns="0" rIns="0" bIns="0" rtlCol="0" anchor="ctr"/>
          <a:lstStyle/>
          <a:p>
            <a:pPr algn="ctr" indent="0" marL="0">
              <a:buNone/>
            </a:pPr>
            <a:r>
              <a:rPr lang="en-US" sz="1300" dirty="0">
                <a:solidFill>
                  <a:schemeClr val="accent5"/>
                </a:solidFill>
              </a:rPr>
              <a:t>2  Compare the regions</a:t>
            </a:r>
            <a:endParaRPr lang="en-US" sz="1300" dirty="0"/>
          </a:p>
        </p:txBody>
      </p:sp>
      <p:sp>
        <p:nvSpPr>
          <p:cNvPr id="22" name="progress 3"/>
          <p:cNvSpPr/>
          <p:nvPr/>
        </p:nvSpPr>
        <p:spPr>
          <a:xfrm>
            <a:off x="6144768" y="5806440"/>
            <a:ext cx="2651760" cy="384048"/>
          </a:xfrm>
          <a:prstGeom prst="roundRect">
            <a:avLst>
              <a:gd name="adj" fmla="val 50000"/>
            </a:avLst>
          </a:prstGeom>
          <a:solidFill>
            <a:schemeClr val="accent2"/>
          </a:solidFill>
          <a:ln w="12700">
            <a:solidFill>
              <a:schemeClr val="accent2"/>
            </a:solidFill>
            <a:prstDash val="solid"/>
          </a:ln>
        </p:spPr>
      </p:sp>
      <p:sp>
        <p:nvSpPr>
          <p:cNvPr id="23" name="Text 20"/>
          <p:cNvSpPr txBox="1"/>
          <p:nvPr/>
        </p:nvSpPr>
        <p:spPr>
          <a:xfrm>
            <a:off x="6144768" y="5806440"/>
            <a:ext cx="2651760" cy="384048"/>
          </a:xfrm>
          <a:prstGeom prst="rect">
            <a:avLst/>
          </a:prstGeom>
          <a:noFill/>
          <a:ln/>
        </p:spPr>
        <p:txBody>
          <a:bodyPr wrap="square" lIns="0" tIns="0" rIns="0" bIns="0" rtlCol="0" anchor="ctr"/>
          <a:lstStyle/>
          <a:p>
            <a:pPr algn="ctr" indent="0" marL="0">
              <a:buNone/>
            </a:pPr>
            <a:r>
              <a:rPr lang="en-US" sz="1300" b="1" dirty="0">
                <a:solidFill>
                  <a:schemeClr val="bg1"/>
                </a:solidFill>
              </a:rPr>
              <a:t>3  Apply the indicators</a:t>
            </a:r>
            <a:endParaRPr lang="en-US" sz="1300" dirty="0"/>
          </a:p>
        </p:txBody>
      </p:sp>
      <p:sp>
        <p:nvSpPr>
          <p:cNvPr id="24" name="progress 4"/>
          <p:cNvSpPr/>
          <p:nvPr/>
        </p:nvSpPr>
        <p:spPr>
          <a:xfrm>
            <a:off x="8942832" y="5806440"/>
            <a:ext cx="2651760" cy="384048"/>
          </a:xfrm>
          <a:prstGeom prst="roundRect">
            <a:avLst>
              <a:gd name="adj" fmla="val 50000"/>
            </a:avLst>
          </a:prstGeom>
          <a:solidFill>
            <a:schemeClr val="tx2"/>
          </a:solidFill>
          <a:ln w="12700">
            <a:solidFill>
              <a:schemeClr val="accent4"/>
            </a:solidFill>
            <a:prstDash val="solid"/>
          </a:ln>
        </p:spPr>
      </p:sp>
      <p:sp>
        <p:nvSpPr>
          <p:cNvPr id="25" name="Text 22"/>
          <p:cNvSpPr txBox="1"/>
          <p:nvPr/>
        </p:nvSpPr>
        <p:spPr>
          <a:xfrm>
            <a:off x="8942832" y="5806440"/>
            <a:ext cx="2651760" cy="384048"/>
          </a:xfrm>
          <a:prstGeom prst="rect">
            <a:avLst/>
          </a:prstGeom>
          <a:noFill/>
          <a:ln/>
        </p:spPr>
        <p:txBody>
          <a:bodyPr wrap="square" lIns="0" tIns="0" rIns="0" bIns="0" rtlCol="0" anchor="ctr"/>
          <a:lstStyle/>
          <a:p>
            <a:pPr algn="ctr" indent="0" marL="0">
              <a:buNone/>
            </a:pPr>
            <a:r>
              <a:rPr lang="en-US" sz="1300" dirty="0">
                <a:solidFill>
                  <a:schemeClr val="accent5"/>
                </a:solidFill>
              </a:rPr>
              <a:t>4  Record the decision</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3 · NAME MATCHING</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tx1"/>
                </a:solidFill>
              </a:rPr>
              <a:t>Name variants are where screening most often fails</a:t>
            </a:r>
            <a:endParaRPr lang="en-US" sz="3000" dirty="0"/>
          </a:p>
        </p:txBody>
      </p:sp>
      <p:sp>
        <p:nvSpPr>
          <p:cNvPr id="4" name="Legal-form prefixes"/>
          <p:cNvSpPr/>
          <p:nvPr/>
        </p:nvSpPr>
        <p:spPr>
          <a:xfrm>
            <a:off x="548640" y="1371600"/>
            <a:ext cx="6492240" cy="941832"/>
          </a:xfrm>
          <a:prstGeom prst="roundRect">
            <a:avLst>
              <a:gd name="adj" fmla="val 11650"/>
            </a:avLst>
          </a:prstGeom>
          <a:solidFill>
            <a:schemeClr val="bg2"/>
          </a:solidFill>
          <a:ln w="12700">
            <a:solidFill>
              <a:schemeClr val="bg2"/>
            </a:solidFill>
            <a:prstDash val="solid"/>
          </a:ln>
        </p:spPr>
      </p:sp>
      <p:sp>
        <p:nvSpPr>
          <p:cNvPr id="5" name="Text 3"/>
          <p:cNvSpPr txBox="1"/>
          <p:nvPr/>
        </p:nvSpPr>
        <p:spPr>
          <a:xfrm>
            <a:off x="777240" y="1444752"/>
            <a:ext cx="2103120" cy="795528"/>
          </a:xfrm>
          <a:prstGeom prst="rect">
            <a:avLst/>
          </a:prstGeom>
          <a:noFill/>
          <a:ln/>
        </p:spPr>
        <p:txBody>
          <a:bodyPr wrap="square" lIns="0" tIns="0" rIns="0" bIns="0" rtlCol="0" anchor="ctr"/>
          <a:lstStyle/>
          <a:p>
            <a:pPr indent="0" marL="0">
              <a:buNone/>
            </a:pPr>
            <a:r>
              <a:rPr lang="en-US" sz="1600" b="1" dirty="0">
                <a:solidFill>
                  <a:schemeClr val="tx1"/>
                </a:solidFill>
              </a:rPr>
              <a:t>Legal-form prefixes</a:t>
            </a:r>
            <a:endParaRPr lang="en-US" sz="1600" dirty="0"/>
          </a:p>
        </p:txBody>
      </p:sp>
      <p:sp>
        <p:nvSpPr>
          <p:cNvPr id="6" name="Text 4"/>
          <p:cNvSpPr txBox="1"/>
          <p:nvPr/>
        </p:nvSpPr>
        <p:spPr>
          <a:xfrm>
            <a:off x="2926080" y="1444752"/>
            <a:ext cx="3977640" cy="795528"/>
          </a:xfrm>
          <a:prstGeom prst="rect">
            <a:avLst/>
          </a:prstGeom>
          <a:noFill/>
          <a:ln/>
        </p:spPr>
        <p:txBody>
          <a:bodyPr wrap="square" lIns="0" tIns="0" rIns="0" bIns="0" rtlCol="0" anchor="ctr"/>
          <a:lstStyle/>
          <a:p>
            <a:pPr indent="0" marL="0">
              <a:buNone/>
            </a:pPr>
            <a:r>
              <a:rPr lang="en-US" sz="1400" b="1" dirty="0">
                <a:solidFill>
                  <a:schemeClr val="tx1"/>
                </a:solidFill>
              </a:rPr>
              <a:t>PAO · ПАО · PJSC · OAO · AO · OOO · LLC · Ltd</a:t>
            </a:r>
            <a:endParaRPr lang="en-US" sz="1400" dirty="0"/>
          </a:p>
          <a:p>
            <a:pPr indent="0" marL="0">
              <a:buNone/>
            </a:pPr>
            <a:r>
              <a:rPr lang="en-US" sz="1300" dirty="0">
                <a:solidFill>
                  <a:schemeClr val="accent6"/>
                </a:solidFill>
              </a:rPr>
              <a:t>Citibank: “PAO Sovcomflot” was not matched to “Sovcomflot”.</a:t>
            </a:r>
            <a:endParaRPr lang="en-US" sz="1400" dirty="0"/>
          </a:p>
        </p:txBody>
      </p:sp>
      <p:sp>
        <p:nvSpPr>
          <p:cNvPr id="7" name="Transliteration"/>
          <p:cNvSpPr/>
          <p:nvPr/>
        </p:nvSpPr>
        <p:spPr>
          <a:xfrm>
            <a:off x="548640" y="2450592"/>
            <a:ext cx="6492240" cy="941832"/>
          </a:xfrm>
          <a:prstGeom prst="roundRect">
            <a:avLst>
              <a:gd name="adj" fmla="val 11650"/>
            </a:avLst>
          </a:prstGeom>
          <a:solidFill>
            <a:schemeClr val="bg2"/>
          </a:solidFill>
          <a:ln w="12700">
            <a:solidFill>
              <a:schemeClr val="bg2"/>
            </a:solidFill>
            <a:prstDash val="solid"/>
          </a:ln>
        </p:spPr>
      </p:sp>
      <p:sp>
        <p:nvSpPr>
          <p:cNvPr id="8" name="Text 6"/>
          <p:cNvSpPr txBox="1"/>
          <p:nvPr/>
        </p:nvSpPr>
        <p:spPr>
          <a:xfrm>
            <a:off x="777240" y="2523744"/>
            <a:ext cx="2103120" cy="795528"/>
          </a:xfrm>
          <a:prstGeom prst="rect">
            <a:avLst/>
          </a:prstGeom>
          <a:noFill/>
          <a:ln/>
        </p:spPr>
        <p:txBody>
          <a:bodyPr wrap="square" lIns="0" tIns="0" rIns="0" bIns="0" rtlCol="0" anchor="ctr"/>
          <a:lstStyle/>
          <a:p>
            <a:pPr indent="0" marL="0">
              <a:buNone/>
            </a:pPr>
            <a:r>
              <a:rPr lang="en-US" sz="1600" b="1" dirty="0">
                <a:solidFill>
                  <a:schemeClr val="tx1"/>
                </a:solidFill>
              </a:rPr>
              <a:t>Transliteration</a:t>
            </a:r>
            <a:endParaRPr lang="en-US" sz="1600" dirty="0"/>
          </a:p>
        </p:txBody>
      </p:sp>
      <p:sp>
        <p:nvSpPr>
          <p:cNvPr id="9" name="Text 7"/>
          <p:cNvSpPr txBox="1"/>
          <p:nvPr/>
        </p:nvSpPr>
        <p:spPr>
          <a:xfrm>
            <a:off x="2926080" y="2523744"/>
            <a:ext cx="3977640" cy="795528"/>
          </a:xfrm>
          <a:prstGeom prst="rect">
            <a:avLst/>
          </a:prstGeom>
          <a:noFill/>
          <a:ln/>
        </p:spPr>
        <p:txBody>
          <a:bodyPr wrap="square" lIns="0" tIns="0" rIns="0" bIns="0" rtlCol="0" anchor="ctr"/>
          <a:lstStyle/>
          <a:p>
            <a:pPr indent="0" marL="0">
              <a:buNone/>
            </a:pPr>
            <a:r>
              <a:rPr lang="en-US" sz="1400" b="1" dirty="0">
                <a:solidFill>
                  <a:schemeClr val="tx1"/>
                </a:solidFill>
              </a:rPr>
              <a:t>Mohammed · Muhammad · Mohamed · Aleksandr · Alexander</a:t>
            </a:r>
            <a:endParaRPr lang="en-US" sz="1400" dirty="0"/>
          </a:p>
          <a:p>
            <a:pPr indent="0" marL="0">
              <a:buNone/>
            </a:pPr>
            <a:r>
              <a:rPr lang="en-US" sz="1300" dirty="0">
                <a:solidFill>
                  <a:schemeClr val="accent6"/>
                </a:solidFill>
              </a:rPr>
              <a:t>Bank of Scotland: the passport spelling differed from the list entry.</a:t>
            </a:r>
            <a:endParaRPr lang="en-US" sz="1400" dirty="0"/>
          </a:p>
        </p:txBody>
      </p:sp>
      <p:sp>
        <p:nvSpPr>
          <p:cNvPr id="10" name="Word order, initials, aliases"/>
          <p:cNvSpPr/>
          <p:nvPr/>
        </p:nvSpPr>
        <p:spPr>
          <a:xfrm>
            <a:off x="548640" y="3529584"/>
            <a:ext cx="6492240" cy="941832"/>
          </a:xfrm>
          <a:prstGeom prst="roundRect">
            <a:avLst>
              <a:gd name="adj" fmla="val 11650"/>
            </a:avLst>
          </a:prstGeom>
          <a:solidFill>
            <a:schemeClr val="bg2"/>
          </a:solidFill>
          <a:ln w="12700">
            <a:solidFill>
              <a:schemeClr val="bg2"/>
            </a:solidFill>
            <a:prstDash val="solid"/>
          </a:ln>
        </p:spPr>
      </p:sp>
      <p:sp>
        <p:nvSpPr>
          <p:cNvPr id="11" name="Text 9"/>
          <p:cNvSpPr txBox="1"/>
          <p:nvPr/>
        </p:nvSpPr>
        <p:spPr>
          <a:xfrm>
            <a:off x="777240" y="3602736"/>
            <a:ext cx="2103120" cy="795528"/>
          </a:xfrm>
          <a:prstGeom prst="rect">
            <a:avLst/>
          </a:prstGeom>
          <a:noFill/>
          <a:ln/>
        </p:spPr>
        <p:txBody>
          <a:bodyPr wrap="square" lIns="0" tIns="0" rIns="0" bIns="0" rtlCol="0" anchor="ctr"/>
          <a:lstStyle/>
          <a:p>
            <a:pPr indent="0" marL="0">
              <a:buNone/>
            </a:pPr>
            <a:r>
              <a:rPr lang="en-US" sz="1600" b="1" dirty="0">
                <a:solidFill>
                  <a:schemeClr val="tx1"/>
                </a:solidFill>
              </a:rPr>
              <a:t>Word order, initials, aliases</a:t>
            </a:r>
            <a:endParaRPr lang="en-US" sz="1600" dirty="0"/>
          </a:p>
        </p:txBody>
      </p:sp>
      <p:sp>
        <p:nvSpPr>
          <p:cNvPr id="12" name="Text 10"/>
          <p:cNvSpPr txBox="1"/>
          <p:nvPr/>
        </p:nvSpPr>
        <p:spPr>
          <a:xfrm>
            <a:off x="2926080" y="3602736"/>
            <a:ext cx="3977640" cy="795528"/>
          </a:xfrm>
          <a:prstGeom prst="rect">
            <a:avLst/>
          </a:prstGeom>
          <a:noFill/>
          <a:ln/>
        </p:spPr>
        <p:txBody>
          <a:bodyPr wrap="square" lIns="0" tIns="0" rIns="0" bIns="0" rtlCol="0" anchor="ctr"/>
          <a:lstStyle/>
          <a:p>
            <a:pPr indent="0" marL="0">
              <a:buNone/>
            </a:pPr>
            <a:r>
              <a:rPr lang="en-US" sz="1400" b="1" dirty="0">
                <a:solidFill>
                  <a:schemeClr val="tx1"/>
                </a:solidFill>
              </a:rPr>
              <a:t>“M. Rahman” · “Rahman, Mohammed” · “Rakhman”</a:t>
            </a:r>
            <a:endParaRPr lang="en-US" sz="1400" dirty="0"/>
          </a:p>
          <a:p>
            <a:pPr indent="0" marL="0">
              <a:buNone/>
            </a:pPr>
            <a:r>
              <a:rPr lang="en-US" sz="1300" dirty="0">
                <a:solidFill>
                  <a:schemeClr val="accent6"/>
                </a:solidFill>
              </a:rPr>
              <a:t>Historical aliases on the list record count.</a:t>
            </a:r>
            <a:endParaRPr lang="en-US" sz="1400" dirty="0"/>
          </a:p>
        </p:txBody>
      </p:sp>
      <p:sp>
        <p:nvSpPr>
          <p:cNvPr id="13" name="identifiers"/>
          <p:cNvSpPr/>
          <p:nvPr/>
        </p:nvSpPr>
        <p:spPr>
          <a:xfrm>
            <a:off x="7269480" y="1371600"/>
            <a:ext cx="4343400" cy="3099816"/>
          </a:xfrm>
          <a:prstGeom prst="roundRect">
            <a:avLst>
              <a:gd name="adj" fmla="val 3540"/>
            </a:avLst>
          </a:prstGeom>
          <a:solidFill>
            <a:schemeClr val="tx1"/>
          </a:solidFill>
          <a:ln w="12700">
            <a:solidFill>
              <a:schemeClr val="tx1"/>
            </a:solidFill>
            <a:prstDash val="solid"/>
          </a:ln>
        </p:spPr>
      </p:sp>
      <p:sp>
        <p:nvSpPr>
          <p:cNvPr id="14" name="Text 12"/>
          <p:cNvSpPr txBox="1"/>
          <p:nvPr/>
        </p:nvSpPr>
        <p:spPr>
          <a:xfrm>
            <a:off x="7498080" y="1508760"/>
            <a:ext cx="3931920" cy="228600"/>
          </a:xfrm>
          <a:prstGeom prst="rect">
            <a:avLst/>
          </a:prstGeom>
          <a:noFill/>
          <a:ln/>
        </p:spPr>
        <p:txBody>
          <a:bodyPr wrap="square" lIns="0" tIns="0" rIns="0" bIns="0" rtlCol="0" anchor="t"/>
          <a:lstStyle/>
          <a:p>
            <a:pPr indent="0" marL="0">
              <a:buNone/>
            </a:pPr>
            <a:r>
              <a:rPr lang="en-US" sz="1100" b="1" spc="100" kern="0" dirty="0">
                <a:solidFill>
                  <a:schemeClr val="accent5"/>
                </a:solidFill>
              </a:rPr>
              <a:t>IDENTIFIERS THAT RESOLVE A MATCH</a:t>
            </a:r>
            <a:endParaRPr lang="en-US" sz="1100" dirty="0"/>
          </a:p>
        </p:txBody>
      </p:sp>
      <p:sp>
        <p:nvSpPr>
          <p:cNvPr id="15" name="Text 13"/>
          <p:cNvSpPr txBox="1"/>
          <p:nvPr/>
        </p:nvSpPr>
        <p:spPr>
          <a:xfrm>
            <a:off x="7498080" y="1874520"/>
            <a:ext cx="3931920" cy="2514600"/>
          </a:xfrm>
          <a:prstGeom prst="rect">
            <a:avLst/>
          </a:prstGeom>
          <a:noFill/>
          <a:ln/>
        </p:spPr>
        <p:txBody>
          <a:bodyPr wrap="square" lIns="0" tIns="0" rIns="0" bIns="0" rtlCol="0" anchor="t"/>
          <a:lstStyle/>
          <a:p>
            <a:pPr indent="0" marL="0">
              <a:buNone/>
            </a:pPr>
            <a:r>
              <a:rPr lang="en-US" sz="1500" b="1" dirty="0">
                <a:solidFill>
                  <a:schemeClr val="bg1"/>
                </a:solidFill>
              </a:rPr>
              <a:t>Strong</a:t>
            </a:r>
            <a:endParaRPr lang="en-US" sz="1500" dirty="0"/>
          </a:p>
          <a:p>
            <a:pPr indent="0" marL="0">
              <a:buNone/>
            </a:pPr>
            <a:r>
              <a:rPr lang="en-US" sz="1500" dirty="0">
                <a:solidFill>
                  <a:schemeClr val="bg1"/>
                </a:solidFill>
              </a:rPr>
              <a:t>Date of birth, passport or national ID number, company registration number, IMO number for vessels.</a:t>
            </a:r>
            <a:endParaRPr lang="en-US" sz="1500" dirty="0"/>
          </a:p>
          <a:p>
            <a:pPr indent="0" marL="0">
              <a:buNone/>
            </a:pPr>
            <a:r>
              <a:rPr lang="en-US" sz="800" dirty="0">
                <a:solidFill>
                  <a:schemeClr val="bg1"/>
                </a:solidFill>
              </a:rPr>
              <a:t> </a:t>
            </a:r>
            <a:endParaRPr lang="en-US" sz="1500" dirty="0"/>
          </a:p>
          <a:p>
            <a:pPr indent="0" marL="0">
              <a:buNone/>
            </a:pPr>
            <a:r>
              <a:rPr lang="en-US" sz="1500" b="1" dirty="0">
                <a:solidFill>
                  <a:schemeClr val="bg1"/>
                </a:solidFill>
              </a:rPr>
              <a:t>Supporting</a:t>
            </a:r>
            <a:endParaRPr lang="en-US" sz="1500" dirty="0"/>
          </a:p>
          <a:p>
            <a:pPr indent="0" marL="0">
              <a:buNone/>
            </a:pPr>
            <a:r>
              <a:rPr lang="en-US" sz="1500" dirty="0">
                <a:solidFill>
                  <a:schemeClr val="bg1"/>
                </a:solidFill>
              </a:rPr>
              <a:t>Nationality, address, city, year of birth only.</a:t>
            </a:r>
            <a:endParaRPr lang="en-US" sz="1500" dirty="0"/>
          </a:p>
        </p:txBody>
      </p:sp>
      <p:sp>
        <p:nvSpPr>
          <p:cNvPr id="16" name="Decision"/>
          <p:cNvSpPr/>
          <p:nvPr/>
        </p:nvSpPr>
        <p:spPr>
          <a:xfrm>
            <a:off x="548640" y="4663440"/>
            <a:ext cx="11064240" cy="1234440"/>
          </a:xfrm>
          <a:prstGeom prst="roundRect">
            <a:avLst>
              <a:gd name="adj" fmla="val 8889"/>
            </a:avLst>
          </a:prstGeom>
          <a:solidFill>
            <a:schemeClr val="bg2"/>
          </a:solidFill>
          <a:ln w="12700">
            <a:solidFill>
              <a:schemeClr val="bg2"/>
            </a:solidFill>
            <a:prstDash val="solid"/>
          </a:ln>
        </p:spPr>
      </p:sp>
      <p:sp>
        <p:nvSpPr>
          <p:cNvPr id="17" name="Text 15"/>
          <p:cNvSpPr txBox="1"/>
          <p:nvPr/>
        </p:nvSpPr>
        <p:spPr>
          <a:xfrm>
            <a:off x="777240" y="4663440"/>
            <a:ext cx="10607040" cy="1234440"/>
          </a:xfrm>
          <a:prstGeom prst="rect">
            <a:avLst/>
          </a:prstGeom>
          <a:noFill/>
          <a:ln/>
        </p:spPr>
        <p:txBody>
          <a:bodyPr wrap="square" lIns="0" tIns="0" rIns="0" bIns="0" rtlCol="0" anchor="ctr"/>
          <a:lstStyle/>
          <a:p>
            <a:pPr indent="0" marL="0">
              <a:buNone/>
            </a:pPr>
            <a:r>
              <a:rPr lang="en-US" sz="1200" b="1" spc="100" kern="0" dirty="0">
                <a:solidFill>
                  <a:schemeClr val="accent3"/>
                </a:solidFill>
              </a:rPr>
              <a:t>DECISION   </a:t>
            </a:r>
            <a:pPr indent="0" marL="0">
              <a:buNone/>
            </a:pPr>
            <a:r>
              <a:rPr lang="en-US" sz="1600" dirty="0">
                <a:solidFill>
                  <a:schemeClr val="tx1"/>
                </a:solidFill>
              </a:rPr>
              <a:t>Re-screen with the full legal name and known variants. Close as a false positive only when the mismatch is evidenced and independently checked — never because data is missing, the score is low or the name is common.</a:t>
            </a:r>
            <a:endParaRPr lang="en-US" sz="1600" dirty="0"/>
          </a:p>
        </p:txBody>
      </p:sp>
      <p:sp>
        <p:nvSpPr>
          <p:cNvPr id="18" name="Text 16"/>
          <p:cNvSpPr txBox="1"/>
          <p:nvPr/>
        </p:nvSpPr>
        <p:spPr>
          <a:xfrm>
            <a:off x="548640" y="6053328"/>
            <a:ext cx="11064240" cy="292608"/>
          </a:xfrm>
          <a:prstGeom prst="rect">
            <a:avLst/>
          </a:prstGeom>
          <a:noFill/>
          <a:ln/>
        </p:spPr>
        <p:txBody>
          <a:bodyPr wrap="square" lIns="0" tIns="0" rIns="0" bIns="0" rtlCol="0" anchor="b"/>
          <a:lstStyle/>
          <a:p>
            <a:pPr indent="0" marL="0">
              <a:buNone/>
            </a:pPr>
            <a:r>
              <a:rPr lang="en-US" sz="1000" i="1" dirty="0">
                <a:solidFill>
                  <a:schemeClr val="accent6"/>
                </a:solidFill>
              </a:rPr>
              <a:t>Source: OFSI penalty notices — Citibank N.A. London Branch (2026), Bank of Scotland plc (2026); Checkout screening procedure — identifier standard (cite section).</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3 · REQUESTING INFORMATION</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tx1"/>
                </a:solidFill>
              </a:rPr>
              <a:t>How to avoid tipping off</a:t>
            </a:r>
            <a:endParaRPr lang="en-US" sz="3000" dirty="0"/>
          </a:p>
        </p:txBody>
      </p:sp>
      <p:sp>
        <p:nvSpPr>
          <p:cNvPr id="4" name="do"/>
          <p:cNvSpPr/>
          <p:nvPr/>
        </p:nvSpPr>
        <p:spPr>
          <a:xfrm>
            <a:off x="548640" y="1371600"/>
            <a:ext cx="5440680" cy="3794760"/>
          </a:xfrm>
          <a:prstGeom prst="roundRect">
            <a:avLst>
              <a:gd name="adj" fmla="val 2892"/>
            </a:avLst>
          </a:prstGeom>
          <a:solidFill>
            <a:schemeClr val="bg2"/>
          </a:solidFill>
          <a:ln w="12700">
            <a:solidFill>
              <a:schemeClr val="bg2"/>
            </a:solidFill>
            <a:prstDash val="solid"/>
          </a:ln>
        </p:spPr>
      </p:sp>
      <p:sp>
        <p:nvSpPr>
          <p:cNvPr id="5" name="do circle"/>
          <p:cNvSpPr/>
          <p:nvPr/>
        </p:nvSpPr>
        <p:spPr>
          <a:xfrm>
            <a:off x="777240" y="1554480"/>
            <a:ext cx="594360" cy="594360"/>
          </a:xfrm>
          <a:prstGeom prst="ellipse">
            <a:avLst/>
          </a:prstGeom>
          <a:solidFill>
            <a:schemeClr val="accent3"/>
          </a:solidFill>
          <a:ln w="12700">
            <a:solidFill>
              <a:schemeClr val="accent3"/>
            </a:solidFill>
            <a:prstDash val="solid"/>
          </a:ln>
        </p:spPr>
      </p:sp>
      <p:pic>
        <p:nvPicPr>
          <p:cNvPr id="6" name="do icon" descr="preencoded.png">    </p:cNvPr>
          <p:cNvPicPr>
            <a:picLocks noChangeAspect="1"/>
          </p:cNvPicPr>
          <p:nvPr/>
        </p:nvPicPr>
        <p:blipFill>
          <a:blip r:embed="rId1"/>
          <a:stretch>
            <a:fillRect/>
          </a:stretch>
        </p:blipFill>
        <p:spPr>
          <a:xfrm>
            <a:off x="896112" y="1673352"/>
            <a:ext cx="356616" cy="356616"/>
          </a:xfrm>
          <a:prstGeom prst="rect">
            <a:avLst/>
          </a:prstGeom>
        </p:spPr>
      </p:pic>
      <p:sp>
        <p:nvSpPr>
          <p:cNvPr id="7" name="Text 4"/>
          <p:cNvSpPr txBox="1"/>
          <p:nvPr/>
        </p:nvSpPr>
        <p:spPr>
          <a:xfrm>
            <a:off x="1554480" y="1554480"/>
            <a:ext cx="4206240" cy="594360"/>
          </a:xfrm>
          <a:prstGeom prst="rect">
            <a:avLst/>
          </a:prstGeom>
          <a:noFill/>
          <a:ln/>
        </p:spPr>
        <p:txBody>
          <a:bodyPr wrap="square" lIns="0" tIns="0" rIns="0" bIns="0" rtlCol="0" anchor="ctr"/>
          <a:lstStyle/>
          <a:p>
            <a:pPr indent="0" marL="0">
              <a:buNone/>
            </a:pPr>
            <a:r>
              <a:rPr lang="en-US" sz="2200" b="1" dirty="0">
                <a:solidFill>
                  <a:schemeClr val="accent3"/>
                </a:solidFill>
              </a:rPr>
              <a:t>Do</a:t>
            </a:r>
            <a:endParaRPr lang="en-US" sz="2200" dirty="0"/>
          </a:p>
        </p:txBody>
      </p:sp>
      <p:sp>
        <p:nvSpPr>
          <p:cNvPr id="8" name="Text 5"/>
          <p:cNvSpPr txBox="1"/>
          <p:nvPr/>
        </p:nvSpPr>
        <p:spPr>
          <a:xfrm>
            <a:off x="777240" y="2331720"/>
            <a:ext cx="5029200" cy="2743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Use the approved RFI template.</a:t>
            </a:r>
            <a:endParaRPr lang="en-US" sz="1500" dirty="0"/>
          </a:p>
          <a:p>
            <a:pPr marL="342900" indent="-342900">
              <a:spcAft>
                <a:spcPts val="800"/>
              </a:spcAft>
              <a:buSzPct val="100000"/>
              <a:buChar char="•"/>
            </a:pPr>
            <a:r>
              <a:rPr lang="en-US" sz="1500" dirty="0">
                <a:solidFill>
                  <a:schemeClr val="tx1"/>
                </a:solidFill>
              </a:rPr>
              <a:t>Request only the information needed to resolve identity or exposure: full name, date of birth, nationality, address, ID or registration number, and purpose of payment.</a:t>
            </a:r>
            <a:endParaRPr lang="en-US" sz="1500" dirty="0"/>
          </a:p>
          <a:p>
            <a:pPr marL="342900" indent="-342900">
              <a:spcAft>
                <a:spcPts val="800"/>
              </a:spcAft>
              <a:buSzPct val="100000"/>
              <a:buChar char="•"/>
            </a:pPr>
            <a:r>
              <a:rPr lang="en-US" sz="1500" dirty="0">
                <a:solidFill>
                  <a:schemeClr val="tx1"/>
                </a:solidFill>
              </a:rPr>
              <a:t>Use neutral wording, for example: “We need some additional information to complete our standard checks.”</a:t>
            </a:r>
            <a:endParaRPr lang="en-US" sz="1500" dirty="0"/>
          </a:p>
          <a:p>
            <a:pPr marL="342900" indent="-342900">
              <a:spcAft>
                <a:spcPts val="800"/>
              </a:spcAft>
              <a:buSzPct val="100000"/>
              <a:buChar char="•"/>
            </a:pPr>
            <a:r>
              <a:rPr lang="en-US" sz="1500" dirty="0">
                <a:solidFill>
                  <a:schemeClr val="tx1"/>
                </a:solidFill>
              </a:rPr>
              <a:t>Keep the payment on hold while you wait for a response.</a:t>
            </a:r>
            <a:endParaRPr lang="en-US" sz="1500" dirty="0"/>
          </a:p>
        </p:txBody>
      </p:sp>
      <p:sp>
        <p:nvSpPr>
          <p:cNvPr id="9" name="do not"/>
          <p:cNvSpPr/>
          <p:nvPr/>
        </p:nvSpPr>
        <p:spPr>
          <a:xfrm>
            <a:off x="6172200" y="1371600"/>
            <a:ext cx="5440680" cy="3794760"/>
          </a:xfrm>
          <a:prstGeom prst="roundRect">
            <a:avLst>
              <a:gd name="adj" fmla="val 2892"/>
            </a:avLst>
          </a:prstGeom>
          <a:solidFill>
            <a:schemeClr val="bg2"/>
          </a:solidFill>
          <a:ln w="12700">
            <a:solidFill>
              <a:schemeClr val="bg2"/>
            </a:solidFill>
            <a:prstDash val="solid"/>
          </a:ln>
        </p:spPr>
      </p:sp>
      <p:sp>
        <p:nvSpPr>
          <p:cNvPr id="10" name="do not circle"/>
          <p:cNvSpPr/>
          <p:nvPr/>
        </p:nvSpPr>
        <p:spPr>
          <a:xfrm>
            <a:off x="6400800" y="1554480"/>
            <a:ext cx="594360" cy="594360"/>
          </a:xfrm>
          <a:prstGeom prst="ellipse">
            <a:avLst/>
          </a:prstGeom>
          <a:solidFill>
            <a:schemeClr val="accent1"/>
          </a:solidFill>
          <a:ln w="12700">
            <a:solidFill>
              <a:schemeClr val="accent1"/>
            </a:solidFill>
            <a:prstDash val="solid"/>
          </a:ln>
        </p:spPr>
      </p:sp>
      <p:pic>
        <p:nvPicPr>
          <p:cNvPr id="11" name="do not icon" descr="preencoded.png">    </p:cNvPr>
          <p:cNvPicPr>
            <a:picLocks noChangeAspect="1"/>
          </p:cNvPicPr>
          <p:nvPr/>
        </p:nvPicPr>
        <p:blipFill>
          <a:blip r:embed="rId2"/>
          <a:stretch>
            <a:fillRect/>
          </a:stretch>
        </p:blipFill>
        <p:spPr>
          <a:xfrm>
            <a:off x="6519672" y="1673352"/>
            <a:ext cx="356616" cy="356616"/>
          </a:xfrm>
          <a:prstGeom prst="rect">
            <a:avLst/>
          </a:prstGeom>
        </p:spPr>
      </p:pic>
      <p:sp>
        <p:nvSpPr>
          <p:cNvPr id="12" name="Text 8"/>
          <p:cNvSpPr txBox="1"/>
          <p:nvPr/>
        </p:nvSpPr>
        <p:spPr>
          <a:xfrm>
            <a:off x="7178040" y="1554480"/>
            <a:ext cx="4206240" cy="594360"/>
          </a:xfrm>
          <a:prstGeom prst="rect">
            <a:avLst/>
          </a:prstGeom>
          <a:noFill/>
          <a:ln/>
        </p:spPr>
        <p:txBody>
          <a:bodyPr wrap="square" lIns="0" tIns="0" rIns="0" bIns="0" rtlCol="0" anchor="ctr"/>
          <a:lstStyle/>
          <a:p>
            <a:pPr indent="0" marL="0">
              <a:buNone/>
            </a:pPr>
            <a:r>
              <a:rPr lang="en-US" sz="2200" b="1" dirty="0">
                <a:solidFill>
                  <a:schemeClr val="accent1"/>
                </a:solidFill>
              </a:rPr>
              <a:t>Do not</a:t>
            </a:r>
            <a:endParaRPr lang="en-US" sz="2200" dirty="0"/>
          </a:p>
        </p:txBody>
      </p:sp>
      <p:sp>
        <p:nvSpPr>
          <p:cNvPr id="13" name="Text 9"/>
          <p:cNvSpPr txBox="1"/>
          <p:nvPr/>
        </p:nvSpPr>
        <p:spPr>
          <a:xfrm>
            <a:off x="6400800" y="2331720"/>
            <a:ext cx="5029200" cy="2743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Refer to a sanctions list, a match, an investigation or a suspicion.</a:t>
            </a:r>
            <a:endParaRPr lang="en-US" sz="1500" dirty="0"/>
          </a:p>
          <a:p>
            <a:pPr marL="342900" indent="-342900">
              <a:spcAft>
                <a:spcPts val="800"/>
              </a:spcAft>
              <a:buSzPct val="100000"/>
              <a:buChar char="•"/>
            </a:pPr>
            <a:r>
              <a:rPr lang="en-US" sz="1500" dirty="0">
                <a:solidFill>
                  <a:schemeClr val="tx1"/>
                </a:solidFill>
              </a:rPr>
              <a:t>Say that the payment is being reported, or name any authority.</a:t>
            </a:r>
            <a:endParaRPr lang="en-US" sz="1500" dirty="0"/>
          </a:p>
          <a:p>
            <a:pPr marL="342900" indent="-342900">
              <a:spcAft>
                <a:spcPts val="800"/>
              </a:spcAft>
              <a:buSzPct val="100000"/>
              <a:buChar char="•"/>
            </a:pPr>
            <a:r>
              <a:rPr lang="en-US" sz="1500" dirty="0">
                <a:solidFill>
                  <a:schemeClr val="tx1"/>
                </a:solidFill>
              </a:rPr>
              <a:t>Indicate which information would resolve the alert.</a:t>
            </a:r>
            <a:endParaRPr lang="en-US" sz="1500" dirty="0"/>
          </a:p>
          <a:p>
            <a:pPr marL="342900" indent="-342900">
              <a:spcAft>
                <a:spcPts val="800"/>
              </a:spcAft>
              <a:buSzPct val="100000"/>
              <a:buChar char="•"/>
            </a:pPr>
            <a:r>
              <a:rPr lang="en-US" sz="1500" dirty="0">
                <a:solidFill>
                  <a:schemeClr val="tx1"/>
                </a:solidFill>
              </a:rPr>
              <a:t>Commit to a release date.</a:t>
            </a:r>
            <a:endParaRPr lang="en-US" sz="1500" dirty="0"/>
          </a:p>
        </p:txBody>
      </p:sp>
      <p:sp>
        <p:nvSpPr>
          <p:cNvPr id="14" name="Key principle"/>
          <p:cNvSpPr/>
          <p:nvPr/>
        </p:nvSpPr>
        <p:spPr>
          <a:xfrm>
            <a:off x="548640" y="5349240"/>
            <a:ext cx="11064240" cy="685800"/>
          </a:xfrm>
          <a:prstGeom prst="roundRect">
            <a:avLst>
              <a:gd name="adj" fmla="val 16000"/>
            </a:avLst>
          </a:prstGeom>
          <a:solidFill>
            <a:schemeClr val="tx1"/>
          </a:solidFill>
          <a:ln w="12700">
            <a:solidFill>
              <a:schemeClr val="tx1"/>
            </a:solidFill>
            <a:prstDash val="solid"/>
          </a:ln>
        </p:spPr>
      </p:sp>
      <p:sp>
        <p:nvSpPr>
          <p:cNvPr id="15" name="Text 11"/>
          <p:cNvSpPr txBox="1"/>
          <p:nvPr/>
        </p:nvSpPr>
        <p:spPr>
          <a:xfrm>
            <a:off x="777240" y="5349240"/>
            <a:ext cx="10607040" cy="685800"/>
          </a:xfrm>
          <a:prstGeom prst="rect">
            <a:avLst/>
          </a:prstGeom>
          <a:noFill/>
          <a:ln/>
        </p:spPr>
        <p:txBody>
          <a:bodyPr wrap="square" lIns="0" tIns="0" rIns="0" bIns="0" rtlCol="0" anchor="ctr"/>
          <a:lstStyle/>
          <a:p>
            <a:pPr indent="0" marL="0">
              <a:buNone/>
            </a:pPr>
            <a:r>
              <a:rPr lang="en-US" sz="1200" b="1" spc="100" kern="0" dirty="0">
                <a:solidFill>
                  <a:schemeClr val="accent2"/>
                </a:solidFill>
              </a:rPr>
              <a:t>KEY PRINCIPLE   </a:t>
            </a:r>
            <a:pPr indent="0" marL="0">
              <a:buNone/>
            </a:pPr>
            <a:r>
              <a:rPr lang="en-US" sz="1500" dirty="0">
                <a:solidFill>
                  <a:schemeClr val="bg1"/>
                </a:solidFill>
              </a:rPr>
              <a:t>Tipping off is a criminal offence. If a customer asks why, use only approved scripts and refer the question to L2.</a:t>
            </a:r>
            <a:endParaRPr lang="en-US" sz="1500" dirty="0"/>
          </a:p>
        </p:txBody>
      </p:sp>
      <p:sp>
        <p:nvSpPr>
          <p:cNvPr id="16" name="Text 12"/>
          <p:cNvSpPr txBox="1"/>
          <p:nvPr/>
        </p:nvSpPr>
        <p:spPr>
          <a:xfrm>
            <a:off x="548640" y="6053328"/>
            <a:ext cx="11064240" cy="292608"/>
          </a:xfrm>
          <a:prstGeom prst="rect">
            <a:avLst/>
          </a:prstGeom>
          <a:noFill/>
          <a:ln/>
        </p:spPr>
        <p:txBody>
          <a:bodyPr wrap="square" lIns="0" tIns="0" rIns="0" bIns="0" rtlCol="0" anchor="b"/>
          <a:lstStyle/>
          <a:p>
            <a:pPr indent="0" marL="0">
              <a:buNone/>
            </a:pPr>
            <a:r>
              <a:rPr lang="en-US" sz="1000" i="1" dirty="0">
                <a:solidFill>
                  <a:schemeClr val="accent6"/>
                </a:solidFill>
              </a:rPr>
              <a:t>Source: Proceeds of Crime Act 2002 s.333A; Terrorism Act 2000 s.21D; local equivalents apply. Checkout RFI templates (cite).</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3 · CASE STUDIES</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tx1"/>
                </a:solidFill>
              </a:rPr>
              <a:t>Case studies 01 and 02: identity and control</a:t>
            </a:r>
            <a:endParaRPr lang="en-US" sz="3000" dirty="0"/>
          </a:p>
        </p:txBody>
      </p:sp>
      <p:sp>
        <p:nvSpPr>
          <p:cNvPr id="4" name="Shape 2"/>
          <p:cNvSpPr/>
          <p:nvPr/>
        </p:nvSpPr>
        <p:spPr>
          <a:xfrm>
            <a:off x="548640" y="1325880"/>
            <a:ext cx="502920" cy="502920"/>
          </a:xfrm>
          <a:prstGeom prst="ellipse">
            <a:avLst/>
          </a:prstGeom>
          <a:solidFill>
            <a:schemeClr val="tx1"/>
          </a:solidFill>
          <a:ln w="12700">
            <a:solidFill>
              <a:schemeClr val="tx1"/>
            </a:solidFill>
            <a:prstDash val="solid"/>
          </a:ln>
        </p:spPr>
      </p:sp>
      <p:sp>
        <p:nvSpPr>
          <p:cNvPr id="5" name="Text 3"/>
          <p:cNvSpPr txBox="1"/>
          <p:nvPr/>
        </p:nvSpPr>
        <p:spPr>
          <a:xfrm>
            <a:off x="548640" y="1325880"/>
            <a:ext cx="502920" cy="502920"/>
          </a:xfrm>
          <a:prstGeom prst="rect">
            <a:avLst/>
          </a:prstGeom>
          <a:noFill/>
          <a:ln/>
        </p:spPr>
        <p:txBody>
          <a:bodyPr wrap="square" lIns="0" tIns="0" rIns="0" bIns="0" rtlCol="0" anchor="ctr"/>
          <a:lstStyle/>
          <a:p>
            <a:pPr algn="ctr" indent="0" marL="0">
              <a:buNone/>
            </a:pPr>
            <a:r>
              <a:rPr lang="en-US" sz="1500" b="1" dirty="0">
                <a:solidFill>
                  <a:schemeClr val="bg1"/>
                </a:solidFill>
              </a:rPr>
              <a:t>01</a:t>
            </a:r>
            <a:endParaRPr lang="en-US" sz="1500" dirty="0"/>
          </a:p>
        </p:txBody>
      </p:sp>
      <p:sp>
        <p:nvSpPr>
          <p:cNvPr id="6" name="Text 4"/>
          <p:cNvSpPr txBox="1"/>
          <p:nvPr/>
        </p:nvSpPr>
        <p:spPr>
          <a:xfrm>
            <a:off x="1188720" y="1325880"/>
            <a:ext cx="4800600" cy="502920"/>
          </a:xfrm>
          <a:prstGeom prst="rect">
            <a:avLst/>
          </a:prstGeom>
          <a:noFill/>
          <a:ln/>
        </p:spPr>
        <p:txBody>
          <a:bodyPr wrap="square" lIns="0" tIns="0" rIns="0" bIns="0" rtlCol="0" anchor="ctr"/>
          <a:lstStyle/>
          <a:p>
            <a:pPr indent="0" marL="0">
              <a:buNone/>
            </a:pPr>
            <a:r>
              <a:rPr lang="en-US" sz="1800" b="1" dirty="0">
                <a:solidFill>
                  <a:schemeClr val="tx1"/>
                </a:solidFill>
              </a:rPr>
              <a:t>Same name, different person</a:t>
            </a:r>
            <a:endParaRPr lang="en-US" sz="1800" dirty="0"/>
          </a:p>
        </p:txBody>
      </p:sp>
      <p:sp>
        <p:nvSpPr>
          <p:cNvPr id="7" name="alert 01"/>
          <p:cNvSpPr/>
          <p:nvPr/>
        </p:nvSpPr>
        <p:spPr>
          <a:xfrm>
            <a:off x="548640" y="1938528"/>
            <a:ext cx="5440680" cy="1536192"/>
          </a:xfrm>
          <a:prstGeom prst="roundRect">
            <a:avLst>
              <a:gd name="adj" fmla="val 7143"/>
            </a:avLst>
          </a:prstGeom>
          <a:solidFill>
            <a:schemeClr val="bg2"/>
          </a:solidFill>
          <a:ln w="12700">
            <a:solidFill>
              <a:schemeClr val="bg2"/>
            </a:solidFill>
            <a:prstDash val="solid"/>
          </a:ln>
        </p:spPr>
      </p:sp>
      <p:sp>
        <p:nvSpPr>
          <p:cNvPr id="8" name="Text 6"/>
          <p:cNvSpPr txBox="1"/>
          <p:nvPr/>
        </p:nvSpPr>
        <p:spPr>
          <a:xfrm>
            <a:off x="777240" y="2048256"/>
            <a:ext cx="498348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ALERT</a:t>
            </a:r>
            <a:endParaRPr lang="en-US" sz="1100" dirty="0"/>
          </a:p>
        </p:txBody>
      </p:sp>
      <p:sp>
        <p:nvSpPr>
          <p:cNvPr id="9" name="Text 7"/>
          <p:cNvSpPr txBox="1"/>
          <p:nvPr/>
        </p:nvSpPr>
        <p:spPr>
          <a:xfrm>
            <a:off x="777240" y="2304288"/>
            <a:ext cx="4983480" cy="1133856"/>
          </a:xfrm>
          <a:prstGeom prst="rect">
            <a:avLst/>
          </a:prstGeom>
          <a:noFill/>
          <a:ln/>
        </p:spPr>
        <p:txBody>
          <a:bodyPr wrap="square" lIns="0" tIns="0" rIns="0" bIns="0" rtlCol="0" anchor="t"/>
          <a:lstStyle/>
          <a:p>
            <a:pPr indent="0" marL="0">
              <a:buNone/>
            </a:pPr>
            <a:r>
              <a:rPr lang="en-US" sz="1400" dirty="0">
                <a:solidFill>
                  <a:schemeClr val="tx1"/>
                </a:solidFill>
              </a:rPr>
              <a:t>“Mohamed Hassan” appears on a sanctions list. The customer shares the name but differs on every other identifier: date of birth (1968 vs 1991), nationality, address and document.</a:t>
            </a:r>
            <a:endParaRPr lang="en-US" sz="1400" dirty="0"/>
          </a:p>
        </p:txBody>
      </p:sp>
      <p:sp>
        <p:nvSpPr>
          <p:cNvPr id="10" name="decision 01"/>
          <p:cNvSpPr/>
          <p:nvPr/>
        </p:nvSpPr>
        <p:spPr>
          <a:xfrm>
            <a:off x="548640" y="3584448"/>
            <a:ext cx="5440680" cy="1353312"/>
          </a:xfrm>
          <a:prstGeom prst="roundRect">
            <a:avLst>
              <a:gd name="adj" fmla="val 8108"/>
            </a:avLst>
          </a:prstGeom>
          <a:solidFill>
            <a:schemeClr val="accent3"/>
          </a:solidFill>
          <a:ln w="12700">
            <a:solidFill>
              <a:schemeClr val="accent3"/>
            </a:solidFill>
            <a:prstDash val="solid"/>
          </a:ln>
        </p:spPr>
      </p:sp>
      <p:sp>
        <p:nvSpPr>
          <p:cNvPr id="11" name="Text 9"/>
          <p:cNvSpPr txBox="1"/>
          <p:nvPr/>
        </p:nvSpPr>
        <p:spPr>
          <a:xfrm>
            <a:off x="777240" y="3694176"/>
            <a:ext cx="4983480" cy="228600"/>
          </a:xfrm>
          <a:prstGeom prst="rect">
            <a:avLst/>
          </a:prstGeom>
          <a:noFill/>
          <a:ln/>
        </p:spPr>
        <p:txBody>
          <a:bodyPr wrap="square" lIns="0" tIns="0" rIns="0" bIns="0" rtlCol="0" anchor="t"/>
          <a:lstStyle/>
          <a:p>
            <a:pPr indent="0" marL="0">
              <a:buNone/>
            </a:pPr>
            <a:r>
              <a:rPr lang="en-US" sz="1100" b="1" spc="100" kern="0" dirty="0">
                <a:solidFill>
                  <a:schemeClr val="bg1"/>
                </a:solidFill>
              </a:rPr>
              <a:t>DECISION</a:t>
            </a:r>
            <a:endParaRPr lang="en-US" sz="1100" dirty="0"/>
          </a:p>
        </p:txBody>
      </p:sp>
      <p:sp>
        <p:nvSpPr>
          <p:cNvPr id="12" name="Text 10"/>
          <p:cNvSpPr txBox="1"/>
          <p:nvPr/>
        </p:nvSpPr>
        <p:spPr>
          <a:xfrm>
            <a:off x="777240" y="3950208"/>
            <a:ext cx="4983480" cy="950976"/>
          </a:xfrm>
          <a:prstGeom prst="rect">
            <a:avLst/>
          </a:prstGeom>
          <a:noFill/>
          <a:ln/>
        </p:spPr>
        <p:txBody>
          <a:bodyPr wrap="square" lIns="0" tIns="0" rIns="0" bIns="0" rtlCol="0" anchor="t"/>
          <a:lstStyle/>
          <a:p>
            <a:pPr indent="0" marL="0">
              <a:buNone/>
            </a:pPr>
            <a:r>
              <a:rPr lang="en-US" sz="1400" dirty="0">
                <a:solidFill>
                  <a:schemeClr val="bg1"/>
                </a:solidFill>
              </a:rPr>
              <a:t>Close as a false positive — the mismatch is evidenced and has been independently checked.</a:t>
            </a:r>
            <a:endParaRPr lang="en-US" sz="1400" dirty="0"/>
          </a:p>
        </p:txBody>
      </p:sp>
      <p:sp>
        <p:nvSpPr>
          <p:cNvPr id="13" name="record 01"/>
          <p:cNvSpPr/>
          <p:nvPr/>
        </p:nvSpPr>
        <p:spPr>
          <a:xfrm>
            <a:off x="548640" y="5047488"/>
            <a:ext cx="5440680" cy="914400"/>
          </a:xfrm>
          <a:prstGeom prst="roundRect">
            <a:avLst>
              <a:gd name="adj" fmla="val 12000"/>
            </a:avLst>
          </a:prstGeom>
          <a:solidFill>
            <a:schemeClr val="bg2"/>
          </a:solidFill>
          <a:ln w="12700">
            <a:solidFill>
              <a:schemeClr val="bg2"/>
            </a:solidFill>
            <a:prstDash val="solid"/>
          </a:ln>
        </p:spPr>
      </p:sp>
      <p:sp>
        <p:nvSpPr>
          <p:cNvPr id="14" name="Text 12"/>
          <p:cNvSpPr txBox="1"/>
          <p:nvPr/>
        </p:nvSpPr>
        <p:spPr>
          <a:xfrm>
            <a:off x="777240" y="5138928"/>
            <a:ext cx="498348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RECORD</a:t>
            </a:r>
            <a:endParaRPr lang="en-US" sz="1100" dirty="0"/>
          </a:p>
        </p:txBody>
      </p:sp>
      <p:sp>
        <p:nvSpPr>
          <p:cNvPr id="15" name="Text 13"/>
          <p:cNvSpPr txBox="1"/>
          <p:nvPr/>
        </p:nvSpPr>
        <p:spPr>
          <a:xfrm>
            <a:off x="777240" y="5394960"/>
            <a:ext cx="4983480" cy="530352"/>
          </a:xfrm>
          <a:prstGeom prst="rect">
            <a:avLst/>
          </a:prstGeom>
          <a:noFill/>
          <a:ln/>
        </p:spPr>
        <p:txBody>
          <a:bodyPr wrap="square" lIns="0" tIns="0" rIns="0" bIns="0" rtlCol="0" anchor="t"/>
          <a:lstStyle/>
          <a:p>
            <a:pPr indent="0" marL="0">
              <a:buNone/>
            </a:pPr>
            <a:r>
              <a:rPr lang="en-US" sz="1400" dirty="0">
                <a:solidFill>
                  <a:schemeClr val="tx1"/>
                </a:solidFill>
              </a:rPr>
              <a:t>List entry, identifiers compared, source of each identifier, reviewer and rationale.</a:t>
            </a:r>
            <a:endParaRPr lang="en-US" sz="1400" dirty="0"/>
          </a:p>
        </p:txBody>
      </p:sp>
      <p:sp>
        <p:nvSpPr>
          <p:cNvPr id="16" name="Shape 14"/>
          <p:cNvSpPr/>
          <p:nvPr/>
        </p:nvSpPr>
        <p:spPr>
          <a:xfrm>
            <a:off x="6172200" y="1325880"/>
            <a:ext cx="502920" cy="502920"/>
          </a:xfrm>
          <a:prstGeom prst="ellipse">
            <a:avLst/>
          </a:prstGeom>
          <a:solidFill>
            <a:schemeClr val="tx1"/>
          </a:solidFill>
          <a:ln w="12700">
            <a:solidFill>
              <a:schemeClr val="tx1"/>
            </a:solidFill>
            <a:prstDash val="solid"/>
          </a:ln>
        </p:spPr>
      </p:sp>
      <p:sp>
        <p:nvSpPr>
          <p:cNvPr id="17" name="Text 15"/>
          <p:cNvSpPr txBox="1"/>
          <p:nvPr/>
        </p:nvSpPr>
        <p:spPr>
          <a:xfrm>
            <a:off x="6172200" y="1325880"/>
            <a:ext cx="502920" cy="502920"/>
          </a:xfrm>
          <a:prstGeom prst="rect">
            <a:avLst/>
          </a:prstGeom>
          <a:noFill/>
          <a:ln/>
        </p:spPr>
        <p:txBody>
          <a:bodyPr wrap="square" lIns="0" tIns="0" rIns="0" bIns="0" rtlCol="0" anchor="ctr"/>
          <a:lstStyle/>
          <a:p>
            <a:pPr algn="ctr" indent="0" marL="0">
              <a:buNone/>
            </a:pPr>
            <a:r>
              <a:rPr lang="en-US" sz="1500" b="1" dirty="0">
                <a:solidFill>
                  <a:schemeClr val="bg1"/>
                </a:solidFill>
              </a:rPr>
              <a:t>02</a:t>
            </a:r>
            <a:endParaRPr lang="en-US" sz="1500" dirty="0"/>
          </a:p>
        </p:txBody>
      </p:sp>
      <p:sp>
        <p:nvSpPr>
          <p:cNvPr id="18" name="Text 16"/>
          <p:cNvSpPr txBox="1"/>
          <p:nvPr/>
        </p:nvSpPr>
        <p:spPr>
          <a:xfrm>
            <a:off x="6812280" y="1325880"/>
            <a:ext cx="4800600" cy="502920"/>
          </a:xfrm>
          <a:prstGeom prst="rect">
            <a:avLst/>
          </a:prstGeom>
          <a:noFill/>
          <a:ln/>
        </p:spPr>
        <p:txBody>
          <a:bodyPr wrap="square" lIns="0" tIns="0" rIns="0" bIns="0" rtlCol="0" anchor="ctr"/>
          <a:lstStyle/>
          <a:p>
            <a:pPr indent="0" marL="0">
              <a:buNone/>
            </a:pPr>
            <a:r>
              <a:rPr lang="en-US" sz="1800" b="1" dirty="0">
                <a:solidFill>
                  <a:schemeClr val="tx1"/>
                </a:solidFill>
              </a:rPr>
              <a:t>Indirect ownership and control</a:t>
            </a:r>
            <a:endParaRPr lang="en-US" sz="1800" dirty="0"/>
          </a:p>
        </p:txBody>
      </p:sp>
      <p:sp>
        <p:nvSpPr>
          <p:cNvPr id="19" name="alert 02"/>
          <p:cNvSpPr/>
          <p:nvPr/>
        </p:nvSpPr>
        <p:spPr>
          <a:xfrm>
            <a:off x="6172200" y="1938528"/>
            <a:ext cx="5440680" cy="1536192"/>
          </a:xfrm>
          <a:prstGeom prst="roundRect">
            <a:avLst>
              <a:gd name="adj" fmla="val 7143"/>
            </a:avLst>
          </a:prstGeom>
          <a:solidFill>
            <a:schemeClr val="bg2"/>
          </a:solidFill>
          <a:ln w="12700">
            <a:solidFill>
              <a:schemeClr val="bg2"/>
            </a:solidFill>
            <a:prstDash val="solid"/>
          </a:ln>
        </p:spPr>
      </p:sp>
      <p:sp>
        <p:nvSpPr>
          <p:cNvPr id="20" name="Text 18"/>
          <p:cNvSpPr txBox="1"/>
          <p:nvPr/>
        </p:nvSpPr>
        <p:spPr>
          <a:xfrm>
            <a:off x="6400800" y="2048256"/>
            <a:ext cx="498348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ALERT</a:t>
            </a:r>
            <a:endParaRPr lang="en-US" sz="1100" dirty="0"/>
          </a:p>
        </p:txBody>
      </p:sp>
      <p:sp>
        <p:nvSpPr>
          <p:cNvPr id="21" name="Text 19"/>
          <p:cNvSpPr txBox="1"/>
          <p:nvPr/>
        </p:nvSpPr>
        <p:spPr>
          <a:xfrm>
            <a:off x="6400800" y="2304288"/>
            <a:ext cx="4983480" cy="1133856"/>
          </a:xfrm>
          <a:prstGeom prst="rect">
            <a:avLst/>
          </a:prstGeom>
          <a:noFill/>
          <a:ln/>
        </p:spPr>
        <p:txBody>
          <a:bodyPr wrap="square" lIns="0" tIns="0" rIns="0" bIns="0" rtlCol="0" anchor="t"/>
          <a:lstStyle/>
          <a:p>
            <a:pPr indent="0" marL="0">
              <a:buNone/>
            </a:pPr>
            <a:r>
              <a:rPr lang="en-US" sz="1400" dirty="0">
                <a:solidFill>
                  <a:schemeClr val="tx1"/>
                </a:solidFill>
              </a:rPr>
              <a:t>The merchant is not listed, but a designated person has just been added as a director and can sign payment instructions.</a:t>
            </a:r>
            <a:endParaRPr lang="en-US" sz="1400" dirty="0"/>
          </a:p>
        </p:txBody>
      </p:sp>
      <p:sp>
        <p:nvSpPr>
          <p:cNvPr id="22" name="decision 02"/>
          <p:cNvSpPr/>
          <p:nvPr/>
        </p:nvSpPr>
        <p:spPr>
          <a:xfrm>
            <a:off x="6172200" y="3584448"/>
            <a:ext cx="5440680" cy="1353312"/>
          </a:xfrm>
          <a:prstGeom prst="roundRect">
            <a:avLst>
              <a:gd name="adj" fmla="val 8108"/>
            </a:avLst>
          </a:prstGeom>
          <a:solidFill>
            <a:schemeClr val="accent3"/>
          </a:solidFill>
          <a:ln w="12700">
            <a:solidFill>
              <a:schemeClr val="accent3"/>
            </a:solidFill>
            <a:prstDash val="solid"/>
          </a:ln>
        </p:spPr>
      </p:sp>
      <p:sp>
        <p:nvSpPr>
          <p:cNvPr id="23" name="Text 21"/>
          <p:cNvSpPr txBox="1"/>
          <p:nvPr/>
        </p:nvSpPr>
        <p:spPr>
          <a:xfrm>
            <a:off x="6400800" y="3694176"/>
            <a:ext cx="4983480" cy="228600"/>
          </a:xfrm>
          <a:prstGeom prst="rect">
            <a:avLst/>
          </a:prstGeom>
          <a:noFill/>
          <a:ln/>
        </p:spPr>
        <p:txBody>
          <a:bodyPr wrap="square" lIns="0" tIns="0" rIns="0" bIns="0" rtlCol="0" anchor="t"/>
          <a:lstStyle/>
          <a:p>
            <a:pPr indent="0" marL="0">
              <a:buNone/>
            </a:pPr>
            <a:r>
              <a:rPr lang="en-US" sz="1100" b="1" spc="100" kern="0" dirty="0">
                <a:solidFill>
                  <a:schemeClr val="bg1"/>
                </a:solidFill>
              </a:rPr>
              <a:t>DECISION</a:t>
            </a:r>
            <a:endParaRPr lang="en-US" sz="1100" dirty="0"/>
          </a:p>
        </p:txBody>
      </p:sp>
      <p:sp>
        <p:nvSpPr>
          <p:cNvPr id="24" name="Text 22"/>
          <p:cNvSpPr txBox="1"/>
          <p:nvPr/>
        </p:nvSpPr>
        <p:spPr>
          <a:xfrm>
            <a:off x="6400800" y="3950208"/>
            <a:ext cx="4983480" cy="950976"/>
          </a:xfrm>
          <a:prstGeom prst="rect">
            <a:avLst/>
          </a:prstGeom>
          <a:noFill/>
          <a:ln/>
        </p:spPr>
        <p:txBody>
          <a:bodyPr wrap="square" lIns="0" tIns="0" rIns="0" bIns="0" rtlCol="0" anchor="t"/>
          <a:lstStyle/>
          <a:p>
            <a:pPr indent="0" marL="0">
              <a:buNone/>
            </a:pPr>
            <a:r>
              <a:rPr lang="en-US" sz="1400" dirty="0">
                <a:solidFill>
                  <a:schemeClr val="bg1"/>
                </a:solidFill>
              </a:rPr>
              <a:t>Hold and escalate to L2. Do not rely on a single percentage threshold: control can create exposure even without ownership.</a:t>
            </a:r>
            <a:endParaRPr lang="en-US" sz="1400" dirty="0"/>
          </a:p>
        </p:txBody>
      </p:sp>
      <p:sp>
        <p:nvSpPr>
          <p:cNvPr id="25" name="record 02"/>
          <p:cNvSpPr/>
          <p:nvPr/>
        </p:nvSpPr>
        <p:spPr>
          <a:xfrm>
            <a:off x="6172200" y="5047488"/>
            <a:ext cx="5440680" cy="914400"/>
          </a:xfrm>
          <a:prstGeom prst="roundRect">
            <a:avLst>
              <a:gd name="adj" fmla="val 12000"/>
            </a:avLst>
          </a:prstGeom>
          <a:solidFill>
            <a:schemeClr val="bg2"/>
          </a:solidFill>
          <a:ln w="12700">
            <a:solidFill>
              <a:schemeClr val="bg2"/>
            </a:solidFill>
            <a:prstDash val="solid"/>
          </a:ln>
        </p:spPr>
      </p:sp>
      <p:sp>
        <p:nvSpPr>
          <p:cNvPr id="26" name="Text 24"/>
          <p:cNvSpPr txBox="1"/>
          <p:nvPr/>
        </p:nvSpPr>
        <p:spPr>
          <a:xfrm>
            <a:off x="6400800" y="5138928"/>
            <a:ext cx="498348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RECORD</a:t>
            </a:r>
            <a:endParaRPr lang="en-US" sz="1100" dirty="0"/>
          </a:p>
        </p:txBody>
      </p:sp>
      <p:sp>
        <p:nvSpPr>
          <p:cNvPr id="27" name="Text 25"/>
          <p:cNvSpPr txBox="1"/>
          <p:nvPr/>
        </p:nvSpPr>
        <p:spPr>
          <a:xfrm>
            <a:off x="6400800" y="5394960"/>
            <a:ext cx="4983480" cy="530352"/>
          </a:xfrm>
          <a:prstGeom prst="rect">
            <a:avLst/>
          </a:prstGeom>
          <a:noFill/>
          <a:ln/>
        </p:spPr>
        <p:txBody>
          <a:bodyPr wrap="square" lIns="0" tIns="0" rIns="0" bIns="0" rtlCol="0" anchor="t"/>
          <a:lstStyle/>
          <a:p>
            <a:pPr indent="0" marL="0">
              <a:buNone/>
            </a:pPr>
            <a:r>
              <a:rPr lang="en-US" sz="1400" dirty="0">
                <a:solidFill>
                  <a:schemeClr val="tx1"/>
                </a:solidFill>
              </a:rPr>
              <a:t>The director's identity, role and signing powers; corporate documents, registry and UBO evidence.</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3 · CASE STUDIES</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tx1"/>
                </a:solidFill>
              </a:rPr>
              <a:t>Case studies 03 and 04: reach and merchant pressure</a:t>
            </a:r>
            <a:endParaRPr lang="en-US" sz="3000" dirty="0"/>
          </a:p>
        </p:txBody>
      </p:sp>
      <p:sp>
        <p:nvSpPr>
          <p:cNvPr id="4" name="Shape 2"/>
          <p:cNvSpPr/>
          <p:nvPr/>
        </p:nvSpPr>
        <p:spPr>
          <a:xfrm>
            <a:off x="548640" y="1325880"/>
            <a:ext cx="502920" cy="502920"/>
          </a:xfrm>
          <a:prstGeom prst="ellipse">
            <a:avLst/>
          </a:prstGeom>
          <a:solidFill>
            <a:schemeClr val="tx1"/>
          </a:solidFill>
          <a:ln w="12700">
            <a:solidFill>
              <a:schemeClr val="tx1"/>
            </a:solidFill>
            <a:prstDash val="solid"/>
          </a:ln>
        </p:spPr>
      </p:sp>
      <p:sp>
        <p:nvSpPr>
          <p:cNvPr id="5" name="Text 3"/>
          <p:cNvSpPr txBox="1"/>
          <p:nvPr/>
        </p:nvSpPr>
        <p:spPr>
          <a:xfrm>
            <a:off x="548640" y="1325880"/>
            <a:ext cx="502920" cy="502920"/>
          </a:xfrm>
          <a:prstGeom prst="rect">
            <a:avLst/>
          </a:prstGeom>
          <a:noFill/>
          <a:ln/>
        </p:spPr>
        <p:txBody>
          <a:bodyPr wrap="square" lIns="0" tIns="0" rIns="0" bIns="0" rtlCol="0" anchor="ctr"/>
          <a:lstStyle/>
          <a:p>
            <a:pPr algn="ctr" indent="0" marL="0">
              <a:buNone/>
            </a:pPr>
            <a:r>
              <a:rPr lang="en-US" sz="1500" b="1" dirty="0">
                <a:solidFill>
                  <a:schemeClr val="bg1"/>
                </a:solidFill>
              </a:rPr>
              <a:t>03</a:t>
            </a:r>
            <a:endParaRPr lang="en-US" sz="1500" dirty="0"/>
          </a:p>
        </p:txBody>
      </p:sp>
      <p:sp>
        <p:nvSpPr>
          <p:cNvPr id="6" name="Text 4"/>
          <p:cNvSpPr txBox="1"/>
          <p:nvPr/>
        </p:nvSpPr>
        <p:spPr>
          <a:xfrm>
            <a:off x="1188720" y="1325880"/>
            <a:ext cx="4800600" cy="502920"/>
          </a:xfrm>
          <a:prstGeom prst="rect">
            <a:avLst/>
          </a:prstGeom>
          <a:noFill/>
          <a:ln/>
        </p:spPr>
        <p:txBody>
          <a:bodyPr wrap="square" lIns="0" tIns="0" rIns="0" bIns="0" rtlCol="0" anchor="ctr"/>
          <a:lstStyle/>
          <a:p>
            <a:pPr indent="0" marL="0">
              <a:buNone/>
            </a:pPr>
            <a:r>
              <a:rPr lang="en-US" sz="1800" b="1" dirty="0">
                <a:solidFill>
                  <a:schemeClr val="tx1"/>
                </a:solidFill>
              </a:rPr>
              <a:t>Local list clear, global exposure remains</a:t>
            </a:r>
            <a:endParaRPr lang="en-US" sz="1800" dirty="0"/>
          </a:p>
        </p:txBody>
      </p:sp>
      <p:sp>
        <p:nvSpPr>
          <p:cNvPr id="7" name="alert 03"/>
          <p:cNvSpPr/>
          <p:nvPr/>
        </p:nvSpPr>
        <p:spPr>
          <a:xfrm>
            <a:off x="548640" y="1938528"/>
            <a:ext cx="5440680" cy="1536192"/>
          </a:xfrm>
          <a:prstGeom prst="roundRect">
            <a:avLst>
              <a:gd name="adj" fmla="val 7143"/>
            </a:avLst>
          </a:prstGeom>
          <a:solidFill>
            <a:schemeClr val="bg2"/>
          </a:solidFill>
          <a:ln w="12700">
            <a:solidFill>
              <a:schemeClr val="bg2"/>
            </a:solidFill>
            <a:prstDash val="solid"/>
          </a:ln>
        </p:spPr>
      </p:sp>
      <p:sp>
        <p:nvSpPr>
          <p:cNvPr id="8" name="Text 6"/>
          <p:cNvSpPr txBox="1"/>
          <p:nvPr/>
        </p:nvSpPr>
        <p:spPr>
          <a:xfrm>
            <a:off x="777240" y="2048256"/>
            <a:ext cx="498348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ALERT</a:t>
            </a:r>
            <a:endParaRPr lang="en-US" sz="1100" dirty="0"/>
          </a:p>
        </p:txBody>
      </p:sp>
      <p:sp>
        <p:nvSpPr>
          <p:cNvPr id="9" name="Text 7"/>
          <p:cNvSpPr txBox="1"/>
          <p:nvPr/>
        </p:nvSpPr>
        <p:spPr>
          <a:xfrm>
            <a:off x="777240" y="2304288"/>
            <a:ext cx="4983480" cy="1133856"/>
          </a:xfrm>
          <a:prstGeom prst="rect">
            <a:avLst/>
          </a:prstGeom>
          <a:noFill/>
          <a:ln/>
        </p:spPr>
        <p:txBody>
          <a:bodyPr wrap="square" lIns="0" tIns="0" rIns="0" bIns="0" rtlCol="0" anchor="t"/>
          <a:lstStyle/>
          <a:p>
            <a:pPr indent="0" marL="0">
              <a:buNone/>
            </a:pPr>
            <a:r>
              <a:rPr lang="en-US" sz="1400" dirty="0">
                <a:solidFill>
                  <a:schemeClr val="tx1"/>
                </a:solidFill>
              </a:rPr>
              <a:t>A Hong Kong customer is clear against the local UN-derived source, but the payment touches a UK entity and a USD correspondent bank.</a:t>
            </a:r>
            <a:endParaRPr lang="en-US" sz="1400" dirty="0"/>
          </a:p>
        </p:txBody>
      </p:sp>
      <p:sp>
        <p:nvSpPr>
          <p:cNvPr id="10" name="decision 03"/>
          <p:cNvSpPr/>
          <p:nvPr/>
        </p:nvSpPr>
        <p:spPr>
          <a:xfrm>
            <a:off x="548640" y="3584448"/>
            <a:ext cx="5440680" cy="1353312"/>
          </a:xfrm>
          <a:prstGeom prst="roundRect">
            <a:avLst>
              <a:gd name="adj" fmla="val 8108"/>
            </a:avLst>
          </a:prstGeom>
          <a:solidFill>
            <a:schemeClr val="accent3"/>
          </a:solidFill>
          <a:ln w="12700">
            <a:solidFill>
              <a:schemeClr val="accent3"/>
            </a:solidFill>
            <a:prstDash val="solid"/>
          </a:ln>
        </p:spPr>
      </p:sp>
      <p:sp>
        <p:nvSpPr>
          <p:cNvPr id="11" name="Text 9"/>
          <p:cNvSpPr txBox="1"/>
          <p:nvPr/>
        </p:nvSpPr>
        <p:spPr>
          <a:xfrm>
            <a:off x="777240" y="3694176"/>
            <a:ext cx="4983480" cy="228600"/>
          </a:xfrm>
          <a:prstGeom prst="rect">
            <a:avLst/>
          </a:prstGeom>
          <a:noFill/>
          <a:ln/>
        </p:spPr>
        <p:txBody>
          <a:bodyPr wrap="square" lIns="0" tIns="0" rIns="0" bIns="0" rtlCol="0" anchor="t"/>
          <a:lstStyle/>
          <a:p>
            <a:pPr indent="0" marL="0">
              <a:buNone/>
            </a:pPr>
            <a:r>
              <a:rPr lang="en-US" sz="1100" b="1" spc="100" kern="0" dirty="0">
                <a:solidFill>
                  <a:schemeClr val="bg1"/>
                </a:solidFill>
              </a:rPr>
              <a:t>DECISION</a:t>
            </a:r>
            <a:endParaRPr lang="en-US" sz="1100" dirty="0"/>
          </a:p>
        </p:txBody>
      </p:sp>
      <p:sp>
        <p:nvSpPr>
          <p:cNvPr id="12" name="Text 10"/>
          <p:cNvSpPr txBox="1"/>
          <p:nvPr/>
        </p:nvSpPr>
        <p:spPr>
          <a:xfrm>
            <a:off x="777240" y="3950208"/>
            <a:ext cx="4983480" cy="950976"/>
          </a:xfrm>
          <a:prstGeom prst="rect">
            <a:avLst/>
          </a:prstGeom>
          <a:noFill/>
          <a:ln/>
        </p:spPr>
        <p:txBody>
          <a:bodyPr wrap="square" lIns="0" tIns="0" rIns="0" bIns="0" rtlCol="0" anchor="t"/>
          <a:lstStyle/>
          <a:p>
            <a:pPr indent="0" marL="0">
              <a:buNone/>
            </a:pPr>
            <a:r>
              <a:rPr lang="en-US" sz="1400" dirty="0">
                <a:solidFill>
                  <a:schemeClr val="bg1"/>
                </a:solidFill>
              </a:rPr>
              <a:t>Route to sanctions review — do not auto-clear solely because the local list is clear.</a:t>
            </a:r>
            <a:endParaRPr lang="en-US" sz="1400" dirty="0"/>
          </a:p>
        </p:txBody>
      </p:sp>
      <p:sp>
        <p:nvSpPr>
          <p:cNvPr id="13" name="record 03"/>
          <p:cNvSpPr/>
          <p:nvPr/>
        </p:nvSpPr>
        <p:spPr>
          <a:xfrm>
            <a:off x="548640" y="5047488"/>
            <a:ext cx="5440680" cy="914400"/>
          </a:xfrm>
          <a:prstGeom prst="roundRect">
            <a:avLst>
              <a:gd name="adj" fmla="val 12000"/>
            </a:avLst>
          </a:prstGeom>
          <a:solidFill>
            <a:schemeClr val="bg2"/>
          </a:solidFill>
          <a:ln w="12700">
            <a:solidFill>
              <a:schemeClr val="bg2"/>
            </a:solidFill>
            <a:prstDash val="solid"/>
          </a:ln>
        </p:spPr>
      </p:sp>
      <p:sp>
        <p:nvSpPr>
          <p:cNvPr id="14" name="Text 12"/>
          <p:cNvSpPr txBox="1"/>
          <p:nvPr/>
        </p:nvSpPr>
        <p:spPr>
          <a:xfrm>
            <a:off x="777240" y="5138928"/>
            <a:ext cx="498348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RECORD</a:t>
            </a:r>
            <a:endParaRPr lang="en-US" sz="1100" dirty="0"/>
          </a:p>
        </p:txBody>
      </p:sp>
      <p:sp>
        <p:nvSpPr>
          <p:cNvPr id="15" name="Text 13"/>
          <p:cNvSpPr txBox="1"/>
          <p:nvPr/>
        </p:nvSpPr>
        <p:spPr>
          <a:xfrm>
            <a:off x="777240" y="5394960"/>
            <a:ext cx="4983480" cy="530352"/>
          </a:xfrm>
          <a:prstGeom prst="rect">
            <a:avLst/>
          </a:prstGeom>
          <a:noFill/>
          <a:ln/>
        </p:spPr>
        <p:txBody>
          <a:bodyPr wrap="square" lIns="0" tIns="0" rIns="0" bIns="0" rtlCol="0" anchor="t"/>
          <a:lstStyle/>
          <a:p>
            <a:pPr indent="0" marL="0">
              <a:buNone/>
            </a:pPr>
            <a:r>
              <a:rPr lang="en-US" sz="1400" dirty="0">
                <a:solidFill>
                  <a:schemeClr val="tx1"/>
                </a:solidFill>
              </a:rPr>
              <a:t>All applicable regimes considered, and why the final action is proportionate.</a:t>
            </a:r>
            <a:endParaRPr lang="en-US" sz="1400" dirty="0"/>
          </a:p>
        </p:txBody>
      </p:sp>
      <p:sp>
        <p:nvSpPr>
          <p:cNvPr id="16" name="Shape 14"/>
          <p:cNvSpPr/>
          <p:nvPr/>
        </p:nvSpPr>
        <p:spPr>
          <a:xfrm>
            <a:off x="6172200" y="1325880"/>
            <a:ext cx="502920" cy="502920"/>
          </a:xfrm>
          <a:prstGeom prst="ellipse">
            <a:avLst/>
          </a:prstGeom>
          <a:solidFill>
            <a:schemeClr val="tx1"/>
          </a:solidFill>
          <a:ln w="12700">
            <a:solidFill>
              <a:schemeClr val="tx1"/>
            </a:solidFill>
            <a:prstDash val="solid"/>
          </a:ln>
        </p:spPr>
      </p:sp>
      <p:sp>
        <p:nvSpPr>
          <p:cNvPr id="17" name="Text 15"/>
          <p:cNvSpPr txBox="1"/>
          <p:nvPr/>
        </p:nvSpPr>
        <p:spPr>
          <a:xfrm>
            <a:off x="6172200" y="1325880"/>
            <a:ext cx="502920" cy="502920"/>
          </a:xfrm>
          <a:prstGeom prst="rect">
            <a:avLst/>
          </a:prstGeom>
          <a:noFill/>
          <a:ln/>
        </p:spPr>
        <p:txBody>
          <a:bodyPr wrap="square" lIns="0" tIns="0" rIns="0" bIns="0" rtlCol="0" anchor="ctr"/>
          <a:lstStyle/>
          <a:p>
            <a:pPr algn="ctr" indent="0" marL="0">
              <a:buNone/>
            </a:pPr>
            <a:r>
              <a:rPr lang="en-US" sz="1500" b="1" dirty="0">
                <a:solidFill>
                  <a:schemeClr val="bg1"/>
                </a:solidFill>
              </a:rPr>
              <a:t>04</a:t>
            </a:r>
            <a:endParaRPr lang="en-US" sz="1500" dirty="0"/>
          </a:p>
        </p:txBody>
      </p:sp>
      <p:sp>
        <p:nvSpPr>
          <p:cNvPr id="18" name="Text 16"/>
          <p:cNvSpPr txBox="1"/>
          <p:nvPr/>
        </p:nvSpPr>
        <p:spPr>
          <a:xfrm>
            <a:off x="6812280" y="1325880"/>
            <a:ext cx="4800600" cy="502920"/>
          </a:xfrm>
          <a:prstGeom prst="rect">
            <a:avLst/>
          </a:prstGeom>
          <a:noFill/>
          <a:ln/>
        </p:spPr>
        <p:txBody>
          <a:bodyPr wrap="square" lIns="0" tIns="0" rIns="0" bIns="0" rtlCol="0" anchor="ctr"/>
          <a:lstStyle/>
          <a:p>
            <a:pPr indent="0" marL="0">
              <a:buNone/>
            </a:pPr>
            <a:r>
              <a:rPr lang="en-US" sz="1800" b="1" dirty="0">
                <a:solidFill>
                  <a:schemeClr val="tx1"/>
                </a:solidFill>
              </a:rPr>
              <a:t>Unresolved name match on an insurance payout</a:t>
            </a:r>
            <a:endParaRPr lang="en-US" sz="1800" dirty="0"/>
          </a:p>
        </p:txBody>
      </p:sp>
      <p:sp>
        <p:nvSpPr>
          <p:cNvPr id="19" name="alert 04"/>
          <p:cNvSpPr/>
          <p:nvPr/>
        </p:nvSpPr>
        <p:spPr>
          <a:xfrm>
            <a:off x="6172200" y="1938528"/>
            <a:ext cx="5440680" cy="1536192"/>
          </a:xfrm>
          <a:prstGeom prst="roundRect">
            <a:avLst>
              <a:gd name="adj" fmla="val 7143"/>
            </a:avLst>
          </a:prstGeom>
          <a:solidFill>
            <a:schemeClr val="bg2"/>
          </a:solidFill>
          <a:ln w="12700">
            <a:solidFill>
              <a:schemeClr val="bg2"/>
            </a:solidFill>
            <a:prstDash val="solid"/>
          </a:ln>
        </p:spPr>
      </p:sp>
      <p:sp>
        <p:nvSpPr>
          <p:cNvPr id="20" name="Text 18"/>
          <p:cNvSpPr txBox="1"/>
          <p:nvPr/>
        </p:nvSpPr>
        <p:spPr>
          <a:xfrm>
            <a:off x="6400800" y="2048256"/>
            <a:ext cx="498348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ALERT</a:t>
            </a:r>
            <a:endParaRPr lang="en-US" sz="1100" dirty="0"/>
          </a:p>
        </p:txBody>
      </p:sp>
      <p:sp>
        <p:nvSpPr>
          <p:cNvPr id="21" name="Text 19"/>
          <p:cNvSpPr txBox="1"/>
          <p:nvPr/>
        </p:nvSpPr>
        <p:spPr>
          <a:xfrm>
            <a:off x="6400800" y="2304288"/>
            <a:ext cx="4983480" cy="1133856"/>
          </a:xfrm>
          <a:prstGeom prst="rect">
            <a:avLst/>
          </a:prstGeom>
          <a:noFill/>
          <a:ln/>
        </p:spPr>
        <p:txBody>
          <a:bodyPr wrap="square" lIns="0" tIns="0" rIns="0" bIns="0" rtlCol="0" anchor="t"/>
          <a:lstStyle/>
          <a:p>
            <a:pPr indent="0" marL="0">
              <a:buNone/>
            </a:pPr>
            <a:r>
              <a:rPr lang="en-US" sz="1400" dirty="0">
                <a:solidFill>
                  <a:schemeClr val="tx1"/>
                </a:solidFill>
              </a:rPr>
              <a:t>Beneficiary “Daniel ABC” matches a sanctioned individual, with no date of birth, nationality, address or ID available. The merchant says: “We know the customer and are comfortable for this transaction to pass.”</a:t>
            </a:r>
            <a:endParaRPr lang="en-US" sz="1400" dirty="0"/>
          </a:p>
        </p:txBody>
      </p:sp>
      <p:sp>
        <p:nvSpPr>
          <p:cNvPr id="22" name="decision 04"/>
          <p:cNvSpPr/>
          <p:nvPr/>
        </p:nvSpPr>
        <p:spPr>
          <a:xfrm>
            <a:off x="6172200" y="3584448"/>
            <a:ext cx="5440680" cy="1353312"/>
          </a:xfrm>
          <a:prstGeom prst="roundRect">
            <a:avLst>
              <a:gd name="adj" fmla="val 8108"/>
            </a:avLst>
          </a:prstGeom>
          <a:solidFill>
            <a:schemeClr val="accent3"/>
          </a:solidFill>
          <a:ln w="12700">
            <a:solidFill>
              <a:schemeClr val="accent3"/>
            </a:solidFill>
            <a:prstDash val="solid"/>
          </a:ln>
        </p:spPr>
      </p:sp>
      <p:sp>
        <p:nvSpPr>
          <p:cNvPr id="23" name="Text 21"/>
          <p:cNvSpPr txBox="1"/>
          <p:nvPr/>
        </p:nvSpPr>
        <p:spPr>
          <a:xfrm>
            <a:off x="6400800" y="3694176"/>
            <a:ext cx="4983480" cy="228600"/>
          </a:xfrm>
          <a:prstGeom prst="rect">
            <a:avLst/>
          </a:prstGeom>
          <a:noFill/>
          <a:ln/>
        </p:spPr>
        <p:txBody>
          <a:bodyPr wrap="square" lIns="0" tIns="0" rIns="0" bIns="0" rtlCol="0" anchor="t"/>
          <a:lstStyle/>
          <a:p>
            <a:pPr indent="0" marL="0">
              <a:buNone/>
            </a:pPr>
            <a:r>
              <a:rPr lang="en-US" sz="1100" b="1" spc="100" kern="0" dirty="0">
                <a:solidFill>
                  <a:schemeClr val="bg1"/>
                </a:solidFill>
              </a:rPr>
              <a:t>DECISION</a:t>
            </a:r>
            <a:endParaRPr lang="en-US" sz="1100" dirty="0"/>
          </a:p>
        </p:txBody>
      </p:sp>
      <p:sp>
        <p:nvSpPr>
          <p:cNvPr id="24" name="Text 22"/>
          <p:cNvSpPr txBox="1"/>
          <p:nvPr/>
        </p:nvSpPr>
        <p:spPr>
          <a:xfrm>
            <a:off x="6400800" y="3950208"/>
            <a:ext cx="4983480" cy="950976"/>
          </a:xfrm>
          <a:prstGeom prst="rect">
            <a:avLst/>
          </a:prstGeom>
          <a:noFill/>
          <a:ln/>
        </p:spPr>
        <p:txBody>
          <a:bodyPr wrap="square" lIns="0" tIns="0" rIns="0" bIns="0" rtlCol="0" anchor="t"/>
          <a:lstStyle/>
          <a:p>
            <a:pPr indent="0" marL="0">
              <a:buNone/>
            </a:pPr>
            <a:r>
              <a:rPr lang="en-US" sz="1400" dirty="0">
                <a:solidFill>
                  <a:schemeClr val="bg1"/>
                </a:solidFill>
              </a:rPr>
              <a:t>Hold, send an RFI and re-screen. Clear only if the beneficiary is shown not to be the listed person. If the match remains unresolved, reject per procedure and escalate.</a:t>
            </a:r>
            <a:endParaRPr lang="en-US" sz="1400" dirty="0"/>
          </a:p>
        </p:txBody>
      </p:sp>
      <p:sp>
        <p:nvSpPr>
          <p:cNvPr id="25" name="record 04"/>
          <p:cNvSpPr/>
          <p:nvPr/>
        </p:nvSpPr>
        <p:spPr>
          <a:xfrm>
            <a:off x="6172200" y="5047488"/>
            <a:ext cx="5440680" cy="914400"/>
          </a:xfrm>
          <a:prstGeom prst="roundRect">
            <a:avLst>
              <a:gd name="adj" fmla="val 12000"/>
            </a:avLst>
          </a:prstGeom>
          <a:solidFill>
            <a:schemeClr val="bg2"/>
          </a:solidFill>
          <a:ln w="12700">
            <a:solidFill>
              <a:schemeClr val="bg2"/>
            </a:solidFill>
            <a:prstDash val="solid"/>
          </a:ln>
        </p:spPr>
      </p:sp>
      <p:sp>
        <p:nvSpPr>
          <p:cNvPr id="26" name="Text 24"/>
          <p:cNvSpPr txBox="1"/>
          <p:nvPr/>
        </p:nvSpPr>
        <p:spPr>
          <a:xfrm>
            <a:off x="6400800" y="5138928"/>
            <a:ext cx="4983480" cy="228600"/>
          </a:xfrm>
          <a:prstGeom prst="rect">
            <a:avLst/>
          </a:prstGeom>
          <a:noFill/>
          <a:ln/>
        </p:spPr>
        <p:txBody>
          <a:bodyPr wrap="square" lIns="0" tIns="0" rIns="0" bIns="0" rtlCol="0" anchor="t"/>
          <a:lstStyle/>
          <a:p>
            <a:pPr indent="0" marL="0">
              <a:buNone/>
            </a:pPr>
            <a:r>
              <a:rPr lang="en-US" sz="1100" b="1" spc="100" kern="0" dirty="0">
                <a:solidFill>
                  <a:schemeClr val="accent6"/>
                </a:solidFill>
              </a:rPr>
              <a:t>RECORD</a:t>
            </a:r>
            <a:endParaRPr lang="en-US" sz="1100" dirty="0"/>
          </a:p>
        </p:txBody>
      </p:sp>
      <p:sp>
        <p:nvSpPr>
          <p:cNvPr id="27" name="Text 25"/>
          <p:cNvSpPr txBox="1"/>
          <p:nvPr/>
        </p:nvSpPr>
        <p:spPr>
          <a:xfrm>
            <a:off x="6400800" y="5394960"/>
            <a:ext cx="4983480" cy="530352"/>
          </a:xfrm>
          <a:prstGeom prst="rect">
            <a:avLst/>
          </a:prstGeom>
          <a:noFill/>
          <a:ln/>
        </p:spPr>
        <p:txBody>
          <a:bodyPr wrap="square" lIns="0" tIns="0" rIns="0" bIns="0" rtlCol="0" anchor="t"/>
          <a:lstStyle/>
          <a:p>
            <a:pPr indent="0" marL="0">
              <a:buNone/>
            </a:pPr>
            <a:r>
              <a:rPr lang="en-US" sz="1400" dirty="0">
                <a:solidFill>
                  <a:schemeClr val="tx1"/>
                </a:solidFill>
              </a:rPr>
              <a:t>Merchant position, checks completed, RFI outcome, decision and rationale.</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2"/>
                </a:solidFill>
              </a:rPr>
              <a:t>PART 4 OF 4</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bg1"/>
                </a:solidFill>
              </a:rPr>
              <a:t>Record the decision</a:t>
            </a:r>
            <a:endParaRPr lang="en-US" sz="3000" dirty="0"/>
          </a:p>
        </p:txBody>
      </p:sp>
      <p:sp>
        <p:nvSpPr>
          <p:cNvPr id="4" name="part 4 circle"/>
          <p:cNvSpPr/>
          <p:nvPr/>
        </p:nvSpPr>
        <p:spPr>
          <a:xfrm>
            <a:off x="10561320" y="320040"/>
            <a:ext cx="1005840" cy="1005840"/>
          </a:xfrm>
          <a:prstGeom prst="ellipse">
            <a:avLst/>
          </a:prstGeom>
          <a:solidFill>
            <a:schemeClr val="accent3"/>
          </a:solidFill>
          <a:ln w="12700">
            <a:solidFill>
              <a:schemeClr val="accent3"/>
            </a:solidFill>
            <a:prstDash val="solid"/>
          </a:ln>
        </p:spPr>
      </p:sp>
      <p:pic>
        <p:nvPicPr>
          <p:cNvPr id="5" name="part 4 icon" descr="preencoded.png">    </p:cNvPr>
          <p:cNvPicPr>
            <a:picLocks noChangeAspect="1"/>
          </p:cNvPicPr>
          <p:nvPr/>
        </p:nvPicPr>
        <p:blipFill>
          <a:blip r:embed="rId1"/>
          <a:stretch>
            <a:fillRect/>
          </a:stretch>
        </p:blipFill>
        <p:spPr>
          <a:xfrm>
            <a:off x="10762488" y="521208"/>
            <a:ext cx="603504" cy="603504"/>
          </a:xfrm>
          <a:prstGeom prst="rect">
            <a:avLst/>
          </a:prstGeom>
        </p:spPr>
      </p:pic>
      <p:sp>
        <p:nvSpPr>
          <p:cNvPr id="6" name="Text 3"/>
          <p:cNvSpPr txBox="1"/>
          <p:nvPr/>
        </p:nvSpPr>
        <p:spPr>
          <a:xfrm>
            <a:off x="548640" y="1234440"/>
            <a:ext cx="9601200" cy="457200"/>
          </a:xfrm>
          <a:prstGeom prst="rect">
            <a:avLst/>
          </a:prstGeom>
          <a:noFill/>
          <a:ln/>
        </p:spPr>
        <p:txBody>
          <a:bodyPr wrap="square" lIns="0" tIns="0" rIns="0" bIns="0" rtlCol="0" anchor="t"/>
          <a:lstStyle/>
          <a:p>
            <a:pPr indent="0" marL="0">
              <a:buNone/>
            </a:pPr>
            <a:r>
              <a:rPr lang="en-US" sz="2200" b="1" i="1" dirty="0">
                <a:solidFill>
                  <a:schemeClr val="accent2"/>
                </a:solidFill>
              </a:rPr>
              <a:t>Defensible and reproducible.</a:t>
            </a:r>
            <a:endParaRPr lang="en-US" sz="2200" dirty="0"/>
          </a:p>
        </p:txBody>
      </p:sp>
      <p:sp>
        <p:nvSpPr>
          <p:cNvPr id="7" name="Text 4"/>
          <p:cNvSpPr txBox="1"/>
          <p:nvPr/>
        </p:nvSpPr>
        <p:spPr>
          <a:xfrm>
            <a:off x="548640" y="1737360"/>
            <a:ext cx="10515600" cy="320040"/>
          </a:xfrm>
          <a:prstGeom prst="rect">
            <a:avLst/>
          </a:prstGeom>
          <a:noFill/>
          <a:ln/>
        </p:spPr>
        <p:txBody>
          <a:bodyPr wrap="square" lIns="0" tIns="0" rIns="0" bIns="0" rtlCol="0" anchor="t"/>
          <a:lstStyle/>
          <a:p>
            <a:pPr indent="0" marL="0">
              <a:buNone/>
            </a:pPr>
            <a:r>
              <a:rPr lang="en-US" sz="1400" i="1" dirty="0">
                <a:solidFill>
                  <a:schemeClr val="accent5"/>
                </a:solidFill>
              </a:rPr>
              <a:t>Building on Part 3: you can gather the evidence and reach a recommendation.</a:t>
            </a:r>
            <a:endParaRPr lang="en-US" sz="1400" dirty="0"/>
          </a:p>
        </p:txBody>
      </p:sp>
      <p:sp>
        <p:nvSpPr>
          <p:cNvPr id="8" name="Text 5"/>
          <p:cNvSpPr txBox="1"/>
          <p:nvPr/>
        </p:nvSpPr>
        <p:spPr>
          <a:xfrm>
            <a:off x="548640" y="2103120"/>
            <a:ext cx="10789920" cy="914400"/>
          </a:xfrm>
          <a:prstGeom prst="rect">
            <a:avLst/>
          </a:prstGeom>
          <a:noFill/>
          <a:ln/>
        </p:spPr>
        <p:txBody>
          <a:bodyPr wrap="square" lIns="0" tIns="0" rIns="0" bIns="0" rtlCol="0" anchor="t"/>
          <a:lstStyle/>
          <a:p>
            <a:pPr indent="0" marL="0">
              <a:buNone/>
            </a:pPr>
            <a:r>
              <a:rPr lang="en-US" sz="1800" dirty="0">
                <a:solidFill>
                  <a:schemeClr val="bg1"/>
                </a:solidFill>
              </a:rPr>
              <a:t>A decision is only as strong as its record. Write it so that a reviewer reaches the same conclusion from the case alone — then bring everything together in a cross-team case.</a:t>
            </a:r>
            <a:endParaRPr lang="en-US" sz="1800" dirty="0"/>
          </a:p>
        </p:txBody>
      </p:sp>
      <p:sp>
        <p:nvSpPr>
          <p:cNvPr id="9" name="In this part"/>
          <p:cNvSpPr/>
          <p:nvPr/>
        </p:nvSpPr>
        <p:spPr>
          <a:xfrm>
            <a:off x="548640" y="3200400"/>
            <a:ext cx="3566160" cy="2286000"/>
          </a:xfrm>
          <a:prstGeom prst="roundRect">
            <a:avLst>
              <a:gd name="adj" fmla="val 4800"/>
            </a:avLst>
          </a:prstGeom>
          <a:solidFill>
            <a:schemeClr val="tx1"/>
          </a:solidFill>
          <a:ln w="12700">
            <a:solidFill>
              <a:schemeClr val="accent4"/>
            </a:solidFill>
            <a:prstDash val="solid"/>
          </a:ln>
        </p:spPr>
      </p:sp>
      <p:sp>
        <p:nvSpPr>
          <p:cNvPr id="10" name="Text 7"/>
          <p:cNvSpPr txBox="1"/>
          <p:nvPr/>
        </p:nvSpPr>
        <p:spPr>
          <a:xfrm>
            <a:off x="777240" y="3337560"/>
            <a:ext cx="3108960" cy="228600"/>
          </a:xfrm>
          <a:prstGeom prst="rect">
            <a:avLst/>
          </a:prstGeom>
          <a:noFill/>
          <a:ln/>
        </p:spPr>
        <p:txBody>
          <a:bodyPr wrap="square" lIns="0" tIns="0" rIns="0" bIns="0" rtlCol="0" anchor="t"/>
          <a:lstStyle/>
          <a:p>
            <a:pPr indent="0" marL="0">
              <a:buNone/>
            </a:pPr>
            <a:r>
              <a:rPr lang="en-US" sz="1100" b="1" spc="100" kern="0" dirty="0">
                <a:solidFill>
                  <a:schemeClr val="accent5"/>
                </a:solidFill>
              </a:rPr>
              <a:t>IN THIS PART</a:t>
            </a:r>
            <a:endParaRPr lang="en-US" sz="1100" dirty="0"/>
          </a:p>
        </p:txBody>
      </p:sp>
      <p:sp>
        <p:nvSpPr>
          <p:cNvPr id="11" name="Text 8"/>
          <p:cNvSpPr txBox="1"/>
          <p:nvPr/>
        </p:nvSpPr>
        <p:spPr>
          <a:xfrm>
            <a:off x="777240" y="3657600"/>
            <a:ext cx="3154680" cy="182880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chemeClr val="bg1"/>
                </a:solidFill>
              </a:rPr>
              <a:t>The defensible case note</a:t>
            </a:r>
            <a:endParaRPr lang="en-US" sz="1500" dirty="0"/>
          </a:p>
          <a:p>
            <a:pPr marL="342900" indent="-342900">
              <a:spcAft>
                <a:spcPts val="400"/>
              </a:spcAft>
              <a:buSzPct val="100000"/>
              <a:buChar char="•"/>
            </a:pPr>
            <a:r>
              <a:rPr lang="en-US" sz="1500" dirty="0">
                <a:solidFill>
                  <a:schemeClr val="bg1"/>
                </a:solidFill>
              </a:rPr>
              <a:t>Three teams, one risk picture</a:t>
            </a:r>
            <a:endParaRPr lang="en-US" sz="1500" dirty="0"/>
          </a:p>
          <a:p>
            <a:pPr marL="342900" indent="-342900">
              <a:spcAft>
                <a:spcPts val="400"/>
              </a:spcAft>
              <a:buSzPct val="100000"/>
              <a:buChar char="•"/>
            </a:pPr>
            <a:r>
              <a:rPr lang="en-US" sz="1500" dirty="0">
                <a:solidFill>
                  <a:schemeClr val="bg1"/>
                </a:solidFill>
              </a:rPr>
              <a:t>Answer reveal and team handoffs</a:t>
            </a:r>
            <a:endParaRPr lang="en-US" sz="1500" dirty="0"/>
          </a:p>
        </p:txBody>
      </p:sp>
      <p:sp>
        <p:nvSpPr>
          <p:cNvPr id="12" name="In your process"/>
          <p:cNvSpPr/>
          <p:nvPr/>
        </p:nvSpPr>
        <p:spPr>
          <a:xfrm>
            <a:off x="4297680" y="3200400"/>
            <a:ext cx="3566160" cy="2286000"/>
          </a:xfrm>
          <a:prstGeom prst="roundRect">
            <a:avLst>
              <a:gd name="adj" fmla="val 4800"/>
            </a:avLst>
          </a:prstGeom>
          <a:solidFill>
            <a:schemeClr val="tx1"/>
          </a:solidFill>
          <a:ln w="12700">
            <a:solidFill>
              <a:schemeClr val="accent4"/>
            </a:solidFill>
            <a:prstDash val="solid"/>
          </a:ln>
        </p:spPr>
      </p:sp>
      <p:sp>
        <p:nvSpPr>
          <p:cNvPr id="13" name="Text 10"/>
          <p:cNvSpPr txBox="1"/>
          <p:nvPr/>
        </p:nvSpPr>
        <p:spPr>
          <a:xfrm>
            <a:off x="4526280" y="3337560"/>
            <a:ext cx="3108960" cy="228600"/>
          </a:xfrm>
          <a:prstGeom prst="rect">
            <a:avLst/>
          </a:prstGeom>
          <a:noFill/>
          <a:ln/>
        </p:spPr>
        <p:txBody>
          <a:bodyPr wrap="square" lIns="0" tIns="0" rIns="0" bIns="0" rtlCol="0" anchor="t"/>
          <a:lstStyle/>
          <a:p>
            <a:pPr indent="0" marL="0">
              <a:buNone/>
            </a:pPr>
            <a:r>
              <a:rPr lang="en-US" sz="1100" b="1" spc="100" kern="0" dirty="0">
                <a:solidFill>
                  <a:schemeClr val="accent5"/>
                </a:solidFill>
              </a:rPr>
              <a:t>IN YOUR PROCESS</a:t>
            </a:r>
            <a:endParaRPr lang="en-US" sz="1100" dirty="0"/>
          </a:p>
        </p:txBody>
      </p:sp>
      <p:sp>
        <p:nvSpPr>
          <p:cNvPr id="14" name="Text 11"/>
          <p:cNvSpPr txBox="1"/>
          <p:nvPr/>
        </p:nvSpPr>
        <p:spPr>
          <a:xfrm>
            <a:off x="4526280" y="3657600"/>
            <a:ext cx="3154680" cy="1828800"/>
          </a:xfrm>
          <a:prstGeom prst="rect">
            <a:avLst/>
          </a:prstGeom>
          <a:noFill/>
          <a:ln/>
        </p:spPr>
        <p:txBody>
          <a:bodyPr wrap="square" lIns="0" tIns="0" rIns="0" bIns="0" rtlCol="0" anchor="t"/>
          <a:lstStyle/>
          <a:p>
            <a:pPr indent="0" marL="0">
              <a:buNone/>
            </a:pPr>
            <a:r>
              <a:rPr lang="en-US" sz="1500" dirty="0">
                <a:solidFill>
                  <a:schemeClr val="bg1"/>
                </a:solidFill>
              </a:rPr>
              <a:t>The case note in house format, 4-eye sign-off and L2 escalation — plus a TM referral (UAR / MLRO) or an EDR trigger where activity or ownership has changed.</a:t>
            </a:r>
            <a:endParaRPr lang="en-US" sz="1500" dirty="0"/>
          </a:p>
        </p:txBody>
      </p:sp>
      <p:sp>
        <p:nvSpPr>
          <p:cNvPr id="15" name="Ask yourself"/>
          <p:cNvSpPr/>
          <p:nvPr/>
        </p:nvSpPr>
        <p:spPr>
          <a:xfrm>
            <a:off x="8046720" y="3200400"/>
            <a:ext cx="3566160" cy="2286000"/>
          </a:xfrm>
          <a:prstGeom prst="roundRect">
            <a:avLst>
              <a:gd name="adj" fmla="val 4800"/>
            </a:avLst>
          </a:prstGeom>
          <a:solidFill>
            <a:schemeClr val="tx1"/>
          </a:solidFill>
          <a:ln w="12700">
            <a:solidFill>
              <a:schemeClr val="accent4"/>
            </a:solidFill>
            <a:prstDash val="solid"/>
          </a:ln>
        </p:spPr>
      </p:sp>
      <p:sp>
        <p:nvSpPr>
          <p:cNvPr id="16" name="Text 13"/>
          <p:cNvSpPr txBox="1"/>
          <p:nvPr/>
        </p:nvSpPr>
        <p:spPr>
          <a:xfrm>
            <a:off x="8275320" y="3337560"/>
            <a:ext cx="3108960" cy="228600"/>
          </a:xfrm>
          <a:prstGeom prst="rect">
            <a:avLst/>
          </a:prstGeom>
          <a:noFill/>
          <a:ln/>
        </p:spPr>
        <p:txBody>
          <a:bodyPr wrap="square" lIns="0" tIns="0" rIns="0" bIns="0" rtlCol="0" anchor="t"/>
          <a:lstStyle/>
          <a:p>
            <a:pPr indent="0" marL="0">
              <a:buNone/>
            </a:pPr>
            <a:r>
              <a:rPr lang="en-US" sz="1100" b="1" spc="100" kern="0" dirty="0">
                <a:solidFill>
                  <a:schemeClr val="accent2"/>
                </a:solidFill>
              </a:rPr>
              <a:t>ASK YOURSELF</a:t>
            </a:r>
            <a:endParaRPr lang="en-US" sz="1100" dirty="0"/>
          </a:p>
        </p:txBody>
      </p:sp>
      <p:sp>
        <p:nvSpPr>
          <p:cNvPr id="17" name="Text 14"/>
          <p:cNvSpPr txBox="1"/>
          <p:nvPr/>
        </p:nvSpPr>
        <p:spPr>
          <a:xfrm>
            <a:off x="8275320" y="3657600"/>
            <a:ext cx="3154680" cy="1828800"/>
          </a:xfrm>
          <a:prstGeom prst="rect">
            <a:avLst/>
          </a:prstGeom>
          <a:noFill/>
          <a:ln/>
        </p:spPr>
        <p:txBody>
          <a:bodyPr wrap="square" lIns="0" tIns="0" rIns="0" bIns="0" rtlCol="0" anchor="t"/>
          <a:lstStyle/>
          <a:p>
            <a:pPr indent="0" marL="0">
              <a:buNone/>
            </a:pPr>
            <a:r>
              <a:rPr lang="en-US" sz="1700" i="1" dirty="0">
                <a:solidFill>
                  <a:schemeClr val="bg1"/>
                </a:solidFill>
              </a:rPr>
              <a:t>Could someone who has never seen this case defend my decision from the record alone?</a:t>
            </a:r>
            <a:endParaRPr lang="en-US" sz="1700" dirty="0"/>
          </a:p>
        </p:txBody>
      </p:sp>
      <p:sp>
        <p:nvSpPr>
          <p:cNvPr id="18" name="progress 1"/>
          <p:cNvSpPr/>
          <p:nvPr/>
        </p:nvSpPr>
        <p:spPr>
          <a:xfrm>
            <a:off x="548640" y="5806440"/>
            <a:ext cx="2651760" cy="384048"/>
          </a:xfrm>
          <a:prstGeom prst="roundRect">
            <a:avLst>
              <a:gd name="adj" fmla="val 50000"/>
            </a:avLst>
          </a:prstGeom>
          <a:solidFill>
            <a:schemeClr val="tx2"/>
          </a:solidFill>
          <a:ln w="12700">
            <a:solidFill>
              <a:schemeClr val="accent4"/>
            </a:solidFill>
            <a:prstDash val="solid"/>
          </a:ln>
        </p:spPr>
      </p:sp>
      <p:sp>
        <p:nvSpPr>
          <p:cNvPr id="19" name="Text 16"/>
          <p:cNvSpPr txBox="1"/>
          <p:nvPr/>
        </p:nvSpPr>
        <p:spPr>
          <a:xfrm>
            <a:off x="548640" y="5806440"/>
            <a:ext cx="2651760" cy="384048"/>
          </a:xfrm>
          <a:prstGeom prst="rect">
            <a:avLst/>
          </a:prstGeom>
          <a:noFill/>
          <a:ln/>
        </p:spPr>
        <p:txBody>
          <a:bodyPr wrap="square" lIns="0" tIns="0" rIns="0" bIns="0" rtlCol="0" anchor="ctr"/>
          <a:lstStyle/>
          <a:p>
            <a:pPr algn="ctr" indent="0" marL="0">
              <a:buNone/>
            </a:pPr>
            <a:r>
              <a:rPr lang="en-US" sz="1300" dirty="0">
                <a:solidFill>
                  <a:schemeClr val="accent5"/>
                </a:solidFill>
              </a:rPr>
              <a:t>1  Understand the model</a:t>
            </a:r>
            <a:endParaRPr lang="en-US" sz="1300" dirty="0"/>
          </a:p>
        </p:txBody>
      </p:sp>
      <p:sp>
        <p:nvSpPr>
          <p:cNvPr id="20" name="progress 2"/>
          <p:cNvSpPr/>
          <p:nvPr/>
        </p:nvSpPr>
        <p:spPr>
          <a:xfrm>
            <a:off x="3346704" y="5806440"/>
            <a:ext cx="2651760" cy="384048"/>
          </a:xfrm>
          <a:prstGeom prst="roundRect">
            <a:avLst>
              <a:gd name="adj" fmla="val 50000"/>
            </a:avLst>
          </a:prstGeom>
          <a:solidFill>
            <a:schemeClr val="tx2"/>
          </a:solidFill>
          <a:ln w="12700">
            <a:solidFill>
              <a:schemeClr val="accent4"/>
            </a:solidFill>
            <a:prstDash val="solid"/>
          </a:ln>
        </p:spPr>
      </p:sp>
      <p:sp>
        <p:nvSpPr>
          <p:cNvPr id="21" name="Text 18"/>
          <p:cNvSpPr txBox="1"/>
          <p:nvPr/>
        </p:nvSpPr>
        <p:spPr>
          <a:xfrm>
            <a:off x="3346704" y="5806440"/>
            <a:ext cx="2651760" cy="384048"/>
          </a:xfrm>
          <a:prstGeom prst="rect">
            <a:avLst/>
          </a:prstGeom>
          <a:noFill/>
          <a:ln/>
        </p:spPr>
        <p:txBody>
          <a:bodyPr wrap="square" lIns="0" tIns="0" rIns="0" bIns="0" rtlCol="0" anchor="ctr"/>
          <a:lstStyle/>
          <a:p>
            <a:pPr algn="ctr" indent="0" marL="0">
              <a:buNone/>
            </a:pPr>
            <a:r>
              <a:rPr lang="en-US" sz="1300" dirty="0">
                <a:solidFill>
                  <a:schemeClr val="accent5"/>
                </a:solidFill>
              </a:rPr>
              <a:t>2  Compare the regions</a:t>
            </a:r>
            <a:endParaRPr lang="en-US" sz="1300" dirty="0"/>
          </a:p>
        </p:txBody>
      </p:sp>
      <p:sp>
        <p:nvSpPr>
          <p:cNvPr id="22" name="progress 3"/>
          <p:cNvSpPr/>
          <p:nvPr/>
        </p:nvSpPr>
        <p:spPr>
          <a:xfrm>
            <a:off x="6144768" y="5806440"/>
            <a:ext cx="2651760" cy="384048"/>
          </a:xfrm>
          <a:prstGeom prst="roundRect">
            <a:avLst>
              <a:gd name="adj" fmla="val 50000"/>
            </a:avLst>
          </a:prstGeom>
          <a:solidFill>
            <a:schemeClr val="tx2"/>
          </a:solidFill>
          <a:ln w="12700">
            <a:solidFill>
              <a:schemeClr val="accent4"/>
            </a:solidFill>
            <a:prstDash val="solid"/>
          </a:ln>
        </p:spPr>
      </p:sp>
      <p:sp>
        <p:nvSpPr>
          <p:cNvPr id="23" name="Text 20"/>
          <p:cNvSpPr txBox="1"/>
          <p:nvPr/>
        </p:nvSpPr>
        <p:spPr>
          <a:xfrm>
            <a:off x="6144768" y="5806440"/>
            <a:ext cx="2651760" cy="384048"/>
          </a:xfrm>
          <a:prstGeom prst="rect">
            <a:avLst/>
          </a:prstGeom>
          <a:noFill/>
          <a:ln/>
        </p:spPr>
        <p:txBody>
          <a:bodyPr wrap="square" lIns="0" tIns="0" rIns="0" bIns="0" rtlCol="0" anchor="ctr"/>
          <a:lstStyle/>
          <a:p>
            <a:pPr algn="ctr" indent="0" marL="0">
              <a:buNone/>
            </a:pPr>
            <a:r>
              <a:rPr lang="en-US" sz="1300" dirty="0">
                <a:solidFill>
                  <a:schemeClr val="accent5"/>
                </a:solidFill>
              </a:rPr>
              <a:t>3  Apply the indicators</a:t>
            </a:r>
            <a:endParaRPr lang="en-US" sz="1300" dirty="0"/>
          </a:p>
        </p:txBody>
      </p:sp>
      <p:sp>
        <p:nvSpPr>
          <p:cNvPr id="24" name="progress 4"/>
          <p:cNvSpPr/>
          <p:nvPr/>
        </p:nvSpPr>
        <p:spPr>
          <a:xfrm>
            <a:off x="8942832" y="5806440"/>
            <a:ext cx="2651760" cy="384048"/>
          </a:xfrm>
          <a:prstGeom prst="roundRect">
            <a:avLst>
              <a:gd name="adj" fmla="val 50000"/>
            </a:avLst>
          </a:prstGeom>
          <a:solidFill>
            <a:schemeClr val="accent3"/>
          </a:solidFill>
          <a:ln w="12700">
            <a:solidFill>
              <a:schemeClr val="accent3"/>
            </a:solidFill>
            <a:prstDash val="solid"/>
          </a:ln>
        </p:spPr>
      </p:sp>
      <p:sp>
        <p:nvSpPr>
          <p:cNvPr id="25" name="Text 22"/>
          <p:cNvSpPr txBox="1"/>
          <p:nvPr/>
        </p:nvSpPr>
        <p:spPr>
          <a:xfrm>
            <a:off x="8942832" y="5806440"/>
            <a:ext cx="2651760" cy="384048"/>
          </a:xfrm>
          <a:prstGeom prst="rect">
            <a:avLst/>
          </a:prstGeom>
          <a:noFill/>
          <a:ln/>
        </p:spPr>
        <p:txBody>
          <a:bodyPr wrap="square" lIns="0" tIns="0" rIns="0" bIns="0" rtlCol="0" anchor="ctr"/>
          <a:lstStyle/>
          <a:p>
            <a:pPr algn="ctr" indent="0" marL="0">
              <a:buNone/>
            </a:pPr>
            <a:r>
              <a:rPr lang="en-US" sz="1300" b="1" dirty="0">
                <a:solidFill>
                  <a:schemeClr val="bg1"/>
                </a:solidFill>
              </a:rPr>
              <a:t>4  Record the decision</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4 · DEFENSIBLE CASE NOTE — MINIMUM STANDARD</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tx1"/>
                </a:solidFill>
              </a:rPr>
              <a:t>The defensible case note</a:t>
            </a:r>
            <a:endParaRPr lang="en-US" sz="3000" dirty="0"/>
          </a:p>
        </p:txBody>
      </p:sp>
      <p:sp>
        <p:nvSpPr>
          <p:cNvPr id="4" name="Alert"/>
          <p:cNvSpPr/>
          <p:nvPr/>
        </p:nvSpPr>
        <p:spPr>
          <a:xfrm>
            <a:off x="548640" y="1371600"/>
            <a:ext cx="5440680" cy="1234440"/>
          </a:xfrm>
          <a:prstGeom prst="roundRect">
            <a:avLst>
              <a:gd name="adj" fmla="val 8889"/>
            </a:avLst>
          </a:prstGeom>
          <a:solidFill>
            <a:schemeClr val="bg2"/>
          </a:solidFill>
          <a:ln w="12700">
            <a:solidFill>
              <a:schemeClr val="bg2"/>
            </a:solidFill>
            <a:prstDash val="solid"/>
          </a:ln>
        </p:spPr>
      </p:sp>
      <p:sp>
        <p:nvSpPr>
          <p:cNvPr id="5" name="Shape 3"/>
          <p:cNvSpPr/>
          <p:nvPr/>
        </p:nvSpPr>
        <p:spPr>
          <a:xfrm>
            <a:off x="777240" y="1673352"/>
            <a:ext cx="621792" cy="621792"/>
          </a:xfrm>
          <a:prstGeom prst="ellipse">
            <a:avLst/>
          </a:prstGeom>
          <a:solidFill>
            <a:schemeClr val="tx1"/>
          </a:solidFill>
          <a:ln w="12700">
            <a:solidFill>
              <a:schemeClr val="tx1"/>
            </a:solidFill>
            <a:prstDash val="solid"/>
          </a:ln>
        </p:spPr>
      </p:sp>
      <p:sp>
        <p:nvSpPr>
          <p:cNvPr id="6" name="Text 4"/>
          <p:cNvSpPr txBox="1"/>
          <p:nvPr/>
        </p:nvSpPr>
        <p:spPr>
          <a:xfrm>
            <a:off x="777240" y="1673352"/>
            <a:ext cx="621792" cy="621792"/>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7" name="Text 5"/>
          <p:cNvSpPr txBox="1"/>
          <p:nvPr/>
        </p:nvSpPr>
        <p:spPr>
          <a:xfrm>
            <a:off x="1600200" y="1490472"/>
            <a:ext cx="4206240" cy="347472"/>
          </a:xfrm>
          <a:prstGeom prst="rect">
            <a:avLst/>
          </a:prstGeom>
          <a:noFill/>
          <a:ln/>
        </p:spPr>
        <p:txBody>
          <a:bodyPr wrap="square" lIns="0" tIns="0" rIns="0" bIns="0" rtlCol="0" anchor="t"/>
          <a:lstStyle/>
          <a:p>
            <a:pPr indent="0" marL="0">
              <a:buNone/>
            </a:pPr>
            <a:r>
              <a:rPr lang="en-US" sz="1700" b="1" dirty="0">
                <a:solidFill>
                  <a:schemeClr val="tx1"/>
                </a:solidFill>
              </a:rPr>
              <a:t>Alert</a:t>
            </a:r>
            <a:endParaRPr lang="en-US" sz="1700" dirty="0"/>
          </a:p>
        </p:txBody>
      </p:sp>
      <p:sp>
        <p:nvSpPr>
          <p:cNvPr id="8" name="Text 6"/>
          <p:cNvSpPr txBox="1"/>
          <p:nvPr/>
        </p:nvSpPr>
        <p:spPr>
          <a:xfrm>
            <a:off x="1600200" y="1847088"/>
            <a:ext cx="4206240" cy="713232"/>
          </a:xfrm>
          <a:prstGeom prst="rect">
            <a:avLst/>
          </a:prstGeom>
          <a:noFill/>
          <a:ln/>
        </p:spPr>
        <p:txBody>
          <a:bodyPr wrap="square" lIns="0" tIns="0" rIns="0" bIns="0" rtlCol="0" anchor="t"/>
          <a:lstStyle/>
          <a:p>
            <a:pPr indent="0" marL="0">
              <a:buNone/>
            </a:pPr>
            <a:r>
              <a:rPr lang="en-US" sz="1400" dirty="0">
                <a:solidFill>
                  <a:schemeClr val="accent6"/>
                </a:solidFill>
              </a:rPr>
              <a:t>Beneficiary “Daniel ABC” matched [list / programme]; match quality unresolved due to missing identifiers.</a:t>
            </a:r>
            <a:endParaRPr lang="en-US" sz="1400" dirty="0"/>
          </a:p>
        </p:txBody>
      </p:sp>
      <p:sp>
        <p:nvSpPr>
          <p:cNvPr id="9" name="Merchant position"/>
          <p:cNvSpPr/>
          <p:nvPr/>
        </p:nvSpPr>
        <p:spPr>
          <a:xfrm>
            <a:off x="548640" y="2743200"/>
            <a:ext cx="5440680" cy="1234440"/>
          </a:xfrm>
          <a:prstGeom prst="roundRect">
            <a:avLst>
              <a:gd name="adj" fmla="val 8889"/>
            </a:avLst>
          </a:prstGeom>
          <a:solidFill>
            <a:schemeClr val="bg2"/>
          </a:solidFill>
          <a:ln w="12700">
            <a:solidFill>
              <a:schemeClr val="bg2"/>
            </a:solidFill>
            <a:prstDash val="solid"/>
          </a:ln>
        </p:spPr>
      </p:sp>
      <p:sp>
        <p:nvSpPr>
          <p:cNvPr id="10" name="Shape 8"/>
          <p:cNvSpPr/>
          <p:nvPr/>
        </p:nvSpPr>
        <p:spPr>
          <a:xfrm>
            <a:off x="777240" y="3044952"/>
            <a:ext cx="621792" cy="621792"/>
          </a:xfrm>
          <a:prstGeom prst="ellipse">
            <a:avLst/>
          </a:prstGeom>
          <a:solidFill>
            <a:schemeClr val="tx1"/>
          </a:solidFill>
          <a:ln w="12700">
            <a:solidFill>
              <a:schemeClr val="tx1"/>
            </a:solidFill>
            <a:prstDash val="solid"/>
          </a:ln>
        </p:spPr>
      </p:sp>
      <p:sp>
        <p:nvSpPr>
          <p:cNvPr id="11" name="Text 9"/>
          <p:cNvSpPr txBox="1"/>
          <p:nvPr/>
        </p:nvSpPr>
        <p:spPr>
          <a:xfrm>
            <a:off x="777240" y="3044952"/>
            <a:ext cx="621792" cy="621792"/>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2" name="Text 10"/>
          <p:cNvSpPr txBox="1"/>
          <p:nvPr/>
        </p:nvSpPr>
        <p:spPr>
          <a:xfrm>
            <a:off x="1600200" y="2862072"/>
            <a:ext cx="4206240" cy="347472"/>
          </a:xfrm>
          <a:prstGeom prst="rect">
            <a:avLst/>
          </a:prstGeom>
          <a:noFill/>
          <a:ln/>
        </p:spPr>
        <p:txBody>
          <a:bodyPr wrap="square" lIns="0" tIns="0" rIns="0" bIns="0" rtlCol="0" anchor="t"/>
          <a:lstStyle/>
          <a:p>
            <a:pPr indent="0" marL="0">
              <a:buNone/>
            </a:pPr>
            <a:r>
              <a:rPr lang="en-US" sz="1700" b="1" dirty="0">
                <a:solidFill>
                  <a:schemeClr val="tx1"/>
                </a:solidFill>
              </a:rPr>
              <a:t>Merchant position</a:t>
            </a:r>
            <a:endParaRPr lang="en-US" sz="1700" dirty="0"/>
          </a:p>
        </p:txBody>
      </p:sp>
      <p:sp>
        <p:nvSpPr>
          <p:cNvPr id="13" name="Text 11"/>
          <p:cNvSpPr txBox="1"/>
          <p:nvPr/>
        </p:nvSpPr>
        <p:spPr>
          <a:xfrm>
            <a:off x="1600200" y="3218688"/>
            <a:ext cx="4206240" cy="713232"/>
          </a:xfrm>
          <a:prstGeom prst="rect">
            <a:avLst/>
          </a:prstGeom>
          <a:noFill/>
          <a:ln/>
        </p:spPr>
        <p:txBody>
          <a:bodyPr wrap="square" lIns="0" tIns="0" rIns="0" bIns="0" rtlCol="0" anchor="t"/>
          <a:lstStyle/>
          <a:p>
            <a:pPr indent="0" marL="0">
              <a:buNone/>
            </a:pPr>
            <a:r>
              <a:rPr lang="en-US" sz="1400" dirty="0">
                <a:solidFill>
                  <a:schemeClr val="accent6"/>
                </a:solidFill>
              </a:rPr>
              <a:t>Merchant stated it was comfortable processing the payment but provided no additional reliable identifiers.</a:t>
            </a:r>
            <a:endParaRPr lang="en-US" sz="1400" dirty="0"/>
          </a:p>
        </p:txBody>
      </p:sp>
      <p:sp>
        <p:nvSpPr>
          <p:cNvPr id="14" name="Checks completed"/>
          <p:cNvSpPr/>
          <p:nvPr/>
        </p:nvSpPr>
        <p:spPr>
          <a:xfrm>
            <a:off x="548640" y="4114800"/>
            <a:ext cx="5440680" cy="1234440"/>
          </a:xfrm>
          <a:prstGeom prst="roundRect">
            <a:avLst>
              <a:gd name="adj" fmla="val 8889"/>
            </a:avLst>
          </a:prstGeom>
          <a:solidFill>
            <a:schemeClr val="bg2"/>
          </a:solidFill>
          <a:ln w="12700">
            <a:solidFill>
              <a:schemeClr val="bg2"/>
            </a:solidFill>
            <a:prstDash val="solid"/>
          </a:ln>
        </p:spPr>
      </p:sp>
      <p:sp>
        <p:nvSpPr>
          <p:cNvPr id="15" name="Shape 13"/>
          <p:cNvSpPr/>
          <p:nvPr/>
        </p:nvSpPr>
        <p:spPr>
          <a:xfrm>
            <a:off x="777240" y="4416552"/>
            <a:ext cx="621792" cy="621792"/>
          </a:xfrm>
          <a:prstGeom prst="ellipse">
            <a:avLst/>
          </a:prstGeom>
          <a:solidFill>
            <a:schemeClr val="tx1"/>
          </a:solidFill>
          <a:ln w="12700">
            <a:solidFill>
              <a:schemeClr val="tx1"/>
            </a:solidFill>
            <a:prstDash val="solid"/>
          </a:ln>
        </p:spPr>
      </p:sp>
      <p:sp>
        <p:nvSpPr>
          <p:cNvPr id="16" name="Text 14"/>
          <p:cNvSpPr txBox="1"/>
          <p:nvPr/>
        </p:nvSpPr>
        <p:spPr>
          <a:xfrm>
            <a:off x="777240" y="4416552"/>
            <a:ext cx="621792" cy="621792"/>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7" name="Text 15"/>
          <p:cNvSpPr txBox="1"/>
          <p:nvPr/>
        </p:nvSpPr>
        <p:spPr>
          <a:xfrm>
            <a:off x="1600200" y="4233672"/>
            <a:ext cx="4206240" cy="347472"/>
          </a:xfrm>
          <a:prstGeom prst="rect">
            <a:avLst/>
          </a:prstGeom>
          <a:noFill/>
          <a:ln/>
        </p:spPr>
        <p:txBody>
          <a:bodyPr wrap="square" lIns="0" tIns="0" rIns="0" bIns="0" rtlCol="0" anchor="t"/>
          <a:lstStyle/>
          <a:p>
            <a:pPr indent="0" marL="0">
              <a:buNone/>
            </a:pPr>
            <a:r>
              <a:rPr lang="en-US" sz="1700" b="1" dirty="0">
                <a:solidFill>
                  <a:schemeClr val="tx1"/>
                </a:solidFill>
              </a:rPr>
              <a:t>Checks completed</a:t>
            </a:r>
            <a:endParaRPr lang="en-US" sz="1700" dirty="0"/>
          </a:p>
        </p:txBody>
      </p:sp>
      <p:sp>
        <p:nvSpPr>
          <p:cNvPr id="18" name="Text 16"/>
          <p:cNvSpPr txBox="1"/>
          <p:nvPr/>
        </p:nvSpPr>
        <p:spPr>
          <a:xfrm>
            <a:off x="1600200" y="4590288"/>
            <a:ext cx="4206240" cy="713232"/>
          </a:xfrm>
          <a:prstGeom prst="rect">
            <a:avLst/>
          </a:prstGeom>
          <a:noFill/>
          <a:ln/>
        </p:spPr>
        <p:txBody>
          <a:bodyPr wrap="square" lIns="0" tIns="0" rIns="0" bIns="0" rtlCol="0" anchor="t"/>
          <a:lstStyle/>
          <a:p>
            <a:pPr indent="0" marL="0">
              <a:buNone/>
            </a:pPr>
            <a:r>
              <a:rPr lang="en-US" sz="1400" dirty="0">
                <a:solidFill>
                  <a:schemeClr val="accent6"/>
                </a:solidFill>
              </a:rPr>
              <a:t>Name and alias comparison, account and payment data, linked-party review; RFI issued and response assessed.</a:t>
            </a:r>
            <a:endParaRPr lang="en-US" sz="1400" dirty="0"/>
          </a:p>
        </p:txBody>
      </p:sp>
      <p:sp>
        <p:nvSpPr>
          <p:cNvPr id="19" name="Decision"/>
          <p:cNvSpPr/>
          <p:nvPr/>
        </p:nvSpPr>
        <p:spPr>
          <a:xfrm>
            <a:off x="6172200" y="1371600"/>
            <a:ext cx="5440680" cy="1234440"/>
          </a:xfrm>
          <a:prstGeom prst="roundRect">
            <a:avLst>
              <a:gd name="adj" fmla="val 8889"/>
            </a:avLst>
          </a:prstGeom>
          <a:solidFill>
            <a:schemeClr val="bg2"/>
          </a:solidFill>
          <a:ln w="12700">
            <a:solidFill>
              <a:schemeClr val="bg2"/>
            </a:solidFill>
            <a:prstDash val="solid"/>
          </a:ln>
        </p:spPr>
      </p:sp>
      <p:sp>
        <p:nvSpPr>
          <p:cNvPr id="20" name="Shape 18"/>
          <p:cNvSpPr/>
          <p:nvPr/>
        </p:nvSpPr>
        <p:spPr>
          <a:xfrm>
            <a:off x="6400800" y="1673352"/>
            <a:ext cx="621792" cy="621792"/>
          </a:xfrm>
          <a:prstGeom prst="ellipse">
            <a:avLst/>
          </a:prstGeom>
          <a:solidFill>
            <a:schemeClr val="tx1"/>
          </a:solidFill>
          <a:ln w="12700">
            <a:solidFill>
              <a:schemeClr val="tx1"/>
            </a:solidFill>
            <a:prstDash val="solid"/>
          </a:ln>
        </p:spPr>
      </p:sp>
      <p:sp>
        <p:nvSpPr>
          <p:cNvPr id="21" name="Text 19"/>
          <p:cNvSpPr txBox="1"/>
          <p:nvPr/>
        </p:nvSpPr>
        <p:spPr>
          <a:xfrm>
            <a:off x="6400800" y="1673352"/>
            <a:ext cx="621792" cy="621792"/>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2" name="Text 20"/>
          <p:cNvSpPr txBox="1"/>
          <p:nvPr/>
        </p:nvSpPr>
        <p:spPr>
          <a:xfrm>
            <a:off x="7223760" y="1490472"/>
            <a:ext cx="4206240" cy="347472"/>
          </a:xfrm>
          <a:prstGeom prst="rect">
            <a:avLst/>
          </a:prstGeom>
          <a:noFill/>
          <a:ln/>
        </p:spPr>
        <p:txBody>
          <a:bodyPr wrap="square" lIns="0" tIns="0" rIns="0" bIns="0" rtlCol="0" anchor="t"/>
          <a:lstStyle/>
          <a:p>
            <a:pPr indent="0" marL="0">
              <a:buNone/>
            </a:pPr>
            <a:r>
              <a:rPr lang="en-US" sz="1700" b="1" dirty="0">
                <a:solidFill>
                  <a:schemeClr val="tx1"/>
                </a:solidFill>
              </a:rPr>
              <a:t>Decision</a:t>
            </a:r>
            <a:endParaRPr lang="en-US" sz="1700" dirty="0"/>
          </a:p>
        </p:txBody>
      </p:sp>
      <p:sp>
        <p:nvSpPr>
          <p:cNvPr id="23" name="Text 21"/>
          <p:cNvSpPr txBox="1"/>
          <p:nvPr/>
        </p:nvSpPr>
        <p:spPr>
          <a:xfrm>
            <a:off x="7223760" y="1847088"/>
            <a:ext cx="4206240" cy="713232"/>
          </a:xfrm>
          <a:prstGeom prst="rect">
            <a:avLst/>
          </a:prstGeom>
          <a:noFill/>
          <a:ln/>
        </p:spPr>
        <p:txBody>
          <a:bodyPr wrap="square" lIns="0" tIns="0" rIns="0" bIns="0" rtlCol="0" anchor="t"/>
          <a:lstStyle/>
          <a:p>
            <a:pPr indent="0" marL="0">
              <a:buNone/>
            </a:pPr>
            <a:r>
              <a:rPr lang="en-US" sz="1400" dirty="0">
                <a:solidFill>
                  <a:schemeClr val="accent6"/>
                </a:solidFill>
              </a:rPr>
              <a:t>Not cleared on merchant assurance; held pending review; rejected per procedure; escalated to L2.</a:t>
            </a:r>
            <a:endParaRPr lang="en-US" sz="1400" dirty="0"/>
          </a:p>
        </p:txBody>
      </p:sp>
      <p:sp>
        <p:nvSpPr>
          <p:cNvPr id="24" name="Rationale"/>
          <p:cNvSpPr/>
          <p:nvPr/>
        </p:nvSpPr>
        <p:spPr>
          <a:xfrm>
            <a:off x="6172200" y="2743200"/>
            <a:ext cx="5440680" cy="1234440"/>
          </a:xfrm>
          <a:prstGeom prst="roundRect">
            <a:avLst>
              <a:gd name="adj" fmla="val 8889"/>
            </a:avLst>
          </a:prstGeom>
          <a:solidFill>
            <a:schemeClr val="bg2"/>
          </a:solidFill>
          <a:ln w="12700">
            <a:solidFill>
              <a:schemeClr val="bg2"/>
            </a:solidFill>
            <a:prstDash val="solid"/>
          </a:ln>
        </p:spPr>
      </p:sp>
      <p:sp>
        <p:nvSpPr>
          <p:cNvPr id="25" name="Shape 23"/>
          <p:cNvSpPr/>
          <p:nvPr/>
        </p:nvSpPr>
        <p:spPr>
          <a:xfrm>
            <a:off x="6400800" y="3044952"/>
            <a:ext cx="621792" cy="621792"/>
          </a:xfrm>
          <a:prstGeom prst="ellipse">
            <a:avLst/>
          </a:prstGeom>
          <a:solidFill>
            <a:schemeClr val="tx1"/>
          </a:solidFill>
          <a:ln w="12700">
            <a:solidFill>
              <a:schemeClr val="tx1"/>
            </a:solidFill>
            <a:prstDash val="solid"/>
          </a:ln>
        </p:spPr>
      </p:sp>
      <p:sp>
        <p:nvSpPr>
          <p:cNvPr id="26" name="Text 24"/>
          <p:cNvSpPr txBox="1"/>
          <p:nvPr/>
        </p:nvSpPr>
        <p:spPr>
          <a:xfrm>
            <a:off x="6400800" y="3044952"/>
            <a:ext cx="621792" cy="621792"/>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7" name="Text 25"/>
          <p:cNvSpPr txBox="1"/>
          <p:nvPr/>
        </p:nvSpPr>
        <p:spPr>
          <a:xfrm>
            <a:off x="7223760" y="2862072"/>
            <a:ext cx="4206240" cy="347472"/>
          </a:xfrm>
          <a:prstGeom prst="rect">
            <a:avLst/>
          </a:prstGeom>
          <a:noFill/>
          <a:ln/>
        </p:spPr>
        <p:txBody>
          <a:bodyPr wrap="square" lIns="0" tIns="0" rIns="0" bIns="0" rtlCol="0" anchor="t"/>
          <a:lstStyle/>
          <a:p>
            <a:pPr indent="0" marL="0">
              <a:buNone/>
            </a:pPr>
            <a:r>
              <a:rPr lang="en-US" sz="1700" b="1" dirty="0">
                <a:solidFill>
                  <a:schemeClr val="tx1"/>
                </a:solidFill>
              </a:rPr>
              <a:t>Rationale</a:t>
            </a:r>
            <a:endParaRPr lang="en-US" sz="1700" dirty="0"/>
          </a:p>
        </p:txBody>
      </p:sp>
      <p:sp>
        <p:nvSpPr>
          <p:cNvPr id="28" name="Text 26"/>
          <p:cNvSpPr txBox="1"/>
          <p:nvPr/>
        </p:nvSpPr>
        <p:spPr>
          <a:xfrm>
            <a:off x="7223760" y="3218688"/>
            <a:ext cx="4206240" cy="713232"/>
          </a:xfrm>
          <a:prstGeom prst="rect">
            <a:avLst/>
          </a:prstGeom>
          <a:noFill/>
          <a:ln/>
        </p:spPr>
        <p:txBody>
          <a:bodyPr wrap="square" lIns="0" tIns="0" rIns="0" bIns="0" rtlCol="0" anchor="t"/>
          <a:lstStyle/>
          <a:p>
            <a:pPr indent="0" marL="0">
              <a:buNone/>
            </a:pPr>
            <a:r>
              <a:rPr lang="en-US" sz="1400" dirty="0">
                <a:solidFill>
                  <a:schemeClr val="accent6"/>
                </a:solidFill>
              </a:rPr>
              <a:t>Unresolved material sanctions exposure; insufficient evidence to conclude a false positive.</a:t>
            </a:r>
            <a:endParaRPr lang="en-US" sz="1400" dirty="0"/>
          </a:p>
        </p:txBody>
      </p:sp>
      <p:sp>
        <p:nvSpPr>
          <p:cNvPr id="29" name="Sign-off"/>
          <p:cNvSpPr/>
          <p:nvPr/>
        </p:nvSpPr>
        <p:spPr>
          <a:xfrm>
            <a:off x="6172200" y="4114800"/>
            <a:ext cx="5440680" cy="1234440"/>
          </a:xfrm>
          <a:prstGeom prst="roundRect">
            <a:avLst>
              <a:gd name="adj" fmla="val 8889"/>
            </a:avLst>
          </a:prstGeom>
          <a:solidFill>
            <a:schemeClr val="bg2"/>
          </a:solidFill>
          <a:ln w="12700">
            <a:solidFill>
              <a:schemeClr val="bg2"/>
            </a:solidFill>
            <a:prstDash val="solid"/>
          </a:ln>
        </p:spPr>
      </p:sp>
      <p:sp>
        <p:nvSpPr>
          <p:cNvPr id="30" name="Shape 28"/>
          <p:cNvSpPr/>
          <p:nvPr/>
        </p:nvSpPr>
        <p:spPr>
          <a:xfrm>
            <a:off x="6400800" y="4416552"/>
            <a:ext cx="621792" cy="621792"/>
          </a:xfrm>
          <a:prstGeom prst="ellipse">
            <a:avLst/>
          </a:prstGeom>
          <a:solidFill>
            <a:schemeClr val="tx1"/>
          </a:solidFill>
          <a:ln w="12700">
            <a:solidFill>
              <a:schemeClr val="tx1"/>
            </a:solidFill>
            <a:prstDash val="solid"/>
          </a:ln>
        </p:spPr>
      </p:sp>
      <p:sp>
        <p:nvSpPr>
          <p:cNvPr id="31" name="Text 29"/>
          <p:cNvSpPr txBox="1"/>
          <p:nvPr/>
        </p:nvSpPr>
        <p:spPr>
          <a:xfrm>
            <a:off x="6400800" y="4416552"/>
            <a:ext cx="621792" cy="621792"/>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32" name="Text 30"/>
          <p:cNvSpPr txBox="1"/>
          <p:nvPr/>
        </p:nvSpPr>
        <p:spPr>
          <a:xfrm>
            <a:off x="7223760" y="4233672"/>
            <a:ext cx="4206240" cy="347472"/>
          </a:xfrm>
          <a:prstGeom prst="rect">
            <a:avLst/>
          </a:prstGeom>
          <a:noFill/>
          <a:ln/>
        </p:spPr>
        <p:txBody>
          <a:bodyPr wrap="square" lIns="0" tIns="0" rIns="0" bIns="0" rtlCol="0" anchor="t"/>
          <a:lstStyle/>
          <a:p>
            <a:pPr indent="0" marL="0">
              <a:buNone/>
            </a:pPr>
            <a:r>
              <a:rPr lang="en-US" sz="1700" b="1" dirty="0">
                <a:solidFill>
                  <a:schemeClr val="tx1"/>
                </a:solidFill>
              </a:rPr>
              <a:t>Sign-off</a:t>
            </a:r>
            <a:endParaRPr lang="en-US" sz="1700" dirty="0"/>
          </a:p>
        </p:txBody>
      </p:sp>
      <p:sp>
        <p:nvSpPr>
          <p:cNvPr id="33" name="Text 31"/>
          <p:cNvSpPr txBox="1"/>
          <p:nvPr/>
        </p:nvSpPr>
        <p:spPr>
          <a:xfrm>
            <a:off x="7223760" y="4590288"/>
            <a:ext cx="4206240" cy="713232"/>
          </a:xfrm>
          <a:prstGeom prst="rect">
            <a:avLst/>
          </a:prstGeom>
          <a:noFill/>
          <a:ln/>
        </p:spPr>
        <p:txBody>
          <a:bodyPr wrap="square" lIns="0" tIns="0" rIns="0" bIns="0" rtlCol="0" anchor="t"/>
          <a:lstStyle/>
          <a:p>
            <a:pPr indent="0" marL="0">
              <a:buNone/>
            </a:pPr>
            <a:r>
              <a:rPr lang="en-US" sz="1400" dirty="0">
                <a:solidFill>
                  <a:schemeClr val="accent6"/>
                </a:solidFill>
              </a:rPr>
              <a:t>Analyst, reviewer and Sanctions Compliance — names and timestamps.</a:t>
            </a:r>
            <a:endParaRPr lang="en-US" sz="1400" dirty="0"/>
          </a:p>
        </p:txBody>
      </p:sp>
      <p:sp>
        <p:nvSpPr>
          <p:cNvPr id="34" name="Evidence standard"/>
          <p:cNvSpPr/>
          <p:nvPr/>
        </p:nvSpPr>
        <p:spPr>
          <a:xfrm>
            <a:off x="548640" y="5486400"/>
            <a:ext cx="11064240" cy="548640"/>
          </a:xfrm>
          <a:prstGeom prst="roundRect">
            <a:avLst>
              <a:gd name="adj" fmla="val 20000"/>
            </a:avLst>
          </a:prstGeom>
          <a:solidFill>
            <a:schemeClr val="tx1"/>
          </a:solidFill>
          <a:ln w="12700">
            <a:solidFill>
              <a:schemeClr val="tx1"/>
            </a:solidFill>
            <a:prstDash val="solid"/>
          </a:ln>
        </p:spPr>
      </p:sp>
      <p:sp>
        <p:nvSpPr>
          <p:cNvPr id="35" name="Text 33"/>
          <p:cNvSpPr txBox="1"/>
          <p:nvPr/>
        </p:nvSpPr>
        <p:spPr>
          <a:xfrm>
            <a:off x="777240" y="5486400"/>
            <a:ext cx="10607040" cy="548640"/>
          </a:xfrm>
          <a:prstGeom prst="rect">
            <a:avLst/>
          </a:prstGeom>
          <a:noFill/>
          <a:ln/>
        </p:spPr>
        <p:txBody>
          <a:bodyPr wrap="square" lIns="0" tIns="0" rIns="0" bIns="0" rtlCol="0" anchor="ctr"/>
          <a:lstStyle/>
          <a:p>
            <a:pPr indent="0" marL="0">
              <a:buNone/>
            </a:pPr>
            <a:r>
              <a:rPr lang="en-US" sz="1200" b="1" spc="100" kern="0" dirty="0">
                <a:solidFill>
                  <a:schemeClr val="accent2"/>
                </a:solidFill>
              </a:rPr>
              <a:t>EVIDENCE STANDARD   </a:t>
            </a:r>
            <a:pPr indent="0" marL="0">
              <a:buNone/>
            </a:pPr>
            <a:r>
              <a:rPr lang="en-US" sz="1500" dirty="0">
                <a:solidFill>
                  <a:schemeClr val="bg1"/>
                </a:solidFill>
              </a:rPr>
              <a:t>Every decision must be reproducible from the case record alone.</a:t>
            </a:r>
            <a:endParaRPr lang="en-US" sz="1500" dirty="0"/>
          </a:p>
        </p:txBody>
      </p:sp>
      <p:sp>
        <p:nvSpPr>
          <p:cNvPr id="36" name="Text 34"/>
          <p:cNvSpPr txBox="1"/>
          <p:nvPr/>
        </p:nvSpPr>
        <p:spPr>
          <a:xfrm>
            <a:off x="548640" y="6053328"/>
            <a:ext cx="11064240" cy="292608"/>
          </a:xfrm>
          <a:prstGeom prst="rect">
            <a:avLst/>
          </a:prstGeom>
          <a:noFill/>
          <a:ln/>
        </p:spPr>
        <p:txBody>
          <a:bodyPr wrap="square" lIns="0" tIns="0" rIns="0" bIns="0" rtlCol="0" anchor="b"/>
          <a:lstStyle/>
          <a:p>
            <a:pPr indent="0" marL="0">
              <a:buNone/>
            </a:pPr>
            <a:r>
              <a:rPr lang="en-US" sz="1000" i="1" dirty="0">
                <a:solidFill>
                  <a:schemeClr val="accent6"/>
                </a:solidFill>
              </a:rPr>
              <a:t>Source: Checkout PEP &amp; Sanctions Screening Checks; Global Sanctions Reporting Procedure (cite sections); Global Screening alert-rationale house format.</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4 · INTERACTIVE CASE — CROSS-TEAM EXERCISE</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tx1"/>
                </a:solidFill>
              </a:rPr>
              <a:t>Three teams, one risk picture</a:t>
            </a:r>
            <a:endParaRPr lang="en-US" sz="3000" dirty="0"/>
          </a:p>
        </p:txBody>
      </p:sp>
      <p:sp>
        <p:nvSpPr>
          <p:cNvPr id="4" name="Text 2"/>
          <p:cNvSpPr txBox="1"/>
          <p:nvPr/>
        </p:nvSpPr>
        <p:spPr>
          <a:xfrm>
            <a:off x="548640" y="1325880"/>
            <a:ext cx="11064240" cy="731520"/>
          </a:xfrm>
          <a:prstGeom prst="rect">
            <a:avLst/>
          </a:prstGeom>
          <a:noFill/>
          <a:ln/>
        </p:spPr>
        <p:txBody>
          <a:bodyPr wrap="square" lIns="0" tIns="0" rIns="0" bIns="0" rtlCol="0" anchor="t"/>
          <a:lstStyle/>
          <a:p>
            <a:pPr indent="0" marL="0">
              <a:buNone/>
            </a:pPr>
            <a:r>
              <a:rPr lang="en-US" sz="1500" dirty="0">
                <a:solidFill>
                  <a:schemeClr val="tx1"/>
                </a:solidFill>
              </a:rPr>
              <a:t>Atlas Bridge Technologies Pte. Ltd. (fictional) is a Singapore-based B2B software marketplace using Checkout for cross-border payouts. Onboarded 18 months ago, it expects S$1.2–1.8m a month and is owned by two non-sanctioned founders. A payout is now pending.</a:t>
            </a:r>
            <a:endParaRPr lang="en-US" sz="1500" dirty="0"/>
          </a:p>
        </p:txBody>
      </p:sp>
      <p:sp>
        <p:nvSpPr>
          <p:cNvPr id="5" name="Sanctions screening"/>
          <p:cNvSpPr/>
          <p:nvPr/>
        </p:nvSpPr>
        <p:spPr>
          <a:xfrm>
            <a:off x="548640" y="2194560"/>
            <a:ext cx="3566160" cy="2926080"/>
          </a:xfrm>
          <a:prstGeom prst="roundRect">
            <a:avLst>
              <a:gd name="adj" fmla="val 3750"/>
            </a:avLst>
          </a:prstGeom>
          <a:solidFill>
            <a:schemeClr val="bg2"/>
          </a:solidFill>
          <a:ln w="12700">
            <a:solidFill>
              <a:schemeClr val="bg2"/>
            </a:solidFill>
            <a:prstDash val="solid"/>
          </a:ln>
        </p:spPr>
      </p:sp>
      <p:sp>
        <p:nvSpPr>
          <p:cNvPr id="6" name="Sanctions screening circle"/>
          <p:cNvSpPr/>
          <p:nvPr/>
        </p:nvSpPr>
        <p:spPr>
          <a:xfrm>
            <a:off x="777240" y="2359152"/>
            <a:ext cx="594360" cy="594360"/>
          </a:xfrm>
          <a:prstGeom prst="ellipse">
            <a:avLst/>
          </a:prstGeom>
          <a:solidFill>
            <a:schemeClr val="accent1"/>
          </a:solidFill>
          <a:ln w="12700">
            <a:solidFill>
              <a:schemeClr val="accent1"/>
            </a:solidFill>
            <a:prstDash val="solid"/>
          </a:ln>
        </p:spPr>
      </p:sp>
      <p:pic>
        <p:nvPicPr>
          <p:cNvPr id="7" name="Sanctions screening icon" descr="preencoded.png">    </p:cNvPr>
          <p:cNvPicPr>
            <a:picLocks noChangeAspect="1"/>
          </p:cNvPicPr>
          <p:nvPr/>
        </p:nvPicPr>
        <p:blipFill>
          <a:blip r:embed="rId1"/>
          <a:stretch>
            <a:fillRect/>
          </a:stretch>
        </p:blipFill>
        <p:spPr>
          <a:xfrm>
            <a:off x="896112" y="2478024"/>
            <a:ext cx="356616" cy="356616"/>
          </a:xfrm>
          <a:prstGeom prst="rect">
            <a:avLst/>
          </a:prstGeom>
        </p:spPr>
      </p:pic>
      <p:sp>
        <p:nvSpPr>
          <p:cNvPr id="8" name="Text 5"/>
          <p:cNvSpPr txBox="1"/>
          <p:nvPr/>
        </p:nvSpPr>
        <p:spPr>
          <a:xfrm>
            <a:off x="1508760" y="2377440"/>
            <a:ext cx="2468880" cy="228600"/>
          </a:xfrm>
          <a:prstGeom prst="rect">
            <a:avLst/>
          </a:prstGeom>
          <a:noFill/>
          <a:ln/>
        </p:spPr>
        <p:txBody>
          <a:bodyPr wrap="square" lIns="0" tIns="0" rIns="0" bIns="0" rtlCol="0" anchor="t"/>
          <a:lstStyle/>
          <a:p>
            <a:pPr indent="0" marL="0">
              <a:buNone/>
            </a:pPr>
            <a:r>
              <a:rPr lang="en-US" sz="1100" b="1" spc="100" kern="0" dirty="0">
                <a:solidFill>
                  <a:schemeClr val="accent1"/>
                </a:solidFill>
              </a:rPr>
              <a:t>EVIDENCE DROP 1</a:t>
            </a:r>
            <a:endParaRPr lang="en-US" sz="1100" dirty="0"/>
          </a:p>
        </p:txBody>
      </p:sp>
      <p:sp>
        <p:nvSpPr>
          <p:cNvPr id="9" name="Text 6"/>
          <p:cNvSpPr txBox="1"/>
          <p:nvPr/>
        </p:nvSpPr>
        <p:spPr>
          <a:xfrm>
            <a:off x="1508760" y="2606040"/>
            <a:ext cx="2468880" cy="365760"/>
          </a:xfrm>
          <a:prstGeom prst="rect">
            <a:avLst/>
          </a:prstGeom>
          <a:noFill/>
          <a:ln/>
        </p:spPr>
        <p:txBody>
          <a:bodyPr wrap="square" lIns="0" tIns="0" rIns="0" bIns="0" rtlCol="0" anchor="t"/>
          <a:lstStyle/>
          <a:p>
            <a:pPr indent="0" marL="0">
              <a:buNone/>
            </a:pPr>
            <a:r>
              <a:rPr lang="en-US" sz="1600" b="1" dirty="0">
                <a:solidFill>
                  <a:schemeClr val="tx1"/>
                </a:solidFill>
              </a:rPr>
              <a:t>Sanctions screening</a:t>
            </a:r>
            <a:endParaRPr lang="en-US" sz="1600" dirty="0"/>
          </a:p>
        </p:txBody>
      </p:sp>
      <p:sp>
        <p:nvSpPr>
          <p:cNvPr id="10" name="Text 7"/>
          <p:cNvSpPr txBox="1"/>
          <p:nvPr/>
        </p:nvSpPr>
        <p:spPr>
          <a:xfrm>
            <a:off x="777240" y="3108960"/>
            <a:ext cx="3154680" cy="19659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A close match on the newly added director, “M. Rahman”, against a historical alias on the UK list.</a:t>
            </a:r>
            <a:endParaRPr lang="en-US" sz="1400" dirty="0"/>
          </a:p>
          <a:p>
            <a:pPr marL="342900" indent="-342900">
              <a:spcAft>
                <a:spcPts val="600"/>
              </a:spcAft>
              <a:buSzPct val="100000"/>
              <a:buChar char="•"/>
            </a:pPr>
            <a:r>
              <a:rPr lang="en-US" sz="1400" dirty="0">
                <a:solidFill>
                  <a:schemeClr val="tx1"/>
                </a:solidFill>
              </a:rPr>
              <a:t>Nationality matches; date of birth is missing from the profile.</a:t>
            </a:r>
            <a:endParaRPr lang="en-US" sz="1400" dirty="0"/>
          </a:p>
        </p:txBody>
      </p:sp>
      <p:sp>
        <p:nvSpPr>
          <p:cNvPr id="11" name="Transaction monitoring"/>
          <p:cNvSpPr/>
          <p:nvPr/>
        </p:nvSpPr>
        <p:spPr>
          <a:xfrm>
            <a:off x="4297680" y="2194560"/>
            <a:ext cx="3566160" cy="2926080"/>
          </a:xfrm>
          <a:prstGeom prst="roundRect">
            <a:avLst>
              <a:gd name="adj" fmla="val 3750"/>
            </a:avLst>
          </a:prstGeom>
          <a:solidFill>
            <a:schemeClr val="bg2"/>
          </a:solidFill>
          <a:ln w="12700">
            <a:solidFill>
              <a:schemeClr val="bg2"/>
            </a:solidFill>
            <a:prstDash val="solid"/>
          </a:ln>
        </p:spPr>
      </p:sp>
      <p:sp>
        <p:nvSpPr>
          <p:cNvPr id="12" name="Transaction monitoring circle"/>
          <p:cNvSpPr/>
          <p:nvPr/>
        </p:nvSpPr>
        <p:spPr>
          <a:xfrm>
            <a:off x="4526280" y="2359152"/>
            <a:ext cx="594360" cy="594360"/>
          </a:xfrm>
          <a:prstGeom prst="ellipse">
            <a:avLst/>
          </a:prstGeom>
          <a:solidFill>
            <a:schemeClr val="accent2"/>
          </a:solidFill>
          <a:ln w="12700">
            <a:solidFill>
              <a:schemeClr val="accent2"/>
            </a:solidFill>
            <a:prstDash val="solid"/>
          </a:ln>
        </p:spPr>
      </p:sp>
      <p:pic>
        <p:nvPicPr>
          <p:cNvPr id="13" name="Transaction monitoring icon" descr="preencoded.png">    </p:cNvPr>
          <p:cNvPicPr>
            <a:picLocks noChangeAspect="1"/>
          </p:cNvPicPr>
          <p:nvPr/>
        </p:nvPicPr>
        <p:blipFill>
          <a:blip r:embed="rId2"/>
          <a:stretch>
            <a:fillRect/>
          </a:stretch>
        </p:blipFill>
        <p:spPr>
          <a:xfrm>
            <a:off x="4645152" y="2478024"/>
            <a:ext cx="356616" cy="356616"/>
          </a:xfrm>
          <a:prstGeom prst="rect">
            <a:avLst/>
          </a:prstGeom>
        </p:spPr>
      </p:pic>
      <p:sp>
        <p:nvSpPr>
          <p:cNvPr id="14" name="Text 10"/>
          <p:cNvSpPr txBox="1"/>
          <p:nvPr/>
        </p:nvSpPr>
        <p:spPr>
          <a:xfrm>
            <a:off x="5257800" y="2377440"/>
            <a:ext cx="2468880" cy="228600"/>
          </a:xfrm>
          <a:prstGeom prst="rect">
            <a:avLst/>
          </a:prstGeom>
          <a:noFill/>
          <a:ln/>
        </p:spPr>
        <p:txBody>
          <a:bodyPr wrap="square" lIns="0" tIns="0" rIns="0" bIns="0" rtlCol="0" anchor="t"/>
          <a:lstStyle/>
          <a:p>
            <a:pPr indent="0" marL="0">
              <a:buNone/>
            </a:pPr>
            <a:r>
              <a:rPr lang="en-US" sz="1100" b="1" spc="100" kern="0" dirty="0">
                <a:solidFill>
                  <a:schemeClr val="accent2"/>
                </a:solidFill>
              </a:rPr>
              <a:t>EVIDENCE DROP 2</a:t>
            </a:r>
            <a:endParaRPr lang="en-US" sz="1100" dirty="0"/>
          </a:p>
        </p:txBody>
      </p:sp>
      <p:sp>
        <p:nvSpPr>
          <p:cNvPr id="15" name="Text 11"/>
          <p:cNvSpPr txBox="1"/>
          <p:nvPr/>
        </p:nvSpPr>
        <p:spPr>
          <a:xfrm>
            <a:off x="5257800" y="2606040"/>
            <a:ext cx="2468880" cy="365760"/>
          </a:xfrm>
          <a:prstGeom prst="rect">
            <a:avLst/>
          </a:prstGeom>
          <a:noFill/>
          <a:ln/>
        </p:spPr>
        <p:txBody>
          <a:bodyPr wrap="square" lIns="0" tIns="0" rIns="0" bIns="0" rtlCol="0" anchor="t"/>
          <a:lstStyle/>
          <a:p>
            <a:pPr indent="0" marL="0">
              <a:buNone/>
            </a:pPr>
            <a:r>
              <a:rPr lang="en-US" sz="1600" b="1" dirty="0">
                <a:solidFill>
                  <a:schemeClr val="tx1"/>
                </a:solidFill>
              </a:rPr>
              <a:t>Transaction monitoring</a:t>
            </a:r>
            <a:endParaRPr lang="en-US" sz="1600" dirty="0"/>
          </a:p>
        </p:txBody>
      </p:sp>
      <p:sp>
        <p:nvSpPr>
          <p:cNvPr id="16" name="Text 12"/>
          <p:cNvSpPr txBox="1"/>
          <p:nvPr/>
        </p:nvSpPr>
        <p:spPr>
          <a:xfrm>
            <a:off x="4526280" y="3108960"/>
            <a:ext cx="3154680" cy="19659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Volume is 4.5× the baseline over the last 10 days.</a:t>
            </a:r>
            <a:endParaRPr lang="en-US" sz="1400" dirty="0"/>
          </a:p>
          <a:p>
            <a:pPr marL="342900" indent="-342900">
              <a:spcAft>
                <a:spcPts val="600"/>
              </a:spcAft>
              <a:buSzPct val="100000"/>
              <a:buChar char="•"/>
            </a:pPr>
            <a:r>
              <a:rPr lang="en-US" sz="1400" dirty="0">
                <a:solidFill>
                  <a:schemeClr val="tx1"/>
                </a:solidFill>
              </a:rPr>
              <a:t>Payouts are split through two new intermediaries for “consulting” and “hardware integration”, to new beneficiaries in a UAE free zone and Hong Kong.</a:t>
            </a:r>
            <a:endParaRPr lang="en-US" sz="1400" dirty="0"/>
          </a:p>
        </p:txBody>
      </p:sp>
      <p:sp>
        <p:nvSpPr>
          <p:cNvPr id="17" name="Event-driven review"/>
          <p:cNvSpPr/>
          <p:nvPr/>
        </p:nvSpPr>
        <p:spPr>
          <a:xfrm>
            <a:off x="8046720" y="2194560"/>
            <a:ext cx="3566160" cy="2926080"/>
          </a:xfrm>
          <a:prstGeom prst="roundRect">
            <a:avLst>
              <a:gd name="adj" fmla="val 3750"/>
            </a:avLst>
          </a:prstGeom>
          <a:solidFill>
            <a:schemeClr val="bg2"/>
          </a:solidFill>
          <a:ln w="12700">
            <a:solidFill>
              <a:schemeClr val="bg2"/>
            </a:solidFill>
            <a:prstDash val="solid"/>
          </a:ln>
        </p:spPr>
      </p:sp>
      <p:sp>
        <p:nvSpPr>
          <p:cNvPr id="18" name="Event-driven review circle"/>
          <p:cNvSpPr/>
          <p:nvPr/>
        </p:nvSpPr>
        <p:spPr>
          <a:xfrm>
            <a:off x="8275320" y="2359152"/>
            <a:ext cx="594360" cy="594360"/>
          </a:xfrm>
          <a:prstGeom prst="ellipse">
            <a:avLst/>
          </a:prstGeom>
          <a:solidFill>
            <a:schemeClr val="accent4"/>
          </a:solidFill>
          <a:ln w="12700">
            <a:solidFill>
              <a:schemeClr val="accent4"/>
            </a:solidFill>
            <a:prstDash val="solid"/>
          </a:ln>
        </p:spPr>
      </p:sp>
      <p:pic>
        <p:nvPicPr>
          <p:cNvPr id="19" name="Event-driven review icon" descr="preencoded.png">    </p:cNvPr>
          <p:cNvPicPr>
            <a:picLocks noChangeAspect="1"/>
          </p:cNvPicPr>
          <p:nvPr/>
        </p:nvPicPr>
        <p:blipFill>
          <a:blip r:embed="rId3"/>
          <a:stretch>
            <a:fillRect/>
          </a:stretch>
        </p:blipFill>
        <p:spPr>
          <a:xfrm>
            <a:off x="8394192" y="2478024"/>
            <a:ext cx="356616" cy="356616"/>
          </a:xfrm>
          <a:prstGeom prst="rect">
            <a:avLst/>
          </a:prstGeom>
        </p:spPr>
      </p:pic>
      <p:sp>
        <p:nvSpPr>
          <p:cNvPr id="20" name="Text 15"/>
          <p:cNvSpPr txBox="1"/>
          <p:nvPr/>
        </p:nvSpPr>
        <p:spPr>
          <a:xfrm>
            <a:off x="9006840" y="2377440"/>
            <a:ext cx="2468880" cy="228600"/>
          </a:xfrm>
          <a:prstGeom prst="rect">
            <a:avLst/>
          </a:prstGeom>
          <a:noFill/>
          <a:ln/>
        </p:spPr>
        <p:txBody>
          <a:bodyPr wrap="square" lIns="0" tIns="0" rIns="0" bIns="0" rtlCol="0" anchor="t"/>
          <a:lstStyle/>
          <a:p>
            <a:pPr indent="0" marL="0">
              <a:buNone/>
            </a:pPr>
            <a:r>
              <a:rPr lang="en-US" sz="1100" b="1" spc="100" kern="0" dirty="0">
                <a:solidFill>
                  <a:schemeClr val="accent4"/>
                </a:solidFill>
              </a:rPr>
              <a:t>EVIDENCE DROP 3</a:t>
            </a:r>
            <a:endParaRPr lang="en-US" sz="1100" dirty="0"/>
          </a:p>
        </p:txBody>
      </p:sp>
      <p:sp>
        <p:nvSpPr>
          <p:cNvPr id="21" name="Text 16"/>
          <p:cNvSpPr txBox="1"/>
          <p:nvPr/>
        </p:nvSpPr>
        <p:spPr>
          <a:xfrm>
            <a:off x="9006840" y="2606040"/>
            <a:ext cx="2468880" cy="365760"/>
          </a:xfrm>
          <a:prstGeom prst="rect">
            <a:avLst/>
          </a:prstGeom>
          <a:noFill/>
          <a:ln/>
        </p:spPr>
        <p:txBody>
          <a:bodyPr wrap="square" lIns="0" tIns="0" rIns="0" bIns="0" rtlCol="0" anchor="t"/>
          <a:lstStyle/>
          <a:p>
            <a:pPr indent="0" marL="0">
              <a:buNone/>
            </a:pPr>
            <a:r>
              <a:rPr lang="en-US" sz="1600" b="1" dirty="0">
                <a:solidFill>
                  <a:schemeClr val="tx1"/>
                </a:solidFill>
              </a:rPr>
              <a:t>Event-driven review</a:t>
            </a:r>
            <a:endParaRPr lang="en-US" sz="1600" dirty="0"/>
          </a:p>
        </p:txBody>
      </p:sp>
      <p:sp>
        <p:nvSpPr>
          <p:cNvPr id="22" name="Text 17"/>
          <p:cNvSpPr txBox="1"/>
          <p:nvPr/>
        </p:nvSpPr>
        <p:spPr>
          <a:xfrm>
            <a:off x="8275320" y="3108960"/>
            <a:ext cx="3154680" cy="19659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The new director is also a 35% shareholder with signing authority over payouts.</a:t>
            </a:r>
            <a:endParaRPr lang="en-US" sz="1400" dirty="0"/>
          </a:p>
          <a:p>
            <a:pPr marL="342900" indent="-342900">
              <a:spcAft>
                <a:spcPts val="600"/>
              </a:spcAft>
              <a:buSzPct val="100000"/>
              <a:buChar char="•"/>
            </a:pPr>
            <a:r>
              <a:rPr lang="en-US" sz="1400" dirty="0">
                <a:solidFill>
                  <a:schemeClr val="tx1"/>
                </a:solidFill>
              </a:rPr>
              <a:t>The UBO chain ends at a nominee company.</a:t>
            </a:r>
            <a:endParaRPr lang="en-US" sz="1400" dirty="0"/>
          </a:p>
        </p:txBody>
      </p:sp>
      <p:sp>
        <p:nvSpPr>
          <p:cNvPr id="23" name="vote"/>
          <p:cNvSpPr/>
          <p:nvPr/>
        </p:nvSpPr>
        <p:spPr>
          <a:xfrm>
            <a:off x="548640" y="5285232"/>
            <a:ext cx="11064240" cy="713232"/>
          </a:xfrm>
          <a:prstGeom prst="roundRect">
            <a:avLst>
              <a:gd name="adj" fmla="val 15385"/>
            </a:avLst>
          </a:prstGeom>
          <a:solidFill>
            <a:schemeClr val="tx1"/>
          </a:solidFill>
          <a:ln w="12700">
            <a:solidFill>
              <a:schemeClr val="tx1"/>
            </a:solidFill>
            <a:prstDash val="solid"/>
          </a:ln>
        </p:spPr>
      </p:sp>
      <p:sp>
        <p:nvSpPr>
          <p:cNvPr id="24" name="Text 19"/>
          <p:cNvSpPr txBox="1"/>
          <p:nvPr/>
        </p:nvSpPr>
        <p:spPr>
          <a:xfrm>
            <a:off x="777240" y="5285232"/>
            <a:ext cx="10607040" cy="713232"/>
          </a:xfrm>
          <a:prstGeom prst="rect">
            <a:avLst/>
          </a:prstGeom>
          <a:noFill/>
          <a:ln/>
        </p:spPr>
        <p:txBody>
          <a:bodyPr wrap="square" lIns="0" tIns="0" rIns="0" bIns="0" rtlCol="0" anchor="ctr"/>
          <a:lstStyle/>
          <a:p>
            <a:pPr indent="0" marL="0">
              <a:buNone/>
            </a:pPr>
            <a:r>
              <a:rPr lang="en-US" sz="1200" b="1" spc="100" kern="0" dirty="0">
                <a:solidFill>
                  <a:schemeClr val="accent2"/>
                </a:solidFill>
              </a:rPr>
              <a:t>PAUSE &amp; VOTE   </a:t>
            </a:r>
            <a:pPr indent="0" marL="0">
              <a:buNone/>
            </a:pPr>
            <a:r>
              <a:rPr lang="en-US" sz="1500" dirty="0">
                <a:solidFill>
                  <a:schemeClr val="bg1"/>
                </a:solidFill>
              </a:rPr>
              <a:t>A  Clear and continue      B  Reject this payment only      C  Joined escalation across Sanctions, TM and EDR</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1"/>
                </a:solidFill>
              </a:rPr>
              <a:t>PART 4 · ANSWER REVEAL</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tx1"/>
                </a:solidFill>
              </a:rPr>
              <a:t>Choose C — the risks converge</a:t>
            </a:r>
            <a:endParaRPr lang="en-US" sz="3000" dirty="0"/>
          </a:p>
        </p:txBody>
      </p:sp>
      <p:sp>
        <p:nvSpPr>
          <p:cNvPr id="4" name="Text 2"/>
          <p:cNvSpPr txBox="1"/>
          <p:nvPr/>
        </p:nvSpPr>
        <p:spPr>
          <a:xfrm>
            <a:off x="548640" y="1325880"/>
            <a:ext cx="11064240" cy="548640"/>
          </a:xfrm>
          <a:prstGeom prst="rect">
            <a:avLst/>
          </a:prstGeom>
          <a:noFill/>
          <a:ln/>
        </p:spPr>
        <p:txBody>
          <a:bodyPr wrap="square" lIns="0" tIns="0" rIns="0" bIns="0" rtlCol="0" anchor="t"/>
          <a:lstStyle/>
          <a:p>
            <a:pPr indent="0" marL="0">
              <a:buNone/>
            </a:pPr>
            <a:r>
              <a:rPr lang="en-US" sz="1700" b="1" dirty="0">
                <a:solidFill>
                  <a:schemeClr val="accent1"/>
                </a:solidFill>
              </a:rPr>
              <a:t>No single fact proves a breach, but the indicators converge. Keep the transaction pending: do not release while material uncertainty remains.</a:t>
            </a:r>
            <a:endParaRPr lang="en-US" sz="1700" dirty="0"/>
          </a:p>
        </p:txBody>
      </p:sp>
      <p:sp>
        <p:nvSpPr>
          <p:cNvPr id="5" name="Sanctions screening"/>
          <p:cNvSpPr/>
          <p:nvPr/>
        </p:nvSpPr>
        <p:spPr>
          <a:xfrm>
            <a:off x="548640" y="2057400"/>
            <a:ext cx="3566160" cy="2240280"/>
          </a:xfrm>
          <a:prstGeom prst="roundRect">
            <a:avLst>
              <a:gd name="adj" fmla="val 4898"/>
            </a:avLst>
          </a:prstGeom>
          <a:solidFill>
            <a:schemeClr val="bg2"/>
          </a:solidFill>
          <a:ln w="12700">
            <a:solidFill>
              <a:schemeClr val="bg2"/>
            </a:solidFill>
            <a:prstDash val="solid"/>
          </a:ln>
        </p:spPr>
      </p:sp>
      <p:sp>
        <p:nvSpPr>
          <p:cNvPr id="6" name="Text 4"/>
          <p:cNvSpPr txBox="1"/>
          <p:nvPr/>
        </p:nvSpPr>
        <p:spPr>
          <a:xfrm>
            <a:off x="777240" y="2194560"/>
            <a:ext cx="3108960" cy="384048"/>
          </a:xfrm>
          <a:prstGeom prst="rect">
            <a:avLst/>
          </a:prstGeom>
          <a:noFill/>
          <a:ln/>
        </p:spPr>
        <p:txBody>
          <a:bodyPr wrap="square" lIns="0" tIns="0" rIns="0" bIns="0" rtlCol="0" anchor="t"/>
          <a:lstStyle/>
          <a:p>
            <a:pPr indent="0" marL="0">
              <a:buNone/>
            </a:pPr>
            <a:r>
              <a:rPr lang="en-US" sz="1800" b="1" dirty="0">
                <a:solidFill>
                  <a:schemeClr val="accent1"/>
                </a:solidFill>
              </a:rPr>
              <a:t>Sanctions screening</a:t>
            </a:r>
            <a:endParaRPr lang="en-US" sz="1800" dirty="0"/>
          </a:p>
        </p:txBody>
      </p:sp>
      <p:sp>
        <p:nvSpPr>
          <p:cNvPr id="7" name="Text 5"/>
          <p:cNvSpPr txBox="1"/>
          <p:nvPr/>
        </p:nvSpPr>
        <p:spPr>
          <a:xfrm>
            <a:off x="777240" y="2651760"/>
            <a:ext cx="3108960" cy="1600200"/>
          </a:xfrm>
          <a:prstGeom prst="rect">
            <a:avLst/>
          </a:prstGeom>
          <a:noFill/>
          <a:ln/>
        </p:spPr>
        <p:txBody>
          <a:bodyPr wrap="square" lIns="0" tIns="0" rIns="0" bIns="0" rtlCol="0" anchor="t"/>
          <a:lstStyle/>
          <a:p>
            <a:pPr indent="0" marL="0">
              <a:buNone/>
            </a:pPr>
            <a:r>
              <a:rPr lang="en-US" sz="1500" dirty="0">
                <a:solidFill>
                  <a:schemeClr val="tx1"/>
                </a:solidFill>
              </a:rPr>
              <a:t>Resolve identity, aliases and ownership/control. Obtain the director's date of birth and ID through a focused RFI, then re-screen.</a:t>
            </a:r>
            <a:endParaRPr lang="en-US" sz="1500" dirty="0"/>
          </a:p>
        </p:txBody>
      </p:sp>
      <p:sp>
        <p:nvSpPr>
          <p:cNvPr id="8" name="Transaction monitoring"/>
          <p:cNvSpPr/>
          <p:nvPr/>
        </p:nvSpPr>
        <p:spPr>
          <a:xfrm>
            <a:off x="4297680" y="2057400"/>
            <a:ext cx="3566160" cy="2240280"/>
          </a:xfrm>
          <a:prstGeom prst="roundRect">
            <a:avLst>
              <a:gd name="adj" fmla="val 4898"/>
            </a:avLst>
          </a:prstGeom>
          <a:solidFill>
            <a:schemeClr val="bg2"/>
          </a:solidFill>
          <a:ln w="12700">
            <a:solidFill>
              <a:schemeClr val="bg2"/>
            </a:solidFill>
            <a:prstDash val="solid"/>
          </a:ln>
        </p:spPr>
      </p:sp>
      <p:sp>
        <p:nvSpPr>
          <p:cNvPr id="9" name="Text 7"/>
          <p:cNvSpPr txBox="1"/>
          <p:nvPr/>
        </p:nvSpPr>
        <p:spPr>
          <a:xfrm>
            <a:off x="4526280" y="2194560"/>
            <a:ext cx="3108960" cy="384048"/>
          </a:xfrm>
          <a:prstGeom prst="rect">
            <a:avLst/>
          </a:prstGeom>
          <a:noFill/>
          <a:ln/>
        </p:spPr>
        <p:txBody>
          <a:bodyPr wrap="square" lIns="0" tIns="0" rIns="0" bIns="0" rtlCol="0" anchor="t"/>
          <a:lstStyle/>
          <a:p>
            <a:pPr indent="0" marL="0">
              <a:buNone/>
            </a:pPr>
            <a:r>
              <a:rPr lang="en-US" sz="1800" b="1" dirty="0">
                <a:solidFill>
                  <a:schemeClr val="accent2"/>
                </a:solidFill>
              </a:rPr>
              <a:t>Transaction monitoring</a:t>
            </a:r>
            <a:endParaRPr lang="en-US" sz="1800" dirty="0"/>
          </a:p>
        </p:txBody>
      </p:sp>
      <p:sp>
        <p:nvSpPr>
          <p:cNvPr id="10" name="Text 8"/>
          <p:cNvSpPr txBox="1"/>
          <p:nvPr/>
        </p:nvSpPr>
        <p:spPr>
          <a:xfrm>
            <a:off x="4526280" y="2651760"/>
            <a:ext cx="3108960" cy="1600200"/>
          </a:xfrm>
          <a:prstGeom prst="rect">
            <a:avLst/>
          </a:prstGeom>
          <a:noFill/>
          <a:ln/>
        </p:spPr>
        <p:txBody>
          <a:bodyPr wrap="square" lIns="0" tIns="0" rIns="0" bIns="0" rtlCol="0" anchor="t"/>
          <a:lstStyle/>
          <a:p>
            <a:pPr indent="0" marL="0">
              <a:buNone/>
            </a:pPr>
            <a:r>
              <a:rPr lang="en-US" sz="1500" dirty="0">
                <a:solidFill>
                  <a:schemeClr val="tx1"/>
                </a:solidFill>
              </a:rPr>
              <a:t>Analyse variance from baseline, counterparties, geographies and evasion indicators, and consider a UAR / MLRO referral.</a:t>
            </a:r>
            <a:endParaRPr lang="en-US" sz="1500" dirty="0"/>
          </a:p>
        </p:txBody>
      </p:sp>
      <p:sp>
        <p:nvSpPr>
          <p:cNvPr id="11" name="Event-driven review"/>
          <p:cNvSpPr/>
          <p:nvPr/>
        </p:nvSpPr>
        <p:spPr>
          <a:xfrm>
            <a:off x="8046720" y="2057400"/>
            <a:ext cx="3566160" cy="2240280"/>
          </a:xfrm>
          <a:prstGeom prst="roundRect">
            <a:avLst>
              <a:gd name="adj" fmla="val 4898"/>
            </a:avLst>
          </a:prstGeom>
          <a:solidFill>
            <a:schemeClr val="bg2"/>
          </a:solidFill>
          <a:ln w="12700">
            <a:solidFill>
              <a:schemeClr val="bg2"/>
            </a:solidFill>
            <a:prstDash val="solid"/>
          </a:ln>
        </p:spPr>
      </p:sp>
      <p:sp>
        <p:nvSpPr>
          <p:cNvPr id="12" name="Text 10"/>
          <p:cNvSpPr txBox="1"/>
          <p:nvPr/>
        </p:nvSpPr>
        <p:spPr>
          <a:xfrm>
            <a:off x="8275320" y="2194560"/>
            <a:ext cx="3108960" cy="384048"/>
          </a:xfrm>
          <a:prstGeom prst="rect">
            <a:avLst/>
          </a:prstGeom>
          <a:noFill/>
          <a:ln/>
        </p:spPr>
        <p:txBody>
          <a:bodyPr wrap="square" lIns="0" tIns="0" rIns="0" bIns="0" rtlCol="0" anchor="t"/>
          <a:lstStyle/>
          <a:p>
            <a:pPr indent="0" marL="0">
              <a:buNone/>
            </a:pPr>
            <a:r>
              <a:rPr lang="en-US" sz="1800" b="1" dirty="0">
                <a:solidFill>
                  <a:schemeClr val="accent4"/>
                </a:solidFill>
              </a:rPr>
              <a:t>Event-driven review</a:t>
            </a:r>
            <a:endParaRPr lang="en-US" sz="1800" dirty="0"/>
          </a:p>
        </p:txBody>
      </p:sp>
      <p:sp>
        <p:nvSpPr>
          <p:cNvPr id="13" name="Text 11"/>
          <p:cNvSpPr txBox="1"/>
          <p:nvPr/>
        </p:nvSpPr>
        <p:spPr>
          <a:xfrm>
            <a:off x="8275320" y="2651760"/>
            <a:ext cx="3108960" cy="1600200"/>
          </a:xfrm>
          <a:prstGeom prst="rect">
            <a:avLst/>
          </a:prstGeom>
          <a:noFill/>
          <a:ln/>
        </p:spPr>
        <p:txBody>
          <a:bodyPr wrap="square" lIns="0" tIns="0" rIns="0" bIns="0" rtlCol="0" anchor="t"/>
          <a:lstStyle/>
          <a:p>
            <a:pPr indent="0" marL="0">
              <a:buNone/>
            </a:pPr>
            <a:r>
              <a:rPr lang="en-US" sz="1500" dirty="0">
                <a:solidFill>
                  <a:schemeClr val="tx1"/>
                </a:solidFill>
              </a:rPr>
              <a:t>Refresh KYB and UBO beyond the nominee, re-screen all linked parties and reassess the customer's risk.</a:t>
            </a:r>
            <a:endParaRPr lang="en-US" sz="1500" dirty="0"/>
          </a:p>
        </p:txBody>
      </p:sp>
      <p:sp>
        <p:nvSpPr>
          <p:cNvPr id="14" name="One shared case ID"/>
          <p:cNvSpPr/>
          <p:nvPr/>
        </p:nvSpPr>
        <p:spPr>
          <a:xfrm>
            <a:off x="548640" y="4480560"/>
            <a:ext cx="11064240" cy="777240"/>
          </a:xfrm>
          <a:prstGeom prst="roundRect">
            <a:avLst>
              <a:gd name="adj" fmla="val 14118"/>
            </a:avLst>
          </a:prstGeom>
          <a:solidFill>
            <a:schemeClr val="bg2"/>
          </a:solidFill>
          <a:ln w="12700">
            <a:solidFill>
              <a:schemeClr val="bg2"/>
            </a:solidFill>
            <a:prstDash val="solid"/>
          </a:ln>
        </p:spPr>
      </p:sp>
      <p:sp>
        <p:nvSpPr>
          <p:cNvPr id="15" name="Text 13"/>
          <p:cNvSpPr txBox="1"/>
          <p:nvPr/>
        </p:nvSpPr>
        <p:spPr>
          <a:xfrm>
            <a:off x="777240" y="4480560"/>
            <a:ext cx="10607040" cy="777240"/>
          </a:xfrm>
          <a:prstGeom prst="rect">
            <a:avLst/>
          </a:prstGeom>
          <a:noFill/>
          <a:ln/>
        </p:spPr>
        <p:txBody>
          <a:bodyPr wrap="square" lIns="0" tIns="0" rIns="0" bIns="0" rtlCol="0" anchor="ctr"/>
          <a:lstStyle/>
          <a:p>
            <a:pPr indent="0" marL="0">
              <a:buNone/>
            </a:pPr>
            <a:r>
              <a:rPr lang="en-US" sz="1200" b="1" spc="100" kern="0" dirty="0">
                <a:solidFill>
                  <a:schemeClr val="accent4"/>
                </a:solidFill>
              </a:rPr>
              <a:t>ONE SHARED CASE ID   </a:t>
            </a:r>
            <a:pPr indent="0" marL="0">
              <a:buNone/>
            </a:pPr>
            <a:r>
              <a:rPr lang="en-US" sz="1500" dirty="0">
                <a:solidFill>
                  <a:schemeClr val="tx1"/>
                </a:solidFill>
              </a:rPr>
              <a:t>Every lane links its evidence to the same case. L2 and L3 decide the outcome: release, reject, freeze and report, or offboard.</a:t>
            </a:r>
            <a:endParaRPr lang="en-US" sz="1500" dirty="0"/>
          </a:p>
        </p:txBody>
      </p:sp>
      <p:sp>
        <p:nvSpPr>
          <p:cNvPr id="16" name="Facilitator"/>
          <p:cNvSpPr/>
          <p:nvPr/>
        </p:nvSpPr>
        <p:spPr>
          <a:xfrm>
            <a:off x="548640" y="5394960"/>
            <a:ext cx="11064240" cy="594360"/>
          </a:xfrm>
          <a:prstGeom prst="roundRect">
            <a:avLst>
              <a:gd name="adj" fmla="val 18462"/>
            </a:avLst>
          </a:prstGeom>
          <a:solidFill>
            <a:schemeClr val="tx1"/>
          </a:solidFill>
          <a:ln w="12700">
            <a:solidFill>
              <a:schemeClr val="tx1"/>
            </a:solidFill>
            <a:prstDash val="solid"/>
          </a:ln>
        </p:spPr>
      </p:sp>
      <p:sp>
        <p:nvSpPr>
          <p:cNvPr id="17" name="Text 15"/>
          <p:cNvSpPr txBox="1"/>
          <p:nvPr/>
        </p:nvSpPr>
        <p:spPr>
          <a:xfrm>
            <a:off x="777240" y="5394960"/>
            <a:ext cx="10607040" cy="594360"/>
          </a:xfrm>
          <a:prstGeom prst="rect">
            <a:avLst/>
          </a:prstGeom>
          <a:noFill/>
          <a:ln/>
        </p:spPr>
        <p:txBody>
          <a:bodyPr wrap="square" lIns="0" tIns="0" rIns="0" bIns="0" rtlCol="0" anchor="ctr"/>
          <a:lstStyle/>
          <a:p>
            <a:pPr indent="0" marL="0">
              <a:buNone/>
            </a:pPr>
            <a:r>
              <a:rPr lang="en-US" sz="1200" b="1" spc="100" kern="0" dirty="0">
                <a:solidFill>
                  <a:schemeClr val="accent2"/>
                </a:solidFill>
              </a:rPr>
              <a:t>FACILITATOR   </a:t>
            </a:r>
            <a:pPr indent="0" marL="0">
              <a:buNone/>
            </a:pPr>
            <a:r>
              <a:rPr lang="en-US" sz="1400" dirty="0">
                <a:solidFill>
                  <a:schemeClr val="bg1"/>
                </a:solidFill>
              </a:rPr>
              <a:t>Do not label this a confirmed sanctions breach until the relevant facts and legal basis are established.</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2"/>
                </a:solidFill>
              </a:rPr>
              <a:t>CLOSE</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bg1"/>
                </a:solidFill>
              </a:rPr>
              <a:t>Key takeaways</a:t>
            </a:r>
            <a:endParaRPr lang="en-US" sz="3000" dirty="0"/>
          </a:p>
        </p:txBody>
      </p:sp>
      <p:sp>
        <p:nvSpPr>
          <p:cNvPr id="4" name="recap 1 circle"/>
          <p:cNvSpPr/>
          <p:nvPr/>
        </p:nvSpPr>
        <p:spPr>
          <a:xfrm>
            <a:off x="1417320" y="1463040"/>
            <a:ext cx="914400" cy="914400"/>
          </a:xfrm>
          <a:prstGeom prst="ellipse">
            <a:avLst/>
          </a:prstGeom>
          <a:solidFill>
            <a:schemeClr val="accent1"/>
          </a:solidFill>
          <a:ln w="12700">
            <a:solidFill>
              <a:schemeClr val="accent1"/>
            </a:solidFill>
            <a:prstDash val="solid"/>
          </a:ln>
        </p:spPr>
      </p:sp>
      <p:pic>
        <p:nvPicPr>
          <p:cNvPr id="5" name="recap 1 icon" descr="preencoded.png">    </p:cNvPr>
          <p:cNvPicPr>
            <a:picLocks noChangeAspect="1"/>
          </p:cNvPicPr>
          <p:nvPr/>
        </p:nvPicPr>
        <p:blipFill>
          <a:blip r:embed="rId1"/>
          <a:stretch>
            <a:fillRect/>
          </a:stretch>
        </p:blipFill>
        <p:spPr>
          <a:xfrm>
            <a:off x="1600200" y="1645920"/>
            <a:ext cx="548640" cy="548640"/>
          </a:xfrm>
          <a:prstGeom prst="rect">
            <a:avLst/>
          </a:prstGeom>
        </p:spPr>
      </p:pic>
      <p:sp>
        <p:nvSpPr>
          <p:cNvPr id="6" name="Text 3"/>
          <p:cNvSpPr txBox="1"/>
          <p:nvPr/>
        </p:nvSpPr>
        <p:spPr>
          <a:xfrm>
            <a:off x="548640" y="2560320"/>
            <a:ext cx="2651760" cy="411480"/>
          </a:xfrm>
          <a:prstGeom prst="rect">
            <a:avLst/>
          </a:prstGeom>
          <a:noFill/>
          <a:ln/>
        </p:spPr>
        <p:txBody>
          <a:bodyPr wrap="square" lIns="0" tIns="0" rIns="0" bIns="0" rtlCol="0" anchor="t"/>
          <a:lstStyle/>
          <a:p>
            <a:pPr algn="ctr" indent="0" marL="0">
              <a:buNone/>
            </a:pPr>
            <a:r>
              <a:rPr lang="en-US" sz="1700" b="1" dirty="0">
                <a:solidFill>
                  <a:schemeClr val="bg1"/>
                </a:solidFill>
              </a:rPr>
              <a:t>1  Understand the model</a:t>
            </a:r>
            <a:endParaRPr lang="en-US" sz="1700" dirty="0"/>
          </a:p>
        </p:txBody>
      </p:sp>
      <p:sp>
        <p:nvSpPr>
          <p:cNvPr id="7" name="Text 4"/>
          <p:cNvSpPr txBox="1"/>
          <p:nvPr/>
        </p:nvSpPr>
        <p:spPr>
          <a:xfrm>
            <a:off x="685800" y="3017520"/>
            <a:ext cx="2377440" cy="1371600"/>
          </a:xfrm>
          <a:prstGeom prst="rect">
            <a:avLst/>
          </a:prstGeom>
          <a:noFill/>
          <a:ln/>
        </p:spPr>
        <p:txBody>
          <a:bodyPr wrap="square" lIns="0" tIns="0" rIns="0" bIns="0" rtlCol="0" anchor="t"/>
          <a:lstStyle/>
          <a:p>
            <a:pPr algn="ctr" indent="0" marL="0">
              <a:buNone/>
            </a:pPr>
            <a:r>
              <a:rPr lang="en-US" sz="1500" dirty="0">
                <a:solidFill>
                  <a:schemeClr val="accent5"/>
                </a:solidFill>
              </a:rPr>
              <a:t>The control model is the same everywhere: pause, investigate, escalate, record.</a:t>
            </a:r>
            <a:endParaRPr lang="en-US" sz="1500" dirty="0"/>
          </a:p>
        </p:txBody>
      </p:sp>
      <p:sp>
        <p:nvSpPr>
          <p:cNvPr id="8" name="recap 2 circle"/>
          <p:cNvSpPr/>
          <p:nvPr/>
        </p:nvSpPr>
        <p:spPr>
          <a:xfrm>
            <a:off x="4215384" y="1463040"/>
            <a:ext cx="914400" cy="914400"/>
          </a:xfrm>
          <a:prstGeom prst="ellipse">
            <a:avLst/>
          </a:prstGeom>
          <a:solidFill>
            <a:schemeClr val="accent4"/>
          </a:solidFill>
          <a:ln w="12700">
            <a:solidFill>
              <a:schemeClr val="accent4"/>
            </a:solidFill>
            <a:prstDash val="solid"/>
          </a:ln>
        </p:spPr>
      </p:sp>
      <p:pic>
        <p:nvPicPr>
          <p:cNvPr id="9" name="recap 2 icon" descr="preencoded.png">    </p:cNvPr>
          <p:cNvPicPr>
            <a:picLocks noChangeAspect="1"/>
          </p:cNvPicPr>
          <p:nvPr/>
        </p:nvPicPr>
        <p:blipFill>
          <a:blip r:embed="rId2"/>
          <a:stretch>
            <a:fillRect/>
          </a:stretch>
        </p:blipFill>
        <p:spPr>
          <a:xfrm>
            <a:off x="4398264" y="1645920"/>
            <a:ext cx="548640" cy="548640"/>
          </a:xfrm>
          <a:prstGeom prst="rect">
            <a:avLst/>
          </a:prstGeom>
        </p:spPr>
      </p:pic>
      <p:sp>
        <p:nvSpPr>
          <p:cNvPr id="10" name="Text 6"/>
          <p:cNvSpPr txBox="1"/>
          <p:nvPr/>
        </p:nvSpPr>
        <p:spPr>
          <a:xfrm>
            <a:off x="3346704" y="2560320"/>
            <a:ext cx="2651760" cy="411480"/>
          </a:xfrm>
          <a:prstGeom prst="rect">
            <a:avLst/>
          </a:prstGeom>
          <a:noFill/>
          <a:ln/>
        </p:spPr>
        <p:txBody>
          <a:bodyPr wrap="square" lIns="0" tIns="0" rIns="0" bIns="0" rtlCol="0" anchor="t"/>
          <a:lstStyle/>
          <a:p>
            <a:pPr algn="ctr" indent="0" marL="0">
              <a:buNone/>
            </a:pPr>
            <a:r>
              <a:rPr lang="en-US" sz="1700" b="1" dirty="0">
                <a:solidFill>
                  <a:schemeClr val="bg1"/>
                </a:solidFill>
              </a:rPr>
              <a:t>2  Compare the regions</a:t>
            </a:r>
            <a:endParaRPr lang="en-US" sz="1700" dirty="0"/>
          </a:p>
        </p:txBody>
      </p:sp>
      <p:sp>
        <p:nvSpPr>
          <p:cNvPr id="11" name="Text 7"/>
          <p:cNvSpPr txBox="1"/>
          <p:nvPr/>
        </p:nvSpPr>
        <p:spPr>
          <a:xfrm>
            <a:off x="3483864" y="3017520"/>
            <a:ext cx="2377440" cy="1371600"/>
          </a:xfrm>
          <a:prstGeom prst="rect">
            <a:avLst/>
          </a:prstGeom>
          <a:noFill/>
          <a:ln/>
        </p:spPr>
        <p:txBody>
          <a:bodyPr wrap="square" lIns="0" tIns="0" rIns="0" bIns="0" rtlCol="0" anchor="t"/>
          <a:lstStyle/>
          <a:p>
            <a:pPr algn="ctr" indent="0" marL="0">
              <a:buNone/>
            </a:pPr>
            <a:r>
              <a:rPr lang="en-US" sz="1500" dirty="0">
                <a:solidFill>
                  <a:schemeClr val="accent5"/>
                </a:solidFill>
              </a:rPr>
              <a:t>Every regime a payment touches applies — and the UK, EU and US answer ownership differently.</a:t>
            </a:r>
            <a:endParaRPr lang="en-US" sz="1500" dirty="0"/>
          </a:p>
        </p:txBody>
      </p:sp>
      <p:sp>
        <p:nvSpPr>
          <p:cNvPr id="12" name="recap 3 circle"/>
          <p:cNvSpPr/>
          <p:nvPr/>
        </p:nvSpPr>
        <p:spPr>
          <a:xfrm>
            <a:off x="7013448" y="1463040"/>
            <a:ext cx="914400" cy="914400"/>
          </a:xfrm>
          <a:prstGeom prst="ellipse">
            <a:avLst/>
          </a:prstGeom>
          <a:solidFill>
            <a:schemeClr val="accent2"/>
          </a:solidFill>
          <a:ln w="12700">
            <a:solidFill>
              <a:schemeClr val="accent2"/>
            </a:solidFill>
            <a:prstDash val="solid"/>
          </a:ln>
        </p:spPr>
      </p:sp>
      <p:pic>
        <p:nvPicPr>
          <p:cNvPr id="13" name="recap 3 icon" descr="preencoded.png">    </p:cNvPr>
          <p:cNvPicPr>
            <a:picLocks noChangeAspect="1"/>
          </p:cNvPicPr>
          <p:nvPr/>
        </p:nvPicPr>
        <p:blipFill>
          <a:blip r:embed="rId3"/>
          <a:stretch>
            <a:fillRect/>
          </a:stretch>
        </p:blipFill>
        <p:spPr>
          <a:xfrm>
            <a:off x="7196328" y="1645920"/>
            <a:ext cx="548640" cy="548640"/>
          </a:xfrm>
          <a:prstGeom prst="rect">
            <a:avLst/>
          </a:prstGeom>
        </p:spPr>
      </p:pic>
      <p:sp>
        <p:nvSpPr>
          <p:cNvPr id="14" name="Text 9"/>
          <p:cNvSpPr txBox="1"/>
          <p:nvPr/>
        </p:nvSpPr>
        <p:spPr>
          <a:xfrm>
            <a:off x="6144768" y="2560320"/>
            <a:ext cx="2651760" cy="411480"/>
          </a:xfrm>
          <a:prstGeom prst="rect">
            <a:avLst/>
          </a:prstGeom>
          <a:noFill/>
          <a:ln/>
        </p:spPr>
        <p:txBody>
          <a:bodyPr wrap="square" lIns="0" tIns="0" rIns="0" bIns="0" rtlCol="0" anchor="t"/>
          <a:lstStyle/>
          <a:p>
            <a:pPr algn="ctr" indent="0" marL="0">
              <a:buNone/>
            </a:pPr>
            <a:r>
              <a:rPr lang="en-US" sz="1700" b="1" dirty="0">
                <a:solidFill>
                  <a:schemeClr val="bg1"/>
                </a:solidFill>
              </a:rPr>
              <a:t>3  Apply the indicators</a:t>
            </a:r>
            <a:endParaRPr lang="en-US" sz="1700" dirty="0"/>
          </a:p>
        </p:txBody>
      </p:sp>
      <p:sp>
        <p:nvSpPr>
          <p:cNvPr id="15" name="Text 10"/>
          <p:cNvSpPr txBox="1"/>
          <p:nvPr/>
        </p:nvSpPr>
        <p:spPr>
          <a:xfrm>
            <a:off x="6281928" y="3017520"/>
            <a:ext cx="2377440" cy="1371600"/>
          </a:xfrm>
          <a:prstGeom prst="rect">
            <a:avLst/>
          </a:prstGeom>
          <a:noFill/>
          <a:ln/>
        </p:spPr>
        <p:txBody>
          <a:bodyPr wrap="square" lIns="0" tIns="0" rIns="0" bIns="0" rtlCol="0" anchor="t"/>
          <a:lstStyle/>
          <a:p>
            <a:pPr algn="ctr" indent="0" marL="0">
              <a:buNone/>
            </a:pPr>
            <a:r>
              <a:rPr lang="en-US" sz="1500" dirty="0">
                <a:solidFill>
                  <a:schemeClr val="accent5"/>
                </a:solidFill>
              </a:rPr>
              <a:t>Use identifiers, ownership and behaviour — and the tools you already have — to resolve or escalate.</a:t>
            </a:r>
            <a:endParaRPr lang="en-US" sz="1500" dirty="0"/>
          </a:p>
        </p:txBody>
      </p:sp>
      <p:sp>
        <p:nvSpPr>
          <p:cNvPr id="16" name="recap 4 circle"/>
          <p:cNvSpPr/>
          <p:nvPr/>
        </p:nvSpPr>
        <p:spPr>
          <a:xfrm>
            <a:off x="9811512" y="1463040"/>
            <a:ext cx="914400" cy="914400"/>
          </a:xfrm>
          <a:prstGeom prst="ellipse">
            <a:avLst/>
          </a:prstGeom>
          <a:solidFill>
            <a:schemeClr val="accent3"/>
          </a:solidFill>
          <a:ln w="12700">
            <a:solidFill>
              <a:schemeClr val="accent3"/>
            </a:solidFill>
            <a:prstDash val="solid"/>
          </a:ln>
        </p:spPr>
      </p:sp>
      <p:pic>
        <p:nvPicPr>
          <p:cNvPr id="17" name="recap 4 icon" descr="preencoded.png">    </p:cNvPr>
          <p:cNvPicPr>
            <a:picLocks noChangeAspect="1"/>
          </p:cNvPicPr>
          <p:nvPr/>
        </p:nvPicPr>
        <p:blipFill>
          <a:blip r:embed="rId4"/>
          <a:stretch>
            <a:fillRect/>
          </a:stretch>
        </p:blipFill>
        <p:spPr>
          <a:xfrm>
            <a:off x="9994392" y="1645920"/>
            <a:ext cx="548640" cy="548640"/>
          </a:xfrm>
          <a:prstGeom prst="rect">
            <a:avLst/>
          </a:prstGeom>
        </p:spPr>
      </p:pic>
      <p:sp>
        <p:nvSpPr>
          <p:cNvPr id="18" name="Text 12"/>
          <p:cNvSpPr txBox="1"/>
          <p:nvPr/>
        </p:nvSpPr>
        <p:spPr>
          <a:xfrm>
            <a:off x="8942832" y="2560320"/>
            <a:ext cx="2651760" cy="411480"/>
          </a:xfrm>
          <a:prstGeom prst="rect">
            <a:avLst/>
          </a:prstGeom>
          <a:noFill/>
          <a:ln/>
        </p:spPr>
        <p:txBody>
          <a:bodyPr wrap="square" lIns="0" tIns="0" rIns="0" bIns="0" rtlCol="0" anchor="t"/>
          <a:lstStyle/>
          <a:p>
            <a:pPr algn="ctr" indent="0" marL="0">
              <a:buNone/>
            </a:pPr>
            <a:r>
              <a:rPr lang="en-US" sz="1700" b="1" dirty="0">
                <a:solidFill>
                  <a:schemeClr val="bg1"/>
                </a:solidFill>
              </a:rPr>
              <a:t>4  Record the decision</a:t>
            </a:r>
            <a:endParaRPr lang="en-US" sz="1700" dirty="0"/>
          </a:p>
        </p:txBody>
      </p:sp>
      <p:sp>
        <p:nvSpPr>
          <p:cNvPr id="19" name="Text 13"/>
          <p:cNvSpPr txBox="1"/>
          <p:nvPr/>
        </p:nvSpPr>
        <p:spPr>
          <a:xfrm>
            <a:off x="9079992" y="3017520"/>
            <a:ext cx="2377440" cy="1371600"/>
          </a:xfrm>
          <a:prstGeom prst="rect">
            <a:avLst/>
          </a:prstGeom>
          <a:noFill/>
          <a:ln/>
        </p:spPr>
        <p:txBody>
          <a:bodyPr wrap="square" lIns="0" tIns="0" rIns="0" bIns="0" rtlCol="0" anchor="t"/>
          <a:lstStyle/>
          <a:p>
            <a:pPr algn="ctr" indent="0" marL="0">
              <a:buNone/>
            </a:pPr>
            <a:r>
              <a:rPr lang="en-US" sz="1500" dirty="0">
                <a:solidFill>
                  <a:schemeClr val="accent5"/>
                </a:solidFill>
              </a:rPr>
              <a:t>Every decision must be reproducible from the case record alone.</a:t>
            </a:r>
            <a:endParaRPr lang="en-US" sz="1500" dirty="0"/>
          </a:p>
        </p:txBody>
      </p:sp>
      <p:sp>
        <p:nvSpPr>
          <p:cNvPr id="20" name="Text 14"/>
          <p:cNvSpPr txBox="1"/>
          <p:nvPr/>
        </p:nvSpPr>
        <p:spPr>
          <a:xfrm>
            <a:off x="914400" y="4663440"/>
            <a:ext cx="10332720" cy="914400"/>
          </a:xfrm>
          <a:prstGeom prst="rect">
            <a:avLst/>
          </a:prstGeom>
          <a:noFill/>
          <a:ln/>
        </p:spPr>
        <p:txBody>
          <a:bodyPr wrap="square" lIns="0" tIns="0" rIns="0" bIns="0" rtlCol="0" anchor="t"/>
          <a:lstStyle/>
          <a:p>
            <a:pPr algn="ctr" indent="0" marL="0">
              <a:buNone/>
            </a:pPr>
            <a:r>
              <a:rPr lang="en-US" sz="1600" i="1" dirty="0">
                <a:solidFill>
                  <a:schemeClr val="bg1"/>
                </a:solidFill>
              </a:rPr>
              <a:t>Thank you. Your adherence to sanctions controls protects our customers, the firm and the financial system. For edge cases or policy updates, contact the Sanctions &amp; Compliance team, and refer to the Global Sanctions Reporting Procedure for detailed requirements.</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1"/>
                </a:solidFill>
              </a:rPr>
              <a:t>APPENDIX A</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tx1"/>
                </a:solidFill>
              </a:rPr>
              <a:t>Acronyms used in this session</a:t>
            </a:r>
            <a:endParaRPr lang="en-US" sz="30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440680" cy="914400"/>
        </p:xfrm>
        <a:graphic>
          <a:graphicData uri="http://schemas.openxmlformats.org/drawingml/2006/table">
            <a:tbl>
              <a:tblPr/>
              <a:tblGrid>
                <a:gridCol w="1463040"/>
                <a:gridCol w="3977640"/>
              </a:tblGrid>
              <a:tr h="548640">
                <a:tc>
                  <a:txBody>
                    <a:bodyPr/>
                    <a:lstStyle/>
                    <a:p>
                      <a:pPr indent="0" marL="0">
                        <a:buNone/>
                      </a:pPr>
                      <a:r>
                        <a:rPr lang="en-US" sz="1400" b="1" dirty="0">
                          <a:solidFill>
                            <a:schemeClr val="tx1"/>
                          </a:solidFill>
                        </a:rPr>
                        <a:t>DP</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Designated person (on a sanctions list)</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48640">
                <a:tc>
                  <a:txBody>
                    <a:bodyPr/>
                    <a:lstStyle/>
                    <a:p>
                      <a:pPr indent="0" marL="0">
                        <a:buNone/>
                      </a:pPr>
                      <a:r>
                        <a:rPr lang="en-US" sz="1400" b="1" dirty="0">
                          <a:solidFill>
                            <a:schemeClr val="tx1"/>
                          </a:solidFill>
                        </a:rPr>
                        <a:t>OFSI</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Office of Financial Sanctions Implementation (UK)</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48640">
                <a:tc>
                  <a:txBody>
                    <a:bodyPr/>
                    <a:lstStyle/>
                    <a:p>
                      <a:pPr indent="0" marL="0">
                        <a:buNone/>
                      </a:pPr>
                      <a:r>
                        <a:rPr lang="en-US" sz="1400" b="1" dirty="0">
                          <a:solidFill>
                            <a:schemeClr val="tx1"/>
                          </a:solidFill>
                        </a:rPr>
                        <a:t>OFAC</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Office of Foreign Assets Control (US)</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48640">
                <a:tc>
                  <a:txBody>
                    <a:bodyPr/>
                    <a:lstStyle/>
                    <a:p>
                      <a:pPr indent="0" marL="0">
                        <a:buNone/>
                      </a:pPr>
                      <a:r>
                        <a:rPr lang="en-US" sz="1400" b="1" dirty="0">
                          <a:solidFill>
                            <a:schemeClr val="tx1"/>
                          </a:solidFill>
                        </a:rPr>
                        <a:t>SDN</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Specially Designated Nationals list (OFAC)</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48640">
                <a:tc>
                  <a:txBody>
                    <a:bodyPr/>
                    <a:lstStyle/>
                    <a:p>
                      <a:pPr indent="0" marL="0">
                        <a:buNone/>
                      </a:pPr>
                      <a:r>
                        <a:rPr lang="en-US" sz="1400" b="1" dirty="0">
                          <a:solidFill>
                            <a:schemeClr val="tx1"/>
                          </a:solidFill>
                        </a:rPr>
                        <a:t>DG Trésor</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French competent authority for financial sanctions</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48640">
                <a:tc>
                  <a:txBody>
                    <a:bodyPr/>
                    <a:lstStyle/>
                    <a:p>
                      <a:pPr indent="0" marL="0">
                        <a:buNone/>
                      </a:pPr>
                      <a:r>
                        <a:rPr lang="en-US" sz="1400" b="1" dirty="0">
                          <a:solidFill>
                            <a:schemeClr val="tx1"/>
                          </a:solidFill>
                        </a:rPr>
                        <a:t>TRACFIN</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French financial intelligence unit (suspicion reports)</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48640">
                <a:tc>
                  <a:txBody>
                    <a:bodyPr/>
                    <a:lstStyle/>
                    <a:p>
                      <a:pPr indent="0" marL="0">
                        <a:buNone/>
                      </a:pPr>
                      <a:r>
                        <a:rPr lang="en-US" sz="1400" b="1" dirty="0">
                          <a:solidFill>
                            <a:schemeClr val="tx1"/>
                          </a:solidFill>
                        </a:rPr>
                        <a:t>EOCN</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UAE Executive Office for Control &amp; Non-Proliferation</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48640">
                <a:tc>
                  <a:txBody>
                    <a:bodyPr/>
                    <a:lstStyle/>
                    <a:p>
                      <a:pPr indent="0" marL="0">
                        <a:buNone/>
                      </a:pPr>
                      <a:r>
                        <a:rPr lang="en-US" sz="1400" b="1" dirty="0">
                          <a:solidFill>
                            <a:schemeClr val="tx1"/>
                          </a:solidFill>
                        </a:rPr>
                        <a:t>goAML</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UAE reporting system (CNMR / PNMR)</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bl>
          </a:graphicData>
        </a:graphic>
      </p:graphicFrame>
      <p:graphicFrame>
        <p:nvGraphicFramePr>
          <p:cNvPr id="49" name="Table 1"/>
          <p:cNvGraphicFramePr>
            <a:graphicFrameLocks noGrp="1"/>
          </p:cNvGraphicFramePr>
          <p:nvPr>
            <p:extLst>
              <p:ext uri="{D42A27DB-BD31-4B8C-83A1-F6EECF244321}">
                <p14:modId xmlns:p14="http://schemas.microsoft.com/office/powerpoint/2010/main" val="1579011935"/>
              </p:ext>
            </p:extLst>
          </p:nvPr>
        </p:nvGraphicFramePr>
        <p:xfrm>
          <a:off x="6172200" y="1371600"/>
          <a:ext cx="5440680" cy="914400"/>
        </p:xfrm>
        <a:graphic>
          <a:graphicData uri="http://schemas.openxmlformats.org/drawingml/2006/table">
            <a:tbl>
              <a:tblPr/>
              <a:tblGrid>
                <a:gridCol w="1463040"/>
                <a:gridCol w="3977640"/>
              </a:tblGrid>
              <a:tr h="548640">
                <a:tc>
                  <a:txBody>
                    <a:bodyPr/>
                    <a:lstStyle/>
                    <a:p>
                      <a:pPr indent="0" marL="0">
                        <a:buNone/>
                      </a:pPr>
                      <a:r>
                        <a:rPr lang="en-US" sz="1400" b="1" dirty="0">
                          <a:solidFill>
                            <a:schemeClr val="tx1"/>
                          </a:solidFill>
                        </a:rPr>
                        <a:t>CNMR / PNMR</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Confirmed / Partial Name Match Report (UAE)</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48640">
                <a:tc>
                  <a:txBody>
                    <a:bodyPr/>
                    <a:lstStyle/>
                    <a:p>
                      <a:pPr indent="0" marL="0">
                        <a:buNone/>
                      </a:pPr>
                      <a:r>
                        <a:rPr lang="en-US" sz="1400" b="1" dirty="0">
                          <a:solidFill>
                            <a:schemeClr val="tx1"/>
                          </a:solidFill>
                        </a:rPr>
                        <a:t>MAS</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Monetary Authority of Singapore</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48640">
                <a:tc>
                  <a:txBody>
                    <a:bodyPr/>
                    <a:lstStyle/>
                    <a:p>
                      <a:pPr indent="0" marL="0">
                        <a:buNone/>
                      </a:pPr>
                      <a:r>
                        <a:rPr lang="en-US" sz="1400" b="1" dirty="0">
                          <a:solidFill>
                            <a:schemeClr val="tx1"/>
                          </a:solidFill>
                        </a:rPr>
                        <a:t>STRO</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Suspicious Transaction Reporting Office (Singapore)</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48640">
                <a:tc>
                  <a:txBody>
                    <a:bodyPr/>
                    <a:lstStyle/>
                    <a:p>
                      <a:pPr indent="0" marL="0">
                        <a:buNone/>
                      </a:pPr>
                      <a:r>
                        <a:rPr lang="en-US" sz="1400" b="1" dirty="0">
                          <a:solidFill>
                            <a:schemeClr val="tx1"/>
                          </a:solidFill>
                        </a:rPr>
                        <a:t>JFIU</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Joint Financial Intelligence Unit (Hong Kong)</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48640">
                <a:tc>
                  <a:txBody>
                    <a:bodyPr/>
                    <a:lstStyle/>
                    <a:p>
                      <a:pPr indent="0" marL="0">
                        <a:buNone/>
                      </a:pPr>
                      <a:r>
                        <a:rPr lang="en-US" sz="1400" b="1" dirty="0">
                          <a:solidFill>
                            <a:schemeClr val="tx1"/>
                          </a:solidFill>
                        </a:rPr>
                        <a:t>UBO</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Ultimate beneficial owner</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48640">
                <a:tc>
                  <a:txBody>
                    <a:bodyPr/>
                    <a:lstStyle/>
                    <a:p>
                      <a:pPr indent="0" marL="0">
                        <a:buNone/>
                      </a:pPr>
                      <a:r>
                        <a:rPr lang="en-US" sz="1400" b="1" dirty="0">
                          <a:solidFill>
                            <a:schemeClr val="tx1"/>
                          </a:solidFill>
                        </a:rPr>
                        <a:t>RFI</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Request for information</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48640">
                <a:tc>
                  <a:txBody>
                    <a:bodyPr/>
                    <a:lstStyle/>
                    <a:p>
                      <a:pPr indent="0" marL="0">
                        <a:buNone/>
                      </a:pPr>
                      <a:r>
                        <a:rPr lang="en-US" sz="1400" b="1" dirty="0">
                          <a:solidFill>
                            <a:schemeClr val="tx1"/>
                          </a:solidFill>
                        </a:rPr>
                        <a:t>EDR</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Event-driven review</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48640">
                <a:tc>
                  <a:txBody>
                    <a:bodyPr/>
                    <a:lstStyle/>
                    <a:p>
                      <a:pPr indent="0" marL="0">
                        <a:buNone/>
                      </a:pPr>
                      <a:r>
                        <a:rPr lang="en-US" sz="1400" b="1" dirty="0">
                          <a:solidFill>
                            <a:schemeClr val="tx1"/>
                          </a:solidFill>
                        </a:rPr>
                        <a:t>UAR</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Unusual activity report (internal)</a:t>
                      </a:r>
                      <a:endParaRPr lang="en-US" sz="1400" dirty="0"/>
                    </a:p>
                  </a:txBody>
                  <a:tcPr marL="91440" marR="91440" marT="45720" marB="45720"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274320"/>
            <a:ext cx="11064240" cy="274320"/>
          </a:xfrm>
          <a:prstGeom prst="rect">
            <a:avLst/>
          </a:prstGeom>
          <a:noFill/>
          <a:ln/>
        </p:spPr>
        <p:txBody>
          <a:bodyPr wrap="square" lIns="0" tIns="0" rIns="0" bIns="0" rtlCol="0" anchor="ctr"/>
          <a:lstStyle/>
          <a:p>
            <a:pPr algn="l" indent="0" marL="0">
              <a:buNone/>
            </a:pPr>
            <a:r>
              <a:rPr lang="en-US" sz="1200" b="1" spc="100" kern="0" dirty="0">
                <a:solidFill>
                  <a:schemeClr val="accent1"/>
                </a:solidFill>
              </a:rPr>
              <a:t>APPENDIX B — FACILITATOR REFERENCE</a:t>
            </a:r>
            <a:endParaRPr lang="en-US" sz="1200" dirty="0"/>
          </a:p>
        </p:txBody>
      </p:sp>
      <p:sp>
        <p:nvSpPr>
          <p:cNvPr id="3" name="Text 0"/>
          <p:cNvSpPr/>
          <p:nvPr>
            <p:ph idx="101" type="title" hasCustomPrompt="1"/>
          </p:nvPr>
        </p:nvSpPr>
        <p:spPr>
          <a:xfrm>
            <a:off x="548640" y="566928"/>
            <a:ext cx="11064240" cy="621792"/>
          </a:xfrm>
          <a:prstGeom prst="rect">
            <a:avLst/>
          </a:prstGeom>
          <a:noFill/>
          <a:ln/>
        </p:spPr>
        <p:txBody>
          <a:bodyPr wrap="square" lIns="0" tIns="0" rIns="0" bIns="0" rtlCol="0" anchor="ctr"/>
          <a:lstStyle/>
          <a:p>
            <a:pPr algn="l" indent="0" marL="0">
              <a:buNone/>
            </a:pPr>
            <a:r>
              <a:rPr lang="en-US" sz="3000" b="1" dirty="0">
                <a:solidFill>
                  <a:schemeClr val="tx1"/>
                </a:solidFill>
              </a:rPr>
              <a:t>Real-life cases used in this session</a:t>
            </a:r>
            <a:endParaRPr lang="en-US" sz="3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743200"/>
                <a:gridCol w="2194560"/>
                <a:gridCol w="4389120"/>
                <a:gridCol w="1737360"/>
              </a:tblGrid>
              <a:tr h="411480">
                <a:tc>
                  <a:txBody>
                    <a:bodyPr/>
                    <a:lstStyle/>
                    <a:p>
                      <a:pPr indent="0" marL="0">
                        <a:buNone/>
                      </a:pPr>
                      <a:r>
                        <a:rPr lang="en-US" sz="1300" b="1" dirty="0">
                          <a:solidFill>
                            <a:schemeClr val="bg1"/>
                          </a:solidFill>
                        </a:rPr>
                        <a:t>Case</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Type</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What went wrong</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Links to</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tx1"/>
                    </a:solidFill>
                  </a:tcPr>
                </a:tc>
              </a:tr>
              <a:tr h="777240">
                <a:tc>
                  <a:txBody>
                    <a:bodyPr/>
                    <a:lstStyle/>
                    <a:p>
                      <a:pPr indent="0" marL="0">
                        <a:buNone/>
                      </a:pPr>
                      <a:r>
                        <a:rPr lang="en-US" sz="1300" dirty="0">
                          <a:solidFill>
                            <a:schemeClr val="tx1"/>
                          </a:solidFill>
                        </a:rPr>
                        <a:t>Citibank N.A. London (OFSI, £4.73m, Aug 2026)</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UK sanctions penalty</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“PAO” prefix defeated the screening; no restriction without proof of &gt;50% ownership; review backlog; frozen-asset reports up to 518 days late</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Principles 1, 2, 5</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640080">
                <a:tc>
                  <a:txBody>
                    <a:bodyPr/>
                    <a:lstStyle/>
                    <a:p>
                      <a:pPr indent="0" marL="0">
                        <a:buNone/>
                      </a:pPr>
                      <a:r>
                        <a:rPr lang="en-US" sz="1300" dirty="0">
                          <a:solidFill>
                            <a:schemeClr val="tx1"/>
                          </a:solidFill>
                        </a:rPr>
                        <a:t>Bank of Scotland (OFSI, £160k, imposed Nov 2025)</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UK sanctions penalty</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Alert generated but wrongly discounted (person believed delisted); passport spelling differed from the list; no PEP-to-sanctions escalation route</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Principles 2, 1</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548640">
                <a:tc>
                  <a:txBody>
                    <a:bodyPr/>
                    <a:lstStyle/>
                    <a:p>
                      <a:pPr indent="0" marL="0">
                        <a:buNone/>
                      </a:pPr>
                      <a:r>
                        <a:rPr lang="en-US" sz="1300" dirty="0">
                          <a:solidFill>
                            <a:schemeClr val="tx1"/>
                          </a:solidFill>
                        </a:rPr>
                        <a:t>Bittrex (OFAC, $24.3m, Oct 2022)</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US sanctions settlement</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IP and address data collected but not screened for sanctioned jurisdictions</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Prohibited geography</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777240">
                <a:tc>
                  <a:txBody>
                    <a:bodyPr/>
                    <a:lstStyle/>
                    <a:p>
                      <a:pPr indent="0" marL="0">
                        <a:buNone/>
                      </a:pPr>
                      <a:r>
                        <a:rPr lang="en-US" sz="1300" dirty="0">
                          <a:solidFill>
                            <a:schemeClr val="tx1"/>
                          </a:solidFill>
                        </a:rPr>
                        <a:t>Banque Misr UAE (FinCEN, Aug 2026)</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US AML — proposed s.311 rule</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Front companies and USD correspondent access. UAE branches only; proposed, not final; will not appear in SDN screening</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Principle 4</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r h="640080">
                <a:tc>
                  <a:txBody>
                    <a:bodyPr/>
                    <a:lstStyle/>
                    <a:p>
                      <a:pPr indent="0" marL="0">
                        <a:buNone/>
                      </a:pPr>
                      <a:r>
                        <a:rPr lang="en-US" sz="1300" dirty="0">
                          <a:solidFill>
                            <a:schemeClr val="tx1"/>
                          </a:solidFill>
                        </a:rPr>
                        <a:t>Nine FIs (MAS, Jul 2025)</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Singapore AML penalties</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Beneficial ownership, source of wealth, transaction monitoring and post-STR follow-up. AML, not sanctions</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Principle 3</a:t>
                      </a:r>
                      <a:endParaRPr lang="en-US" sz="1300" dirty="0"/>
                    </a:p>
                  </a:txBody>
                  <a:tcPr marL="91440" marR="91440" marT="54864" marB="54864" anchor="ctr">
                    <a:lnL w="6350" cap="flat" cmpd="sng" algn="ctr">
                      <a:solidFill>
                        <a:srgbClr val="C9D8EA"/>
                      </a:solidFill>
                      <a:prstDash val="solid"/>
                      <a:round/>
                      <a:headEnd type="none" w="med" len="med"/>
                      <a:tailEnd type="none" w="med" len="med"/>
                    </a:lnL>
                    <a:lnR w="6350" cap="flat" cmpd="sng" algn="ctr">
                      <a:solidFill>
                        <a:srgbClr val="C9D8EA"/>
                      </a:solidFill>
                      <a:prstDash val="solid"/>
                      <a:round/>
                      <a:headEnd type="none" w="med" len="med"/>
                      <a:tailEnd type="none" w="med" len="med"/>
                    </a:lnR>
                    <a:lnT w="6350" cap="flat" cmpd="sng" algn="ctr">
                      <a:solidFill>
                        <a:srgbClr val="C9D8EA"/>
                      </a:solidFill>
                      <a:prstDash val="solid"/>
                      <a:round/>
                      <a:headEnd type="none" w="med" len="med"/>
                      <a:tailEnd type="none" w="med" len="med"/>
                    </a:lnT>
                    <a:lnB w="6350" cap="flat" cmpd="sng" algn="ctr">
                      <a:solidFill>
                        <a:srgbClr val="C9D8EA"/>
                      </a:solidFill>
                      <a:prstDash val="solid"/>
                      <a:round/>
                      <a:headEnd type="none" w="med" len="med"/>
                      <a:tailEnd type="none" w="med" len="med"/>
                    </a:lnB>
                    <a:solidFill>
                      <a:schemeClr val="bg1"/>
                    </a:solidFill>
                  </a:tcPr>
                </a:tc>
              </a:tr>
            </a:tbl>
          </a:graphicData>
        </a:graphic>
      </p:graphicFrame>
      <p:sp>
        <p:nvSpPr>
          <p:cNvPr id="5" name="Text 2"/>
          <p:cNvSpPr txBox="1"/>
          <p:nvPr/>
        </p:nvSpPr>
        <p:spPr>
          <a:xfrm>
            <a:off x="548640" y="5349240"/>
            <a:ext cx="11064240" cy="548640"/>
          </a:xfrm>
          <a:prstGeom prst="rect">
            <a:avLst/>
          </a:prstGeom>
          <a:noFill/>
          <a:ln/>
        </p:spPr>
        <p:txBody>
          <a:bodyPr wrap="square" lIns="0" tIns="0" rIns="0" bIns="0" rtlCol="0" anchor="t"/>
          <a:lstStyle/>
          <a:p>
            <a:pPr indent="0" marL="0">
              <a:buNone/>
            </a:pPr>
            <a:r>
              <a:rPr lang="en-US" sz="1400" i="1" dirty="0">
                <a:solidFill>
                  <a:schemeClr val="accent1"/>
                </a:solidFill>
              </a:rPr>
              <a:t>Only the first three are sanctions enforcement actions. The AML cases are context, not sanctions examples. Validate every figure against the primary notice before external circulation.</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Screening Signal">
  <a:themeElements>
    <a:clrScheme name="Screening Signal">
      <a:dk1>
        <a:srgbClr val="14213D"/>
      </a:dk1>
      <a:lt1>
        <a:srgbClr val="FFFFFF"/>
      </a:lt1>
      <a:dk2>
        <a:srgbClr val="0B1426"/>
      </a:dk2>
      <a:lt2>
        <a:srgbClr val="EEF2F7"/>
      </a:lt2>
      <a:accent1>
        <a:srgbClr val="C8102E"/>
      </a:accent1>
      <a:accent2>
        <a:srgbClr val="D98A1C"/>
      </a:accent2>
      <a:accent3>
        <a:srgbClr val="1F7A63"/>
      </a:accent3>
      <a:accent4>
        <a:srgbClr val="3D5A80"/>
      </a:accent4>
      <a:accent5>
        <a:srgbClr val="C9D8EA"/>
      </a:accent5>
      <a:accent6>
        <a:srgbClr val="5B6472"/>
      </a:accent6>
      <a:hlink>
        <a:srgbClr val="3D5A80"/>
      </a:hlink>
      <a:folHlink>
        <a:srgbClr val="5B6472"/>
      </a:folHlink>
    </a:clrScheme>
    <a:fontScheme name="Screening Signa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Checkout.com Global Screening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Sanctions in Practice — Analyst Edition</dc:title>
  <dc:subject>Sanctions training for operations analysts</dc:subject>
  <dc:creator>PptxGenJS</dc:creator>
  <cp:lastModifiedBy>PptxGenJS</cp:lastModifiedBy>
  <cp:revision>1</cp:revision>
  <dcterms:created xsi:type="dcterms:W3CDTF">2026-10-12T18:59:07Z</dcterms:created>
  <dcterms:modified xsi:type="dcterms:W3CDTF">2026-10-12T18:59:07Z</dcterms:modified>
</cp:coreProperties>
</file>