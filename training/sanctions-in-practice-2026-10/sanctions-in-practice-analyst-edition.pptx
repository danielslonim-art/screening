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07e5d8-3ddc-edf3-d148-6eaab0efd335}">
          <p14:sldIdLst>
            <p14:sldId id="256"/>
            <p14:sldId id="257"/>
            <p14:sldId id="258"/>
          </p14:sldIdLst>
        </p14:section>
        <p14:section name="Part 1 — Understand the model" id="{1631fe14-aba4-efcf-4936-37a0eedb27c9}">
          <p14:sldIdLst>
            <p14:sldId id="259"/>
            <p14:sldId id="260"/>
            <p14:sldId id="261"/>
            <p14:sldId id="262"/>
          </p14:sldIdLst>
        </p14:section>
        <p14:section name="Part 2 — Compare the regions" id="{786adce5-f69c-2901-e3a4-6a62c0f8f760}">
          <p14:sldIdLst>
            <p14:sldId id="263"/>
            <p14:sldId id="264"/>
            <p14:sldId id="265"/>
            <p14:sldId id="266"/>
            <p14:sldId id="267"/>
            <p14:sldId id="268"/>
            <p14:sldId id="269"/>
            <p14:sldId id="270"/>
            <p14:sldId id="271"/>
            <p14:sldId id="272"/>
            <p14:sldId id="273"/>
          </p14:sldIdLst>
        </p14:section>
        <p14:section name="Part 3 — Apply the indicators" id="{809d918d-4237-b463-fbd6-cc4b5465e22a}">
          <p14:sldIdLst>
            <p14:sldId id="274"/>
            <p14:sldId id="275"/>
            <p14:sldId id="276"/>
            <p14:sldId id="277"/>
            <p14:sldId id="278"/>
          </p14:sldIdLst>
        </p14:section>
        <p14:section name="Part 4 — Record the decision" id="{ee067bb0-0e88-54cf-72e5-49cd237f3395}">
          <p14:sldIdLst>
            <p14:sldId id="279"/>
            <p14:sldId id="280"/>
            <p14:sldId id="281"/>
            <p14:sldId id="282"/>
          </p14:sldIdLst>
        </p14:section>
        <p14:section name="Close" id="{62ea562b-4ec4-4ae5-fb8d-2b8cd1e72d48}">
          <p14:sldIdLst>
            <p14:sldId id="283"/>
          </p14:sldIdLst>
        </p14:section>
        <p14:section name="Appendix" id="{96e71851-5656-84eb-3e8a-73a0dc9974a2}">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 edition of 'Sanctions in Practice October 2026 — Regional Rules, Common Controls &amp; Escalation'. Every content slide answers three questions for the analyst: in short, what are we telling you; why it matters; and what it means for you in our process. The whole session in one sentence: If in doubt, don't let it go: stop the payment, check who is really behind it and every country it touches, pass anything unclear to L2 — and write down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strict liability — the most important UK nuance; it applies to civil penalties only, while criminal offences still require knowledge or reasonable cause to suspect. Both cases are operational failures rather than missing systems. Citibank: a legal-form prefix defeated the screening, a backlog built at third-level review, ownership assessments missed subsidiaries, and temporary guidance meant accounts were not restricted without evidence of more than 50% ownership. Bank of Scotland: an alert did fire and was wrongly discounted, and there was no route to escalate possible sanctions links from PEP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session analysts will be able to work through four connected capabilities. Each part opens with its theme, why it matters, what it means in our process, and a question to keep in mind. The 'In short' line on every slide is the plain-English message; the band at the foot of every slide answers 'why should I care?' and 'what do I do with this in our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regional detail, analysts need one model they apply identically to every alert. Anchor it in the current process — the Firco queue, the L1 review, the 4-eye check and the L2 escalation path — so the principles feel like a description of their own job rather than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principles carry the whole session; each case later maps back to them. Principle 1 is highlighted because under UK strict liability unresolved doubt produces a hold, not a release. Principle 5 is the Citibank lesson: guidance that required affirmative evidence of ownership before restricting turned missing data into processed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from the original with an example on each card. The geography example is the Bittrex lesson (OFAC, October 2022): IP and address data was collected at onboarding but never screened for sanctioned jurisdictions.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together the original triage slide, the common control model and the operating model. The boundary between what an L1 analyst decides and what is reserved for L2/L3 is now explicit. Stress 'no refund or return to the sender' — returning funds to a designated person is itself making funds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Part 1: the same model applies everywhere, but the answer can change with the regime. The aim is recognition, not memorisation. Point analysts to the information they already have in the case record — legal entity, route, currency — and to the Country Risk Rating and legal-entity HRTC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every layer, in order' sat on the MENA slide of the original; it is the organising idea for every region, so it now comes first. The three nexus tests replace six separate regional lenses. Key principle from the original: a local nexus does not remove UK, US, EU or correspondent-bank exposure. Warn against 'USD = automatic OFAC'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MENA slides. MENA spans many jurisdictions; the UAE is the focus, with Saudi Arabia only if a Checkout entity or product is SAMA-supervised (SAMA Rules for the Implementation of TFS, 7 December 2025, in force). The original cited the ADGM Rulebook as the UAE source; that binds only ADGM-licensed firms — the UAE-wide sources are Cabinet Decision 74/2020 and EOCN guidance (and Decree-Law 10/2025, which replaced Decree-Law 20/2018). Confirm which UAE supervisor applies to the Checkout entity. Original lesson kept: trade corridors, gold, shipping and dual-use goods need more than name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Singapore slides, with instrument names updated: the MAS Act sanctions regulations were replaced by the FSM (Sanctions and Freezing of Assets of Persons) Regulations 2023, and the March 2022 Russia notice was replaced by SNR-N01 dated 30 June 2025 (amended February 2026), which also adds a lending prohibition. The MAS penalty case is AML enforcement, not a sanctions breach — present it as a control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Hong Kong slides. Hong Kong implements UN Security Council sanctions only (confirmed by the LegCo reply of January 2019 and HKMA's August 2020 circular distinguishing HK targeted financial sanctions from foreign unilateral sanctions). UNATMO s.12 requires disclosure of knowledge or suspicion of terrorist property to an authorised officer — in practice an STR to the JFIU. Whether UNSO carries an equivalent duty has not been verified; L2 confirms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UK slides, with strict liability added — the most important UK nuance, and missing from the original. Strict liability applies to civil penalties only; criminal offences still require knowledge or reasonable cause to suspect. The original said the OFSI Consolidated List 'has closed': it remains online but receives no new names, so any feed still reading it misses designations made after 28 January 2026. The original's 'a rejected payment is not treated like frozen assets' has been replaced, because analysts can read it as 'no report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France slides. France is not a substitute for EU analysis: apply the EU regime and the French national overlay together. EU Art 8 of Reg 269/2014 now gives 'within two weeks' for supplying information, but the French freeze report (CMF L562-4) remains immediate and the freeze itself is always immediate. The EU ownership test is now '50% or more' with aggregation (Best Practices, July 2024; CJEU C-84/24, March 2026, treats 50% as a rebuttable presumption of control). Dual-use / SBDU content from the original is out of scope for payment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US slides. Reports of blocked property and rejected transactions are both due within 10 business days (31 CFR 501.603 and 501.604), and must be filed electronically. Under 50%, or control alone, does not block under OFAC, but OFAC urges caution — escalate. A Section 311 target will not appear in SDN screening: it is an AML measure, not a designation.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original's six-column comparison table, rebuilt so that every cell is something an analyst can act on. Read it by column for one regime, or by row to see where the regimes differ — ownership and reporting are the rows that most often change the outcome. Reporting is always done by L2/L3, never by the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UK is the outlier: more than 50%, and different designated persons' holdings are not added together (unless held jointly or one controls the other's rights). The EU and US both use 50% or more and aggregate. Decision principle: do not rely on a single percentage threshold. Missing UBO data, or a chain that ends at a nominee, is never a reason to clear — the Citibank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UK slide said 'a rejected payment is not treated like frozen assets', which an analyst can read as 'a rejection needs no report'. The UK reporting duty is triggered by knowledge or reasonable cause to suspect, whether or not the funds were retained; in the US both blocked and rejected transactions are reported to OFAC within 10 business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Part 2: knowing the rules is only useful if the evidence is gathered properly. Every slide in this part ends in an action the analyst can take with today's tools. In the case studies, ask analysts to name the tool or process step they would use at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UK penalties in this session involved name variants, so analysts need to recognise them when reviewing a near-match. Legal-form prefixes are the most common miss for entities; transliteration for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'How to avoid tipping off?' slide had a title but no content. Tipping off is an AML/CTF offence (UK: POCA s.333A and TA 2000 s.21D), not an offence under the sanctions regulations. What a customer is told about frozen funds is a separate question for L2; customer scripts must be approved by the Sanctions Officer or MLRO.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vote on each case before revealing the decision. Common pitfalls: in case 01, closing on the name difference alone, or keeping an evidenced false positive open 'to be safe'; in case 02, 'they hold no shares, so it's fine'. The control test is legally nuanced, which is why it is an L2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03: Hong Kong applies UN sanctions only, so a local clear is common while UK, EU or US exposure remains. Case 04: merchant comfort is a commercial view, not evidence — just because the merchant says yes does not mean we have to say yes. The original answer slide read 'Clear only if truly matched'; that wording was inverted and has been corrected. If the payment is rejected, L2 still considers whether a report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Part 3: the evidence only protects the firm if it is recorded. The cross-team exercise then shows how sanctions screening, transaction monitoring and event-driven review feed one joined-up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Combines the original 'joined case note' and 'defensible case note' into one template, using the insurance case as the worked example. Evidence standard from the original: every decision must be reproducible from the case record alone. Merchant comfort must never be converted into a false-positive rationale.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original nine-slide sequence. Reveal one evidence drop at a time if you want to keep the original pacing, and ask for a vote after each. Before the reveal, require each group to name the specific evidence that supports its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A: the alias match is unresolved and the ownership chain is incomplete. Why not B: rejecting one payment leaves the customer, the control question and the transaction pattern unaddressed. Debrief: what information would change the outcome to 'clear', 'reject' or 'freeze and report'? (The director's date of birth and ID resolving the alias, and the UBO behind the nominee.)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walking back through the four parts in one sentence each, then point to the Global Sanctions Reporting Procedure and the Sanctions &amp; Compliance team for edge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uses these acronyms without defining them; this page can be handed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analyst audience each case becomes a sentence of narration linked to a principle. The internal anonymised merchant case from the original has deliberately not been reproduced — see the review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035040" cy="118872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429000"/>
            <a:ext cx="6035040" cy="146304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
        <p:nvSpPr>
          <p:cNvPr id="4" name="Text 0"/>
          <p:cNvSpPr/>
          <p:nvPr/>
        </p:nvSpPr>
        <p:spPr>
          <a:xfrm>
            <a:off x="731520" y="6263640"/>
            <a:ext cx="10698480" cy="320040"/>
          </a:xfrm>
          <a:prstGeom prst="rect">
            <a:avLst/>
          </a:prstGeom>
          <a:noFill/>
          <a:ln/>
        </p:spPr>
        <p:txBody>
          <a:bodyPr wrap="square" lIns="0" tIns="0" rIns="0" bIns="0" rtlCol="0" anchor="ctr"/>
          <a:lstStyle/>
          <a:p>
            <a:pPr indent="0" marL="0">
              <a:buNone/>
            </a:pPr>
            <a:r>
              <a:rPr lang="en-US" sz="1000" dirty="0">
                <a:solidFill>
                  <a:schemeClr val="accent5"/>
                </a:solidFill>
              </a:rPr>
              <a:t>Current as of 12 October 2026  |  Training use only — not legal advice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rtlCol="0"/>
          <a:lstStyle>
            <a:lvl1pPr algn="l" indent="0" marL="0">
              <a:buNone/>
              <a:defRPr lang="en-US" sz="1200" b="1" spc="1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37376"/>
            <a:ext cx="9601200" cy="256032"/>
          </a:xfrm>
          <a:prstGeom prst="rect">
            <a:avLst/>
          </a:prstGeom>
          <a:noFill/>
          <a:ln/>
        </p:spPr>
        <p:txBody>
          <a:bodyPr wrap="square" lIns="0" tIns="0" rIns="0" bIns="0" rtlCol="0" anchor="ctr"/>
          <a:lstStyle/>
          <a:p>
            <a:pPr indent="0" marL="0">
              <a:buNone/>
            </a:pPr>
            <a:r>
              <a:rPr lang="en-US" sz="1000" dirty="0">
                <a:solidFill>
                  <a:schemeClr val="accent6"/>
                </a:solidFill>
              </a:rPr>
              <a:t>Current as of 12 October 2026  |  Training use only — not legal advice</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rtlCol="0"/>
          <a:lstStyle>
            <a:lvl1pPr algn="l" indent="0" marL="0">
              <a:buNone/>
              <a:defRPr lang="en-US" sz="1200" b="1" spc="1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437376"/>
            <a:ext cx="9601200" cy="256032"/>
          </a:xfrm>
          <a:prstGeom prst="rect">
            <a:avLst/>
          </a:prstGeom>
          <a:noFill/>
          <a:ln/>
        </p:spPr>
        <p:txBody>
          <a:bodyPr wrap="square" lIns="0" tIns="0" rIns="0" bIns="0" rtlCol="0" anchor="ctr"/>
          <a:lstStyle/>
          <a:p>
            <a:pPr indent="0" marL="0">
              <a:buNone/>
            </a:pPr>
            <a:r>
              <a:rPr lang="en-US" sz="1000" dirty="0">
                <a:solidFill>
                  <a:schemeClr val="accent5"/>
                </a:solidFill>
              </a:rPr>
              <a:t>Current as of 12 October 2026  |  Training use only — not legal advice</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p:cNvSpPr txBox="1"/>
          <p:nvPr/>
        </p:nvSpPr>
        <p:spPr>
          <a:xfrm>
            <a:off x="731520" y="1691640"/>
            <a:ext cx="603504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SANCTIONS TRAINING · OCTOBER 2026</a:t>
            </a:r>
            <a:endParaRPr lang="en-US" sz="1300" dirty="0"/>
          </a:p>
        </p:txBody>
      </p:sp>
      <p:sp>
        <p:nvSpPr>
          <p:cNvPr id="3" name="Text 0"/>
          <p:cNvSpPr/>
          <p:nvPr>
            <p:ph idx="100" type="title" hasCustomPrompt="1"/>
          </p:nvPr>
        </p:nvSpPr>
        <p:spPr>
          <a:xfrm>
            <a:off x="731520" y="2103120"/>
            <a:ext cx="6035040" cy="1188720"/>
          </a:xfrm>
          <a:prstGeom prst="rect">
            <a:avLst/>
          </a:prstGeom>
          <a:noFill/>
          <a:ln/>
        </p:spPr>
        <p:txBody>
          <a:bodyPr wrap="square" lIns="0" tIns="0" rIns="0" bIns="0" rtlCol="0" anchor="b"/>
          <a:lstStyle/>
          <a:p>
            <a:pPr algn="l" indent="0" marL="0">
              <a:buNone/>
            </a:pPr>
            <a:r>
              <a:rPr lang="en-US" sz="4600" b="1" dirty="0">
                <a:solidFill>
                  <a:schemeClr val="bg1"/>
                </a:solidFill>
              </a:rPr>
              <a:t>Sanctions in Practice</a:t>
            </a:r>
            <a:endParaRPr lang="en-US" sz="4600" dirty="0"/>
          </a:p>
        </p:txBody>
      </p:sp>
      <p:sp>
        <p:nvSpPr>
          <p:cNvPr id="4" name="Text 0"/>
          <p:cNvSpPr/>
          <p:nvPr>
            <p:ph idx="101" type="body" hasCustomPrompt="1"/>
          </p:nvPr>
        </p:nvSpPr>
        <p:spPr>
          <a:xfrm>
            <a:off x="731520" y="3429000"/>
            <a:ext cx="6035040" cy="1463040"/>
          </a:xfrm>
          <a:prstGeom prst="rect">
            <a:avLst/>
          </a:prstGeom>
          <a:noFill/>
          <a:ln/>
        </p:spPr>
        <p:txBody>
          <a:bodyPr wrap="square" lIns="0" tIns="0" rIns="0" bIns="0" rtlCol="0" anchor="t"/>
          <a:lstStyle/>
          <a:p>
            <a:pPr algn="l" indent="0" marL="0">
              <a:buNone/>
            </a:pPr>
            <a:r>
              <a:rPr lang="en-US" sz="2200" dirty="0">
                <a:solidFill>
                  <a:schemeClr val="accent5"/>
                </a:solidFill>
              </a:rPr>
              <a:t>A decision discipline, not a list-check</a:t>
            </a:r>
            <a:endParaRPr lang="en-US" sz="2200" dirty="0"/>
          </a:p>
          <a:p>
            <a:pPr algn="l" indent="0" marL="0">
              <a:buNone/>
            </a:pPr>
            <a:r>
              <a:rPr lang="en-US" sz="1600" dirty="0">
                <a:solidFill>
                  <a:schemeClr val="accent5"/>
                </a:solidFill>
              </a:rPr>
              <a:t>Regional rules, common controls &amp; escalation — analyst edition</a:t>
            </a:r>
            <a:endParaRPr lang="en-US" sz="2200" dirty="0"/>
          </a:p>
        </p:txBody>
      </p:sp>
      <p:sp>
        <p:nvSpPr>
          <p:cNvPr id="5" name="text"/>
          <p:cNvSpPr txBox="1"/>
          <p:nvPr/>
        </p:nvSpPr>
        <p:spPr>
          <a:xfrm>
            <a:off x="731520" y="5074920"/>
            <a:ext cx="6035040" cy="320040"/>
          </a:xfrm>
          <a:prstGeom prst="rect">
            <a:avLst/>
          </a:prstGeom>
          <a:noFill/>
          <a:ln/>
        </p:spPr>
        <p:txBody>
          <a:bodyPr wrap="square" lIns="0" tIns="0" rIns="0" bIns="0" rtlCol="0" anchor="t"/>
          <a:lstStyle/>
          <a:p>
            <a:pPr indent="0" marL="0">
              <a:buNone/>
            </a:pPr>
            <a:r>
              <a:rPr lang="en-US" sz="1300" i="1" dirty="0">
                <a:solidFill>
                  <a:schemeClr val="accent5"/>
                </a:solidFill>
              </a:rPr>
              <a:t>Draft for Sanctions Officer review</a:t>
            </a:r>
            <a:endParaRPr lang="en-US" sz="1300" dirty="0"/>
          </a:p>
        </p:txBody>
      </p:sp>
      <p:sp>
        <p:nvSpPr>
          <p:cNvPr id="6" name="one payment"/>
          <p:cNvSpPr/>
          <p:nvPr/>
        </p:nvSpPr>
        <p:spPr>
          <a:xfrm>
            <a:off x="8503920" y="2514600"/>
            <a:ext cx="1554480" cy="1554480"/>
          </a:xfrm>
          <a:prstGeom prst="ellipse">
            <a:avLst/>
          </a:prstGeom>
          <a:solidFill>
            <a:schemeClr val="accent1"/>
          </a:solidFill>
          <a:ln w="12700">
            <a:solidFill>
              <a:schemeClr val="accent1"/>
            </a:solidFill>
            <a:prstDash val="solid"/>
          </a:ln>
        </p:spPr>
      </p:sp>
      <p:sp>
        <p:nvSpPr>
          <p:cNvPr id="7" name="text"/>
          <p:cNvSpPr txBox="1"/>
          <p:nvPr/>
        </p:nvSpPr>
        <p:spPr>
          <a:xfrm>
            <a:off x="8503920" y="2514600"/>
            <a:ext cx="1554480" cy="1554480"/>
          </a:xfrm>
          <a:prstGeom prst="rect">
            <a:avLst/>
          </a:prstGeom>
          <a:noFill/>
          <a:ln/>
        </p:spPr>
        <p:txBody>
          <a:bodyPr wrap="square" lIns="0" tIns="0" rIns="0" bIns="0" rtlCol="0" anchor="ctr"/>
          <a:lstStyle/>
          <a:p>
            <a:pPr algn="ctr" indent="0" marL="0">
              <a:buNone/>
            </a:pPr>
            <a:r>
              <a:rPr lang="en-US" sz="1600" b="1" dirty="0">
                <a:solidFill>
                  <a:schemeClr val="bg1"/>
                </a:solidFill>
              </a:rPr>
              <a:t>ONE</a:t>
            </a:r>
            <a:endParaRPr lang="en-US" sz="1600" dirty="0"/>
          </a:p>
          <a:p>
            <a:pPr algn="ctr" indent="0" marL="0">
              <a:buNone/>
            </a:pPr>
            <a:r>
              <a:rPr lang="en-US" sz="1600" b="1" dirty="0">
                <a:solidFill>
                  <a:schemeClr val="bg1"/>
                </a:solidFill>
              </a:rPr>
              <a:t>PAYMENT</a:t>
            </a:r>
            <a:endParaRPr lang="en-US" sz="1600" dirty="0"/>
          </a:p>
        </p:txBody>
      </p:sp>
      <p:sp>
        <p:nvSpPr>
          <p:cNvPr id="8" name="UK rulebook"/>
          <p:cNvSpPr/>
          <p:nvPr/>
        </p:nvSpPr>
        <p:spPr>
          <a:xfrm>
            <a:off x="8549640" y="1143000"/>
            <a:ext cx="1463040" cy="548640"/>
          </a:xfrm>
          <a:prstGeom prst="roundRect">
            <a:avLst>
              <a:gd name="adj" fmla="val 16667"/>
            </a:avLst>
          </a:prstGeom>
          <a:solidFill>
            <a:schemeClr val="tx1"/>
          </a:solidFill>
          <a:ln w="12700">
            <a:solidFill>
              <a:schemeClr val="accent4"/>
            </a:solidFill>
            <a:prstDash val="solid"/>
          </a:ln>
        </p:spPr>
      </p:sp>
      <p:sp>
        <p:nvSpPr>
          <p:cNvPr id="9" name="text"/>
          <p:cNvSpPr txBox="1"/>
          <p:nvPr/>
        </p:nvSpPr>
        <p:spPr>
          <a:xfrm>
            <a:off x="8549640" y="114300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UK</a:t>
            </a:r>
            <a:endParaRPr lang="en-US" sz="1300" dirty="0"/>
          </a:p>
          <a:p>
            <a:pPr algn="ctr" indent="0" marL="0">
              <a:buNone/>
            </a:pPr>
            <a:r>
              <a:rPr lang="en-US" sz="1000" dirty="0">
                <a:solidFill>
                  <a:schemeClr val="accent5"/>
                </a:solidFill>
              </a:rPr>
              <a:t>rulebook</a:t>
            </a:r>
            <a:endParaRPr lang="en-US" sz="1300" dirty="0"/>
          </a:p>
        </p:txBody>
      </p:sp>
      <p:sp>
        <p:nvSpPr>
          <p:cNvPr id="10" name="France rulebook"/>
          <p:cNvSpPr/>
          <p:nvPr/>
        </p:nvSpPr>
        <p:spPr>
          <a:xfrm>
            <a:off x="10173022" y="2080260"/>
            <a:ext cx="1463040" cy="548640"/>
          </a:xfrm>
          <a:prstGeom prst="roundRect">
            <a:avLst>
              <a:gd name="adj" fmla="val 16667"/>
            </a:avLst>
          </a:prstGeom>
          <a:solidFill>
            <a:schemeClr val="tx1"/>
          </a:solidFill>
          <a:ln w="12700">
            <a:solidFill>
              <a:schemeClr val="accent4"/>
            </a:solidFill>
            <a:prstDash val="solid"/>
          </a:ln>
        </p:spPr>
      </p:sp>
      <p:sp>
        <p:nvSpPr>
          <p:cNvPr id="11" name="text"/>
          <p:cNvSpPr txBox="1"/>
          <p:nvPr/>
        </p:nvSpPr>
        <p:spPr>
          <a:xfrm>
            <a:off x="10173022" y="208026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France</a:t>
            </a:r>
            <a:endParaRPr lang="en-US" sz="1300" dirty="0"/>
          </a:p>
          <a:p>
            <a:pPr algn="ctr" indent="0" marL="0">
              <a:buNone/>
            </a:pPr>
            <a:r>
              <a:rPr lang="en-US" sz="1000" dirty="0">
                <a:solidFill>
                  <a:schemeClr val="accent5"/>
                </a:solidFill>
              </a:rPr>
              <a:t>rulebook</a:t>
            </a:r>
            <a:endParaRPr lang="en-US" sz="1300" dirty="0"/>
          </a:p>
        </p:txBody>
      </p:sp>
      <p:sp>
        <p:nvSpPr>
          <p:cNvPr id="12" name="US rulebook"/>
          <p:cNvSpPr/>
          <p:nvPr/>
        </p:nvSpPr>
        <p:spPr>
          <a:xfrm>
            <a:off x="10173022" y="3954780"/>
            <a:ext cx="1463040" cy="548640"/>
          </a:xfrm>
          <a:prstGeom prst="roundRect">
            <a:avLst>
              <a:gd name="adj" fmla="val 16667"/>
            </a:avLst>
          </a:prstGeom>
          <a:solidFill>
            <a:schemeClr val="tx1"/>
          </a:solidFill>
          <a:ln w="12700">
            <a:solidFill>
              <a:schemeClr val="accent4"/>
            </a:solidFill>
            <a:prstDash val="solid"/>
          </a:ln>
        </p:spPr>
      </p:sp>
      <p:sp>
        <p:nvSpPr>
          <p:cNvPr id="13" name="text"/>
          <p:cNvSpPr txBox="1"/>
          <p:nvPr/>
        </p:nvSpPr>
        <p:spPr>
          <a:xfrm>
            <a:off x="10173022" y="39547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US</a:t>
            </a:r>
            <a:endParaRPr lang="en-US" sz="1300" dirty="0"/>
          </a:p>
          <a:p>
            <a:pPr algn="ctr" indent="0" marL="0">
              <a:buNone/>
            </a:pPr>
            <a:r>
              <a:rPr lang="en-US" sz="1000" dirty="0">
                <a:solidFill>
                  <a:schemeClr val="accent5"/>
                </a:solidFill>
              </a:rPr>
              <a:t>rulebook</a:t>
            </a:r>
            <a:endParaRPr lang="en-US" sz="1300" dirty="0"/>
          </a:p>
        </p:txBody>
      </p:sp>
      <p:sp>
        <p:nvSpPr>
          <p:cNvPr id="14" name="Hong Kong rulebook"/>
          <p:cNvSpPr/>
          <p:nvPr/>
        </p:nvSpPr>
        <p:spPr>
          <a:xfrm>
            <a:off x="8549640" y="4892040"/>
            <a:ext cx="1463040" cy="548640"/>
          </a:xfrm>
          <a:prstGeom prst="roundRect">
            <a:avLst>
              <a:gd name="adj" fmla="val 16667"/>
            </a:avLst>
          </a:prstGeom>
          <a:solidFill>
            <a:schemeClr val="tx1"/>
          </a:solidFill>
          <a:ln w="12700">
            <a:solidFill>
              <a:schemeClr val="accent4"/>
            </a:solidFill>
            <a:prstDash val="solid"/>
          </a:ln>
        </p:spPr>
      </p:sp>
      <p:sp>
        <p:nvSpPr>
          <p:cNvPr id="15" name="text"/>
          <p:cNvSpPr txBox="1"/>
          <p:nvPr/>
        </p:nvSpPr>
        <p:spPr>
          <a:xfrm>
            <a:off x="8549640" y="489204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Hong Kong</a:t>
            </a:r>
            <a:endParaRPr lang="en-US" sz="1300" dirty="0"/>
          </a:p>
          <a:p>
            <a:pPr algn="ctr" indent="0" marL="0">
              <a:buNone/>
            </a:pPr>
            <a:r>
              <a:rPr lang="en-US" sz="1000" dirty="0">
                <a:solidFill>
                  <a:schemeClr val="accent5"/>
                </a:solidFill>
              </a:rPr>
              <a:t>rulebook</a:t>
            </a:r>
            <a:endParaRPr lang="en-US" sz="1300" dirty="0"/>
          </a:p>
        </p:txBody>
      </p:sp>
      <p:sp>
        <p:nvSpPr>
          <p:cNvPr id="16" name="Singapore rulebook"/>
          <p:cNvSpPr/>
          <p:nvPr/>
        </p:nvSpPr>
        <p:spPr>
          <a:xfrm>
            <a:off x="6926258" y="3954780"/>
            <a:ext cx="1463040" cy="548640"/>
          </a:xfrm>
          <a:prstGeom prst="roundRect">
            <a:avLst>
              <a:gd name="adj" fmla="val 16667"/>
            </a:avLst>
          </a:prstGeom>
          <a:solidFill>
            <a:schemeClr val="tx1"/>
          </a:solidFill>
          <a:ln w="12700">
            <a:solidFill>
              <a:schemeClr val="accent4"/>
            </a:solidFill>
            <a:prstDash val="solid"/>
          </a:ln>
        </p:spPr>
      </p:sp>
      <p:sp>
        <p:nvSpPr>
          <p:cNvPr id="17" name="text"/>
          <p:cNvSpPr txBox="1"/>
          <p:nvPr/>
        </p:nvSpPr>
        <p:spPr>
          <a:xfrm>
            <a:off x="6926258" y="39547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Singapore</a:t>
            </a:r>
            <a:endParaRPr lang="en-US" sz="1300" dirty="0"/>
          </a:p>
          <a:p>
            <a:pPr algn="ctr" indent="0" marL="0">
              <a:buNone/>
            </a:pPr>
            <a:r>
              <a:rPr lang="en-US" sz="1000" dirty="0">
                <a:solidFill>
                  <a:schemeClr val="accent5"/>
                </a:solidFill>
              </a:rPr>
              <a:t>rulebook</a:t>
            </a:r>
            <a:endParaRPr lang="en-US" sz="1300" dirty="0"/>
          </a:p>
        </p:txBody>
      </p:sp>
      <p:sp>
        <p:nvSpPr>
          <p:cNvPr id="18" name="MENA rulebook"/>
          <p:cNvSpPr/>
          <p:nvPr/>
        </p:nvSpPr>
        <p:spPr>
          <a:xfrm>
            <a:off x="6926258" y="2080260"/>
            <a:ext cx="1463040" cy="548640"/>
          </a:xfrm>
          <a:prstGeom prst="roundRect">
            <a:avLst>
              <a:gd name="adj" fmla="val 16667"/>
            </a:avLst>
          </a:prstGeom>
          <a:solidFill>
            <a:schemeClr val="tx1"/>
          </a:solidFill>
          <a:ln w="12700">
            <a:solidFill>
              <a:schemeClr val="accent4"/>
            </a:solidFill>
            <a:prstDash val="solid"/>
          </a:ln>
        </p:spPr>
      </p:sp>
      <p:sp>
        <p:nvSpPr>
          <p:cNvPr id="19" name="text"/>
          <p:cNvSpPr txBox="1"/>
          <p:nvPr/>
        </p:nvSpPr>
        <p:spPr>
          <a:xfrm>
            <a:off x="6926258" y="208026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MENA</a:t>
            </a:r>
            <a:endParaRPr lang="en-US" sz="1300" dirty="0"/>
          </a:p>
          <a:p>
            <a:pPr algn="ctr" indent="0" marL="0">
              <a:buNone/>
            </a:pPr>
            <a:r>
              <a:rPr lang="en-US" sz="1000" dirty="0">
                <a:solidFill>
                  <a:schemeClr val="accent5"/>
                </a:solidFill>
              </a:rPr>
              <a:t>rulebook</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WHY DO WE CARE?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Recent penalties came from everyday alert decisions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Big fines come from ordinary alert decisions — the same kind you make every day.</a:t>
            </a:r>
            <a:endParaRPr lang="en-US" sz="1700" dirty="0"/>
          </a:p>
        </p:txBody>
      </p:sp>
      <p:sp>
        <p:nvSpPr>
          <p:cNvPr id="5" name="stat Strict liability"/>
          <p:cNvSpPr/>
          <p:nvPr/>
        </p:nvSpPr>
        <p:spPr>
          <a:xfrm>
            <a:off x="548640" y="1554480"/>
            <a:ext cx="3566160" cy="3520440"/>
          </a:xfrm>
          <a:prstGeom prst="roundRect">
            <a:avLst>
              <a:gd name="adj" fmla="val 3117"/>
            </a:avLst>
          </a:prstGeom>
          <a:solidFill>
            <a:schemeClr val="bg2"/>
          </a:solidFill>
          <a:ln w="12700">
            <a:solidFill>
              <a:schemeClr val="bg2"/>
            </a:solidFill>
            <a:prstDash val="solid"/>
          </a:ln>
        </p:spPr>
      </p:sp>
      <p:sp>
        <p:nvSpPr>
          <p:cNvPr id="6" name="text"/>
          <p:cNvSpPr txBox="1"/>
          <p:nvPr/>
        </p:nvSpPr>
        <p:spPr>
          <a:xfrm>
            <a:off x="822960" y="1691640"/>
            <a:ext cx="3017520" cy="77724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Strict liability</a:t>
            </a:r>
            <a:endParaRPr lang="en-US" sz="2800" dirty="0"/>
          </a:p>
        </p:txBody>
      </p:sp>
      <p:sp>
        <p:nvSpPr>
          <p:cNvPr id="7" name="text"/>
          <p:cNvSpPr txBox="1"/>
          <p:nvPr/>
        </p:nvSpPr>
        <p:spPr>
          <a:xfrm>
            <a:off x="822960" y="2560320"/>
            <a:ext cx="3017520" cy="2423160"/>
          </a:xfrm>
          <a:prstGeom prst="rect">
            <a:avLst/>
          </a:prstGeom>
          <a:noFill/>
          <a:ln/>
        </p:spPr>
        <p:txBody>
          <a:bodyPr wrap="square" lIns="0" tIns="0" rIns="0" bIns="0" rtlCol="0" anchor="t"/>
          <a:lstStyle/>
          <a:p>
            <a:pPr indent="0" marL="0">
              <a:buNone/>
            </a:pPr>
            <a:r>
              <a:rPr lang="en-US" sz="1500" dirty="0">
                <a:solidFill>
                  <a:schemeClr val="tx1"/>
                </a:solidFill>
              </a:rPr>
              <a:t>In the UK, OFSI can impose a civil penalty without proving that anyone knew or suspected a breach. This applies to breaches from 15 June 2022.</a:t>
            </a:r>
            <a:endParaRPr lang="en-US" sz="1500" dirty="0"/>
          </a:p>
        </p:txBody>
      </p:sp>
      <p:sp>
        <p:nvSpPr>
          <p:cNvPr id="8" name="stat £4.7m"/>
          <p:cNvSpPr/>
          <p:nvPr/>
        </p:nvSpPr>
        <p:spPr>
          <a:xfrm>
            <a:off x="4297680" y="1554480"/>
            <a:ext cx="3566160" cy="3520440"/>
          </a:xfrm>
          <a:prstGeom prst="roundRect">
            <a:avLst>
              <a:gd name="adj" fmla="val 3117"/>
            </a:avLst>
          </a:prstGeom>
          <a:solidFill>
            <a:schemeClr val="bg2"/>
          </a:solidFill>
          <a:ln w="12700">
            <a:solidFill>
              <a:schemeClr val="bg2"/>
            </a:solidFill>
            <a:prstDash val="solid"/>
          </a:ln>
        </p:spPr>
      </p:sp>
      <p:sp>
        <p:nvSpPr>
          <p:cNvPr id="9" name="text"/>
          <p:cNvSpPr txBox="1"/>
          <p:nvPr/>
        </p:nvSpPr>
        <p:spPr>
          <a:xfrm>
            <a:off x="4572000" y="1691640"/>
            <a:ext cx="3017520" cy="777240"/>
          </a:xfrm>
          <a:prstGeom prst="rect">
            <a:avLst/>
          </a:prstGeom>
          <a:noFill/>
          <a:ln/>
        </p:spPr>
        <p:txBody>
          <a:bodyPr wrap="square" lIns="0" tIns="0" rIns="0" bIns="0" rtlCol="0" anchor="ctr"/>
          <a:lstStyle/>
          <a:p>
            <a:pPr indent="0" marL="0">
              <a:buNone/>
            </a:pPr>
            <a:r>
              <a:rPr lang="en-US" sz="4600" b="1" dirty="0">
                <a:solidFill>
                  <a:schemeClr val="tx1"/>
                </a:solidFill>
                <a:latin typeface="Arial" pitchFamily="34" charset="0"/>
                <a:ea typeface="Arial" pitchFamily="34" charset="-122"/>
                <a:cs typeface="Arial" pitchFamily="34" charset="-120"/>
              </a:rPr>
              <a:t>£4.7m</a:t>
            </a:r>
            <a:endParaRPr lang="en-US" sz="4600" dirty="0"/>
          </a:p>
        </p:txBody>
      </p:sp>
      <p:sp>
        <p:nvSpPr>
          <p:cNvPr id="10" name="text"/>
          <p:cNvSpPr txBox="1"/>
          <p:nvPr/>
        </p:nvSpPr>
        <p:spPr>
          <a:xfrm>
            <a:off x="4572000" y="2560320"/>
            <a:ext cx="3017520" cy="2423160"/>
          </a:xfrm>
          <a:prstGeom prst="rect">
            <a:avLst/>
          </a:prstGeom>
          <a:noFill/>
          <a:ln/>
        </p:spPr>
        <p:txBody>
          <a:bodyPr wrap="square" lIns="0" tIns="0" rIns="0" bIns="0" rtlCol="0" anchor="t"/>
          <a:lstStyle/>
          <a:p>
            <a:pPr indent="0" marL="0">
              <a:buNone/>
            </a:pPr>
            <a:r>
              <a:rPr lang="en-US" sz="1500" dirty="0">
                <a:solidFill>
                  <a:schemeClr val="tx1"/>
                </a:solidFill>
              </a:rPr>
              <a:t>Citibank, London branch (OFSI, August 2026). “PAO Sovcomflot” was not matched to “Sovcomflot”, so no alert was generated. Alerts sat in a backlog, and accounts were not restricted without proof of majority ownership.</a:t>
            </a:r>
            <a:endParaRPr lang="en-US" sz="1500" dirty="0"/>
          </a:p>
        </p:txBody>
      </p:sp>
      <p:sp>
        <p:nvSpPr>
          <p:cNvPr id="11" name="stat £160k"/>
          <p:cNvSpPr/>
          <p:nvPr/>
        </p:nvSpPr>
        <p:spPr>
          <a:xfrm>
            <a:off x="8046720" y="1554480"/>
            <a:ext cx="3566160" cy="3520440"/>
          </a:xfrm>
          <a:prstGeom prst="roundRect">
            <a:avLst>
              <a:gd name="adj" fmla="val 3117"/>
            </a:avLst>
          </a:prstGeom>
          <a:solidFill>
            <a:schemeClr val="bg2"/>
          </a:solidFill>
          <a:ln w="12700">
            <a:solidFill>
              <a:schemeClr val="bg2"/>
            </a:solidFill>
            <a:prstDash val="solid"/>
          </a:ln>
        </p:spPr>
      </p:sp>
      <p:sp>
        <p:nvSpPr>
          <p:cNvPr id="12" name="text"/>
          <p:cNvSpPr txBox="1"/>
          <p:nvPr/>
        </p:nvSpPr>
        <p:spPr>
          <a:xfrm>
            <a:off x="8321040" y="1691640"/>
            <a:ext cx="3017520" cy="777240"/>
          </a:xfrm>
          <a:prstGeom prst="rect">
            <a:avLst/>
          </a:prstGeom>
          <a:noFill/>
          <a:ln/>
        </p:spPr>
        <p:txBody>
          <a:bodyPr wrap="square" lIns="0" tIns="0" rIns="0" bIns="0" rtlCol="0" anchor="ctr"/>
          <a:lstStyle/>
          <a:p>
            <a:pPr indent="0" marL="0">
              <a:buNone/>
            </a:pPr>
            <a:r>
              <a:rPr lang="en-US" sz="4600" b="1" dirty="0">
                <a:solidFill>
                  <a:schemeClr val="accent4"/>
                </a:solidFill>
                <a:latin typeface="Arial" pitchFamily="34" charset="0"/>
                <a:ea typeface="Arial" pitchFamily="34" charset="-122"/>
                <a:cs typeface="Arial" pitchFamily="34" charset="-120"/>
              </a:rPr>
              <a:t>£160k</a:t>
            </a:r>
            <a:endParaRPr lang="en-US" sz="4600" dirty="0"/>
          </a:p>
        </p:txBody>
      </p:sp>
      <p:sp>
        <p:nvSpPr>
          <p:cNvPr id="13" name="text"/>
          <p:cNvSpPr txBox="1"/>
          <p:nvPr/>
        </p:nvSpPr>
        <p:spPr>
          <a:xfrm>
            <a:off x="8321040" y="2560320"/>
            <a:ext cx="3017520" cy="2423160"/>
          </a:xfrm>
          <a:prstGeom prst="rect">
            <a:avLst/>
          </a:prstGeom>
          <a:noFill/>
          <a:ln/>
        </p:spPr>
        <p:txBody>
          <a:bodyPr wrap="square" lIns="0" tIns="0" rIns="0" bIns="0" rtlCol="0" anchor="t"/>
          <a:lstStyle/>
          <a:p>
            <a:pPr indent="0" marL="0">
              <a:buNone/>
            </a:pPr>
            <a:r>
              <a:rPr lang="en-US" sz="1500" dirty="0">
                <a:solidFill>
                  <a:schemeClr val="tx1"/>
                </a:solidFill>
              </a:rPr>
              <a:t>Bank of Scotland (OFSI, published January 2026). An alert was generated, but staff wrongly concluded the person had been delisted. The passport spelling differed from the list entry, and 24 payments were processed.</a:t>
            </a:r>
            <a:endParaRPr lang="en-US" sz="1500" dirty="0"/>
          </a:p>
        </p:txBody>
      </p:sp>
      <p:sp>
        <p:nvSpPr>
          <p:cNvPr id="14"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15"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6"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Under strict liability, the firm is exposed even if no one intended a breach. These fines came from ordinary alert decisions.</a:t>
            </a:r>
            <a:endParaRPr lang="en-US" sz="1400" dirty="0"/>
          </a:p>
        </p:txBody>
      </p:sp>
      <p:sp>
        <p:nvSpPr>
          <p:cNvPr id="17"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18"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9"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Your L1 review is the control: separate noise from exposure — identify, stop, escalate, document — and record why.</a:t>
            </a:r>
            <a:endParaRPr lang="en-US" sz="1400" dirty="0"/>
          </a:p>
        </p:txBody>
      </p:sp>
      <p:sp>
        <p:nvSpPr>
          <p:cNvPr id="20"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PCA 2017 s.146 as amended by ECTEA 2022 s.54 (civil penalties); OFSI penalty notices — Citibank N.A. London Branch (11 Aug 2026), Bank of Scotland plc (imposed 10 Nov 2025, published 26 Jan 2026).</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SESSION OVERVIEW</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If in doubt, don't let it go — stop it, check it, escalate it, and write down why.</a:t>
            </a:r>
            <a:endParaRPr lang="en-US" sz="1700" dirty="0"/>
          </a:p>
        </p:txBody>
      </p:sp>
      <p:sp>
        <p:nvSpPr>
          <p:cNvPr id="5" name="objective 1"/>
          <p:cNvSpPr/>
          <p:nvPr/>
        </p:nvSpPr>
        <p:spPr>
          <a:xfrm>
            <a:off x="548640" y="1554480"/>
            <a:ext cx="2651760" cy="3520440"/>
          </a:xfrm>
          <a:prstGeom prst="roundRect">
            <a:avLst>
              <a:gd name="adj" fmla="val 4138"/>
            </a:avLst>
          </a:prstGeom>
          <a:solidFill>
            <a:schemeClr val="bg2"/>
          </a:solidFill>
          <a:ln w="12700">
            <a:solidFill>
              <a:schemeClr val="bg2"/>
            </a:solidFill>
            <a:prstDash val="solid"/>
          </a:ln>
        </p:spPr>
      </p:sp>
      <p:sp>
        <p:nvSpPr>
          <p:cNvPr id="6" name="objective 1 circle"/>
          <p:cNvSpPr/>
          <p:nvPr/>
        </p:nvSpPr>
        <p:spPr>
          <a:xfrm>
            <a:off x="777240" y="1719072"/>
            <a:ext cx="594360" cy="594360"/>
          </a:xfrm>
          <a:prstGeom prst="ellipse">
            <a:avLst/>
          </a:prstGeom>
          <a:solidFill>
            <a:schemeClr val="accent1"/>
          </a:solidFill>
          <a:ln w="12700">
            <a:solidFill>
              <a:schemeClr val="accent1"/>
            </a:solidFill>
            <a:prstDash val="solid"/>
          </a:ln>
        </p:spPr>
      </p:sp>
      <p:pic>
        <p:nvPicPr>
          <p:cNvPr id="7" name="objective 1 icon" descr="preencoded.png">    </p:cNvPr>
          <p:cNvPicPr>
            <a:picLocks noChangeAspect="1"/>
          </p:cNvPicPr>
          <p:nvPr/>
        </p:nvPicPr>
        <p:blipFill>
          <a:blip r:embed="rId1"/>
          <a:stretch>
            <a:fillRect/>
          </a:stretch>
        </p:blipFill>
        <p:spPr>
          <a:xfrm>
            <a:off x="896112" y="1837944"/>
            <a:ext cx="356616" cy="356616"/>
          </a:xfrm>
          <a:prstGeom prst="rect">
            <a:avLst/>
          </a:prstGeom>
        </p:spPr>
      </p:pic>
      <p:sp>
        <p:nvSpPr>
          <p:cNvPr id="8" name="text"/>
          <p:cNvSpPr txBox="1"/>
          <p:nvPr/>
        </p:nvSpPr>
        <p:spPr>
          <a:xfrm>
            <a:off x="2377440" y="1719072"/>
            <a:ext cx="594360" cy="594360"/>
          </a:xfrm>
          <a:prstGeom prst="rect">
            <a:avLst/>
          </a:prstGeom>
          <a:noFill/>
          <a:ln/>
        </p:spPr>
        <p:txBody>
          <a:bodyPr wrap="square" lIns="0" tIns="0" rIns="0" bIns="0" rtlCol="0" anchor="ctr"/>
          <a:lstStyle/>
          <a:p>
            <a:pPr algn="r" indent="0" marL="0">
              <a:buNone/>
            </a:pPr>
            <a:r>
              <a:rPr lang="en-US" sz="2800" b="1" dirty="0">
                <a:solidFill>
                  <a:schemeClr val="accent1"/>
                </a:solidFill>
              </a:rPr>
              <a:t>1</a:t>
            </a:r>
            <a:endParaRPr lang="en-US" sz="2800" dirty="0"/>
          </a:p>
        </p:txBody>
      </p:sp>
      <p:sp>
        <p:nvSpPr>
          <p:cNvPr id="9" name="text"/>
          <p:cNvSpPr txBox="1"/>
          <p:nvPr/>
        </p:nvSpPr>
        <p:spPr>
          <a:xfrm>
            <a:off x="777240" y="2423160"/>
            <a:ext cx="2240280" cy="384048"/>
          </a:xfrm>
          <a:prstGeom prst="rect">
            <a:avLst/>
          </a:prstGeom>
          <a:noFill/>
          <a:ln/>
        </p:spPr>
        <p:txBody>
          <a:bodyPr wrap="square" lIns="0" tIns="0" rIns="0" bIns="0" rtlCol="0" anchor="t"/>
          <a:lstStyle/>
          <a:p>
            <a:pPr indent="0" marL="0">
              <a:buNone/>
            </a:pPr>
            <a:r>
              <a:rPr lang="en-US" sz="1700" b="1" dirty="0">
                <a:solidFill>
                  <a:schemeClr val="tx1"/>
                </a:solidFill>
              </a:rPr>
              <a:t>Understand the model</a:t>
            </a:r>
            <a:endParaRPr lang="en-US" sz="1700" dirty="0"/>
          </a:p>
        </p:txBody>
      </p:sp>
      <p:sp>
        <p:nvSpPr>
          <p:cNvPr id="10" name="text"/>
          <p:cNvSpPr txBox="1"/>
          <p:nvPr/>
        </p:nvSpPr>
        <p:spPr>
          <a:xfrm>
            <a:off x="777240" y="2852928"/>
            <a:ext cx="2240280" cy="1600200"/>
          </a:xfrm>
          <a:prstGeom prst="rect">
            <a:avLst/>
          </a:prstGeom>
          <a:noFill/>
          <a:ln/>
        </p:spPr>
        <p:txBody>
          <a:bodyPr wrap="square" lIns="0" tIns="0" rIns="0" bIns="0" rtlCol="0" anchor="t"/>
          <a:lstStyle/>
          <a:p>
            <a:pPr indent="0" marL="0">
              <a:buNone/>
            </a:pPr>
            <a:r>
              <a:rPr lang="en-US" sz="1400" dirty="0">
                <a:solidFill>
                  <a:schemeClr val="accent6"/>
                </a:solidFill>
              </a:rPr>
              <a:t>Explain the common control model across onboarding, monitoring and payments, and the first response to a potential match.</a:t>
            </a:r>
            <a:endParaRPr lang="en-US" sz="1400" dirty="0"/>
          </a:p>
        </p:txBody>
      </p:sp>
      <p:sp>
        <p:nvSpPr>
          <p:cNvPr id="11" name="text"/>
          <p:cNvSpPr txBox="1"/>
          <p:nvPr/>
        </p:nvSpPr>
        <p:spPr>
          <a:xfrm>
            <a:off x="777240" y="4526280"/>
            <a:ext cx="2240280" cy="457200"/>
          </a:xfrm>
          <a:prstGeom prst="rect">
            <a:avLst/>
          </a:prstGeom>
          <a:noFill/>
          <a:ln/>
        </p:spPr>
        <p:txBody>
          <a:bodyPr wrap="square" lIns="0" tIns="0" rIns="0" bIns="0" rtlCol="0" anchor="t"/>
          <a:lstStyle/>
          <a:p>
            <a:pPr indent="0" marL="0">
              <a:buNone/>
            </a:pPr>
            <a:r>
              <a:rPr lang="en-US" sz="1400" b="1" i="1" dirty="0">
                <a:solidFill>
                  <a:schemeClr val="accent1"/>
                </a:solidFill>
              </a:rPr>
              <a:t>The control objective is constant.</a:t>
            </a:r>
            <a:endParaRPr lang="en-US" sz="1400" dirty="0"/>
          </a:p>
        </p:txBody>
      </p:sp>
      <p:pic>
        <p:nvPicPr>
          <p:cNvPr id="12" name="Image 1" descr="preencoded.png">    </p:cNvPr>
          <p:cNvPicPr>
            <a:picLocks noChangeAspect="1"/>
          </p:cNvPicPr>
          <p:nvPr/>
        </p:nvPicPr>
        <p:blipFill>
          <a:blip r:embed="rId2"/>
          <a:stretch>
            <a:fillRect/>
          </a:stretch>
        </p:blipFill>
        <p:spPr>
          <a:xfrm>
            <a:off x="3182112" y="3200400"/>
            <a:ext cx="182880" cy="182880"/>
          </a:xfrm>
          <a:prstGeom prst="rect">
            <a:avLst/>
          </a:prstGeom>
        </p:spPr>
      </p:pic>
      <p:sp>
        <p:nvSpPr>
          <p:cNvPr id="13" name="objective 2"/>
          <p:cNvSpPr/>
          <p:nvPr/>
        </p:nvSpPr>
        <p:spPr>
          <a:xfrm>
            <a:off x="3346704" y="1554480"/>
            <a:ext cx="2651760" cy="3520440"/>
          </a:xfrm>
          <a:prstGeom prst="roundRect">
            <a:avLst>
              <a:gd name="adj" fmla="val 4138"/>
            </a:avLst>
          </a:prstGeom>
          <a:solidFill>
            <a:schemeClr val="bg2"/>
          </a:solidFill>
          <a:ln w="12700">
            <a:solidFill>
              <a:schemeClr val="bg2"/>
            </a:solidFill>
            <a:prstDash val="solid"/>
          </a:ln>
        </p:spPr>
      </p:sp>
      <p:sp>
        <p:nvSpPr>
          <p:cNvPr id="14" name="objective 2 circle"/>
          <p:cNvSpPr/>
          <p:nvPr/>
        </p:nvSpPr>
        <p:spPr>
          <a:xfrm>
            <a:off x="3575304" y="1719072"/>
            <a:ext cx="594360" cy="594360"/>
          </a:xfrm>
          <a:prstGeom prst="ellipse">
            <a:avLst/>
          </a:prstGeom>
          <a:solidFill>
            <a:schemeClr val="accent4"/>
          </a:solidFill>
          <a:ln w="12700">
            <a:solidFill>
              <a:schemeClr val="accent4"/>
            </a:solidFill>
            <a:prstDash val="solid"/>
          </a:ln>
        </p:spPr>
      </p:sp>
      <p:pic>
        <p:nvPicPr>
          <p:cNvPr id="15" name="objective 2 icon" descr="preencoded.png">    </p:cNvPr>
          <p:cNvPicPr>
            <a:picLocks noChangeAspect="1"/>
          </p:cNvPicPr>
          <p:nvPr/>
        </p:nvPicPr>
        <p:blipFill>
          <a:blip r:embed="rId3"/>
          <a:stretch>
            <a:fillRect/>
          </a:stretch>
        </p:blipFill>
        <p:spPr>
          <a:xfrm>
            <a:off x="3694176" y="1837944"/>
            <a:ext cx="356616" cy="356616"/>
          </a:xfrm>
          <a:prstGeom prst="rect">
            <a:avLst/>
          </a:prstGeom>
        </p:spPr>
      </p:pic>
      <p:sp>
        <p:nvSpPr>
          <p:cNvPr id="16" name="text"/>
          <p:cNvSpPr txBox="1"/>
          <p:nvPr/>
        </p:nvSpPr>
        <p:spPr>
          <a:xfrm>
            <a:off x="5175504" y="1719072"/>
            <a:ext cx="594360" cy="594360"/>
          </a:xfrm>
          <a:prstGeom prst="rect">
            <a:avLst/>
          </a:prstGeom>
          <a:noFill/>
          <a:ln/>
        </p:spPr>
        <p:txBody>
          <a:bodyPr wrap="square" lIns="0" tIns="0" rIns="0" bIns="0" rtlCol="0" anchor="ctr"/>
          <a:lstStyle/>
          <a:p>
            <a:pPr algn="r" indent="0" marL="0">
              <a:buNone/>
            </a:pPr>
            <a:r>
              <a:rPr lang="en-US" sz="2800" b="1" dirty="0">
                <a:solidFill>
                  <a:schemeClr val="accent4"/>
                </a:solidFill>
              </a:rPr>
              <a:t>2</a:t>
            </a:r>
            <a:endParaRPr lang="en-US" sz="2800" dirty="0"/>
          </a:p>
        </p:txBody>
      </p:sp>
      <p:sp>
        <p:nvSpPr>
          <p:cNvPr id="17" name="text"/>
          <p:cNvSpPr txBox="1"/>
          <p:nvPr/>
        </p:nvSpPr>
        <p:spPr>
          <a:xfrm>
            <a:off x="3575304" y="2423160"/>
            <a:ext cx="2240280" cy="384048"/>
          </a:xfrm>
          <a:prstGeom prst="rect">
            <a:avLst/>
          </a:prstGeom>
          <a:noFill/>
          <a:ln/>
        </p:spPr>
        <p:txBody>
          <a:bodyPr wrap="square" lIns="0" tIns="0" rIns="0" bIns="0" rtlCol="0" anchor="t"/>
          <a:lstStyle/>
          <a:p>
            <a:pPr indent="0" marL="0">
              <a:buNone/>
            </a:pPr>
            <a:r>
              <a:rPr lang="en-US" sz="1700" b="1" dirty="0">
                <a:solidFill>
                  <a:schemeClr val="tx1"/>
                </a:solidFill>
              </a:rPr>
              <a:t>Compare the regions</a:t>
            </a:r>
            <a:endParaRPr lang="en-US" sz="1700" dirty="0"/>
          </a:p>
        </p:txBody>
      </p:sp>
      <p:sp>
        <p:nvSpPr>
          <p:cNvPr id="18" name="text"/>
          <p:cNvSpPr txBox="1"/>
          <p:nvPr/>
        </p:nvSpPr>
        <p:spPr>
          <a:xfrm>
            <a:off x="3575304" y="2852928"/>
            <a:ext cx="2240280" cy="1600200"/>
          </a:xfrm>
          <a:prstGeom prst="rect">
            <a:avLst/>
          </a:prstGeom>
          <a:noFill/>
          <a:ln/>
        </p:spPr>
        <p:txBody>
          <a:bodyPr wrap="square" lIns="0" tIns="0" rIns="0" bIns="0" rtlCol="0" anchor="t"/>
          <a:lstStyle/>
          <a:p>
            <a:pPr indent="0" marL="0">
              <a:buNone/>
            </a:pPr>
            <a:r>
              <a:rPr lang="en-US" sz="1400" dirty="0">
                <a:solidFill>
                  <a:schemeClr val="accent6"/>
                </a:solidFill>
              </a:rPr>
              <a:t>Recognise which regimes a payment touches — MENA, Singapore, Hong Kong, UK, France / EU, US — and what changes when they do.</a:t>
            </a:r>
            <a:endParaRPr lang="en-US" sz="1400" dirty="0"/>
          </a:p>
        </p:txBody>
      </p:sp>
      <p:sp>
        <p:nvSpPr>
          <p:cNvPr id="19" name="text"/>
          <p:cNvSpPr txBox="1"/>
          <p:nvPr/>
        </p:nvSpPr>
        <p:spPr>
          <a:xfrm>
            <a:off x="3575304" y="4526280"/>
            <a:ext cx="2240280" cy="457200"/>
          </a:xfrm>
          <a:prstGeom prst="rect">
            <a:avLst/>
          </a:prstGeom>
          <a:noFill/>
          <a:ln/>
        </p:spPr>
        <p:txBody>
          <a:bodyPr wrap="square" lIns="0" tIns="0" rIns="0" bIns="0" rtlCol="0" anchor="t"/>
          <a:lstStyle/>
          <a:p>
            <a:pPr indent="0" marL="0">
              <a:buNone/>
            </a:pPr>
            <a:r>
              <a:rPr lang="en-US" sz="1400" b="1" i="1" dirty="0">
                <a:solidFill>
                  <a:schemeClr val="accent4"/>
                </a:solidFill>
              </a:rPr>
              <a:t>Regional rules differ.</a:t>
            </a:r>
            <a:endParaRPr lang="en-US" sz="1400" dirty="0"/>
          </a:p>
        </p:txBody>
      </p:sp>
      <p:pic>
        <p:nvPicPr>
          <p:cNvPr id="20" name="Image 3" descr="preencoded.png">    </p:cNvPr>
          <p:cNvPicPr>
            <a:picLocks noChangeAspect="1"/>
          </p:cNvPicPr>
          <p:nvPr/>
        </p:nvPicPr>
        <p:blipFill>
          <a:blip r:embed="rId4"/>
          <a:stretch>
            <a:fillRect/>
          </a:stretch>
        </p:blipFill>
        <p:spPr>
          <a:xfrm>
            <a:off x="5980176" y="3200400"/>
            <a:ext cx="182880" cy="182880"/>
          </a:xfrm>
          <a:prstGeom prst="rect">
            <a:avLst/>
          </a:prstGeom>
        </p:spPr>
      </p:pic>
      <p:sp>
        <p:nvSpPr>
          <p:cNvPr id="21" name="objective 3"/>
          <p:cNvSpPr/>
          <p:nvPr/>
        </p:nvSpPr>
        <p:spPr>
          <a:xfrm>
            <a:off x="6144768" y="1554480"/>
            <a:ext cx="2651760" cy="3520440"/>
          </a:xfrm>
          <a:prstGeom prst="roundRect">
            <a:avLst>
              <a:gd name="adj" fmla="val 4138"/>
            </a:avLst>
          </a:prstGeom>
          <a:solidFill>
            <a:schemeClr val="bg2"/>
          </a:solidFill>
          <a:ln w="12700">
            <a:solidFill>
              <a:schemeClr val="bg2"/>
            </a:solidFill>
            <a:prstDash val="solid"/>
          </a:ln>
        </p:spPr>
      </p:sp>
      <p:sp>
        <p:nvSpPr>
          <p:cNvPr id="22" name="objective 3 circle"/>
          <p:cNvSpPr/>
          <p:nvPr/>
        </p:nvSpPr>
        <p:spPr>
          <a:xfrm>
            <a:off x="6373368" y="1719072"/>
            <a:ext cx="594360" cy="594360"/>
          </a:xfrm>
          <a:prstGeom prst="ellipse">
            <a:avLst/>
          </a:prstGeom>
          <a:solidFill>
            <a:schemeClr val="accent2"/>
          </a:solidFill>
          <a:ln w="12700">
            <a:solidFill>
              <a:schemeClr val="accent2"/>
            </a:solidFill>
            <a:prstDash val="solid"/>
          </a:ln>
        </p:spPr>
      </p:sp>
      <p:pic>
        <p:nvPicPr>
          <p:cNvPr id="23" name="objective 3 icon" descr="preencoded.png">    </p:cNvPr>
          <p:cNvPicPr>
            <a:picLocks noChangeAspect="1"/>
          </p:cNvPicPr>
          <p:nvPr/>
        </p:nvPicPr>
        <p:blipFill>
          <a:blip r:embed="rId5"/>
          <a:stretch>
            <a:fillRect/>
          </a:stretch>
        </p:blipFill>
        <p:spPr>
          <a:xfrm>
            <a:off x="6492240" y="1837944"/>
            <a:ext cx="356616" cy="356616"/>
          </a:xfrm>
          <a:prstGeom prst="rect">
            <a:avLst/>
          </a:prstGeom>
        </p:spPr>
      </p:pic>
      <p:sp>
        <p:nvSpPr>
          <p:cNvPr id="24" name="text"/>
          <p:cNvSpPr txBox="1"/>
          <p:nvPr/>
        </p:nvSpPr>
        <p:spPr>
          <a:xfrm>
            <a:off x="7973568" y="1719072"/>
            <a:ext cx="594360" cy="594360"/>
          </a:xfrm>
          <a:prstGeom prst="rect">
            <a:avLst/>
          </a:prstGeom>
          <a:noFill/>
          <a:ln/>
        </p:spPr>
        <p:txBody>
          <a:bodyPr wrap="square" lIns="0" tIns="0" rIns="0" bIns="0" rtlCol="0" anchor="ctr"/>
          <a:lstStyle/>
          <a:p>
            <a:pPr algn="r" indent="0" marL="0">
              <a:buNone/>
            </a:pPr>
            <a:r>
              <a:rPr lang="en-US" sz="2800" b="1" dirty="0">
                <a:solidFill>
                  <a:schemeClr val="accent2"/>
                </a:solidFill>
              </a:rPr>
              <a:t>3</a:t>
            </a:r>
            <a:endParaRPr lang="en-US" sz="2800" dirty="0"/>
          </a:p>
        </p:txBody>
      </p:sp>
      <p:sp>
        <p:nvSpPr>
          <p:cNvPr id="25" name="text"/>
          <p:cNvSpPr txBox="1"/>
          <p:nvPr/>
        </p:nvSpPr>
        <p:spPr>
          <a:xfrm>
            <a:off x="6373368" y="2423160"/>
            <a:ext cx="2240280" cy="384048"/>
          </a:xfrm>
          <a:prstGeom prst="rect">
            <a:avLst/>
          </a:prstGeom>
          <a:noFill/>
          <a:ln/>
        </p:spPr>
        <p:txBody>
          <a:bodyPr wrap="square" lIns="0" tIns="0" rIns="0" bIns="0" rtlCol="0" anchor="t"/>
          <a:lstStyle/>
          <a:p>
            <a:pPr indent="0" marL="0">
              <a:buNone/>
            </a:pPr>
            <a:r>
              <a:rPr lang="en-US" sz="1700" b="1" dirty="0">
                <a:solidFill>
                  <a:schemeClr val="tx1"/>
                </a:solidFill>
              </a:rPr>
              <a:t>Apply the indicators</a:t>
            </a:r>
            <a:endParaRPr lang="en-US" sz="1700" dirty="0"/>
          </a:p>
        </p:txBody>
      </p:sp>
      <p:sp>
        <p:nvSpPr>
          <p:cNvPr id="26" name="text"/>
          <p:cNvSpPr txBox="1"/>
          <p:nvPr/>
        </p:nvSpPr>
        <p:spPr>
          <a:xfrm>
            <a:off x="6373368" y="2852928"/>
            <a:ext cx="2240280" cy="1600200"/>
          </a:xfrm>
          <a:prstGeom prst="rect">
            <a:avLst/>
          </a:prstGeom>
          <a:noFill/>
          <a:ln/>
        </p:spPr>
        <p:txBody>
          <a:bodyPr wrap="square" lIns="0" tIns="0" rIns="0" bIns="0" rtlCol="0" anchor="t"/>
          <a:lstStyle/>
          <a:p>
            <a:pPr indent="0" marL="0">
              <a:buNone/>
            </a:pPr>
            <a:r>
              <a:rPr lang="en-US" sz="1400" dirty="0">
                <a:solidFill>
                  <a:schemeClr val="accent6"/>
                </a:solidFill>
              </a:rPr>
              <a:t>Apply ownership and control, aliases, geography and evasion indicators, using the tools you already have.</a:t>
            </a:r>
            <a:endParaRPr lang="en-US" sz="1400" dirty="0"/>
          </a:p>
        </p:txBody>
      </p:sp>
      <p:sp>
        <p:nvSpPr>
          <p:cNvPr id="27" name="text"/>
          <p:cNvSpPr txBox="1"/>
          <p:nvPr/>
        </p:nvSpPr>
        <p:spPr>
          <a:xfrm>
            <a:off x="6373368" y="4526280"/>
            <a:ext cx="2240280" cy="457200"/>
          </a:xfrm>
          <a:prstGeom prst="rect">
            <a:avLst/>
          </a:prstGeom>
          <a:noFill/>
          <a:ln/>
        </p:spPr>
        <p:txBody>
          <a:bodyPr wrap="square" lIns="0" tIns="0" rIns="0" bIns="0" rtlCol="0" anchor="t"/>
          <a:lstStyle/>
          <a:p>
            <a:pPr indent="0" marL="0">
              <a:buNone/>
            </a:pPr>
            <a:r>
              <a:rPr lang="en-US" sz="1400" b="1" i="1" dirty="0">
                <a:solidFill>
                  <a:schemeClr val="accent2"/>
                </a:solidFill>
              </a:rPr>
              <a:t>From alert to evidence.</a:t>
            </a:r>
            <a:endParaRPr lang="en-US" sz="1400" dirty="0"/>
          </a:p>
        </p:txBody>
      </p:sp>
      <p:pic>
        <p:nvPicPr>
          <p:cNvPr id="28" name="Image 5" descr="preencoded.png">    </p:cNvPr>
          <p:cNvPicPr>
            <a:picLocks noChangeAspect="1"/>
          </p:cNvPicPr>
          <p:nvPr/>
        </p:nvPicPr>
        <p:blipFill>
          <a:blip r:embed="rId6"/>
          <a:stretch>
            <a:fillRect/>
          </a:stretch>
        </p:blipFill>
        <p:spPr>
          <a:xfrm>
            <a:off x="8778240" y="3200400"/>
            <a:ext cx="182880" cy="182880"/>
          </a:xfrm>
          <a:prstGeom prst="rect">
            <a:avLst/>
          </a:prstGeom>
        </p:spPr>
      </p:pic>
      <p:sp>
        <p:nvSpPr>
          <p:cNvPr id="29" name="objective 4"/>
          <p:cNvSpPr/>
          <p:nvPr/>
        </p:nvSpPr>
        <p:spPr>
          <a:xfrm>
            <a:off x="8942832" y="1554480"/>
            <a:ext cx="2651760" cy="3520440"/>
          </a:xfrm>
          <a:prstGeom prst="roundRect">
            <a:avLst>
              <a:gd name="adj" fmla="val 4138"/>
            </a:avLst>
          </a:prstGeom>
          <a:solidFill>
            <a:schemeClr val="bg2"/>
          </a:solidFill>
          <a:ln w="12700">
            <a:solidFill>
              <a:schemeClr val="bg2"/>
            </a:solidFill>
            <a:prstDash val="solid"/>
          </a:ln>
        </p:spPr>
      </p:sp>
      <p:sp>
        <p:nvSpPr>
          <p:cNvPr id="30" name="objective 4 circle"/>
          <p:cNvSpPr/>
          <p:nvPr/>
        </p:nvSpPr>
        <p:spPr>
          <a:xfrm>
            <a:off x="9171432" y="1719072"/>
            <a:ext cx="594360" cy="594360"/>
          </a:xfrm>
          <a:prstGeom prst="ellipse">
            <a:avLst/>
          </a:prstGeom>
          <a:solidFill>
            <a:schemeClr val="accent3"/>
          </a:solidFill>
          <a:ln w="12700">
            <a:solidFill>
              <a:schemeClr val="accent3"/>
            </a:solidFill>
            <a:prstDash val="solid"/>
          </a:ln>
        </p:spPr>
      </p:sp>
      <p:pic>
        <p:nvPicPr>
          <p:cNvPr id="31" name="objective 4 icon" descr="preencoded.png">    </p:cNvPr>
          <p:cNvPicPr>
            <a:picLocks noChangeAspect="1"/>
          </p:cNvPicPr>
          <p:nvPr/>
        </p:nvPicPr>
        <p:blipFill>
          <a:blip r:embed="rId7"/>
          <a:stretch>
            <a:fillRect/>
          </a:stretch>
        </p:blipFill>
        <p:spPr>
          <a:xfrm>
            <a:off x="9290304" y="1837944"/>
            <a:ext cx="356616" cy="356616"/>
          </a:xfrm>
          <a:prstGeom prst="rect">
            <a:avLst/>
          </a:prstGeom>
        </p:spPr>
      </p:pic>
      <p:sp>
        <p:nvSpPr>
          <p:cNvPr id="32" name="text"/>
          <p:cNvSpPr txBox="1"/>
          <p:nvPr/>
        </p:nvSpPr>
        <p:spPr>
          <a:xfrm>
            <a:off x="10771632" y="1719072"/>
            <a:ext cx="594360" cy="594360"/>
          </a:xfrm>
          <a:prstGeom prst="rect">
            <a:avLst/>
          </a:prstGeom>
          <a:noFill/>
          <a:ln/>
        </p:spPr>
        <p:txBody>
          <a:bodyPr wrap="square" lIns="0" tIns="0" rIns="0" bIns="0" rtlCol="0" anchor="ctr"/>
          <a:lstStyle/>
          <a:p>
            <a:pPr algn="r" indent="0" marL="0">
              <a:buNone/>
            </a:pPr>
            <a:r>
              <a:rPr lang="en-US" sz="2800" b="1" dirty="0">
                <a:solidFill>
                  <a:schemeClr val="accent3"/>
                </a:solidFill>
              </a:rPr>
              <a:t>4</a:t>
            </a:r>
            <a:endParaRPr lang="en-US" sz="2800" dirty="0"/>
          </a:p>
        </p:txBody>
      </p:sp>
      <p:sp>
        <p:nvSpPr>
          <p:cNvPr id="33" name="text"/>
          <p:cNvSpPr txBox="1"/>
          <p:nvPr/>
        </p:nvSpPr>
        <p:spPr>
          <a:xfrm>
            <a:off x="9171432" y="2423160"/>
            <a:ext cx="2240280" cy="384048"/>
          </a:xfrm>
          <a:prstGeom prst="rect">
            <a:avLst/>
          </a:prstGeom>
          <a:noFill/>
          <a:ln/>
        </p:spPr>
        <p:txBody>
          <a:bodyPr wrap="square" lIns="0" tIns="0" rIns="0" bIns="0" rtlCol="0" anchor="t"/>
          <a:lstStyle/>
          <a:p>
            <a:pPr indent="0" marL="0">
              <a:buNone/>
            </a:pPr>
            <a:r>
              <a:rPr lang="en-US" sz="1700" b="1" dirty="0">
                <a:solidFill>
                  <a:schemeClr val="tx1"/>
                </a:solidFill>
              </a:rPr>
              <a:t>Record the decision</a:t>
            </a:r>
            <a:endParaRPr lang="en-US" sz="1700" dirty="0"/>
          </a:p>
        </p:txBody>
      </p:sp>
      <p:sp>
        <p:nvSpPr>
          <p:cNvPr id="34" name="text"/>
          <p:cNvSpPr txBox="1"/>
          <p:nvPr/>
        </p:nvSpPr>
        <p:spPr>
          <a:xfrm>
            <a:off x="9171432" y="2852928"/>
            <a:ext cx="2240280" cy="1600200"/>
          </a:xfrm>
          <a:prstGeom prst="rect">
            <a:avLst/>
          </a:prstGeom>
          <a:noFill/>
          <a:ln/>
        </p:spPr>
        <p:txBody>
          <a:bodyPr wrap="square" lIns="0" tIns="0" rIns="0" bIns="0" rtlCol="0" anchor="t"/>
          <a:lstStyle/>
          <a:p>
            <a:pPr indent="0" marL="0">
              <a:buNone/>
            </a:pPr>
            <a:r>
              <a:rPr lang="en-US" sz="1400" dirty="0">
                <a:solidFill>
                  <a:schemeClr val="accent6"/>
                </a:solidFill>
              </a:rPr>
              <a:t>Produce a defensible escalation record — facts, sources, decision, next action — and join it up across teams.</a:t>
            </a:r>
            <a:endParaRPr lang="en-US" sz="1400" dirty="0"/>
          </a:p>
        </p:txBody>
      </p:sp>
      <p:sp>
        <p:nvSpPr>
          <p:cNvPr id="35" name="text"/>
          <p:cNvSpPr txBox="1"/>
          <p:nvPr/>
        </p:nvSpPr>
        <p:spPr>
          <a:xfrm>
            <a:off x="9171432" y="4526280"/>
            <a:ext cx="2240280" cy="457200"/>
          </a:xfrm>
          <a:prstGeom prst="rect">
            <a:avLst/>
          </a:prstGeom>
          <a:noFill/>
          <a:ln/>
        </p:spPr>
        <p:txBody>
          <a:bodyPr wrap="square" lIns="0" tIns="0" rIns="0" bIns="0" rtlCol="0" anchor="t"/>
          <a:lstStyle/>
          <a:p>
            <a:pPr indent="0" marL="0">
              <a:buNone/>
            </a:pPr>
            <a:r>
              <a:rPr lang="en-US" sz="1400" b="1" i="1" dirty="0">
                <a:solidFill>
                  <a:schemeClr val="accent3"/>
                </a:solidFill>
              </a:rPr>
              <a:t>Defensible and reproducible.</a:t>
            </a:r>
            <a:endParaRPr lang="en-US" sz="14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Regional rules differ, but the control objective is constant. Knowing both lets you act with confidence on any alert.</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Each part ends in something you use in your queue: a first response, a regime check, an evidence step and a case note.</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childTnLst>
                          </p:cTn>
                        </p:par>
                        <p:par>
                          <p:cTn id="26" fill="hold">
                            <p:stCondLst>
                              <p:cond delay="45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childTnLst>
                          </p:cTn>
                        </p:par>
                        <p:par>
                          <p:cTn id="48" fill="hold">
                            <p:stCondLst>
                              <p:cond delay="9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5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50"/>
                                        <p:tgtEl>
                                          <p:spTgt spid="27"/>
                                        </p:tgtEl>
                                      </p:cBhvr>
                                    </p:animEffect>
                                  </p:childTnLst>
                                </p:cTn>
                              </p:par>
                            </p:childTnLst>
                          </p:cTn>
                        </p:par>
                        <p:par>
                          <p:cTn id="70" fill="hold">
                            <p:stCondLst>
                              <p:cond delay="1350"/>
                            </p:stCondLst>
                            <p:childTnLst>
                              <p:par>
                                <p:cTn id="71" presetID="10" presetClass="entr" presetSubtype="0" fill="hold" grpId="0"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5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450"/>
                                        <p:tgtEl>
                                          <p:spTgt spid="3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6" grpId="0" animBg="1"/>
      <p:bldP spid="17" grpId="0" animBg="1"/>
      <p:bldP spid="18" grpId="0" animBg="1"/>
      <p:bldP spid="19" grpId="0" animBg="1"/>
      <p:bldP spid="21" grpId="0" animBg="1"/>
      <p:bldP spid="22" grpId="0" animBg="1"/>
      <p:bldP spid="24" grpId="0" animBg="1"/>
      <p:bldP spid="25" grpId="0" animBg="1"/>
      <p:bldP spid="26" grpId="0" animBg="1"/>
      <p:bldP spid="27" grpId="0" animBg="1"/>
      <p:bldP spid="29" grpId="0" animBg="1"/>
      <p:bldP spid="30" grpId="0" animBg="1"/>
      <p:bldP spid="32" grpId="0" animBg="1"/>
      <p:bldP spid="33"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1 OF 4</a:t>
            </a: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lIns="0" tIns="0" rIns="0" bIns="0" rtlCol="0" anchor="ctr"/>
          <a:lstStyle/>
          <a:p>
            <a:pPr algn="l" indent="0" marL="0">
              <a:buNone/>
            </a:pPr>
            <a:r>
              <a:rPr lang="en-US" sz="3000" b="1" dirty="0">
                <a:solidFill>
                  <a:schemeClr val="bg1"/>
                </a:solidFill>
              </a:rPr>
              <a:t>Understand the model</a:t>
            </a:r>
            <a:endParaRPr lang="en-US" sz="3000" dirty="0"/>
          </a:p>
        </p:txBody>
      </p:sp>
      <p:sp>
        <p:nvSpPr>
          <p:cNvPr id="4" name="part 1 circle"/>
          <p:cNvSpPr/>
          <p:nvPr/>
        </p:nvSpPr>
        <p:spPr>
          <a:xfrm>
            <a:off x="10561320" y="320040"/>
            <a:ext cx="1005840" cy="1005840"/>
          </a:xfrm>
          <a:prstGeom prst="ellipse">
            <a:avLst/>
          </a:prstGeom>
          <a:solidFill>
            <a:schemeClr val="accent1"/>
          </a:solidFill>
          <a:ln w="12700">
            <a:solidFill>
              <a:schemeClr val="accent1"/>
            </a:solidFill>
            <a:prstDash val="solid"/>
          </a:ln>
        </p:spPr>
      </p:sp>
      <p:pic>
        <p:nvPicPr>
          <p:cNvPr id="5" name="part 1 icon" descr="preencoded.png">    </p:cNvPr>
          <p:cNvPicPr>
            <a:picLocks noChangeAspect="1"/>
          </p:cNvPicPr>
          <p:nvPr/>
        </p:nvPicPr>
        <p:blipFill>
          <a:blip r:embed="rId1"/>
          <a:stretch>
            <a:fillRect/>
          </a:stretch>
        </p:blipFill>
        <p:spPr>
          <a:xfrm>
            <a:off x="10762488" y="521208"/>
            <a:ext cx="603504" cy="603504"/>
          </a:xfrm>
          <a:prstGeom prst="rect">
            <a:avLst/>
          </a:prstGeom>
        </p:spPr>
      </p:pic>
      <p:sp>
        <p:nvSpPr>
          <p:cNvPr id="6" name="text"/>
          <p:cNvSpPr txBox="1"/>
          <p:nvPr/>
        </p:nvSpPr>
        <p:spPr>
          <a:xfrm>
            <a:off x="548640" y="1234440"/>
            <a:ext cx="9601200" cy="438912"/>
          </a:xfrm>
          <a:prstGeom prst="rect">
            <a:avLst/>
          </a:prstGeom>
          <a:noFill/>
          <a:ln/>
        </p:spPr>
        <p:txBody>
          <a:bodyPr wrap="square" lIns="0" tIns="0" rIns="0" bIns="0" rtlCol="0" anchor="t"/>
          <a:lstStyle/>
          <a:p>
            <a:pPr indent="0" marL="0">
              <a:buNone/>
            </a:pPr>
            <a:r>
              <a:rPr lang="en-US" sz="2200" b="1" i="1" dirty="0">
                <a:solidFill>
                  <a:schemeClr val="accent2"/>
                </a:solidFill>
              </a:rPr>
              <a:t>The control objective is constant.</a:t>
            </a:r>
            <a:endParaRPr lang="en-US" sz="2200" dirty="0"/>
          </a:p>
        </p:txBody>
      </p:sp>
      <p:sp>
        <p:nvSpPr>
          <p:cNvPr id="7" name="text"/>
          <p:cNvSpPr txBox="1"/>
          <p:nvPr/>
        </p:nvSpPr>
        <p:spPr>
          <a:xfrm>
            <a:off x="548640" y="1783080"/>
            <a:ext cx="10789920" cy="731520"/>
          </a:xfrm>
          <a:prstGeom prst="rect">
            <a:avLst/>
          </a:prstGeom>
          <a:noFill/>
          <a:ln/>
        </p:spPr>
        <p:txBody>
          <a:bodyPr wrap="square" lIns="0" tIns="0" rIns="0" bIns="0" rtlCol="0" anchor="t"/>
          <a:lstStyle/>
          <a:p>
            <a:pPr indent="0" marL="0">
              <a:buNone/>
            </a:pPr>
            <a:r>
              <a:rPr lang="en-US" sz="1700" dirty="0">
                <a:solidFill>
                  <a:schemeClr val="bg1"/>
                </a:solidFill>
              </a:rPr>
              <a:t>Every region runs the same control model: screen, validate, decide, evidence. In plain terms: know what counts as exposure, and respond the same way every time.</a:t>
            </a:r>
            <a:endParaRPr lang="en-US" sz="1700" dirty="0"/>
          </a:p>
        </p:txBody>
      </p:sp>
      <p:sp>
        <p:nvSpPr>
          <p:cNvPr id="8" name="In this part"/>
          <p:cNvSpPr/>
          <p:nvPr/>
        </p:nvSpPr>
        <p:spPr>
          <a:xfrm>
            <a:off x="548640" y="2880360"/>
            <a:ext cx="2651760" cy="2743200"/>
          </a:xfrm>
          <a:prstGeom prst="roundRect">
            <a:avLst>
              <a:gd name="adj" fmla="val 4138"/>
            </a:avLst>
          </a:prstGeom>
          <a:solidFill>
            <a:schemeClr val="tx1"/>
          </a:solidFill>
          <a:ln w="12700">
            <a:solidFill>
              <a:schemeClr val="accent4"/>
            </a:solidFill>
            <a:prstDash val="solid"/>
          </a:ln>
        </p:spPr>
      </p:sp>
      <p:sp>
        <p:nvSpPr>
          <p:cNvPr id="9" name="text"/>
          <p:cNvSpPr txBox="1"/>
          <p:nvPr/>
        </p:nvSpPr>
        <p:spPr>
          <a:xfrm>
            <a:off x="731520"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IN THIS PART</a:t>
            </a:r>
            <a:endParaRPr lang="en-US" sz="1100" dirty="0"/>
          </a:p>
        </p:txBody>
      </p:sp>
      <p:sp>
        <p:nvSpPr>
          <p:cNvPr id="10" name="text"/>
          <p:cNvSpPr txBox="1"/>
          <p:nvPr/>
        </p:nvSpPr>
        <p:spPr>
          <a:xfrm>
            <a:off x="731520" y="3337560"/>
            <a:ext cx="233172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Eight principles that hold in every region</a:t>
            </a:r>
            <a:endParaRPr lang="en-US" sz="1400" dirty="0"/>
          </a:p>
          <a:p>
            <a:pPr marL="342900" indent="-342900">
              <a:spcAft>
                <a:spcPts val="400"/>
              </a:spcAft>
              <a:buSzPct val="100000"/>
              <a:buChar char="•"/>
            </a:pPr>
            <a:r>
              <a:rPr lang="en-US" sz="1400" dirty="0">
                <a:solidFill>
                  <a:schemeClr val="bg1"/>
                </a:solidFill>
              </a:rPr>
              <a:t>What counts as a sanctions exposure</a:t>
            </a:r>
            <a:endParaRPr lang="en-US" sz="1400" dirty="0"/>
          </a:p>
          <a:p>
            <a:pPr marL="342900" indent="-342900">
              <a:spcAft>
                <a:spcPts val="400"/>
              </a:spcAft>
              <a:buSzPct val="100000"/>
              <a:buChar char="•"/>
            </a:pPr>
            <a:r>
              <a:rPr lang="en-US" sz="1400" dirty="0">
                <a:solidFill>
                  <a:schemeClr val="bg1"/>
                </a:solidFill>
              </a:rPr>
              <a:t>First response to a potential true match</a:t>
            </a:r>
            <a:endParaRPr lang="en-US" sz="1400" dirty="0"/>
          </a:p>
        </p:txBody>
      </p:sp>
      <p:sp>
        <p:nvSpPr>
          <p:cNvPr id="11" name="Why it matters"/>
          <p:cNvSpPr/>
          <p:nvPr/>
        </p:nvSpPr>
        <p:spPr>
          <a:xfrm>
            <a:off x="3346704" y="2880360"/>
            <a:ext cx="2651760" cy="2743200"/>
          </a:xfrm>
          <a:prstGeom prst="roundRect">
            <a:avLst>
              <a:gd name="adj" fmla="val 4138"/>
            </a:avLst>
          </a:prstGeom>
          <a:solidFill>
            <a:schemeClr val="tx1"/>
          </a:solidFill>
          <a:ln w="12700">
            <a:solidFill>
              <a:schemeClr val="accent4"/>
            </a:solidFill>
            <a:prstDash val="solid"/>
          </a:ln>
        </p:spPr>
      </p:sp>
      <p:sp>
        <p:nvSpPr>
          <p:cNvPr id="12" name="text"/>
          <p:cNvSpPr txBox="1"/>
          <p:nvPr/>
        </p:nvSpPr>
        <p:spPr>
          <a:xfrm>
            <a:off x="3529584"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3" name="text"/>
          <p:cNvSpPr txBox="1"/>
          <p:nvPr/>
        </p:nvSpPr>
        <p:spPr>
          <a:xfrm>
            <a:off x="3529584"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Every region uses this model. Running it the same way every time means nothing is released on a guess.</a:t>
            </a:r>
            <a:endParaRPr lang="en-US" sz="1400" dirty="0"/>
          </a:p>
        </p:txBody>
      </p:sp>
      <p:sp>
        <p:nvSpPr>
          <p:cNvPr id="14" name="What it means for you"/>
          <p:cNvSpPr/>
          <p:nvPr/>
        </p:nvSpPr>
        <p:spPr>
          <a:xfrm>
            <a:off x="6144768" y="2880360"/>
            <a:ext cx="2651760" cy="2743200"/>
          </a:xfrm>
          <a:prstGeom prst="roundRect">
            <a:avLst>
              <a:gd name="adj" fmla="val 4138"/>
            </a:avLst>
          </a:prstGeom>
          <a:solidFill>
            <a:schemeClr val="tx1"/>
          </a:solidFill>
          <a:ln w="12700">
            <a:solidFill>
              <a:schemeClr val="accent4"/>
            </a:solidFill>
            <a:prstDash val="solid"/>
          </a:ln>
        </p:spPr>
      </p:sp>
      <p:sp>
        <p:nvSpPr>
          <p:cNvPr id="15" name="text"/>
          <p:cNvSpPr txBox="1"/>
          <p:nvPr/>
        </p:nvSpPr>
        <p:spPr>
          <a:xfrm>
            <a:off x="6327648"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6" name="text"/>
          <p:cNvSpPr txBox="1"/>
          <p:nvPr/>
        </p:nvSpPr>
        <p:spPr>
          <a:xfrm>
            <a:off x="6327648"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A Firco alert lands in your L1 queue. You review it, a 4-eye check confirms it, and anything confirmed or unresolved goes to L2 Sanctions Compliance.</a:t>
            </a:r>
            <a:endParaRPr lang="en-US" sz="1400" dirty="0"/>
          </a:p>
        </p:txBody>
      </p:sp>
      <p:sp>
        <p:nvSpPr>
          <p:cNvPr id="17" name="Ask yourself"/>
          <p:cNvSpPr/>
          <p:nvPr/>
        </p:nvSpPr>
        <p:spPr>
          <a:xfrm>
            <a:off x="8942832" y="2880360"/>
            <a:ext cx="2651760" cy="2743200"/>
          </a:xfrm>
          <a:prstGeom prst="roundRect">
            <a:avLst>
              <a:gd name="adj" fmla="val 4138"/>
            </a:avLst>
          </a:prstGeom>
          <a:solidFill>
            <a:schemeClr val="tx1"/>
          </a:solidFill>
          <a:ln w="12700">
            <a:solidFill>
              <a:schemeClr val="accent4"/>
            </a:solidFill>
            <a:prstDash val="solid"/>
          </a:ln>
        </p:spPr>
      </p:sp>
      <p:sp>
        <p:nvSpPr>
          <p:cNvPr id="18" name="text"/>
          <p:cNvSpPr txBox="1"/>
          <p:nvPr/>
        </p:nvSpPr>
        <p:spPr>
          <a:xfrm>
            <a:off x="9125712"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ASK YOURSELF</a:t>
            </a:r>
            <a:endParaRPr lang="en-US" sz="1100" dirty="0"/>
          </a:p>
        </p:txBody>
      </p:sp>
      <p:sp>
        <p:nvSpPr>
          <p:cNvPr id="19" name="text"/>
          <p:cNvSpPr txBox="1"/>
          <p:nvPr/>
        </p:nvSpPr>
        <p:spPr>
          <a:xfrm>
            <a:off x="9125712" y="3337560"/>
            <a:ext cx="2286000" cy="2194560"/>
          </a:xfrm>
          <a:prstGeom prst="rect">
            <a:avLst/>
          </a:prstGeom>
          <a:noFill/>
          <a:ln/>
        </p:spPr>
        <p:txBody>
          <a:bodyPr wrap="square" lIns="0" tIns="0" rIns="0" bIns="0" rtlCol="0" anchor="t"/>
          <a:lstStyle/>
          <a:p>
            <a:pPr indent="0" marL="0">
              <a:buNone/>
            </a:pPr>
            <a:r>
              <a:rPr lang="en-US" sz="1600" i="1" dirty="0">
                <a:solidFill>
                  <a:schemeClr val="bg1"/>
                </a:solidFill>
              </a:rPr>
              <a:t>What would make me stop this payment — and what would I need to see before releasing it?</a:t>
            </a:r>
            <a:endParaRPr lang="en-US" sz="1600" dirty="0"/>
          </a:p>
        </p:txBody>
      </p:sp>
      <p:sp>
        <p:nvSpPr>
          <p:cNvPr id="20" name="progress 1"/>
          <p:cNvSpPr/>
          <p:nvPr/>
        </p:nvSpPr>
        <p:spPr>
          <a:xfrm>
            <a:off x="548640" y="5833872"/>
            <a:ext cx="2651760" cy="384048"/>
          </a:xfrm>
          <a:prstGeom prst="roundRect">
            <a:avLst>
              <a:gd name="adj" fmla="val 50000"/>
            </a:avLst>
          </a:prstGeom>
          <a:solidFill>
            <a:schemeClr val="accent1"/>
          </a:solidFill>
          <a:ln w="12700">
            <a:solidFill>
              <a:schemeClr val="accent1"/>
            </a:solidFill>
            <a:prstDash val="solid"/>
          </a:ln>
        </p:spPr>
      </p:sp>
      <p:sp>
        <p:nvSpPr>
          <p:cNvPr id="21" name="text"/>
          <p:cNvSpPr txBox="1"/>
          <p:nvPr/>
        </p:nvSpPr>
        <p:spPr>
          <a:xfrm>
            <a:off x="548640" y="5833872"/>
            <a:ext cx="2651760" cy="384048"/>
          </a:xfrm>
          <a:prstGeom prst="rect">
            <a:avLst/>
          </a:prstGeom>
          <a:noFill/>
          <a:ln/>
        </p:spPr>
        <p:txBody>
          <a:bodyPr wrap="square" lIns="0" tIns="0" rIns="0" bIns="0" rtlCol="0" anchor="ctr"/>
          <a:lstStyle/>
          <a:p>
            <a:pPr algn="ctr" indent="0" marL="0">
              <a:buNone/>
            </a:pPr>
            <a:r>
              <a:rPr lang="en-US" sz="1300" b="1" dirty="0">
                <a:solidFill>
                  <a:schemeClr val="bg1"/>
                </a:solidFill>
              </a:rPr>
              <a:t>1  Understand the model</a:t>
            </a:r>
            <a:endParaRPr lang="en-US" sz="1300" dirty="0"/>
          </a:p>
        </p:txBody>
      </p:sp>
      <p:sp>
        <p:nvSpPr>
          <p:cNvPr id="22" name="progress 2"/>
          <p:cNvSpPr/>
          <p:nvPr/>
        </p:nvSpPr>
        <p:spPr>
          <a:xfrm>
            <a:off x="3346704" y="5833872"/>
            <a:ext cx="2651760" cy="384048"/>
          </a:xfrm>
          <a:prstGeom prst="roundRect">
            <a:avLst>
              <a:gd name="adj" fmla="val 50000"/>
            </a:avLst>
          </a:prstGeom>
          <a:solidFill>
            <a:schemeClr val="tx2"/>
          </a:solidFill>
          <a:ln w="12700">
            <a:solidFill>
              <a:schemeClr val="accent4"/>
            </a:solidFill>
            <a:prstDash val="solid"/>
          </a:ln>
        </p:spPr>
      </p:sp>
      <p:sp>
        <p:nvSpPr>
          <p:cNvPr id="23" name="text"/>
          <p:cNvSpPr txBox="1"/>
          <p:nvPr/>
        </p:nvSpPr>
        <p:spPr>
          <a:xfrm>
            <a:off x="3346704"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2  Compare the regions</a:t>
            </a:r>
            <a:endParaRPr lang="en-US" sz="1300" dirty="0"/>
          </a:p>
        </p:txBody>
      </p:sp>
      <p:sp>
        <p:nvSpPr>
          <p:cNvPr id="24" name="progress 3"/>
          <p:cNvSpPr/>
          <p:nvPr/>
        </p:nvSpPr>
        <p:spPr>
          <a:xfrm>
            <a:off x="6144768" y="5833872"/>
            <a:ext cx="2651760" cy="384048"/>
          </a:xfrm>
          <a:prstGeom prst="roundRect">
            <a:avLst>
              <a:gd name="adj" fmla="val 50000"/>
            </a:avLst>
          </a:prstGeom>
          <a:solidFill>
            <a:schemeClr val="tx2"/>
          </a:solidFill>
          <a:ln w="12700">
            <a:solidFill>
              <a:schemeClr val="accent4"/>
            </a:solidFill>
            <a:prstDash val="solid"/>
          </a:ln>
        </p:spPr>
      </p:sp>
      <p:sp>
        <p:nvSpPr>
          <p:cNvPr id="25" name="text"/>
          <p:cNvSpPr txBox="1"/>
          <p:nvPr/>
        </p:nvSpPr>
        <p:spPr>
          <a:xfrm>
            <a:off x="6144768"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3  Apply the indicators</a:t>
            </a:r>
            <a:endParaRPr lang="en-US" sz="1300" dirty="0"/>
          </a:p>
        </p:txBody>
      </p:sp>
      <p:sp>
        <p:nvSpPr>
          <p:cNvPr id="26" name="progress 4"/>
          <p:cNvSpPr/>
          <p:nvPr/>
        </p:nvSpPr>
        <p:spPr>
          <a:xfrm>
            <a:off x="8942832" y="5833872"/>
            <a:ext cx="2651760" cy="384048"/>
          </a:xfrm>
          <a:prstGeom prst="roundRect">
            <a:avLst>
              <a:gd name="adj" fmla="val 50000"/>
            </a:avLst>
          </a:prstGeom>
          <a:solidFill>
            <a:schemeClr val="tx2"/>
          </a:solidFill>
          <a:ln w="12700">
            <a:solidFill>
              <a:schemeClr val="accent4"/>
            </a:solidFill>
            <a:prstDash val="solid"/>
          </a:ln>
        </p:spPr>
      </p:sp>
      <p:sp>
        <p:nvSpPr>
          <p:cNvPr id="27" name="text"/>
          <p:cNvSpPr txBox="1"/>
          <p:nvPr/>
        </p:nvSpPr>
        <p:spPr>
          <a:xfrm>
            <a:off x="8942832"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4  Record the decision</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5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50"/>
                                        <p:tgtEl>
                                          <p:spTgt spid="13"/>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5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1 · COMMON CONTROL MODEL</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Eight principles hold in every region</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Eight habits that keep you — and the firm — safe on every alert, in every country.</a:t>
            </a:r>
            <a:endParaRPr lang="en-US" sz="1700" dirty="0"/>
          </a:p>
        </p:txBody>
      </p:sp>
      <p:sp>
        <p:nvSpPr>
          <p:cNvPr id="5" name="badge"/>
          <p:cNvSpPr/>
          <p:nvPr/>
        </p:nvSpPr>
        <p:spPr>
          <a:xfrm>
            <a:off x="548640" y="1627632"/>
            <a:ext cx="502920" cy="502920"/>
          </a:xfrm>
          <a:prstGeom prst="ellipse">
            <a:avLst/>
          </a:prstGeom>
          <a:solidFill>
            <a:schemeClr val="accent1"/>
          </a:solidFill>
          <a:ln w="12700">
            <a:solidFill>
              <a:schemeClr val="accent1"/>
            </a:solidFill>
            <a:prstDash val="solid"/>
          </a:ln>
        </p:spPr>
      </p:sp>
      <p:sp>
        <p:nvSpPr>
          <p:cNvPr id="6" name="badge text"/>
          <p:cNvSpPr txBox="1"/>
          <p:nvPr/>
        </p:nvSpPr>
        <p:spPr>
          <a:xfrm>
            <a:off x="548640" y="1627632"/>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p:cNvSpPr txBox="1"/>
          <p:nvPr/>
        </p:nvSpPr>
        <p:spPr>
          <a:xfrm>
            <a:off x="1234440" y="1572768"/>
            <a:ext cx="4709160" cy="292608"/>
          </a:xfrm>
          <a:prstGeom prst="rect">
            <a:avLst/>
          </a:prstGeom>
          <a:noFill/>
          <a:ln/>
        </p:spPr>
        <p:txBody>
          <a:bodyPr wrap="square" lIns="0" tIns="0" rIns="0" bIns="0" rtlCol="0" anchor="t"/>
          <a:lstStyle/>
          <a:p>
            <a:pPr indent="0" marL="0">
              <a:buNone/>
            </a:pPr>
            <a:r>
              <a:rPr lang="en-US" sz="1600" b="1" dirty="0">
                <a:solidFill>
                  <a:schemeClr val="accent1"/>
                </a:solidFill>
              </a:rPr>
              <a:t>Hold under uncertainty</a:t>
            </a:r>
            <a:endParaRPr lang="en-US" sz="1600" dirty="0"/>
          </a:p>
        </p:txBody>
      </p:sp>
      <p:sp>
        <p:nvSpPr>
          <p:cNvPr id="8" name="text"/>
          <p:cNvSpPr txBox="1"/>
          <p:nvPr/>
        </p:nvSpPr>
        <p:spPr>
          <a:xfrm>
            <a:off x="1234440" y="1883664"/>
            <a:ext cx="4709160" cy="475488"/>
          </a:xfrm>
          <a:prstGeom prst="rect">
            <a:avLst/>
          </a:prstGeom>
          <a:noFill/>
          <a:ln/>
        </p:spPr>
        <p:txBody>
          <a:bodyPr wrap="square" lIns="0" tIns="0" rIns="0" bIns="0" rtlCol="0" anchor="t"/>
          <a:lstStyle/>
          <a:p>
            <a:pPr indent="0" marL="0">
              <a:buNone/>
            </a:pPr>
            <a:r>
              <a:rPr lang="en-US" sz="1400" dirty="0">
                <a:solidFill>
                  <a:schemeClr val="accent6"/>
                </a:solidFill>
              </a:rPr>
              <a:t>Do not release, complete or bypass a payment while material uncertainty remains.</a:t>
            </a:r>
            <a:endParaRPr lang="en-US" sz="1400" dirty="0"/>
          </a:p>
        </p:txBody>
      </p:sp>
      <p:sp>
        <p:nvSpPr>
          <p:cNvPr id="9" name="badge"/>
          <p:cNvSpPr/>
          <p:nvPr/>
        </p:nvSpPr>
        <p:spPr>
          <a:xfrm>
            <a:off x="548640" y="2514600"/>
            <a:ext cx="502920" cy="502920"/>
          </a:xfrm>
          <a:prstGeom prst="ellipse">
            <a:avLst/>
          </a:prstGeom>
          <a:solidFill>
            <a:schemeClr val="tx1"/>
          </a:solidFill>
          <a:ln w="12700">
            <a:solidFill>
              <a:schemeClr val="tx1"/>
            </a:solidFill>
            <a:prstDash val="solid"/>
          </a:ln>
        </p:spPr>
      </p:sp>
      <p:sp>
        <p:nvSpPr>
          <p:cNvPr id="10" name="badge text"/>
          <p:cNvSpPr txBox="1"/>
          <p:nvPr/>
        </p:nvSpPr>
        <p:spPr>
          <a:xfrm>
            <a:off x="548640" y="25146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text"/>
          <p:cNvSpPr txBox="1"/>
          <p:nvPr/>
        </p:nvSpPr>
        <p:spPr>
          <a:xfrm>
            <a:off x="1234440" y="2459736"/>
            <a:ext cx="4709160" cy="292608"/>
          </a:xfrm>
          <a:prstGeom prst="rect">
            <a:avLst/>
          </a:prstGeom>
          <a:noFill/>
          <a:ln/>
        </p:spPr>
        <p:txBody>
          <a:bodyPr wrap="square" lIns="0" tIns="0" rIns="0" bIns="0" rtlCol="0" anchor="t"/>
          <a:lstStyle/>
          <a:p>
            <a:pPr indent="0" marL="0">
              <a:buNone/>
            </a:pPr>
            <a:r>
              <a:rPr lang="en-US" sz="1600" b="1" dirty="0">
                <a:solidFill>
                  <a:schemeClr val="tx1"/>
                </a:solidFill>
              </a:rPr>
              <a:t>Identity, not just name</a:t>
            </a:r>
            <a:endParaRPr lang="en-US" sz="1600" dirty="0"/>
          </a:p>
        </p:txBody>
      </p:sp>
      <p:sp>
        <p:nvSpPr>
          <p:cNvPr id="12" name="text"/>
          <p:cNvSpPr txBox="1"/>
          <p:nvPr/>
        </p:nvSpPr>
        <p:spPr>
          <a:xfrm>
            <a:off x="1234440" y="2770632"/>
            <a:ext cx="4709160" cy="475488"/>
          </a:xfrm>
          <a:prstGeom prst="rect">
            <a:avLst/>
          </a:prstGeom>
          <a:noFill/>
          <a:ln/>
        </p:spPr>
        <p:txBody>
          <a:bodyPr wrap="square" lIns="0" tIns="0" rIns="0" bIns="0" rtlCol="0" anchor="t"/>
          <a:lstStyle/>
          <a:p>
            <a:pPr indent="0" marL="0">
              <a:buNone/>
            </a:pPr>
            <a:r>
              <a:rPr lang="en-US" sz="1400" dirty="0">
                <a:solidFill>
                  <a:schemeClr val="accent6"/>
                </a:solidFill>
              </a:rPr>
              <a:t>A name match starts the analysis. Compare date of birth, nationality, address and ID.</a:t>
            </a:r>
            <a:endParaRPr lang="en-US" sz="1400" dirty="0"/>
          </a:p>
        </p:txBody>
      </p:sp>
      <p:sp>
        <p:nvSpPr>
          <p:cNvPr id="13" name="badge"/>
          <p:cNvSpPr/>
          <p:nvPr/>
        </p:nvSpPr>
        <p:spPr>
          <a:xfrm>
            <a:off x="548640" y="3401568"/>
            <a:ext cx="502920" cy="502920"/>
          </a:xfrm>
          <a:prstGeom prst="ellipse">
            <a:avLst/>
          </a:prstGeom>
          <a:solidFill>
            <a:schemeClr val="tx1"/>
          </a:solidFill>
          <a:ln w="12700">
            <a:solidFill>
              <a:schemeClr val="tx1"/>
            </a:solidFill>
            <a:prstDash val="solid"/>
          </a:ln>
        </p:spPr>
      </p:sp>
      <p:sp>
        <p:nvSpPr>
          <p:cNvPr id="14" name="badge text"/>
          <p:cNvSpPr txBox="1"/>
          <p:nvPr/>
        </p:nvSpPr>
        <p:spPr>
          <a:xfrm>
            <a:off x="548640" y="3401568"/>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5" name="text"/>
          <p:cNvSpPr txBox="1"/>
          <p:nvPr/>
        </p:nvSpPr>
        <p:spPr>
          <a:xfrm>
            <a:off x="1234440" y="3346704"/>
            <a:ext cx="4709160" cy="292608"/>
          </a:xfrm>
          <a:prstGeom prst="rect">
            <a:avLst/>
          </a:prstGeom>
          <a:noFill/>
          <a:ln/>
        </p:spPr>
        <p:txBody>
          <a:bodyPr wrap="square" lIns="0" tIns="0" rIns="0" bIns="0" rtlCol="0" anchor="t"/>
          <a:lstStyle/>
          <a:p>
            <a:pPr indent="0" marL="0">
              <a:buNone/>
            </a:pPr>
            <a:r>
              <a:rPr lang="en-US" sz="1600" b="1" dirty="0">
                <a:solidFill>
                  <a:schemeClr val="tx1"/>
                </a:solidFill>
              </a:rPr>
              <a:t>Ownership and control</a:t>
            </a:r>
            <a:endParaRPr lang="en-US" sz="1600" dirty="0"/>
          </a:p>
        </p:txBody>
      </p:sp>
      <p:sp>
        <p:nvSpPr>
          <p:cNvPr id="16" name="text"/>
          <p:cNvSpPr txBox="1"/>
          <p:nvPr/>
        </p:nvSpPr>
        <p:spPr>
          <a:xfrm>
            <a:off x="1234440" y="3657600"/>
            <a:ext cx="4709160" cy="475488"/>
          </a:xfrm>
          <a:prstGeom prst="rect">
            <a:avLst/>
          </a:prstGeom>
          <a:noFill/>
          <a:ln/>
        </p:spPr>
        <p:txBody>
          <a:bodyPr wrap="square" lIns="0" tIns="0" rIns="0" bIns="0" rtlCol="0" anchor="t"/>
          <a:lstStyle/>
          <a:p>
            <a:pPr indent="0" marL="0">
              <a:buNone/>
            </a:pPr>
            <a:r>
              <a:rPr lang="en-US" sz="1400" dirty="0">
                <a:solidFill>
                  <a:schemeClr val="accent6"/>
                </a:solidFill>
              </a:rPr>
              <a:t>A party that is not listed can still carry exposure through a designated owner or controller.</a:t>
            </a:r>
            <a:endParaRPr lang="en-US" sz="1400" dirty="0"/>
          </a:p>
        </p:txBody>
      </p:sp>
      <p:sp>
        <p:nvSpPr>
          <p:cNvPr id="17" name="badge"/>
          <p:cNvSpPr/>
          <p:nvPr/>
        </p:nvSpPr>
        <p:spPr>
          <a:xfrm>
            <a:off x="548640" y="4288536"/>
            <a:ext cx="502920" cy="502920"/>
          </a:xfrm>
          <a:prstGeom prst="ellipse">
            <a:avLst/>
          </a:prstGeom>
          <a:solidFill>
            <a:schemeClr val="tx1"/>
          </a:solidFill>
          <a:ln w="12700">
            <a:solidFill>
              <a:schemeClr val="tx1"/>
            </a:solidFill>
            <a:prstDash val="solid"/>
          </a:ln>
        </p:spPr>
      </p:sp>
      <p:sp>
        <p:nvSpPr>
          <p:cNvPr id="18" name="badge text"/>
          <p:cNvSpPr txBox="1"/>
          <p:nvPr/>
        </p:nvSpPr>
        <p:spPr>
          <a:xfrm>
            <a:off x="548640" y="4288536"/>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9" name="text"/>
          <p:cNvSpPr txBox="1"/>
          <p:nvPr/>
        </p:nvSpPr>
        <p:spPr>
          <a:xfrm>
            <a:off x="1234440" y="4233672"/>
            <a:ext cx="4709160" cy="292608"/>
          </a:xfrm>
          <a:prstGeom prst="rect">
            <a:avLst/>
          </a:prstGeom>
          <a:noFill/>
          <a:ln/>
        </p:spPr>
        <p:txBody>
          <a:bodyPr wrap="square" lIns="0" tIns="0" rIns="0" bIns="0" rtlCol="0" anchor="t"/>
          <a:lstStyle/>
          <a:p>
            <a:pPr indent="0" marL="0">
              <a:buNone/>
            </a:pPr>
            <a:r>
              <a:rPr lang="en-US" sz="1600" b="1" dirty="0">
                <a:solidFill>
                  <a:schemeClr val="tx1"/>
                </a:solidFill>
              </a:rPr>
              <a:t>Every applicable regime</a:t>
            </a:r>
            <a:endParaRPr lang="en-US" sz="1600" dirty="0"/>
          </a:p>
        </p:txBody>
      </p:sp>
      <p:sp>
        <p:nvSpPr>
          <p:cNvPr id="20" name="text"/>
          <p:cNvSpPr txBox="1"/>
          <p:nvPr/>
        </p:nvSpPr>
        <p:spPr>
          <a:xfrm>
            <a:off x="1234440" y="4544568"/>
            <a:ext cx="4709160" cy="475488"/>
          </a:xfrm>
          <a:prstGeom prst="rect">
            <a:avLst/>
          </a:prstGeom>
          <a:noFill/>
          <a:ln/>
        </p:spPr>
        <p:txBody>
          <a:bodyPr wrap="square" lIns="0" tIns="0" rIns="0" bIns="0" rtlCol="0" anchor="t"/>
          <a:lstStyle/>
          <a:p>
            <a:pPr indent="0" marL="0">
              <a:buNone/>
            </a:pPr>
            <a:r>
              <a:rPr lang="en-US" sz="1400" dirty="0">
                <a:solidFill>
                  <a:schemeClr val="accent6"/>
                </a:solidFill>
              </a:rPr>
              <a:t>A clear result on the local list does not clear the payment. Every jurisdiction it touches applies.</a:t>
            </a:r>
            <a:endParaRPr lang="en-US" sz="1400" dirty="0"/>
          </a:p>
        </p:txBody>
      </p:sp>
      <p:sp>
        <p:nvSpPr>
          <p:cNvPr id="21" name="badge"/>
          <p:cNvSpPr/>
          <p:nvPr/>
        </p:nvSpPr>
        <p:spPr>
          <a:xfrm>
            <a:off x="6217920" y="1627632"/>
            <a:ext cx="502920" cy="502920"/>
          </a:xfrm>
          <a:prstGeom prst="ellipse">
            <a:avLst/>
          </a:prstGeom>
          <a:solidFill>
            <a:schemeClr val="tx1"/>
          </a:solidFill>
          <a:ln w="12700">
            <a:solidFill>
              <a:schemeClr val="tx1"/>
            </a:solidFill>
            <a:prstDash val="solid"/>
          </a:ln>
        </p:spPr>
      </p:sp>
      <p:sp>
        <p:nvSpPr>
          <p:cNvPr id="22" name="badge text"/>
          <p:cNvSpPr txBox="1"/>
          <p:nvPr/>
        </p:nvSpPr>
        <p:spPr>
          <a:xfrm>
            <a:off x="6217920" y="1627632"/>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3" name="text"/>
          <p:cNvSpPr txBox="1"/>
          <p:nvPr/>
        </p:nvSpPr>
        <p:spPr>
          <a:xfrm>
            <a:off x="6903720" y="1572768"/>
            <a:ext cx="4709160" cy="292608"/>
          </a:xfrm>
          <a:prstGeom prst="rect">
            <a:avLst/>
          </a:prstGeom>
          <a:noFill/>
          <a:ln/>
        </p:spPr>
        <p:txBody>
          <a:bodyPr wrap="square" lIns="0" tIns="0" rIns="0" bIns="0" rtlCol="0" anchor="t"/>
          <a:lstStyle/>
          <a:p>
            <a:pPr indent="0" marL="0">
              <a:buNone/>
            </a:pPr>
            <a:r>
              <a:rPr lang="en-US" sz="1600" b="1" dirty="0">
                <a:solidFill>
                  <a:schemeClr val="tx1"/>
                </a:solidFill>
              </a:rPr>
              <a:t>Missing data is not a clear</a:t>
            </a:r>
            <a:endParaRPr lang="en-US" sz="1600" dirty="0"/>
          </a:p>
        </p:txBody>
      </p:sp>
      <p:sp>
        <p:nvSpPr>
          <p:cNvPr id="24" name="text"/>
          <p:cNvSpPr txBox="1"/>
          <p:nvPr/>
        </p:nvSpPr>
        <p:spPr>
          <a:xfrm>
            <a:off x="6903720" y="1883664"/>
            <a:ext cx="4709160" cy="475488"/>
          </a:xfrm>
          <a:prstGeom prst="rect">
            <a:avLst/>
          </a:prstGeom>
          <a:noFill/>
          <a:ln/>
        </p:spPr>
        <p:txBody>
          <a:bodyPr wrap="square" lIns="0" tIns="0" rIns="0" bIns="0" rtlCol="0" anchor="t"/>
          <a:lstStyle/>
          <a:p>
            <a:pPr indent="0" marL="0">
              <a:buNone/>
            </a:pPr>
            <a:r>
              <a:rPr lang="en-US" sz="1400" dirty="0">
                <a:solidFill>
                  <a:schemeClr val="accent6"/>
                </a:solidFill>
              </a:rPr>
              <a:t>Where identifiers are missing, request them. If they cannot be obtained, escalate.</a:t>
            </a:r>
            <a:endParaRPr lang="en-US" sz="1400" dirty="0"/>
          </a:p>
        </p:txBody>
      </p:sp>
      <p:sp>
        <p:nvSpPr>
          <p:cNvPr id="25" name="badge"/>
          <p:cNvSpPr/>
          <p:nvPr/>
        </p:nvSpPr>
        <p:spPr>
          <a:xfrm>
            <a:off x="6217920" y="2514600"/>
            <a:ext cx="502920" cy="502920"/>
          </a:xfrm>
          <a:prstGeom prst="ellipse">
            <a:avLst/>
          </a:prstGeom>
          <a:solidFill>
            <a:schemeClr val="tx1"/>
          </a:solidFill>
          <a:ln w="12700">
            <a:solidFill>
              <a:schemeClr val="tx1"/>
            </a:solidFill>
            <a:prstDash val="solid"/>
          </a:ln>
        </p:spPr>
      </p:sp>
      <p:sp>
        <p:nvSpPr>
          <p:cNvPr id="26" name="badge text"/>
          <p:cNvSpPr txBox="1"/>
          <p:nvPr/>
        </p:nvSpPr>
        <p:spPr>
          <a:xfrm>
            <a:off x="6217920" y="25146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27" name="text"/>
          <p:cNvSpPr txBox="1"/>
          <p:nvPr/>
        </p:nvSpPr>
        <p:spPr>
          <a:xfrm>
            <a:off x="6903720" y="2459736"/>
            <a:ext cx="4709160" cy="292608"/>
          </a:xfrm>
          <a:prstGeom prst="rect">
            <a:avLst/>
          </a:prstGeom>
          <a:noFill/>
          <a:ln/>
        </p:spPr>
        <p:txBody>
          <a:bodyPr wrap="square" lIns="0" tIns="0" rIns="0" bIns="0" rtlCol="0" anchor="t"/>
          <a:lstStyle/>
          <a:p>
            <a:pPr indent="0" marL="0">
              <a:buNone/>
            </a:pPr>
            <a:r>
              <a:rPr lang="en-US" sz="1600" b="1" dirty="0">
                <a:solidFill>
                  <a:schemeClr val="tx1"/>
                </a:solidFill>
              </a:rPr>
              <a:t>Merchant comfort is not evidence</a:t>
            </a:r>
            <a:endParaRPr lang="en-US" sz="1600" dirty="0"/>
          </a:p>
        </p:txBody>
      </p:sp>
      <p:sp>
        <p:nvSpPr>
          <p:cNvPr id="28" name="text"/>
          <p:cNvSpPr txBox="1"/>
          <p:nvPr/>
        </p:nvSpPr>
        <p:spPr>
          <a:xfrm>
            <a:off x="6903720" y="2770632"/>
            <a:ext cx="4709160" cy="475488"/>
          </a:xfrm>
          <a:prstGeom prst="rect">
            <a:avLst/>
          </a:prstGeom>
          <a:noFill/>
          <a:ln/>
        </p:spPr>
        <p:txBody>
          <a:bodyPr wrap="square" lIns="0" tIns="0" rIns="0" bIns="0" rtlCol="0" anchor="t"/>
          <a:lstStyle/>
          <a:p>
            <a:pPr indent="0" marL="0">
              <a:buNone/>
            </a:pPr>
            <a:r>
              <a:rPr lang="en-US" sz="1400" dirty="0">
                <a:solidFill>
                  <a:schemeClr val="accent6"/>
                </a:solidFill>
              </a:rPr>
              <a:t>A merchant's assurance is a commercial view. It does not resolve a sanctions match.</a:t>
            </a:r>
            <a:endParaRPr lang="en-US" sz="1400" dirty="0"/>
          </a:p>
        </p:txBody>
      </p:sp>
      <p:sp>
        <p:nvSpPr>
          <p:cNvPr id="29" name="badge"/>
          <p:cNvSpPr/>
          <p:nvPr/>
        </p:nvSpPr>
        <p:spPr>
          <a:xfrm>
            <a:off x="6217920" y="3401568"/>
            <a:ext cx="502920" cy="502920"/>
          </a:xfrm>
          <a:prstGeom prst="ellipse">
            <a:avLst/>
          </a:prstGeom>
          <a:solidFill>
            <a:schemeClr val="tx1"/>
          </a:solidFill>
          <a:ln w="12700">
            <a:solidFill>
              <a:schemeClr val="tx1"/>
            </a:solidFill>
            <a:prstDash val="solid"/>
          </a:ln>
        </p:spPr>
      </p:sp>
      <p:sp>
        <p:nvSpPr>
          <p:cNvPr id="30" name="badge text"/>
          <p:cNvSpPr txBox="1"/>
          <p:nvPr/>
        </p:nvSpPr>
        <p:spPr>
          <a:xfrm>
            <a:off x="6217920" y="3401568"/>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31" name="text"/>
          <p:cNvSpPr txBox="1"/>
          <p:nvPr/>
        </p:nvSpPr>
        <p:spPr>
          <a:xfrm>
            <a:off x="6903720" y="3346704"/>
            <a:ext cx="4709160" cy="292608"/>
          </a:xfrm>
          <a:prstGeom prst="rect">
            <a:avLst/>
          </a:prstGeom>
          <a:noFill/>
          <a:ln/>
        </p:spPr>
        <p:txBody>
          <a:bodyPr wrap="square" lIns="0" tIns="0" rIns="0" bIns="0" rtlCol="0" anchor="t"/>
          <a:lstStyle/>
          <a:p>
            <a:pPr indent="0" marL="0">
              <a:buNone/>
            </a:pPr>
            <a:r>
              <a:rPr lang="en-US" sz="1600" b="1" dirty="0">
                <a:solidFill>
                  <a:schemeClr val="tx1"/>
                </a:solidFill>
              </a:rPr>
              <a:t>Focused RFIs, no tipping off</a:t>
            </a:r>
            <a:endParaRPr lang="en-US" sz="1600" dirty="0"/>
          </a:p>
        </p:txBody>
      </p:sp>
      <p:sp>
        <p:nvSpPr>
          <p:cNvPr id="32" name="text"/>
          <p:cNvSpPr txBox="1"/>
          <p:nvPr/>
        </p:nvSpPr>
        <p:spPr>
          <a:xfrm>
            <a:off x="6903720" y="3657600"/>
            <a:ext cx="4709160" cy="475488"/>
          </a:xfrm>
          <a:prstGeom prst="rect">
            <a:avLst/>
          </a:prstGeom>
          <a:noFill/>
          <a:ln/>
        </p:spPr>
        <p:txBody>
          <a:bodyPr wrap="square" lIns="0" tIns="0" rIns="0" bIns="0" rtlCol="0" anchor="t"/>
          <a:lstStyle/>
          <a:p>
            <a:pPr indent="0" marL="0">
              <a:buNone/>
            </a:pPr>
            <a:r>
              <a:rPr lang="en-US" sz="1400" dirty="0">
                <a:solidFill>
                  <a:schemeClr val="accent6"/>
                </a:solidFill>
              </a:rPr>
              <a:t>Request only the information you need, without disclosing why you need it.</a:t>
            </a:r>
            <a:endParaRPr lang="en-US" sz="1400" dirty="0"/>
          </a:p>
        </p:txBody>
      </p:sp>
      <p:sp>
        <p:nvSpPr>
          <p:cNvPr id="33" name="badge"/>
          <p:cNvSpPr/>
          <p:nvPr/>
        </p:nvSpPr>
        <p:spPr>
          <a:xfrm>
            <a:off x="6217920" y="4288536"/>
            <a:ext cx="502920" cy="502920"/>
          </a:xfrm>
          <a:prstGeom prst="ellipse">
            <a:avLst/>
          </a:prstGeom>
          <a:solidFill>
            <a:schemeClr val="tx1"/>
          </a:solidFill>
          <a:ln w="12700">
            <a:solidFill>
              <a:schemeClr val="tx1"/>
            </a:solidFill>
            <a:prstDash val="solid"/>
          </a:ln>
        </p:spPr>
      </p:sp>
      <p:sp>
        <p:nvSpPr>
          <p:cNvPr id="34" name="badge text"/>
          <p:cNvSpPr txBox="1"/>
          <p:nvPr/>
        </p:nvSpPr>
        <p:spPr>
          <a:xfrm>
            <a:off x="6217920" y="4288536"/>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8</a:t>
            </a:r>
            <a:endParaRPr lang="en-US" sz="1700" dirty="0"/>
          </a:p>
        </p:txBody>
      </p:sp>
      <p:sp>
        <p:nvSpPr>
          <p:cNvPr id="35" name="text"/>
          <p:cNvSpPr txBox="1"/>
          <p:nvPr/>
        </p:nvSpPr>
        <p:spPr>
          <a:xfrm>
            <a:off x="6903720" y="4233672"/>
            <a:ext cx="4709160" cy="292608"/>
          </a:xfrm>
          <a:prstGeom prst="rect">
            <a:avLst/>
          </a:prstGeom>
          <a:noFill/>
          <a:ln/>
        </p:spPr>
        <p:txBody>
          <a:bodyPr wrap="square" lIns="0" tIns="0" rIns="0" bIns="0" rtlCol="0" anchor="t"/>
          <a:lstStyle/>
          <a:p>
            <a:pPr indent="0" marL="0">
              <a:buNone/>
            </a:pPr>
            <a:r>
              <a:rPr lang="en-US" sz="1600" b="1" dirty="0">
                <a:solidFill>
                  <a:schemeClr val="tx1"/>
                </a:solidFill>
              </a:rPr>
              <a:t>A reproducible record</a:t>
            </a:r>
            <a:endParaRPr lang="en-US" sz="1600" dirty="0"/>
          </a:p>
        </p:txBody>
      </p:sp>
      <p:sp>
        <p:nvSpPr>
          <p:cNvPr id="36" name="text"/>
          <p:cNvSpPr txBox="1"/>
          <p:nvPr/>
        </p:nvSpPr>
        <p:spPr>
          <a:xfrm>
            <a:off x="6903720" y="4544568"/>
            <a:ext cx="4709160" cy="475488"/>
          </a:xfrm>
          <a:prstGeom prst="rect">
            <a:avLst/>
          </a:prstGeom>
          <a:noFill/>
          <a:ln/>
        </p:spPr>
        <p:txBody>
          <a:bodyPr wrap="square" lIns="0" tIns="0" rIns="0" bIns="0" rtlCol="0" anchor="t"/>
          <a:lstStyle/>
          <a:p>
            <a:pPr indent="0" marL="0">
              <a:buNone/>
            </a:pPr>
            <a:r>
              <a:rPr lang="en-US" sz="1400" dirty="0">
                <a:solidFill>
                  <a:schemeClr val="accent6"/>
                </a:solidFill>
              </a:rPr>
              <a:t>Every decision must be reproducible from the case record alone.</a:t>
            </a:r>
            <a:endParaRPr lang="en-US" sz="1400" dirty="0"/>
          </a:p>
        </p:txBody>
      </p:sp>
      <p:sp>
        <p:nvSpPr>
          <p:cNvPr id="37"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8"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9"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Each principle guards against a failure covered in this session — from discounted alerts to missed owners and merchant pressure.</a:t>
            </a:r>
            <a:endParaRPr lang="en-US" sz="1400" dirty="0"/>
          </a:p>
        </p:txBody>
      </p:sp>
      <p:sp>
        <p:nvSpPr>
          <p:cNvPr id="40"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1"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2"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Apply all eight on every alert, in every region. If a decision would break one of them, stop and escalate to L2.</a:t>
            </a:r>
            <a:endParaRPr lang="en-US" sz="1400" dirty="0"/>
          </a:p>
        </p:txBody>
      </p:sp>
      <p:sp>
        <p:nvSpPr>
          <p:cNvPr id="43"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Checkout Global Sanctions Reporting Procedure (cite section); OFSI Financial Sanctions General Guidance; OFAC Framework for Compliance Commitments (2019).</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1 · COMMON CONTROL MODEL</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What counts as a sanctions exposure?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A payment can be risky even when the name is not on any list.</a:t>
            </a:r>
            <a:endParaRPr lang="en-US" sz="1700" dirty="0"/>
          </a:p>
        </p:txBody>
      </p:sp>
      <p:sp>
        <p:nvSpPr>
          <p:cNvPr id="5" name="Direct hit"/>
          <p:cNvSpPr/>
          <p:nvPr/>
        </p:nvSpPr>
        <p:spPr>
          <a:xfrm>
            <a:off x="548640" y="1554480"/>
            <a:ext cx="5440680" cy="1691640"/>
          </a:xfrm>
          <a:prstGeom prst="roundRect">
            <a:avLst>
              <a:gd name="adj" fmla="val 6486"/>
            </a:avLst>
          </a:prstGeom>
          <a:solidFill>
            <a:schemeClr val="bg2"/>
          </a:solidFill>
          <a:ln w="12700">
            <a:solidFill>
              <a:schemeClr val="bg2"/>
            </a:solidFill>
            <a:prstDash val="solid"/>
          </a:ln>
        </p:spPr>
      </p:sp>
      <p:sp>
        <p:nvSpPr>
          <p:cNvPr id="6" name="Direct hit circle"/>
          <p:cNvSpPr/>
          <p:nvPr/>
        </p:nvSpPr>
        <p:spPr>
          <a:xfrm>
            <a:off x="777240" y="1755648"/>
            <a:ext cx="594360" cy="594360"/>
          </a:xfrm>
          <a:prstGeom prst="ellipse">
            <a:avLst/>
          </a:prstGeom>
          <a:solidFill>
            <a:schemeClr val="accent1"/>
          </a:solidFill>
          <a:ln w="12700">
            <a:solidFill>
              <a:schemeClr val="accent1"/>
            </a:solidFill>
            <a:prstDash val="solid"/>
          </a:ln>
        </p:spPr>
      </p:sp>
      <p:pic>
        <p:nvPicPr>
          <p:cNvPr id="7" name="Direct hit icon" descr="preencoded.png">    </p:cNvPr>
          <p:cNvPicPr>
            <a:picLocks noChangeAspect="1"/>
          </p:cNvPicPr>
          <p:nvPr/>
        </p:nvPicPr>
        <p:blipFill>
          <a:blip r:embed="rId1"/>
          <a:stretch>
            <a:fillRect/>
          </a:stretch>
        </p:blipFill>
        <p:spPr>
          <a:xfrm>
            <a:off x="896112" y="1874520"/>
            <a:ext cx="356616" cy="356616"/>
          </a:xfrm>
          <a:prstGeom prst="rect">
            <a:avLst/>
          </a:prstGeom>
        </p:spPr>
      </p:pic>
      <p:sp>
        <p:nvSpPr>
          <p:cNvPr id="8" name="text"/>
          <p:cNvSpPr txBox="1"/>
          <p:nvPr/>
        </p:nvSpPr>
        <p:spPr>
          <a:xfrm>
            <a:off x="1554480" y="1700784"/>
            <a:ext cx="4206240" cy="347472"/>
          </a:xfrm>
          <a:prstGeom prst="rect">
            <a:avLst/>
          </a:prstGeom>
          <a:noFill/>
          <a:ln/>
        </p:spPr>
        <p:txBody>
          <a:bodyPr wrap="square" lIns="0" tIns="0" rIns="0" bIns="0" rtlCol="0" anchor="t"/>
          <a:lstStyle/>
          <a:p>
            <a:pPr indent="0" marL="0">
              <a:buNone/>
            </a:pPr>
            <a:r>
              <a:rPr lang="en-US" sz="1700" b="1" dirty="0">
                <a:solidFill>
                  <a:schemeClr val="tx1"/>
                </a:solidFill>
              </a:rPr>
              <a:t>Direct hit</a:t>
            </a:r>
            <a:endParaRPr lang="en-US" sz="1700" dirty="0"/>
          </a:p>
        </p:txBody>
      </p:sp>
      <p:sp>
        <p:nvSpPr>
          <p:cNvPr id="9" name="text"/>
          <p:cNvSpPr txBox="1"/>
          <p:nvPr/>
        </p:nvSpPr>
        <p:spPr>
          <a:xfrm>
            <a:off x="1554480" y="2066544"/>
            <a:ext cx="4206240" cy="594360"/>
          </a:xfrm>
          <a:prstGeom prst="rect">
            <a:avLst/>
          </a:prstGeom>
          <a:noFill/>
          <a:ln/>
        </p:spPr>
        <p:txBody>
          <a:bodyPr wrap="square" lIns="0" tIns="0" rIns="0" bIns="0" rtlCol="0" anchor="t"/>
          <a:lstStyle/>
          <a:p>
            <a:pPr indent="0" marL="0">
              <a:buNone/>
            </a:pPr>
            <a:r>
              <a:rPr lang="en-US" sz="1400" dirty="0">
                <a:solidFill>
                  <a:schemeClr val="tx1"/>
                </a:solidFill>
              </a:rPr>
              <a:t>The named party is itself a designated person or entity.</a:t>
            </a:r>
            <a:endParaRPr lang="en-US" sz="1400" dirty="0"/>
          </a:p>
        </p:txBody>
      </p:sp>
      <p:sp>
        <p:nvSpPr>
          <p:cNvPr id="10" name="text"/>
          <p:cNvSpPr txBox="1"/>
          <p:nvPr/>
        </p:nvSpPr>
        <p:spPr>
          <a:xfrm>
            <a:off x="1554480" y="2697480"/>
            <a:ext cx="4206240" cy="457200"/>
          </a:xfrm>
          <a:prstGeom prst="rect">
            <a:avLst/>
          </a:prstGeom>
          <a:noFill/>
          <a:ln/>
        </p:spPr>
        <p:txBody>
          <a:bodyPr wrap="square" lIns="0" tIns="0" rIns="0" bIns="0" rtlCol="0" anchor="t"/>
          <a:lstStyle/>
          <a:p>
            <a:pPr indent="0" marL="0">
              <a:buNone/>
            </a:pPr>
            <a:r>
              <a:rPr lang="en-US" sz="1300" i="1" dirty="0">
                <a:solidFill>
                  <a:schemeClr val="accent6"/>
                </a:solidFill>
              </a:rPr>
              <a:t>Example: The beneficiary bank is a listed Russian bank.</a:t>
            </a:r>
            <a:endParaRPr lang="en-US" sz="1300" dirty="0"/>
          </a:p>
        </p:txBody>
      </p:sp>
      <p:sp>
        <p:nvSpPr>
          <p:cNvPr id="11" name="Indirect hit"/>
          <p:cNvSpPr/>
          <p:nvPr/>
        </p:nvSpPr>
        <p:spPr>
          <a:xfrm>
            <a:off x="6172200" y="1554480"/>
            <a:ext cx="5440680" cy="1691640"/>
          </a:xfrm>
          <a:prstGeom prst="roundRect">
            <a:avLst>
              <a:gd name="adj" fmla="val 6486"/>
            </a:avLst>
          </a:prstGeom>
          <a:solidFill>
            <a:schemeClr val="bg2"/>
          </a:solidFill>
          <a:ln w="12700">
            <a:solidFill>
              <a:schemeClr val="bg2"/>
            </a:solidFill>
            <a:prstDash val="solid"/>
          </a:ln>
        </p:spPr>
      </p:sp>
      <p:sp>
        <p:nvSpPr>
          <p:cNvPr id="12" name="Indirect hit circle"/>
          <p:cNvSpPr/>
          <p:nvPr/>
        </p:nvSpPr>
        <p:spPr>
          <a:xfrm>
            <a:off x="6400800" y="1755648"/>
            <a:ext cx="594360" cy="594360"/>
          </a:xfrm>
          <a:prstGeom prst="ellipse">
            <a:avLst/>
          </a:prstGeom>
          <a:solidFill>
            <a:schemeClr val="tx1"/>
          </a:solidFill>
          <a:ln w="12700">
            <a:solidFill>
              <a:schemeClr val="tx1"/>
            </a:solidFill>
            <a:prstDash val="solid"/>
          </a:ln>
        </p:spPr>
      </p:sp>
      <p:pic>
        <p:nvPicPr>
          <p:cNvPr id="13" name="Indirect hit icon" descr="preencoded.png">    </p:cNvPr>
          <p:cNvPicPr>
            <a:picLocks noChangeAspect="1"/>
          </p:cNvPicPr>
          <p:nvPr/>
        </p:nvPicPr>
        <p:blipFill>
          <a:blip r:embed="rId2"/>
          <a:stretch>
            <a:fillRect/>
          </a:stretch>
        </p:blipFill>
        <p:spPr>
          <a:xfrm>
            <a:off x="6519672" y="1874520"/>
            <a:ext cx="356616" cy="356616"/>
          </a:xfrm>
          <a:prstGeom prst="rect">
            <a:avLst/>
          </a:prstGeom>
        </p:spPr>
      </p:pic>
      <p:sp>
        <p:nvSpPr>
          <p:cNvPr id="14" name="text"/>
          <p:cNvSpPr txBox="1"/>
          <p:nvPr/>
        </p:nvSpPr>
        <p:spPr>
          <a:xfrm>
            <a:off x="7178040" y="1700784"/>
            <a:ext cx="4206240" cy="347472"/>
          </a:xfrm>
          <a:prstGeom prst="rect">
            <a:avLst/>
          </a:prstGeom>
          <a:noFill/>
          <a:ln/>
        </p:spPr>
        <p:txBody>
          <a:bodyPr wrap="square" lIns="0" tIns="0" rIns="0" bIns="0" rtlCol="0" anchor="t"/>
          <a:lstStyle/>
          <a:p>
            <a:pPr indent="0" marL="0">
              <a:buNone/>
            </a:pPr>
            <a:r>
              <a:rPr lang="en-US" sz="1700" b="1" dirty="0">
                <a:solidFill>
                  <a:schemeClr val="tx1"/>
                </a:solidFill>
              </a:rPr>
              <a:t>Indirect hit</a:t>
            </a:r>
            <a:endParaRPr lang="en-US" sz="1700" dirty="0"/>
          </a:p>
        </p:txBody>
      </p:sp>
      <p:sp>
        <p:nvSpPr>
          <p:cNvPr id="15" name="text"/>
          <p:cNvSpPr txBox="1"/>
          <p:nvPr/>
        </p:nvSpPr>
        <p:spPr>
          <a:xfrm>
            <a:off x="7178040" y="2066544"/>
            <a:ext cx="4206240" cy="594360"/>
          </a:xfrm>
          <a:prstGeom prst="rect">
            <a:avLst/>
          </a:prstGeom>
          <a:noFill/>
          <a:ln/>
        </p:spPr>
        <p:txBody>
          <a:bodyPr wrap="square" lIns="0" tIns="0" rIns="0" bIns="0" rtlCol="0" anchor="t"/>
          <a:lstStyle/>
          <a:p>
            <a:pPr indent="0" marL="0">
              <a:buNone/>
            </a:pPr>
            <a:r>
              <a:rPr lang="en-US" sz="1400" dirty="0">
                <a:solidFill>
                  <a:schemeClr val="tx1"/>
                </a:solidFill>
              </a:rPr>
              <a:t>The party is owned, controlled, acting for, or benefitting a designated person or entity.</a:t>
            </a:r>
            <a:endParaRPr lang="en-US" sz="1400" dirty="0"/>
          </a:p>
        </p:txBody>
      </p:sp>
      <p:sp>
        <p:nvSpPr>
          <p:cNvPr id="16" name="text"/>
          <p:cNvSpPr txBox="1"/>
          <p:nvPr/>
        </p:nvSpPr>
        <p:spPr>
          <a:xfrm>
            <a:off x="7178040" y="2697480"/>
            <a:ext cx="4206240" cy="457200"/>
          </a:xfrm>
          <a:prstGeom prst="rect">
            <a:avLst/>
          </a:prstGeom>
          <a:noFill/>
          <a:ln/>
        </p:spPr>
        <p:txBody>
          <a:bodyPr wrap="square" lIns="0" tIns="0" rIns="0" bIns="0" rtlCol="0" anchor="t"/>
          <a:lstStyle/>
          <a:p>
            <a:pPr indent="0" marL="0">
              <a:buNone/>
            </a:pPr>
            <a:r>
              <a:rPr lang="en-US" sz="1300" i="1" dirty="0">
                <a:solidFill>
                  <a:schemeClr val="accent6"/>
                </a:solidFill>
              </a:rPr>
              <a:t>Example: A newly added director is designated and signs payouts.</a:t>
            </a:r>
            <a:endParaRPr lang="en-US" sz="1300" dirty="0"/>
          </a:p>
        </p:txBody>
      </p:sp>
      <p:sp>
        <p:nvSpPr>
          <p:cNvPr id="17" name="Prohibited geography or activity"/>
          <p:cNvSpPr/>
          <p:nvPr/>
        </p:nvSpPr>
        <p:spPr>
          <a:xfrm>
            <a:off x="548640" y="3364992"/>
            <a:ext cx="5440680" cy="1691640"/>
          </a:xfrm>
          <a:prstGeom prst="roundRect">
            <a:avLst>
              <a:gd name="adj" fmla="val 6486"/>
            </a:avLst>
          </a:prstGeom>
          <a:solidFill>
            <a:schemeClr val="bg2"/>
          </a:solidFill>
          <a:ln w="12700">
            <a:solidFill>
              <a:schemeClr val="bg2"/>
            </a:solidFill>
            <a:prstDash val="solid"/>
          </a:ln>
        </p:spPr>
      </p:sp>
      <p:sp>
        <p:nvSpPr>
          <p:cNvPr id="18" name="Prohibited geography or activity circle"/>
          <p:cNvSpPr/>
          <p:nvPr/>
        </p:nvSpPr>
        <p:spPr>
          <a:xfrm>
            <a:off x="777240" y="3566160"/>
            <a:ext cx="594360" cy="594360"/>
          </a:xfrm>
          <a:prstGeom prst="ellipse">
            <a:avLst/>
          </a:prstGeom>
          <a:solidFill>
            <a:schemeClr val="accent4"/>
          </a:solidFill>
          <a:ln w="12700">
            <a:solidFill>
              <a:schemeClr val="accent4"/>
            </a:solidFill>
            <a:prstDash val="solid"/>
          </a:ln>
        </p:spPr>
      </p:sp>
      <p:pic>
        <p:nvPicPr>
          <p:cNvPr id="19" name="Prohibited geography or activity icon" descr="preencoded.png">    </p:cNvPr>
          <p:cNvPicPr>
            <a:picLocks noChangeAspect="1"/>
          </p:cNvPicPr>
          <p:nvPr/>
        </p:nvPicPr>
        <p:blipFill>
          <a:blip r:embed="rId3"/>
          <a:stretch>
            <a:fillRect/>
          </a:stretch>
        </p:blipFill>
        <p:spPr>
          <a:xfrm>
            <a:off x="896112" y="3685032"/>
            <a:ext cx="356616" cy="356616"/>
          </a:xfrm>
          <a:prstGeom prst="rect">
            <a:avLst/>
          </a:prstGeom>
        </p:spPr>
      </p:pic>
      <p:sp>
        <p:nvSpPr>
          <p:cNvPr id="20" name="text"/>
          <p:cNvSpPr txBox="1"/>
          <p:nvPr/>
        </p:nvSpPr>
        <p:spPr>
          <a:xfrm>
            <a:off x="1554480" y="3511296"/>
            <a:ext cx="4206240" cy="347472"/>
          </a:xfrm>
          <a:prstGeom prst="rect">
            <a:avLst/>
          </a:prstGeom>
          <a:noFill/>
          <a:ln/>
        </p:spPr>
        <p:txBody>
          <a:bodyPr wrap="square" lIns="0" tIns="0" rIns="0" bIns="0" rtlCol="0" anchor="t"/>
          <a:lstStyle/>
          <a:p>
            <a:pPr indent="0" marL="0">
              <a:buNone/>
            </a:pPr>
            <a:r>
              <a:rPr lang="en-US" sz="1700" b="1" dirty="0">
                <a:solidFill>
                  <a:schemeClr val="tx1"/>
                </a:solidFill>
              </a:rPr>
              <a:t>Prohibited geography or activity</a:t>
            </a:r>
            <a:endParaRPr lang="en-US" sz="1700" dirty="0"/>
          </a:p>
        </p:txBody>
      </p:sp>
      <p:sp>
        <p:nvSpPr>
          <p:cNvPr id="21" name="text"/>
          <p:cNvSpPr txBox="1"/>
          <p:nvPr/>
        </p:nvSpPr>
        <p:spPr>
          <a:xfrm>
            <a:off x="1554480" y="3877056"/>
            <a:ext cx="4206240" cy="594360"/>
          </a:xfrm>
          <a:prstGeom prst="rect">
            <a:avLst/>
          </a:prstGeom>
          <a:noFill/>
          <a:ln/>
        </p:spPr>
        <p:txBody>
          <a:bodyPr wrap="square" lIns="0" tIns="0" rIns="0" bIns="0" rtlCol="0" anchor="t"/>
          <a:lstStyle/>
          <a:p>
            <a:pPr indent="0" marL="0">
              <a:buNone/>
            </a:pPr>
            <a:r>
              <a:rPr lang="en-US" sz="1400" dirty="0">
                <a:solidFill>
                  <a:schemeClr val="tx1"/>
                </a:solidFill>
              </a:rPr>
              <a:t>A country or territory, sector, service, vessel, commodity or end-use is restricted.</a:t>
            </a:r>
            <a:endParaRPr lang="en-US" sz="1400" dirty="0"/>
          </a:p>
        </p:txBody>
      </p:sp>
      <p:sp>
        <p:nvSpPr>
          <p:cNvPr id="22" name="text"/>
          <p:cNvSpPr txBox="1"/>
          <p:nvPr/>
        </p:nvSpPr>
        <p:spPr>
          <a:xfrm>
            <a:off x="1554480" y="4507992"/>
            <a:ext cx="4206240" cy="457200"/>
          </a:xfrm>
          <a:prstGeom prst="rect">
            <a:avLst/>
          </a:prstGeom>
          <a:noFill/>
          <a:ln/>
        </p:spPr>
        <p:txBody>
          <a:bodyPr wrap="square" lIns="0" tIns="0" rIns="0" bIns="0" rtlCol="0" anchor="t"/>
          <a:lstStyle/>
          <a:p>
            <a:pPr indent="0" marL="0">
              <a:buNone/>
            </a:pPr>
            <a:r>
              <a:rPr lang="en-US" sz="1300" i="1" dirty="0">
                <a:solidFill>
                  <a:schemeClr val="accent6"/>
                </a:solidFill>
              </a:rPr>
              <a:t>Example: The customer's IP address is in a sanctioned region.</a:t>
            </a:r>
            <a:endParaRPr lang="en-US" sz="1300" dirty="0"/>
          </a:p>
        </p:txBody>
      </p:sp>
      <p:sp>
        <p:nvSpPr>
          <p:cNvPr id="23" name="Evasion / circumvention"/>
          <p:cNvSpPr/>
          <p:nvPr/>
        </p:nvSpPr>
        <p:spPr>
          <a:xfrm>
            <a:off x="6172200" y="3364992"/>
            <a:ext cx="5440680" cy="1691640"/>
          </a:xfrm>
          <a:prstGeom prst="roundRect">
            <a:avLst>
              <a:gd name="adj" fmla="val 6486"/>
            </a:avLst>
          </a:prstGeom>
          <a:solidFill>
            <a:schemeClr val="bg2"/>
          </a:solidFill>
          <a:ln w="12700">
            <a:solidFill>
              <a:schemeClr val="bg2"/>
            </a:solidFill>
            <a:prstDash val="solid"/>
          </a:ln>
        </p:spPr>
      </p:sp>
      <p:sp>
        <p:nvSpPr>
          <p:cNvPr id="24" name="Evasion / circumvention circle"/>
          <p:cNvSpPr/>
          <p:nvPr/>
        </p:nvSpPr>
        <p:spPr>
          <a:xfrm>
            <a:off x="6400800" y="3566160"/>
            <a:ext cx="594360" cy="594360"/>
          </a:xfrm>
          <a:prstGeom prst="ellipse">
            <a:avLst/>
          </a:prstGeom>
          <a:solidFill>
            <a:schemeClr val="accent2"/>
          </a:solidFill>
          <a:ln w="12700">
            <a:solidFill>
              <a:schemeClr val="accent2"/>
            </a:solidFill>
            <a:prstDash val="solid"/>
          </a:ln>
        </p:spPr>
      </p:sp>
      <p:pic>
        <p:nvPicPr>
          <p:cNvPr id="25" name="Evasion / circumvention icon" descr="preencoded.png">    </p:cNvPr>
          <p:cNvPicPr>
            <a:picLocks noChangeAspect="1"/>
          </p:cNvPicPr>
          <p:nvPr/>
        </p:nvPicPr>
        <p:blipFill>
          <a:blip r:embed="rId4"/>
          <a:stretch>
            <a:fillRect/>
          </a:stretch>
        </p:blipFill>
        <p:spPr>
          <a:xfrm>
            <a:off x="6519672" y="3685032"/>
            <a:ext cx="356616" cy="356616"/>
          </a:xfrm>
          <a:prstGeom prst="rect">
            <a:avLst/>
          </a:prstGeom>
        </p:spPr>
      </p:pic>
      <p:sp>
        <p:nvSpPr>
          <p:cNvPr id="26" name="text"/>
          <p:cNvSpPr txBox="1"/>
          <p:nvPr/>
        </p:nvSpPr>
        <p:spPr>
          <a:xfrm>
            <a:off x="7178040" y="3511296"/>
            <a:ext cx="4206240" cy="347472"/>
          </a:xfrm>
          <a:prstGeom prst="rect">
            <a:avLst/>
          </a:prstGeom>
          <a:noFill/>
          <a:ln/>
        </p:spPr>
        <p:txBody>
          <a:bodyPr wrap="square" lIns="0" tIns="0" rIns="0" bIns="0" rtlCol="0" anchor="t"/>
          <a:lstStyle/>
          <a:p>
            <a:pPr indent="0" marL="0">
              <a:buNone/>
            </a:pPr>
            <a:r>
              <a:rPr lang="en-US" sz="1700" b="1" dirty="0">
                <a:solidFill>
                  <a:schemeClr val="tx1"/>
                </a:solidFill>
              </a:rPr>
              <a:t>Evasion / circumvention</a:t>
            </a:r>
            <a:endParaRPr lang="en-US" sz="1700" dirty="0"/>
          </a:p>
        </p:txBody>
      </p:sp>
      <p:sp>
        <p:nvSpPr>
          <p:cNvPr id="27" name="text"/>
          <p:cNvSpPr txBox="1"/>
          <p:nvPr/>
        </p:nvSpPr>
        <p:spPr>
          <a:xfrm>
            <a:off x="7178040" y="3877056"/>
            <a:ext cx="4206240" cy="594360"/>
          </a:xfrm>
          <a:prstGeom prst="rect">
            <a:avLst/>
          </a:prstGeom>
          <a:noFill/>
          <a:ln/>
        </p:spPr>
        <p:txBody>
          <a:bodyPr wrap="square" lIns="0" tIns="0" rIns="0" bIns="0" rtlCol="0" anchor="t"/>
          <a:lstStyle/>
          <a:p>
            <a:pPr indent="0" marL="0">
              <a:buNone/>
            </a:pPr>
            <a:r>
              <a:rPr lang="en-US" sz="1400" dirty="0">
                <a:solidFill>
                  <a:schemeClr val="tx1"/>
                </a:solidFill>
              </a:rPr>
              <a:t>Layering intermediaries, opaque ownership, rapid routing changes or weak commercial explanations.</a:t>
            </a:r>
            <a:endParaRPr lang="en-US" sz="1400" dirty="0"/>
          </a:p>
        </p:txBody>
      </p:sp>
      <p:sp>
        <p:nvSpPr>
          <p:cNvPr id="28" name="text"/>
          <p:cNvSpPr txBox="1"/>
          <p:nvPr/>
        </p:nvSpPr>
        <p:spPr>
          <a:xfrm>
            <a:off x="7178040" y="4507992"/>
            <a:ext cx="4206240" cy="457200"/>
          </a:xfrm>
          <a:prstGeom prst="rect">
            <a:avLst/>
          </a:prstGeom>
          <a:noFill/>
          <a:ln/>
        </p:spPr>
        <p:txBody>
          <a:bodyPr wrap="square" lIns="0" tIns="0" rIns="0" bIns="0" rtlCol="0" anchor="t"/>
          <a:lstStyle/>
          <a:p>
            <a:pPr indent="0" marL="0">
              <a:buNone/>
            </a:pPr>
            <a:r>
              <a:rPr lang="en-US" sz="1300" i="1" dirty="0">
                <a:solidFill>
                  <a:schemeClr val="accent6"/>
                </a:solidFill>
              </a:rPr>
              <a:t>Example: Payouts split across new intermediaries, vague descriptions.</a:t>
            </a:r>
            <a:endParaRPr lang="en-US" sz="1300" dirty="0"/>
          </a:p>
        </p:txBody>
      </p:sp>
      <p:sp>
        <p:nvSpPr>
          <p:cNvPr id="29"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0"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1"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Most exposure does not arrive as a direct hit. Indirect, geographic and evasion risk is missed when you only look at the name.</a:t>
            </a:r>
            <a:endParaRPr lang="en-US" sz="1400" dirty="0"/>
          </a:p>
        </p:txBody>
      </p:sp>
      <p:sp>
        <p:nvSpPr>
          <p:cNvPr id="32"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3"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4"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On every alert, ask which of the four you are looking at. Any one is enough to investigate — they are not mutually exclusive.</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1 · FIRST RESPONSE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First response to a potential true match</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If in doubt: stop the payment, check it, and pass it to L2.</a:t>
            </a:r>
            <a:endParaRPr lang="en-US" sz="1700" dirty="0"/>
          </a:p>
        </p:txBody>
      </p:sp>
      <p:sp>
        <p:nvSpPr>
          <p:cNvPr id="5" name="PAUSE circle"/>
          <p:cNvSpPr/>
          <p:nvPr/>
        </p:nvSpPr>
        <p:spPr>
          <a:xfrm>
            <a:off x="548640" y="1554480"/>
            <a:ext cx="594360" cy="594360"/>
          </a:xfrm>
          <a:prstGeom prst="ellipse">
            <a:avLst/>
          </a:prstGeom>
          <a:solidFill>
            <a:schemeClr val="accent1"/>
          </a:solidFill>
          <a:ln w="12700">
            <a:solidFill>
              <a:schemeClr val="accent1"/>
            </a:solidFill>
            <a:prstDash val="solid"/>
          </a:ln>
        </p:spPr>
      </p:sp>
      <p:pic>
        <p:nvPicPr>
          <p:cNvPr id="6" name="PAUSE icon" descr="preencoded.png">    </p:cNvPr>
          <p:cNvPicPr>
            <a:picLocks noChangeAspect="1"/>
          </p:cNvPicPr>
          <p:nvPr/>
        </p:nvPicPr>
        <p:blipFill>
          <a:blip r:embed="rId1"/>
          <a:stretch>
            <a:fillRect/>
          </a:stretch>
        </p:blipFill>
        <p:spPr>
          <a:xfrm>
            <a:off x="667512" y="1673352"/>
            <a:ext cx="356616" cy="356616"/>
          </a:xfrm>
          <a:prstGeom prst="rect">
            <a:avLst/>
          </a:prstGeom>
        </p:spPr>
      </p:pic>
      <p:sp>
        <p:nvSpPr>
          <p:cNvPr id="7" name="text"/>
          <p:cNvSpPr txBox="1"/>
          <p:nvPr/>
        </p:nvSpPr>
        <p:spPr>
          <a:xfrm>
            <a:off x="1298448" y="1554480"/>
            <a:ext cx="2651760" cy="594360"/>
          </a:xfrm>
          <a:prstGeom prst="rect">
            <a:avLst/>
          </a:prstGeom>
          <a:noFill/>
          <a:ln/>
        </p:spPr>
        <p:txBody>
          <a:bodyPr wrap="square" lIns="0" tIns="0" rIns="0" bIns="0" rtlCol="0" anchor="ctr"/>
          <a:lstStyle/>
          <a:p>
            <a:pPr indent="0" marL="0">
              <a:buNone/>
            </a:pPr>
            <a:r>
              <a:rPr lang="en-US" sz="2000" b="1" dirty="0">
                <a:solidFill>
                  <a:schemeClr val="accent1"/>
                </a:solidFill>
              </a:rPr>
              <a:t>PAUSE</a:t>
            </a:r>
            <a:endParaRPr lang="en-US" sz="2000" dirty="0"/>
          </a:p>
        </p:txBody>
      </p:sp>
      <p:sp>
        <p:nvSpPr>
          <p:cNvPr id="8" name="text"/>
          <p:cNvSpPr txBox="1"/>
          <p:nvPr/>
        </p:nvSpPr>
        <p:spPr>
          <a:xfrm>
            <a:off x="548640" y="2240280"/>
            <a:ext cx="3429000" cy="1051560"/>
          </a:xfrm>
          <a:prstGeom prst="rect">
            <a:avLst/>
          </a:prstGeom>
          <a:noFill/>
          <a:ln/>
        </p:spPr>
        <p:txBody>
          <a:bodyPr wrap="square" lIns="0" tIns="0" rIns="0" bIns="0" rtlCol="0" anchor="t"/>
          <a:lstStyle/>
          <a:p>
            <a:pPr indent="0" marL="0">
              <a:buNone/>
            </a:pPr>
            <a:r>
              <a:rPr lang="en-US" sz="1500" dirty="0">
                <a:solidFill>
                  <a:schemeClr val="tx1"/>
                </a:solidFill>
              </a:rPr>
              <a:t>Stop the transaction. No release, completion or manual bypass while uncertainty remains — and no refund or return to the sender.</a:t>
            </a:r>
            <a:endParaRPr lang="en-US" sz="1500" dirty="0"/>
          </a:p>
        </p:txBody>
      </p:sp>
      <p:pic>
        <p:nvPicPr>
          <p:cNvPr id="9" name="Image 1" descr="preencoded.png">    </p:cNvPr>
          <p:cNvPicPr>
            <a:picLocks noChangeAspect="1"/>
          </p:cNvPicPr>
          <p:nvPr/>
        </p:nvPicPr>
        <p:blipFill>
          <a:blip r:embed="rId2"/>
          <a:stretch>
            <a:fillRect/>
          </a:stretch>
        </p:blipFill>
        <p:spPr>
          <a:xfrm>
            <a:off x="3977640" y="1673352"/>
            <a:ext cx="347472" cy="347472"/>
          </a:xfrm>
          <a:prstGeom prst="rect">
            <a:avLst/>
          </a:prstGeom>
        </p:spPr>
      </p:pic>
      <p:sp>
        <p:nvSpPr>
          <p:cNvPr id="10" name="INVESTIGATE circle"/>
          <p:cNvSpPr/>
          <p:nvPr/>
        </p:nvSpPr>
        <p:spPr>
          <a:xfrm>
            <a:off x="4343400" y="1554480"/>
            <a:ext cx="594360" cy="594360"/>
          </a:xfrm>
          <a:prstGeom prst="ellipse">
            <a:avLst/>
          </a:prstGeom>
          <a:solidFill>
            <a:schemeClr val="accent2"/>
          </a:solidFill>
          <a:ln w="12700">
            <a:solidFill>
              <a:schemeClr val="accent2"/>
            </a:solidFill>
            <a:prstDash val="solid"/>
          </a:ln>
        </p:spPr>
      </p:sp>
      <p:pic>
        <p:nvPicPr>
          <p:cNvPr id="11" name="INVESTIGATE icon" descr="preencoded.png">    </p:cNvPr>
          <p:cNvPicPr>
            <a:picLocks noChangeAspect="1"/>
          </p:cNvPicPr>
          <p:nvPr/>
        </p:nvPicPr>
        <p:blipFill>
          <a:blip r:embed="rId3"/>
          <a:stretch>
            <a:fillRect/>
          </a:stretch>
        </p:blipFill>
        <p:spPr>
          <a:xfrm>
            <a:off x="4462272" y="1673352"/>
            <a:ext cx="356616" cy="356616"/>
          </a:xfrm>
          <a:prstGeom prst="rect">
            <a:avLst/>
          </a:prstGeom>
        </p:spPr>
      </p:pic>
      <p:sp>
        <p:nvSpPr>
          <p:cNvPr id="12" name="text"/>
          <p:cNvSpPr txBox="1"/>
          <p:nvPr/>
        </p:nvSpPr>
        <p:spPr>
          <a:xfrm>
            <a:off x="5093208" y="1554480"/>
            <a:ext cx="2651760" cy="594360"/>
          </a:xfrm>
          <a:prstGeom prst="rect">
            <a:avLst/>
          </a:prstGeom>
          <a:noFill/>
          <a:ln/>
        </p:spPr>
        <p:txBody>
          <a:bodyPr wrap="square" lIns="0" tIns="0" rIns="0" bIns="0" rtlCol="0" anchor="ctr"/>
          <a:lstStyle/>
          <a:p>
            <a:pPr indent="0" marL="0">
              <a:buNone/>
            </a:pPr>
            <a:r>
              <a:rPr lang="en-US" sz="2000" b="1" dirty="0">
                <a:solidFill>
                  <a:schemeClr val="accent2"/>
                </a:solidFill>
              </a:rPr>
              <a:t>INVESTIGATE</a:t>
            </a:r>
            <a:endParaRPr lang="en-US" sz="2000" dirty="0"/>
          </a:p>
        </p:txBody>
      </p:sp>
      <p:sp>
        <p:nvSpPr>
          <p:cNvPr id="13" name="text"/>
          <p:cNvSpPr txBox="1"/>
          <p:nvPr/>
        </p:nvSpPr>
        <p:spPr>
          <a:xfrm>
            <a:off x="4343400" y="2240280"/>
            <a:ext cx="3429000" cy="1051560"/>
          </a:xfrm>
          <a:prstGeom prst="rect">
            <a:avLst/>
          </a:prstGeom>
          <a:noFill/>
          <a:ln/>
        </p:spPr>
        <p:txBody>
          <a:bodyPr wrap="square" lIns="0" tIns="0" rIns="0" bIns="0" rtlCol="0" anchor="t"/>
          <a:lstStyle/>
          <a:p>
            <a:pPr indent="0" marL="0">
              <a:buNone/>
            </a:pPr>
            <a:r>
              <a:rPr lang="en-US" sz="1500" dirty="0">
                <a:solidFill>
                  <a:schemeClr val="tx1"/>
                </a:solidFill>
              </a:rPr>
              <a:t>Preserve the alert, payment details and list record. Compare identifiers and raise a focused RFI to resolve identity or exposure.</a:t>
            </a:r>
            <a:endParaRPr lang="en-US" sz="1500" dirty="0"/>
          </a:p>
        </p:txBody>
      </p:sp>
      <p:pic>
        <p:nvPicPr>
          <p:cNvPr id="14" name="Image 3" descr="preencoded.png">    </p:cNvPr>
          <p:cNvPicPr>
            <a:picLocks noChangeAspect="1"/>
          </p:cNvPicPr>
          <p:nvPr/>
        </p:nvPicPr>
        <p:blipFill>
          <a:blip r:embed="rId4"/>
          <a:stretch>
            <a:fillRect/>
          </a:stretch>
        </p:blipFill>
        <p:spPr>
          <a:xfrm>
            <a:off x="7772400" y="1673352"/>
            <a:ext cx="347472" cy="347472"/>
          </a:xfrm>
          <a:prstGeom prst="rect">
            <a:avLst/>
          </a:prstGeom>
        </p:spPr>
      </p:pic>
      <p:sp>
        <p:nvSpPr>
          <p:cNvPr id="15" name="ESCALATE circle"/>
          <p:cNvSpPr/>
          <p:nvPr/>
        </p:nvSpPr>
        <p:spPr>
          <a:xfrm>
            <a:off x="8138160" y="1554480"/>
            <a:ext cx="594360" cy="594360"/>
          </a:xfrm>
          <a:prstGeom prst="ellipse">
            <a:avLst/>
          </a:prstGeom>
          <a:solidFill>
            <a:schemeClr val="accent4"/>
          </a:solidFill>
          <a:ln w="12700">
            <a:solidFill>
              <a:schemeClr val="accent4"/>
            </a:solidFill>
            <a:prstDash val="solid"/>
          </a:ln>
        </p:spPr>
      </p:sp>
      <p:pic>
        <p:nvPicPr>
          <p:cNvPr id="16" name="ESCALATE icon" descr="preencoded.png">    </p:cNvPr>
          <p:cNvPicPr>
            <a:picLocks noChangeAspect="1"/>
          </p:cNvPicPr>
          <p:nvPr/>
        </p:nvPicPr>
        <p:blipFill>
          <a:blip r:embed="rId5"/>
          <a:stretch>
            <a:fillRect/>
          </a:stretch>
        </p:blipFill>
        <p:spPr>
          <a:xfrm>
            <a:off x="8257032" y="1673352"/>
            <a:ext cx="356616" cy="356616"/>
          </a:xfrm>
          <a:prstGeom prst="rect">
            <a:avLst/>
          </a:prstGeom>
        </p:spPr>
      </p:pic>
      <p:sp>
        <p:nvSpPr>
          <p:cNvPr id="17" name="text"/>
          <p:cNvSpPr txBox="1"/>
          <p:nvPr/>
        </p:nvSpPr>
        <p:spPr>
          <a:xfrm>
            <a:off x="8887968" y="1554480"/>
            <a:ext cx="2651760" cy="594360"/>
          </a:xfrm>
          <a:prstGeom prst="rect">
            <a:avLst/>
          </a:prstGeom>
          <a:noFill/>
          <a:ln/>
        </p:spPr>
        <p:txBody>
          <a:bodyPr wrap="square" lIns="0" tIns="0" rIns="0" bIns="0" rtlCol="0" anchor="ctr"/>
          <a:lstStyle/>
          <a:p>
            <a:pPr indent="0" marL="0">
              <a:buNone/>
            </a:pPr>
            <a:r>
              <a:rPr lang="en-US" sz="2000" b="1" dirty="0">
                <a:solidFill>
                  <a:schemeClr val="accent4"/>
                </a:solidFill>
              </a:rPr>
              <a:t>ESCALATE</a:t>
            </a:r>
            <a:endParaRPr lang="en-US" sz="2000" dirty="0"/>
          </a:p>
        </p:txBody>
      </p:sp>
      <p:sp>
        <p:nvSpPr>
          <p:cNvPr id="18" name="text"/>
          <p:cNvSpPr txBox="1"/>
          <p:nvPr/>
        </p:nvSpPr>
        <p:spPr>
          <a:xfrm>
            <a:off x="8138160" y="2240280"/>
            <a:ext cx="3429000" cy="1051560"/>
          </a:xfrm>
          <a:prstGeom prst="rect">
            <a:avLst/>
          </a:prstGeom>
          <a:noFill/>
          <a:ln/>
        </p:spPr>
        <p:txBody>
          <a:bodyPr wrap="square" lIns="0" tIns="0" rIns="0" bIns="0" rtlCol="0" anchor="t"/>
          <a:lstStyle/>
          <a:p>
            <a:pPr indent="0" marL="0">
              <a:buNone/>
            </a:pPr>
            <a:r>
              <a:rPr lang="en-US" sz="1500" dirty="0">
                <a:solidFill>
                  <a:schemeClr val="tx1"/>
                </a:solidFill>
              </a:rPr>
              <a:t>Route confirmed or unresolved matches through the approved sanctions path, with your findings recorded. Do not tip off.</a:t>
            </a:r>
            <a:endParaRPr lang="en-US" sz="1500" dirty="0"/>
          </a:p>
        </p:txBody>
      </p:sp>
      <p:sp>
        <p:nvSpPr>
          <p:cNvPr id="19" name="analyst decision"/>
          <p:cNvSpPr/>
          <p:nvPr/>
        </p:nvSpPr>
        <p:spPr>
          <a:xfrm>
            <a:off x="548640" y="3401568"/>
            <a:ext cx="5440680" cy="1024128"/>
          </a:xfrm>
          <a:prstGeom prst="roundRect">
            <a:avLst>
              <a:gd name="adj" fmla="val 10714"/>
            </a:avLst>
          </a:prstGeom>
          <a:solidFill>
            <a:schemeClr val="bg2"/>
          </a:solidFill>
          <a:ln w="12700">
            <a:solidFill>
              <a:schemeClr val="bg2"/>
            </a:solidFill>
            <a:prstDash val="solid"/>
          </a:ln>
        </p:spPr>
      </p:sp>
      <p:sp>
        <p:nvSpPr>
          <p:cNvPr id="20" name="text"/>
          <p:cNvSpPr txBox="1"/>
          <p:nvPr/>
        </p:nvSpPr>
        <p:spPr>
          <a:xfrm>
            <a:off x="777240" y="3493008"/>
            <a:ext cx="502920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THE ANALYST'S DECISION (L1)</a:t>
            </a:r>
            <a:endParaRPr lang="en-US" sz="1100" dirty="0"/>
          </a:p>
        </p:txBody>
      </p:sp>
      <p:sp>
        <p:nvSpPr>
          <p:cNvPr id="21" name="text"/>
          <p:cNvSpPr txBox="1"/>
          <p:nvPr/>
        </p:nvSpPr>
        <p:spPr>
          <a:xfrm>
            <a:off x="777240" y="3749040"/>
            <a:ext cx="5029200" cy="640080"/>
          </a:xfrm>
          <a:prstGeom prst="rect">
            <a:avLst/>
          </a:prstGeom>
          <a:noFill/>
          <a:ln/>
        </p:spPr>
        <p:txBody>
          <a:bodyPr wrap="square" lIns="0" tIns="0" rIns="0" bIns="0" rtlCol="0" anchor="t"/>
          <a:lstStyle/>
          <a:p>
            <a:pPr indent="0" marL="0">
              <a:buNone/>
            </a:pPr>
            <a:r>
              <a:rPr lang="en-US" sz="1400" dirty="0">
                <a:solidFill>
                  <a:schemeClr val="tx1"/>
                </a:solidFill>
              </a:rPr>
              <a:t>Close a false positive where the mismatch is evidenced and independently checked. Request information. Escalate.</a:t>
            </a:r>
            <a:endParaRPr lang="en-US" sz="1400" dirty="0"/>
          </a:p>
        </p:txBody>
      </p:sp>
      <p:sp>
        <p:nvSpPr>
          <p:cNvPr id="22" name="reserved"/>
          <p:cNvSpPr/>
          <p:nvPr/>
        </p:nvSpPr>
        <p:spPr>
          <a:xfrm>
            <a:off x="6172200" y="3401568"/>
            <a:ext cx="5440680" cy="1024128"/>
          </a:xfrm>
          <a:prstGeom prst="roundRect">
            <a:avLst>
              <a:gd name="adj" fmla="val 10714"/>
            </a:avLst>
          </a:prstGeom>
          <a:solidFill>
            <a:schemeClr val="bg2"/>
          </a:solidFill>
          <a:ln w="12700">
            <a:solidFill>
              <a:schemeClr val="bg2"/>
            </a:solidFill>
            <a:prstDash val="solid"/>
          </a:ln>
        </p:spPr>
      </p:sp>
      <p:sp>
        <p:nvSpPr>
          <p:cNvPr id="23" name="text"/>
          <p:cNvSpPr txBox="1"/>
          <p:nvPr/>
        </p:nvSpPr>
        <p:spPr>
          <a:xfrm>
            <a:off x="6400800" y="3493008"/>
            <a:ext cx="502920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RESERVED FOR L2 / L3</a:t>
            </a:r>
            <a:endParaRPr lang="en-US" sz="1100" dirty="0"/>
          </a:p>
        </p:txBody>
      </p:sp>
      <p:sp>
        <p:nvSpPr>
          <p:cNvPr id="24" name="text"/>
          <p:cNvSpPr txBox="1"/>
          <p:nvPr/>
        </p:nvSpPr>
        <p:spPr>
          <a:xfrm>
            <a:off x="6400800" y="3749040"/>
            <a:ext cx="5029200" cy="640080"/>
          </a:xfrm>
          <a:prstGeom prst="rect">
            <a:avLst/>
          </a:prstGeom>
          <a:noFill/>
          <a:ln/>
        </p:spPr>
        <p:txBody>
          <a:bodyPr wrap="square" lIns="0" tIns="0" rIns="0" bIns="0" rtlCol="0" anchor="t"/>
          <a:lstStyle/>
          <a:p>
            <a:pPr indent="0" marL="0">
              <a:buNone/>
            </a:pPr>
            <a:r>
              <a:rPr lang="en-US" sz="1400" dirty="0">
                <a:solidFill>
                  <a:schemeClr val="tx1"/>
                </a:solidFill>
              </a:rPr>
              <a:t>Releasing an unresolved match, freeze or reject, licences and exceptions, regulatory reporting, and any explanation to the customer.</a:t>
            </a:r>
            <a:endParaRPr lang="en-US" sz="1400" dirty="0"/>
          </a:p>
        </p:txBody>
      </p:sp>
      <p:sp>
        <p:nvSpPr>
          <p:cNvPr id="25" name="text"/>
          <p:cNvSpPr txBox="1"/>
          <p:nvPr/>
        </p:nvSpPr>
        <p:spPr>
          <a:xfrm>
            <a:off x="548640" y="4544568"/>
            <a:ext cx="11064240" cy="530352"/>
          </a:xfrm>
          <a:prstGeom prst="rect">
            <a:avLst/>
          </a:prstGeom>
          <a:noFill/>
          <a:ln/>
        </p:spPr>
        <p:txBody>
          <a:bodyPr wrap="square" lIns="0" tIns="0" rIns="0" bIns="0" rtlCol="0" anchor="t"/>
          <a:lstStyle/>
          <a:p>
            <a:pPr indent="0" marL="0">
              <a:buNone/>
            </a:pPr>
            <a:r>
              <a:rPr lang="en-US" sz="1400" b="1" dirty="0">
                <a:solidFill>
                  <a:schemeClr val="tx1"/>
                </a:solidFill>
              </a:rPr>
              <a:t>Escalation path:  </a:t>
            </a:r>
            <a:pPr indent="0" marL="0">
              <a:buNone/>
            </a:pPr>
            <a:r>
              <a:rPr lang="en-US" sz="1400" dirty="0">
                <a:solidFill>
                  <a:schemeClr val="tx1"/>
                </a:solidFill>
              </a:rPr>
              <a:t>L1 analyst → 4-eye review → L2 Sanctions Compliance → L3 / Global Head of Sanctions and CCO → Treasury and regional MLROs execute the freeze and reporting steps.</a:t>
            </a:r>
            <a:endParaRPr lang="en-US" sz="1400" dirty="0"/>
          </a:p>
        </p:txBody>
      </p:sp>
      <p:sp>
        <p:nvSpPr>
          <p:cNvPr id="2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2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2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The first minutes decide whether funds leave. A released payment is hard to recall, and returning funds can itself be a breach.</a:t>
            </a:r>
            <a:endParaRPr lang="en-US" sz="1400" dirty="0"/>
          </a:p>
        </p:txBody>
      </p:sp>
      <p:sp>
        <p:nvSpPr>
          <p:cNvPr id="2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Close only evidenced false positives, with a 4-eye check. Anything confirmed or unresolved goes to L2 — never release it.</a:t>
            </a:r>
            <a:endParaRPr lang="en-US" sz="1400" dirty="0"/>
          </a:p>
        </p:txBody>
      </p:sp>
      <p:sp>
        <p:nvSpPr>
          <p:cNvPr id="3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Checkout Global Sanctions Reporting Procedure — escalation and operating model (cite section).</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childTnLst>
                          </p:cTn>
                        </p:par>
                        <p:par>
                          <p:cTn id="17" fill="hold">
                            <p:stCondLst>
                              <p:cond delay="45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childTnLst>
                          </p:cTn>
                        </p:par>
                        <p:par>
                          <p:cTn id="30" fill="hold">
                            <p:stCondLst>
                              <p:cond delay="9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2" grpId="0" animBg="1"/>
      <p:bldP spid="13" grpId="0" animBg="1"/>
      <p:bldP spid="15"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2 OF 4</a:t>
            </a: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lIns="0" tIns="0" rIns="0" bIns="0" rtlCol="0" anchor="ctr"/>
          <a:lstStyle/>
          <a:p>
            <a:pPr algn="l" indent="0" marL="0">
              <a:buNone/>
            </a:pPr>
            <a:r>
              <a:rPr lang="en-US" sz="3000" b="1" dirty="0">
                <a:solidFill>
                  <a:schemeClr val="bg1"/>
                </a:solidFill>
              </a:rPr>
              <a:t>Compare the regions</a:t>
            </a:r>
            <a:endParaRPr lang="en-US" sz="3000" dirty="0"/>
          </a:p>
        </p:txBody>
      </p:sp>
      <p:sp>
        <p:nvSpPr>
          <p:cNvPr id="4" name="part 2 circle"/>
          <p:cNvSpPr/>
          <p:nvPr/>
        </p:nvSpPr>
        <p:spPr>
          <a:xfrm>
            <a:off x="10561320" y="320040"/>
            <a:ext cx="1005840" cy="1005840"/>
          </a:xfrm>
          <a:prstGeom prst="ellipse">
            <a:avLst/>
          </a:prstGeom>
          <a:solidFill>
            <a:schemeClr val="accent4"/>
          </a:solidFill>
          <a:ln w="12700">
            <a:solidFill>
              <a:schemeClr val="accent4"/>
            </a:solidFill>
            <a:prstDash val="solid"/>
          </a:ln>
        </p:spPr>
      </p:sp>
      <p:pic>
        <p:nvPicPr>
          <p:cNvPr id="5" name="part 2 icon" descr="preencoded.png">    </p:cNvPr>
          <p:cNvPicPr>
            <a:picLocks noChangeAspect="1"/>
          </p:cNvPicPr>
          <p:nvPr/>
        </p:nvPicPr>
        <p:blipFill>
          <a:blip r:embed="rId1"/>
          <a:stretch>
            <a:fillRect/>
          </a:stretch>
        </p:blipFill>
        <p:spPr>
          <a:xfrm>
            <a:off x="10762488" y="521208"/>
            <a:ext cx="603504" cy="603504"/>
          </a:xfrm>
          <a:prstGeom prst="rect">
            <a:avLst/>
          </a:prstGeom>
        </p:spPr>
      </p:pic>
      <p:sp>
        <p:nvSpPr>
          <p:cNvPr id="6" name="text"/>
          <p:cNvSpPr txBox="1"/>
          <p:nvPr/>
        </p:nvSpPr>
        <p:spPr>
          <a:xfrm>
            <a:off x="548640" y="1234440"/>
            <a:ext cx="9601200" cy="438912"/>
          </a:xfrm>
          <a:prstGeom prst="rect">
            <a:avLst/>
          </a:prstGeom>
          <a:noFill/>
          <a:ln/>
        </p:spPr>
        <p:txBody>
          <a:bodyPr wrap="square" lIns="0" tIns="0" rIns="0" bIns="0" rtlCol="0" anchor="t"/>
          <a:lstStyle/>
          <a:p>
            <a:pPr indent="0" marL="0">
              <a:buNone/>
            </a:pPr>
            <a:r>
              <a:rPr lang="en-US" sz="2200" b="1" i="1" dirty="0">
                <a:solidFill>
                  <a:schemeClr val="accent2"/>
                </a:solidFill>
              </a:rPr>
              <a:t>Regional rules differ.</a:t>
            </a:r>
            <a:endParaRPr lang="en-US" sz="2200" dirty="0"/>
          </a:p>
        </p:txBody>
      </p:sp>
      <p:sp>
        <p:nvSpPr>
          <p:cNvPr id="7" name="text"/>
          <p:cNvSpPr txBox="1"/>
          <p:nvPr/>
        </p:nvSpPr>
        <p:spPr>
          <a:xfrm>
            <a:off x="548640" y="1700784"/>
            <a:ext cx="10515600" cy="292608"/>
          </a:xfrm>
          <a:prstGeom prst="rect">
            <a:avLst/>
          </a:prstGeom>
          <a:noFill/>
          <a:ln/>
        </p:spPr>
        <p:txBody>
          <a:bodyPr wrap="square" lIns="0" tIns="0" rIns="0" bIns="0" rtlCol="0" anchor="t"/>
          <a:lstStyle/>
          <a:p>
            <a:pPr indent="0" marL="0">
              <a:buNone/>
            </a:pPr>
            <a:r>
              <a:rPr lang="en-US" sz="1400" i="1" dirty="0">
                <a:solidFill>
                  <a:schemeClr val="accent5"/>
                </a:solidFill>
              </a:rPr>
              <a:t>Building on Part 1: you can recognise exposure and know the first response.</a:t>
            </a:r>
            <a:endParaRPr lang="en-US" sz="1400" dirty="0"/>
          </a:p>
        </p:txBody>
      </p:sp>
      <p:sp>
        <p:nvSpPr>
          <p:cNvPr id="8" name="text"/>
          <p:cNvSpPr txBox="1"/>
          <p:nvPr/>
        </p:nvSpPr>
        <p:spPr>
          <a:xfrm>
            <a:off x="548640" y="2029968"/>
            <a:ext cx="10789920" cy="731520"/>
          </a:xfrm>
          <a:prstGeom prst="rect">
            <a:avLst/>
          </a:prstGeom>
          <a:noFill/>
          <a:ln/>
        </p:spPr>
        <p:txBody>
          <a:bodyPr wrap="square" lIns="0" tIns="0" rIns="0" bIns="0" rtlCol="0" anchor="t"/>
          <a:lstStyle/>
          <a:p>
            <a:pPr indent="0" marL="0">
              <a:buNone/>
            </a:pPr>
            <a:r>
              <a:rPr lang="en-US" sz="1700" dirty="0">
                <a:solidFill>
                  <a:schemeClr val="bg1"/>
                </a:solidFill>
              </a:rPr>
              <a:t>The model is constant, but the rulebooks are not. We take each regime in turn — MENA, Singapore, Hong Kong, UK, France / EU, US — then compare them side by side.</a:t>
            </a:r>
            <a:endParaRPr lang="en-US" sz="1700" dirty="0"/>
          </a:p>
        </p:txBody>
      </p:sp>
      <p:sp>
        <p:nvSpPr>
          <p:cNvPr id="9" name="In this part"/>
          <p:cNvSpPr/>
          <p:nvPr/>
        </p:nvSpPr>
        <p:spPr>
          <a:xfrm>
            <a:off x="548640" y="2880360"/>
            <a:ext cx="2651760" cy="2743200"/>
          </a:xfrm>
          <a:prstGeom prst="roundRect">
            <a:avLst>
              <a:gd name="adj" fmla="val 4138"/>
            </a:avLst>
          </a:prstGeom>
          <a:solidFill>
            <a:schemeClr val="tx1"/>
          </a:solidFill>
          <a:ln w="12700">
            <a:solidFill>
              <a:schemeClr val="accent4"/>
            </a:solidFill>
            <a:prstDash val="solid"/>
          </a:ln>
        </p:spPr>
      </p:sp>
      <p:sp>
        <p:nvSpPr>
          <p:cNvPr id="10" name="text"/>
          <p:cNvSpPr txBox="1"/>
          <p:nvPr/>
        </p:nvSpPr>
        <p:spPr>
          <a:xfrm>
            <a:off x="731520"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IN THIS PART</a:t>
            </a:r>
            <a:endParaRPr lang="en-US" sz="1100" dirty="0"/>
          </a:p>
        </p:txBody>
      </p:sp>
      <p:sp>
        <p:nvSpPr>
          <p:cNvPr id="11" name="text"/>
          <p:cNvSpPr txBox="1"/>
          <p:nvPr/>
        </p:nvSpPr>
        <p:spPr>
          <a:xfrm>
            <a:off x="731520" y="3337560"/>
            <a:ext cx="233172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Which rules apply</a:t>
            </a:r>
            <a:endParaRPr lang="en-US" sz="1400" dirty="0"/>
          </a:p>
          <a:p>
            <a:pPr marL="342900" indent="-342900">
              <a:spcAft>
                <a:spcPts val="400"/>
              </a:spcAft>
              <a:buSzPct val="100000"/>
              <a:buChar char="•"/>
            </a:pPr>
            <a:r>
              <a:rPr lang="en-US" sz="1400" dirty="0">
                <a:solidFill>
                  <a:schemeClr val="bg1"/>
                </a:solidFill>
              </a:rPr>
              <a:t>One slide per regime: MENA, Singapore, Hong Kong, UK, France / EU, US</a:t>
            </a:r>
            <a:endParaRPr lang="en-US" sz="1400" dirty="0"/>
          </a:p>
          <a:p>
            <a:pPr marL="342900" indent="-342900">
              <a:spcAft>
                <a:spcPts val="400"/>
              </a:spcAft>
              <a:buSzPct val="100000"/>
              <a:buChar char="•"/>
            </a:pPr>
            <a:r>
              <a:rPr lang="en-US" sz="1400" dirty="0">
                <a:solidFill>
                  <a:schemeClr val="bg1"/>
                </a:solidFill>
              </a:rPr>
              <a:t>Six regimes side by side</a:t>
            </a:r>
            <a:endParaRPr lang="en-US" sz="1400" dirty="0"/>
          </a:p>
          <a:p>
            <a:pPr marL="342900" indent="-342900">
              <a:spcAft>
                <a:spcPts val="400"/>
              </a:spcAft>
              <a:buSzPct val="100000"/>
              <a:buChar char="•"/>
            </a:pPr>
            <a:r>
              <a:rPr lang="en-US" sz="1400" dirty="0">
                <a:solidFill>
                  <a:schemeClr val="bg1"/>
                </a:solidFill>
              </a:rPr>
              <a:t>Ownership and control</a:t>
            </a:r>
            <a:endParaRPr lang="en-US" sz="1400" dirty="0"/>
          </a:p>
          <a:p>
            <a:pPr marL="342900" indent="-342900">
              <a:spcAft>
                <a:spcPts val="400"/>
              </a:spcAft>
              <a:buSzPct val="100000"/>
              <a:buChar char="•"/>
            </a:pPr>
            <a:r>
              <a:rPr lang="en-US" sz="1400" dirty="0">
                <a:solidFill>
                  <a:schemeClr val="bg1"/>
                </a:solidFill>
              </a:rPr>
              <a:t>Freeze, block and reject</a:t>
            </a:r>
            <a:endParaRPr lang="en-US" sz="1400" dirty="0"/>
          </a:p>
        </p:txBody>
      </p:sp>
      <p:sp>
        <p:nvSpPr>
          <p:cNvPr id="12" name="Why it matters"/>
          <p:cNvSpPr/>
          <p:nvPr/>
        </p:nvSpPr>
        <p:spPr>
          <a:xfrm>
            <a:off x="3346704" y="2880360"/>
            <a:ext cx="2651760" cy="2743200"/>
          </a:xfrm>
          <a:prstGeom prst="roundRect">
            <a:avLst>
              <a:gd name="adj" fmla="val 4138"/>
            </a:avLst>
          </a:prstGeom>
          <a:solidFill>
            <a:schemeClr val="tx1"/>
          </a:solidFill>
          <a:ln w="12700">
            <a:solidFill>
              <a:schemeClr val="accent4"/>
            </a:solidFill>
            <a:prstDash val="solid"/>
          </a:ln>
        </p:spPr>
      </p:sp>
      <p:sp>
        <p:nvSpPr>
          <p:cNvPr id="13" name="text"/>
          <p:cNvSpPr txBox="1"/>
          <p:nvPr/>
        </p:nvSpPr>
        <p:spPr>
          <a:xfrm>
            <a:off x="3529584"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4" name="text"/>
          <p:cNvSpPr txBox="1"/>
          <p:nvPr/>
        </p:nvSpPr>
        <p:spPr>
          <a:xfrm>
            <a:off x="3529584"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A payment can be clear under one rulebook and prohibited under another. Missing that is a breach, even if no one intended it.</a:t>
            </a:r>
            <a:endParaRPr lang="en-US" sz="1400" dirty="0"/>
          </a:p>
        </p:txBody>
      </p:sp>
      <p:sp>
        <p:nvSpPr>
          <p:cNvPr id="15" name="What it means for you"/>
          <p:cNvSpPr/>
          <p:nvPr/>
        </p:nvSpPr>
        <p:spPr>
          <a:xfrm>
            <a:off x="6144768" y="2880360"/>
            <a:ext cx="2651760" cy="2743200"/>
          </a:xfrm>
          <a:prstGeom prst="roundRect">
            <a:avLst>
              <a:gd name="adj" fmla="val 4138"/>
            </a:avLst>
          </a:prstGeom>
          <a:solidFill>
            <a:schemeClr val="tx1"/>
          </a:solidFill>
          <a:ln w="12700">
            <a:solidFill>
              <a:schemeClr val="accent4"/>
            </a:solidFill>
            <a:prstDash val="solid"/>
          </a:ln>
        </p:spPr>
      </p:sp>
      <p:sp>
        <p:nvSpPr>
          <p:cNvPr id="16" name="text"/>
          <p:cNvSpPr txBox="1"/>
          <p:nvPr/>
        </p:nvSpPr>
        <p:spPr>
          <a:xfrm>
            <a:off x="6327648"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7" name="text"/>
          <p:cNvSpPr txBox="1"/>
          <p:nvPr/>
        </p:nvSpPr>
        <p:spPr>
          <a:xfrm>
            <a:off x="6327648"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Confirm the Checkout legal entity, payment route and currency from the case record, and check the Country Risk Rating and legal-entity HRTC registers.</a:t>
            </a:r>
            <a:endParaRPr lang="en-US" sz="1400" dirty="0"/>
          </a:p>
        </p:txBody>
      </p:sp>
      <p:sp>
        <p:nvSpPr>
          <p:cNvPr id="18" name="Ask yourself"/>
          <p:cNvSpPr/>
          <p:nvPr/>
        </p:nvSpPr>
        <p:spPr>
          <a:xfrm>
            <a:off x="8942832" y="2880360"/>
            <a:ext cx="2651760" cy="2743200"/>
          </a:xfrm>
          <a:prstGeom prst="roundRect">
            <a:avLst>
              <a:gd name="adj" fmla="val 4138"/>
            </a:avLst>
          </a:prstGeom>
          <a:solidFill>
            <a:schemeClr val="tx1"/>
          </a:solidFill>
          <a:ln w="12700">
            <a:solidFill>
              <a:schemeClr val="accent4"/>
            </a:solidFill>
            <a:prstDash val="solid"/>
          </a:ln>
        </p:spPr>
      </p:sp>
      <p:sp>
        <p:nvSpPr>
          <p:cNvPr id="19" name="text"/>
          <p:cNvSpPr txBox="1"/>
          <p:nvPr/>
        </p:nvSpPr>
        <p:spPr>
          <a:xfrm>
            <a:off x="9125712"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ASK YOURSELF</a:t>
            </a:r>
            <a:endParaRPr lang="en-US" sz="1100" dirty="0"/>
          </a:p>
        </p:txBody>
      </p:sp>
      <p:sp>
        <p:nvSpPr>
          <p:cNvPr id="20" name="text"/>
          <p:cNvSpPr txBox="1"/>
          <p:nvPr/>
        </p:nvSpPr>
        <p:spPr>
          <a:xfrm>
            <a:off x="9125712" y="3337560"/>
            <a:ext cx="2286000" cy="2194560"/>
          </a:xfrm>
          <a:prstGeom prst="rect">
            <a:avLst/>
          </a:prstGeom>
          <a:noFill/>
          <a:ln/>
        </p:spPr>
        <p:txBody>
          <a:bodyPr wrap="square" lIns="0" tIns="0" rIns="0" bIns="0" rtlCol="0" anchor="t"/>
          <a:lstStyle/>
          <a:p>
            <a:pPr indent="0" marL="0">
              <a:buNone/>
            </a:pPr>
            <a:r>
              <a:rPr lang="en-US" sz="1600" i="1" dirty="0">
                <a:solidFill>
                  <a:schemeClr val="bg1"/>
                </a:solidFill>
              </a:rPr>
              <a:t>Which Checkout entity processed this payment — and which countries, currencies and banks does it touch?</a:t>
            </a:r>
            <a:endParaRPr lang="en-US" sz="1600" dirty="0"/>
          </a:p>
        </p:txBody>
      </p:sp>
      <p:sp>
        <p:nvSpPr>
          <p:cNvPr id="21" name="progress 1"/>
          <p:cNvSpPr/>
          <p:nvPr/>
        </p:nvSpPr>
        <p:spPr>
          <a:xfrm>
            <a:off x="548640" y="5833872"/>
            <a:ext cx="2651760" cy="384048"/>
          </a:xfrm>
          <a:prstGeom prst="roundRect">
            <a:avLst>
              <a:gd name="adj" fmla="val 50000"/>
            </a:avLst>
          </a:prstGeom>
          <a:solidFill>
            <a:schemeClr val="tx2"/>
          </a:solidFill>
          <a:ln w="12700">
            <a:solidFill>
              <a:schemeClr val="accent4"/>
            </a:solidFill>
            <a:prstDash val="solid"/>
          </a:ln>
        </p:spPr>
      </p:sp>
      <p:sp>
        <p:nvSpPr>
          <p:cNvPr id="22" name="text"/>
          <p:cNvSpPr txBox="1"/>
          <p:nvPr/>
        </p:nvSpPr>
        <p:spPr>
          <a:xfrm>
            <a:off x="548640"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1  Understand the model</a:t>
            </a:r>
            <a:endParaRPr lang="en-US" sz="1300" dirty="0"/>
          </a:p>
        </p:txBody>
      </p:sp>
      <p:sp>
        <p:nvSpPr>
          <p:cNvPr id="23" name="progress 2"/>
          <p:cNvSpPr/>
          <p:nvPr/>
        </p:nvSpPr>
        <p:spPr>
          <a:xfrm>
            <a:off x="3346704" y="5833872"/>
            <a:ext cx="2651760" cy="384048"/>
          </a:xfrm>
          <a:prstGeom prst="roundRect">
            <a:avLst>
              <a:gd name="adj" fmla="val 50000"/>
            </a:avLst>
          </a:prstGeom>
          <a:solidFill>
            <a:schemeClr val="accent4"/>
          </a:solidFill>
          <a:ln w="12700">
            <a:solidFill>
              <a:schemeClr val="accent4"/>
            </a:solidFill>
            <a:prstDash val="solid"/>
          </a:ln>
        </p:spPr>
      </p:sp>
      <p:sp>
        <p:nvSpPr>
          <p:cNvPr id="24" name="text"/>
          <p:cNvSpPr txBox="1"/>
          <p:nvPr/>
        </p:nvSpPr>
        <p:spPr>
          <a:xfrm>
            <a:off x="3346704" y="5833872"/>
            <a:ext cx="2651760" cy="384048"/>
          </a:xfrm>
          <a:prstGeom prst="rect">
            <a:avLst/>
          </a:prstGeom>
          <a:noFill/>
          <a:ln/>
        </p:spPr>
        <p:txBody>
          <a:bodyPr wrap="square" lIns="0" tIns="0" rIns="0" bIns="0" rtlCol="0" anchor="ctr"/>
          <a:lstStyle/>
          <a:p>
            <a:pPr algn="ctr" indent="0" marL="0">
              <a:buNone/>
            </a:pPr>
            <a:r>
              <a:rPr lang="en-US" sz="1300" b="1" dirty="0">
                <a:solidFill>
                  <a:schemeClr val="bg1"/>
                </a:solidFill>
              </a:rPr>
              <a:t>2  Compare the regions</a:t>
            </a:r>
            <a:endParaRPr lang="en-US" sz="1300" dirty="0"/>
          </a:p>
        </p:txBody>
      </p:sp>
      <p:sp>
        <p:nvSpPr>
          <p:cNvPr id="25" name="progress 3"/>
          <p:cNvSpPr/>
          <p:nvPr/>
        </p:nvSpPr>
        <p:spPr>
          <a:xfrm>
            <a:off x="6144768" y="5833872"/>
            <a:ext cx="2651760" cy="384048"/>
          </a:xfrm>
          <a:prstGeom prst="roundRect">
            <a:avLst>
              <a:gd name="adj" fmla="val 50000"/>
            </a:avLst>
          </a:prstGeom>
          <a:solidFill>
            <a:schemeClr val="tx2"/>
          </a:solidFill>
          <a:ln w="12700">
            <a:solidFill>
              <a:schemeClr val="accent4"/>
            </a:solidFill>
            <a:prstDash val="solid"/>
          </a:ln>
        </p:spPr>
      </p:sp>
      <p:sp>
        <p:nvSpPr>
          <p:cNvPr id="26" name="text"/>
          <p:cNvSpPr txBox="1"/>
          <p:nvPr/>
        </p:nvSpPr>
        <p:spPr>
          <a:xfrm>
            <a:off x="6144768"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3  Apply the indicators</a:t>
            </a:r>
            <a:endParaRPr lang="en-US" sz="1300" dirty="0"/>
          </a:p>
        </p:txBody>
      </p:sp>
      <p:sp>
        <p:nvSpPr>
          <p:cNvPr id="27" name="progress 4"/>
          <p:cNvSpPr/>
          <p:nvPr/>
        </p:nvSpPr>
        <p:spPr>
          <a:xfrm>
            <a:off x="8942832" y="5833872"/>
            <a:ext cx="2651760" cy="384048"/>
          </a:xfrm>
          <a:prstGeom prst="roundRect">
            <a:avLst>
              <a:gd name="adj" fmla="val 50000"/>
            </a:avLst>
          </a:prstGeom>
          <a:solidFill>
            <a:schemeClr val="tx2"/>
          </a:solidFill>
          <a:ln w="12700">
            <a:solidFill>
              <a:schemeClr val="accent4"/>
            </a:solidFill>
            <a:prstDash val="solid"/>
          </a:ln>
        </p:spPr>
      </p:sp>
      <p:sp>
        <p:nvSpPr>
          <p:cNvPr id="28" name="text"/>
          <p:cNvSpPr txBox="1"/>
          <p:nvPr/>
        </p:nvSpPr>
        <p:spPr>
          <a:xfrm>
            <a:off x="8942832"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4  Record the decision</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Which rules apply? Every regime the payment touches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Check every country the payment touches — not just the local one.</a:t>
            </a:r>
            <a:endParaRPr lang="en-US" sz="1700" dirty="0"/>
          </a:p>
        </p:txBody>
      </p:sp>
      <p:sp>
        <p:nvSpPr>
          <p:cNvPr id="5" name="text"/>
          <p:cNvSpPr txBox="1"/>
          <p:nvPr/>
        </p:nvSpPr>
        <p:spPr>
          <a:xfrm>
            <a:off x="548640" y="1554480"/>
            <a:ext cx="512064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APPLY EVERY LAYER, IN ORDER</a:t>
            </a:r>
            <a:endParaRPr lang="en-US" sz="1100" dirty="0"/>
          </a:p>
        </p:txBody>
      </p:sp>
      <p:sp>
        <p:nvSpPr>
          <p:cNvPr id="6" name="layer 1"/>
          <p:cNvSpPr/>
          <p:nvPr/>
        </p:nvSpPr>
        <p:spPr>
          <a:xfrm>
            <a:off x="548640" y="1828800"/>
            <a:ext cx="5120640" cy="731520"/>
          </a:xfrm>
          <a:prstGeom prst="roundRect">
            <a:avLst>
              <a:gd name="adj" fmla="val 15000"/>
            </a:avLst>
          </a:prstGeom>
          <a:solidFill>
            <a:schemeClr val="tx1"/>
          </a:solidFill>
          <a:ln w="12700">
            <a:solidFill>
              <a:schemeClr val="tx1"/>
            </a:solidFill>
            <a:prstDash val="solid"/>
          </a:ln>
        </p:spPr>
      </p:sp>
      <p:sp>
        <p:nvSpPr>
          <p:cNvPr id="7" name="badge"/>
          <p:cNvSpPr/>
          <p:nvPr/>
        </p:nvSpPr>
        <p:spPr>
          <a:xfrm>
            <a:off x="713232" y="1965960"/>
            <a:ext cx="457200" cy="457200"/>
          </a:xfrm>
          <a:prstGeom prst="ellipse">
            <a:avLst/>
          </a:prstGeom>
          <a:solidFill>
            <a:schemeClr val="accent1"/>
          </a:solidFill>
          <a:ln w="12700">
            <a:solidFill>
              <a:schemeClr val="accent1"/>
            </a:solidFill>
            <a:prstDash val="solid"/>
          </a:ln>
        </p:spPr>
      </p:sp>
      <p:sp>
        <p:nvSpPr>
          <p:cNvPr id="8" name="badge text"/>
          <p:cNvSpPr txBox="1"/>
          <p:nvPr/>
        </p:nvSpPr>
        <p:spPr>
          <a:xfrm>
            <a:off x="713232"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p:cNvSpPr txBox="1"/>
          <p:nvPr/>
        </p:nvSpPr>
        <p:spPr>
          <a:xfrm>
            <a:off x="1371600" y="1901952"/>
            <a:ext cx="4160520" cy="292608"/>
          </a:xfrm>
          <a:prstGeom prst="rect">
            <a:avLst/>
          </a:prstGeom>
          <a:noFill/>
          <a:ln/>
        </p:spPr>
        <p:txBody>
          <a:bodyPr wrap="square" lIns="0" tIns="0" rIns="0" bIns="0" rtlCol="0" anchor="t"/>
          <a:lstStyle/>
          <a:p>
            <a:pPr indent="0" marL="0">
              <a:buNone/>
            </a:pPr>
            <a:r>
              <a:rPr lang="en-US" sz="1600" b="1" dirty="0">
                <a:solidFill>
                  <a:schemeClr val="bg1"/>
                </a:solidFill>
              </a:rPr>
              <a:t>Local law</a:t>
            </a:r>
            <a:endParaRPr lang="en-US" sz="1600" dirty="0"/>
          </a:p>
        </p:txBody>
      </p:sp>
      <p:sp>
        <p:nvSpPr>
          <p:cNvPr id="10" name="text"/>
          <p:cNvSpPr txBox="1"/>
          <p:nvPr/>
        </p:nvSpPr>
        <p:spPr>
          <a:xfrm>
            <a:off x="1371600" y="2212848"/>
            <a:ext cx="4160520" cy="292608"/>
          </a:xfrm>
          <a:prstGeom prst="rect">
            <a:avLst/>
          </a:prstGeom>
          <a:noFill/>
          <a:ln/>
        </p:spPr>
        <p:txBody>
          <a:bodyPr wrap="square" lIns="0" tIns="0" rIns="0" bIns="0" rtlCol="0" anchor="t"/>
          <a:lstStyle/>
          <a:p>
            <a:pPr indent="0" marL="0">
              <a:buNone/>
            </a:pPr>
            <a:r>
              <a:rPr lang="en-US" sz="1400" dirty="0">
                <a:solidFill>
                  <a:schemeClr val="accent5"/>
                </a:solidFill>
              </a:rPr>
              <a:t>Of the Checkout legal entity processing the payment</a:t>
            </a:r>
            <a:endParaRPr lang="en-US" sz="1400" dirty="0"/>
          </a:p>
        </p:txBody>
      </p:sp>
      <p:sp>
        <p:nvSpPr>
          <p:cNvPr id="11" name="layer 2"/>
          <p:cNvSpPr/>
          <p:nvPr/>
        </p:nvSpPr>
        <p:spPr>
          <a:xfrm>
            <a:off x="548640" y="2633472"/>
            <a:ext cx="5120640" cy="731520"/>
          </a:xfrm>
          <a:prstGeom prst="roundRect">
            <a:avLst>
              <a:gd name="adj" fmla="val 15000"/>
            </a:avLst>
          </a:prstGeom>
          <a:solidFill>
            <a:schemeClr val="bg2"/>
          </a:solidFill>
          <a:ln w="12700">
            <a:solidFill>
              <a:schemeClr val="bg2"/>
            </a:solidFill>
            <a:prstDash val="solid"/>
          </a:ln>
        </p:spPr>
      </p:sp>
      <p:sp>
        <p:nvSpPr>
          <p:cNvPr id="12" name="badge"/>
          <p:cNvSpPr/>
          <p:nvPr/>
        </p:nvSpPr>
        <p:spPr>
          <a:xfrm>
            <a:off x="713232" y="2770632"/>
            <a:ext cx="457200" cy="457200"/>
          </a:xfrm>
          <a:prstGeom prst="ellipse">
            <a:avLst/>
          </a:prstGeom>
          <a:solidFill>
            <a:schemeClr val="tx1"/>
          </a:solidFill>
          <a:ln w="12700">
            <a:solidFill>
              <a:schemeClr val="tx1"/>
            </a:solidFill>
            <a:prstDash val="solid"/>
          </a:ln>
        </p:spPr>
      </p:sp>
      <p:sp>
        <p:nvSpPr>
          <p:cNvPr id="13" name="badge text"/>
          <p:cNvSpPr txBox="1"/>
          <p:nvPr/>
        </p:nvSpPr>
        <p:spPr>
          <a:xfrm>
            <a:off x="713232" y="2770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p:cNvSpPr txBox="1"/>
          <p:nvPr/>
        </p:nvSpPr>
        <p:spPr>
          <a:xfrm>
            <a:off x="1371600" y="2706624"/>
            <a:ext cx="4160520" cy="292608"/>
          </a:xfrm>
          <a:prstGeom prst="rect">
            <a:avLst/>
          </a:prstGeom>
          <a:noFill/>
          <a:ln/>
        </p:spPr>
        <p:txBody>
          <a:bodyPr wrap="square" lIns="0" tIns="0" rIns="0" bIns="0" rtlCol="0" anchor="t"/>
          <a:lstStyle/>
          <a:p>
            <a:pPr indent="0" marL="0">
              <a:buNone/>
            </a:pPr>
            <a:r>
              <a:rPr lang="en-US" sz="1600" b="1" dirty="0">
                <a:solidFill>
                  <a:schemeClr val="tx1"/>
                </a:solidFill>
              </a:rPr>
              <a:t>Group policy</a:t>
            </a:r>
            <a:endParaRPr lang="en-US" sz="1600" dirty="0"/>
          </a:p>
        </p:txBody>
      </p:sp>
      <p:sp>
        <p:nvSpPr>
          <p:cNvPr id="15" name="text"/>
          <p:cNvSpPr txBox="1"/>
          <p:nvPr/>
        </p:nvSpPr>
        <p:spPr>
          <a:xfrm>
            <a:off x="1371600" y="3017520"/>
            <a:ext cx="4160520" cy="292608"/>
          </a:xfrm>
          <a:prstGeom prst="rect">
            <a:avLst/>
          </a:prstGeom>
          <a:noFill/>
          <a:ln/>
        </p:spPr>
        <p:txBody>
          <a:bodyPr wrap="square" lIns="0" tIns="0" rIns="0" bIns="0" rtlCol="0" anchor="t"/>
          <a:lstStyle/>
          <a:p>
            <a:pPr indent="0" marL="0">
              <a:buNone/>
            </a:pPr>
            <a:r>
              <a:rPr lang="en-US" sz="1400" dirty="0">
                <a:solidFill>
                  <a:schemeClr val="accent6"/>
                </a:solidFill>
              </a:rPr>
              <a:t>Our Global Sanctions Reporting Procedure</a:t>
            </a:r>
            <a:endParaRPr lang="en-US" sz="1400" dirty="0"/>
          </a:p>
        </p:txBody>
      </p:sp>
      <p:sp>
        <p:nvSpPr>
          <p:cNvPr id="16" name="layer 3"/>
          <p:cNvSpPr/>
          <p:nvPr/>
        </p:nvSpPr>
        <p:spPr>
          <a:xfrm>
            <a:off x="548640" y="3438144"/>
            <a:ext cx="5120640" cy="731520"/>
          </a:xfrm>
          <a:prstGeom prst="roundRect">
            <a:avLst>
              <a:gd name="adj" fmla="val 15000"/>
            </a:avLst>
          </a:prstGeom>
          <a:solidFill>
            <a:schemeClr val="bg2"/>
          </a:solidFill>
          <a:ln w="12700">
            <a:solidFill>
              <a:schemeClr val="bg2"/>
            </a:solidFill>
            <a:prstDash val="solid"/>
          </a:ln>
        </p:spPr>
      </p:sp>
      <p:sp>
        <p:nvSpPr>
          <p:cNvPr id="17" name="badge"/>
          <p:cNvSpPr/>
          <p:nvPr/>
        </p:nvSpPr>
        <p:spPr>
          <a:xfrm>
            <a:off x="713232" y="3575304"/>
            <a:ext cx="457200" cy="457200"/>
          </a:xfrm>
          <a:prstGeom prst="ellipse">
            <a:avLst/>
          </a:prstGeom>
          <a:solidFill>
            <a:schemeClr val="tx1"/>
          </a:solidFill>
          <a:ln w="12700">
            <a:solidFill>
              <a:schemeClr val="tx1"/>
            </a:solidFill>
            <a:prstDash val="solid"/>
          </a:ln>
        </p:spPr>
      </p:sp>
      <p:sp>
        <p:nvSpPr>
          <p:cNvPr id="18" name="badge text"/>
          <p:cNvSpPr txBox="1"/>
          <p:nvPr/>
        </p:nvSpPr>
        <p:spPr>
          <a:xfrm>
            <a:off x="713232" y="3575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p:cNvSpPr txBox="1"/>
          <p:nvPr/>
        </p:nvSpPr>
        <p:spPr>
          <a:xfrm>
            <a:off x="1371600" y="3511296"/>
            <a:ext cx="4160520" cy="292608"/>
          </a:xfrm>
          <a:prstGeom prst="rect">
            <a:avLst/>
          </a:prstGeom>
          <a:noFill/>
          <a:ln/>
        </p:spPr>
        <p:txBody>
          <a:bodyPr wrap="square" lIns="0" tIns="0" rIns="0" bIns="0" rtlCol="0" anchor="t"/>
          <a:lstStyle/>
          <a:p>
            <a:pPr indent="0" marL="0">
              <a:buNone/>
            </a:pPr>
            <a:r>
              <a:rPr lang="en-US" sz="1600" b="1" dirty="0">
                <a:solidFill>
                  <a:schemeClr val="tx1"/>
                </a:solidFill>
              </a:rPr>
              <a:t>Correspondent / partner constraints</a:t>
            </a:r>
            <a:endParaRPr lang="en-US" sz="1600" dirty="0"/>
          </a:p>
        </p:txBody>
      </p:sp>
      <p:sp>
        <p:nvSpPr>
          <p:cNvPr id="20" name="text"/>
          <p:cNvSpPr txBox="1"/>
          <p:nvPr/>
        </p:nvSpPr>
        <p:spPr>
          <a:xfrm>
            <a:off x="1371600" y="3822192"/>
            <a:ext cx="4160520" cy="292608"/>
          </a:xfrm>
          <a:prstGeom prst="rect">
            <a:avLst/>
          </a:prstGeom>
          <a:noFill/>
          <a:ln/>
        </p:spPr>
        <p:txBody>
          <a:bodyPr wrap="square" lIns="0" tIns="0" rIns="0" bIns="0" rtlCol="0" anchor="t"/>
          <a:lstStyle/>
          <a:p>
            <a:pPr indent="0" marL="0">
              <a:buNone/>
            </a:pPr>
            <a:r>
              <a:rPr lang="en-US" sz="1400" dirty="0">
                <a:solidFill>
                  <a:schemeClr val="accent6"/>
                </a:solidFill>
              </a:rPr>
              <a:t>Bank, scheme and correspondent contracts</a:t>
            </a:r>
            <a:endParaRPr lang="en-US" sz="1400" dirty="0"/>
          </a:p>
        </p:txBody>
      </p:sp>
      <p:sp>
        <p:nvSpPr>
          <p:cNvPr id="21" name="layer 4"/>
          <p:cNvSpPr/>
          <p:nvPr/>
        </p:nvSpPr>
        <p:spPr>
          <a:xfrm>
            <a:off x="548640" y="4242816"/>
            <a:ext cx="5120640" cy="731520"/>
          </a:xfrm>
          <a:prstGeom prst="roundRect">
            <a:avLst>
              <a:gd name="adj" fmla="val 15000"/>
            </a:avLst>
          </a:prstGeom>
          <a:solidFill>
            <a:schemeClr val="bg2"/>
          </a:solidFill>
          <a:ln w="12700">
            <a:solidFill>
              <a:schemeClr val="bg2"/>
            </a:solidFill>
            <a:prstDash val="solid"/>
          </a:ln>
        </p:spPr>
      </p:sp>
      <p:sp>
        <p:nvSpPr>
          <p:cNvPr id="22" name="badge"/>
          <p:cNvSpPr/>
          <p:nvPr/>
        </p:nvSpPr>
        <p:spPr>
          <a:xfrm>
            <a:off x="713232" y="4379976"/>
            <a:ext cx="457200" cy="457200"/>
          </a:xfrm>
          <a:prstGeom prst="ellipse">
            <a:avLst/>
          </a:prstGeom>
          <a:solidFill>
            <a:schemeClr val="tx1"/>
          </a:solidFill>
          <a:ln w="12700">
            <a:solidFill>
              <a:schemeClr val="tx1"/>
            </a:solidFill>
            <a:prstDash val="solid"/>
          </a:ln>
        </p:spPr>
      </p:sp>
      <p:sp>
        <p:nvSpPr>
          <p:cNvPr id="23" name="badge text"/>
          <p:cNvSpPr txBox="1"/>
          <p:nvPr/>
        </p:nvSpPr>
        <p:spPr>
          <a:xfrm>
            <a:off x="713232"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p:cNvSpPr txBox="1"/>
          <p:nvPr/>
        </p:nvSpPr>
        <p:spPr>
          <a:xfrm>
            <a:off x="1371600" y="4315968"/>
            <a:ext cx="4160520" cy="292608"/>
          </a:xfrm>
          <a:prstGeom prst="rect">
            <a:avLst/>
          </a:prstGeom>
          <a:noFill/>
          <a:ln/>
        </p:spPr>
        <p:txBody>
          <a:bodyPr wrap="square" lIns="0" tIns="0" rIns="0" bIns="0" rtlCol="0" anchor="t"/>
          <a:lstStyle/>
          <a:p>
            <a:pPr indent="0" marL="0">
              <a:buNone/>
            </a:pPr>
            <a:r>
              <a:rPr lang="en-US" sz="1600" b="1" dirty="0">
                <a:solidFill>
                  <a:schemeClr val="tx1"/>
                </a:solidFill>
              </a:rPr>
              <a:t>Product rules</a:t>
            </a:r>
            <a:endParaRPr lang="en-US" sz="1600" dirty="0"/>
          </a:p>
        </p:txBody>
      </p:sp>
      <p:sp>
        <p:nvSpPr>
          <p:cNvPr id="25" name="text"/>
          <p:cNvSpPr txBox="1"/>
          <p:nvPr/>
        </p:nvSpPr>
        <p:spPr>
          <a:xfrm>
            <a:off x="1371600" y="4626864"/>
            <a:ext cx="4160520" cy="292608"/>
          </a:xfrm>
          <a:prstGeom prst="rect">
            <a:avLst/>
          </a:prstGeom>
          <a:noFill/>
          <a:ln/>
        </p:spPr>
        <p:txBody>
          <a:bodyPr wrap="square" lIns="0" tIns="0" rIns="0" bIns="0" rtlCol="0" anchor="t"/>
          <a:lstStyle/>
          <a:p>
            <a:pPr indent="0" marL="0">
              <a:buNone/>
            </a:pPr>
            <a:r>
              <a:rPr lang="en-US" sz="1400" dirty="0">
                <a:solidFill>
                  <a:schemeClr val="accent6"/>
                </a:solidFill>
              </a:rPr>
              <a:t>What this product is permitted to do</a:t>
            </a:r>
            <a:endParaRPr lang="en-US" sz="1400" dirty="0"/>
          </a:p>
        </p:txBody>
      </p:sp>
      <p:sp>
        <p:nvSpPr>
          <p:cNvPr id="26" name="text"/>
          <p:cNvSpPr txBox="1"/>
          <p:nvPr/>
        </p:nvSpPr>
        <p:spPr>
          <a:xfrm>
            <a:off x="6035040" y="1554480"/>
            <a:ext cx="557784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THEN TEST FOR EACH NEXUS</a:t>
            </a:r>
            <a:endParaRPr lang="en-US" sz="1100" dirty="0"/>
          </a:p>
        </p:txBody>
      </p:sp>
      <p:sp>
        <p:nvSpPr>
          <p:cNvPr id="27" name="UK nexus?"/>
          <p:cNvSpPr/>
          <p:nvPr/>
        </p:nvSpPr>
        <p:spPr>
          <a:xfrm>
            <a:off x="6035040" y="1828800"/>
            <a:ext cx="5577840" cy="969264"/>
          </a:xfrm>
          <a:prstGeom prst="roundRect">
            <a:avLst>
              <a:gd name="adj" fmla="val 11321"/>
            </a:avLst>
          </a:prstGeom>
          <a:solidFill>
            <a:schemeClr val="bg2"/>
          </a:solidFill>
          <a:ln w="12700">
            <a:solidFill>
              <a:schemeClr val="bg2"/>
            </a:solidFill>
            <a:prstDash val="solid"/>
          </a:ln>
        </p:spPr>
      </p:sp>
      <p:sp>
        <p:nvSpPr>
          <p:cNvPr id="28" name="text"/>
          <p:cNvSpPr txBox="1"/>
          <p:nvPr/>
        </p:nvSpPr>
        <p:spPr>
          <a:xfrm>
            <a:off x="6263640" y="1901952"/>
            <a:ext cx="2377440" cy="310896"/>
          </a:xfrm>
          <a:prstGeom prst="rect">
            <a:avLst/>
          </a:prstGeom>
          <a:noFill/>
          <a:ln/>
        </p:spPr>
        <p:txBody>
          <a:bodyPr wrap="square" lIns="0" tIns="0" rIns="0" bIns="0" rtlCol="0" anchor="t"/>
          <a:lstStyle/>
          <a:p>
            <a:pPr indent="0" marL="0">
              <a:buNone/>
            </a:pPr>
            <a:r>
              <a:rPr lang="en-US" sz="1600" b="1" dirty="0">
                <a:solidFill>
                  <a:schemeClr val="tx1"/>
                </a:solidFill>
              </a:rPr>
              <a:t>UK nexus?</a:t>
            </a:r>
            <a:endParaRPr lang="en-US" sz="1600" dirty="0"/>
          </a:p>
        </p:txBody>
      </p:sp>
      <p:sp>
        <p:nvSpPr>
          <p:cNvPr id="29" name="text"/>
          <p:cNvSpPr txBox="1"/>
          <p:nvPr/>
        </p:nvSpPr>
        <p:spPr>
          <a:xfrm>
            <a:off x="8641080" y="1901952"/>
            <a:ext cx="2788920" cy="310896"/>
          </a:xfrm>
          <a:prstGeom prst="rect">
            <a:avLst/>
          </a:prstGeom>
          <a:noFill/>
          <a:ln/>
        </p:spPr>
        <p:txBody>
          <a:bodyPr wrap="square" lIns="0" tIns="0" rIns="0" bIns="0" rtlCol="0" anchor="t"/>
          <a:lstStyle/>
          <a:p>
            <a:pPr algn="r" indent="0" marL="0">
              <a:buNone/>
            </a:pPr>
            <a:r>
              <a:rPr lang="en-US" sz="1400" b="1" dirty="0">
                <a:solidFill>
                  <a:schemeClr val="accent1"/>
                </a:solidFill>
              </a:rPr>
              <a:t>Apply UK sanctions</a:t>
            </a:r>
            <a:endParaRPr lang="en-US" sz="1400" dirty="0"/>
          </a:p>
        </p:txBody>
      </p:sp>
      <p:sp>
        <p:nvSpPr>
          <p:cNvPr id="30" name="text"/>
          <p:cNvSpPr txBox="1"/>
          <p:nvPr/>
        </p:nvSpPr>
        <p:spPr>
          <a:xfrm>
            <a:off x="6263640" y="2240280"/>
            <a:ext cx="5166360" cy="502920"/>
          </a:xfrm>
          <a:prstGeom prst="rect">
            <a:avLst/>
          </a:prstGeom>
          <a:noFill/>
          <a:ln/>
        </p:spPr>
        <p:txBody>
          <a:bodyPr wrap="square" lIns="0" tIns="0" rIns="0" bIns="0" rtlCol="0" anchor="t"/>
          <a:lstStyle/>
          <a:p>
            <a:pPr indent="0" marL="0">
              <a:buNone/>
            </a:pPr>
            <a:r>
              <a:rPr lang="en-US" sz="1400" dirty="0">
                <a:solidFill>
                  <a:schemeClr val="tx1"/>
                </a:solidFill>
              </a:rPr>
              <a:t>A UK entity or UK person anywhere, or activity routed through the UK — for example, GBP clearing.</a:t>
            </a:r>
            <a:endParaRPr lang="en-US" sz="1400" dirty="0"/>
          </a:p>
        </p:txBody>
      </p:sp>
      <p:sp>
        <p:nvSpPr>
          <p:cNvPr id="31" name="EU nexus?"/>
          <p:cNvSpPr/>
          <p:nvPr/>
        </p:nvSpPr>
        <p:spPr>
          <a:xfrm>
            <a:off x="6035040" y="2907792"/>
            <a:ext cx="5577840" cy="969264"/>
          </a:xfrm>
          <a:prstGeom prst="roundRect">
            <a:avLst>
              <a:gd name="adj" fmla="val 11321"/>
            </a:avLst>
          </a:prstGeom>
          <a:solidFill>
            <a:schemeClr val="bg2"/>
          </a:solidFill>
          <a:ln w="12700">
            <a:solidFill>
              <a:schemeClr val="bg2"/>
            </a:solidFill>
            <a:prstDash val="solid"/>
          </a:ln>
        </p:spPr>
      </p:sp>
      <p:sp>
        <p:nvSpPr>
          <p:cNvPr id="32" name="text"/>
          <p:cNvSpPr txBox="1"/>
          <p:nvPr/>
        </p:nvSpPr>
        <p:spPr>
          <a:xfrm>
            <a:off x="6263640" y="2980944"/>
            <a:ext cx="2377440" cy="310896"/>
          </a:xfrm>
          <a:prstGeom prst="rect">
            <a:avLst/>
          </a:prstGeom>
          <a:noFill/>
          <a:ln/>
        </p:spPr>
        <p:txBody>
          <a:bodyPr wrap="square" lIns="0" tIns="0" rIns="0" bIns="0" rtlCol="0" anchor="t"/>
          <a:lstStyle/>
          <a:p>
            <a:pPr indent="0" marL="0">
              <a:buNone/>
            </a:pPr>
            <a:r>
              <a:rPr lang="en-US" sz="1600" b="1" dirty="0">
                <a:solidFill>
                  <a:schemeClr val="tx1"/>
                </a:solidFill>
              </a:rPr>
              <a:t>EU nexus?</a:t>
            </a:r>
            <a:endParaRPr lang="en-US" sz="1600" dirty="0"/>
          </a:p>
        </p:txBody>
      </p:sp>
      <p:sp>
        <p:nvSpPr>
          <p:cNvPr id="33" name="text"/>
          <p:cNvSpPr txBox="1"/>
          <p:nvPr/>
        </p:nvSpPr>
        <p:spPr>
          <a:xfrm>
            <a:off x="8641080" y="2980944"/>
            <a:ext cx="2788920" cy="310896"/>
          </a:xfrm>
          <a:prstGeom prst="rect">
            <a:avLst/>
          </a:prstGeom>
          <a:noFill/>
          <a:ln/>
        </p:spPr>
        <p:txBody>
          <a:bodyPr wrap="square" lIns="0" tIns="0" rIns="0" bIns="0" rtlCol="0" anchor="t"/>
          <a:lstStyle/>
          <a:p>
            <a:pPr algn="r" indent="0" marL="0">
              <a:buNone/>
            </a:pPr>
            <a:r>
              <a:rPr lang="en-US" sz="1400" b="1" dirty="0">
                <a:solidFill>
                  <a:schemeClr val="accent1"/>
                </a:solidFill>
              </a:rPr>
              <a:t>Apply EU measures</a:t>
            </a:r>
            <a:endParaRPr lang="en-US" sz="1400" dirty="0"/>
          </a:p>
        </p:txBody>
      </p:sp>
      <p:sp>
        <p:nvSpPr>
          <p:cNvPr id="34" name="text"/>
          <p:cNvSpPr txBox="1"/>
          <p:nvPr/>
        </p:nvSpPr>
        <p:spPr>
          <a:xfrm>
            <a:off x="6263640" y="3319272"/>
            <a:ext cx="5166360" cy="502920"/>
          </a:xfrm>
          <a:prstGeom prst="rect">
            <a:avLst/>
          </a:prstGeom>
          <a:noFill/>
          <a:ln/>
        </p:spPr>
        <p:txBody>
          <a:bodyPr wrap="square" lIns="0" tIns="0" rIns="0" bIns="0" rtlCol="0" anchor="t"/>
          <a:lstStyle/>
          <a:p>
            <a:pPr indent="0" marL="0">
              <a:buNone/>
            </a:pPr>
            <a:r>
              <a:rPr lang="en-US" sz="1400" dirty="0">
                <a:solidFill>
                  <a:schemeClr val="tx1"/>
                </a:solidFill>
              </a:rPr>
              <a:t>An EU entity or EU national anywhere, or business in the EU. For France, also check the national register.</a:t>
            </a:r>
            <a:endParaRPr lang="en-US" sz="1400" dirty="0"/>
          </a:p>
        </p:txBody>
      </p:sp>
      <p:sp>
        <p:nvSpPr>
          <p:cNvPr id="35" name="US nexus?"/>
          <p:cNvSpPr/>
          <p:nvPr/>
        </p:nvSpPr>
        <p:spPr>
          <a:xfrm>
            <a:off x="6035040" y="3986784"/>
            <a:ext cx="5577840" cy="969264"/>
          </a:xfrm>
          <a:prstGeom prst="roundRect">
            <a:avLst>
              <a:gd name="adj" fmla="val 11321"/>
            </a:avLst>
          </a:prstGeom>
          <a:solidFill>
            <a:schemeClr val="bg2"/>
          </a:solidFill>
          <a:ln w="12700">
            <a:solidFill>
              <a:schemeClr val="bg2"/>
            </a:solidFill>
            <a:prstDash val="solid"/>
          </a:ln>
        </p:spPr>
      </p:sp>
      <p:sp>
        <p:nvSpPr>
          <p:cNvPr id="36" name="text"/>
          <p:cNvSpPr txBox="1"/>
          <p:nvPr/>
        </p:nvSpPr>
        <p:spPr>
          <a:xfrm>
            <a:off x="6263640" y="4059936"/>
            <a:ext cx="2377440" cy="310896"/>
          </a:xfrm>
          <a:prstGeom prst="rect">
            <a:avLst/>
          </a:prstGeom>
          <a:noFill/>
          <a:ln/>
        </p:spPr>
        <p:txBody>
          <a:bodyPr wrap="square" lIns="0" tIns="0" rIns="0" bIns="0" rtlCol="0" anchor="t"/>
          <a:lstStyle/>
          <a:p>
            <a:pPr indent="0" marL="0">
              <a:buNone/>
            </a:pPr>
            <a:r>
              <a:rPr lang="en-US" sz="1600" b="1" dirty="0">
                <a:solidFill>
                  <a:schemeClr val="tx1"/>
                </a:solidFill>
              </a:rPr>
              <a:t>US nexus?</a:t>
            </a:r>
            <a:endParaRPr lang="en-US" sz="1600" dirty="0"/>
          </a:p>
        </p:txBody>
      </p:sp>
      <p:sp>
        <p:nvSpPr>
          <p:cNvPr id="37" name="text"/>
          <p:cNvSpPr txBox="1"/>
          <p:nvPr/>
        </p:nvSpPr>
        <p:spPr>
          <a:xfrm>
            <a:off x="8641080" y="4059936"/>
            <a:ext cx="2788920" cy="310896"/>
          </a:xfrm>
          <a:prstGeom prst="rect">
            <a:avLst/>
          </a:prstGeom>
          <a:noFill/>
          <a:ln/>
        </p:spPr>
        <p:txBody>
          <a:bodyPr wrap="square" lIns="0" tIns="0" rIns="0" bIns="0" rtlCol="0" anchor="t"/>
          <a:lstStyle/>
          <a:p>
            <a:pPr algn="r" indent="0" marL="0">
              <a:buNone/>
            </a:pPr>
            <a:r>
              <a:rPr lang="en-US" sz="1400" b="1" dirty="0">
                <a:solidFill>
                  <a:schemeClr val="accent1"/>
                </a:solidFill>
              </a:rPr>
              <a:t>Apply OFAC</a:t>
            </a:r>
            <a:endParaRPr lang="en-US" sz="1400" dirty="0"/>
          </a:p>
        </p:txBody>
      </p:sp>
      <p:sp>
        <p:nvSpPr>
          <p:cNvPr id="38" name="text"/>
          <p:cNvSpPr txBox="1"/>
          <p:nvPr/>
        </p:nvSpPr>
        <p:spPr>
          <a:xfrm>
            <a:off x="6263640" y="4398264"/>
            <a:ext cx="5166360" cy="502920"/>
          </a:xfrm>
          <a:prstGeom prst="rect">
            <a:avLst/>
          </a:prstGeom>
          <a:noFill/>
          <a:ln/>
        </p:spPr>
        <p:txBody>
          <a:bodyPr wrap="square" lIns="0" tIns="0" rIns="0" bIns="0" rtlCol="0" anchor="t"/>
          <a:lstStyle/>
          <a:p>
            <a:pPr indent="0" marL="0">
              <a:buNone/>
            </a:pPr>
            <a:r>
              <a:rPr lang="en-US" sz="1400" dirty="0">
                <a:solidFill>
                  <a:schemeClr val="tx1"/>
                </a:solidFill>
              </a:rPr>
              <a:t>USD clearing, a US bank in the chain, a US person, or US-origin goods or services.</a:t>
            </a:r>
            <a:endParaRPr lang="en-US" sz="1400" dirty="0"/>
          </a:p>
        </p:txBody>
      </p:sp>
      <p:sp>
        <p:nvSpPr>
          <p:cNvPr id="39"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41"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A payment that is clear under one country's rules can still breach another's. The local list alone is never the whole answer.</a:t>
            </a:r>
            <a:endParaRPr lang="en-US" sz="1400" dirty="0"/>
          </a:p>
        </p:txBody>
      </p:sp>
      <p:sp>
        <p:nvSpPr>
          <p:cNvPr id="42"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3"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4"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Confirm the legal entity, route and currency in the case record, then check the Country Risk Rating and HRTC registers.</a:t>
            </a:r>
            <a:endParaRPr lang="en-US" sz="1400" dirty="0"/>
          </a:p>
        </p:txBody>
      </p:sp>
      <p:sp>
        <p:nvSpPr>
          <p:cNvPr id="45"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OFSI General Guidance — UK nexus; EU Council Best Practices — jurisdiction; OFAC Basic Information on Sanctions; Checkout Global Sanctions Reporting Procedure (cite section).</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MENA</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MENA is a regional risk lens, not one sanctions regime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“MENA” is not one rulebook — pin down the exact country and regulator first.</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accent3"/>
          </a:solidFill>
          <a:ln w="12700">
            <a:solidFill>
              <a:schemeClr val="accent3"/>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bg1"/>
          </a:solidFill>
          <a:ln w="12700">
            <a:solidFill>
              <a:schemeClr val="accent5"/>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bg1"/>
          </a:solidFill>
          <a:ln w="12700">
            <a:solidFill>
              <a:schemeClr val="accent5"/>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bg1"/>
          </a:solidFill>
          <a:ln w="12700">
            <a:solidFill>
              <a:schemeClr val="accent5"/>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bg1"/>
          </a:solidFill>
          <a:ln w="12700">
            <a:solidFill>
              <a:schemeClr val="accent5"/>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bg1"/>
          </a:solidFill>
          <a:ln w="12700">
            <a:solidFill>
              <a:schemeClr val="accent5"/>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US</a:t>
            </a:r>
            <a:endParaRPr lang="en-US" sz="1000" dirty="0"/>
          </a:p>
        </p:txBody>
      </p:sp>
      <p:sp>
        <p:nvSpPr>
          <p:cNvPr id="17" name="MENA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MENA header"/>
          <p:cNvSpPr/>
          <p:nvPr/>
        </p:nvSpPr>
        <p:spPr>
          <a:xfrm>
            <a:off x="548640" y="1554480"/>
            <a:ext cx="6675120" cy="457200"/>
          </a:xfrm>
          <a:prstGeom prst="roundRect">
            <a:avLst>
              <a:gd name="adj" fmla="val 24000"/>
            </a:avLst>
          </a:prstGeom>
          <a:solidFill>
            <a:schemeClr val="accent3"/>
          </a:solidFill>
          <a:ln w="12700">
            <a:solidFill>
              <a:schemeClr val="accent3"/>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MENA</a:t>
            </a:r>
            <a:pPr indent="0" marL="0">
              <a:buNone/>
            </a:pPr>
            <a:r>
              <a:rPr lang="en-US" sz="1300" dirty="0">
                <a:solidFill>
                  <a:schemeClr val="bg1"/>
                </a:solidFill>
              </a:rPr>
              <a:t>   UAE: EOCN  ·  Saudi Arabia: SAMA</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UAE: UN Consolidated List and the UAE Local Terrorist List. Saudi Arabia (if in scope): lists under the SAMA TFS Rules.</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EOCN, with CBUAE, DFSA (DIFC) or FSRA (ADGM) depending on the licence. SAMA in Saudi Arabia.</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Covers funds owned or controlled, directly or indirectly, by a listed person — L2 assesses the link.</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Freeze without delay — within 24 hours of a listing. Suspend an unresolved partial match.</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EOCN via goAML within 5 business days: CNMR for a confirmed match, PNMR for a partial match.</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 “UAE customer” may sit under mainland, DIFC or ADGM rules — confirm the licence and supervisor.</a:t>
            </a:r>
            <a:endParaRPr lang="en-US" sz="1300" dirty="0"/>
          </a:p>
          <a:p>
            <a:pPr marL="342900" indent="-342900">
              <a:spcAft>
                <a:spcPts val="400"/>
              </a:spcAft>
              <a:buSzPct val="100000"/>
              <a:buChar char="•"/>
            </a:pPr>
            <a:r>
              <a:rPr lang="en-US" sz="1300" dirty="0">
                <a:solidFill>
                  <a:schemeClr val="tx1"/>
                </a:solidFill>
              </a:rPr>
              <a:t>A suspended partial match stays suspended until EOCN instructs; five days without a reply is not a release.</a:t>
            </a:r>
            <a:endParaRPr lang="en-US" sz="1300" dirty="0"/>
          </a:p>
          <a:p>
            <a:pPr marL="342900" indent="-342900">
              <a:spcAft>
                <a:spcPts val="400"/>
              </a:spcAft>
              <a:buSzPct val="100000"/>
              <a:buChar char="•"/>
            </a:pPr>
            <a:r>
              <a:rPr lang="en-US" sz="1300" dirty="0">
                <a:solidFill>
                  <a:schemeClr val="tx1"/>
                </a:solidFill>
              </a:rPr>
              <a:t>CNMR / PNMR cover UN and UAE lists only — OFAC, EU and UK hits follow group policy.</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REAL-LIFE LESSON</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Banque Misr UAE (FinCEN, Aug 2026 — proposed): front companies and US correspondent access turned a local presence into US exposure. An AML measure, not a sanctions designation.</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Regional payments often touch UK, US or EU rules through correspondents — local compliance alone does not remove that.</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Record the UAE entity and supervisor, suspend unresolved partial matches, and escalate to L2 for the EOCN report.</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UAE Cabinet Decision No. 74 of 2020; EOCN TFS guidance; CBUAE Rulebook; SAMA TFS Rules (7 Dec 2025); FATF R.6; FinCEN NPRM, 91 FR 56085.</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SINGAPORE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Singapore: UN implementation plus targeted local measures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Singapore adds its own Russia rules on top of UN lists — screen for both.</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bg1"/>
          </a:solidFill>
          <a:ln w="12700">
            <a:solidFill>
              <a:schemeClr val="accent5"/>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accent2"/>
          </a:solidFill>
          <a:ln w="12700">
            <a:solidFill>
              <a:schemeClr val="accent2"/>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bg1"/>
          </a:solidFill>
          <a:ln w="12700">
            <a:solidFill>
              <a:schemeClr val="accent5"/>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bg1"/>
          </a:solidFill>
          <a:ln w="12700">
            <a:solidFill>
              <a:schemeClr val="accent5"/>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bg1"/>
          </a:solidFill>
          <a:ln w="12700">
            <a:solidFill>
              <a:schemeClr val="accent5"/>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bg1"/>
          </a:solidFill>
          <a:ln w="12700">
            <a:solidFill>
              <a:schemeClr val="accent5"/>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US</a:t>
            </a:r>
            <a:endParaRPr lang="en-US" sz="1000" dirty="0"/>
          </a:p>
        </p:txBody>
      </p:sp>
      <p:sp>
        <p:nvSpPr>
          <p:cNvPr id="17" name="Singapore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Singapore header"/>
          <p:cNvSpPr/>
          <p:nvPr/>
        </p:nvSpPr>
        <p:spPr>
          <a:xfrm>
            <a:off x="548640" y="1554480"/>
            <a:ext cx="6675120" cy="457200"/>
          </a:xfrm>
          <a:prstGeom prst="roundRect">
            <a:avLst>
              <a:gd name="adj" fmla="val 24000"/>
            </a:avLst>
          </a:prstGeom>
          <a:solidFill>
            <a:schemeClr val="accent2"/>
          </a:solidFill>
          <a:ln w="12700">
            <a:solidFill>
              <a:schemeClr val="accent2"/>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Singapore</a:t>
            </a:r>
            <a:pPr indent="0" marL="0">
              <a:buNone/>
            </a:pPr>
            <a:r>
              <a:rPr lang="en-US" sz="1300" dirty="0">
                <a:solidFill>
                  <a:schemeClr val="bg1"/>
                </a:solidFill>
              </a:rPr>
              <a:t>   MAS</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UN lists (via FSM regulations), Singapore terrorist designations (TSOFA) and MAS Notice SNR-N01 on Russia.</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MAS for financial institutions; the Inter-Ministry Committee (IMC-TD) for terrorist designations.</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Covers funds owned or controlled by a listed person; SNR-N01 also catches entities the named banks own or control.</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Freeze, and do not deal with listed parties or the four Russian banks named in SNR-N01.</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MAS immediately; suspicion reports (STR) to STRO.</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SNR-N01 names VTB, Vnesheconombank, Promsvyazbank and Bank Rossiya — look for them in the payment chain.</a:t>
            </a:r>
            <a:endParaRPr lang="en-US" sz="1300" dirty="0"/>
          </a:p>
          <a:p>
            <a:pPr marL="342900" indent="-342900">
              <a:spcAft>
                <a:spcPts val="400"/>
              </a:spcAft>
              <a:buSzPct val="100000"/>
              <a:buChar char="•"/>
            </a:pPr>
            <a:r>
              <a:rPr lang="en-US" sz="1300" dirty="0">
                <a:solidFill>
                  <a:schemeClr val="tx1"/>
                </a:solidFill>
              </a:rPr>
              <a:t>Screen beyond the customer: beneficial owners, controllers, directors and authorised persons.</a:t>
            </a:r>
            <a:endParaRPr lang="en-US" sz="1300" dirty="0"/>
          </a:p>
          <a:p>
            <a:pPr marL="342900" indent="-342900">
              <a:spcAft>
                <a:spcPts val="400"/>
              </a:spcAft>
              <a:buSzPct val="100000"/>
              <a:buChar char="•"/>
            </a:pPr>
            <a:r>
              <a:rPr lang="en-US" sz="1300" dirty="0">
                <a:solidFill>
                  <a:schemeClr val="tx1"/>
                </a:solidFill>
              </a:rPr>
              <a:t>MAS expects controls to be operational, not nominal — refreshes, coverage and decisions must be evidenced.</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REAL-LIFE LESSON</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MAS, July 2025: S$27.45m in penalties on nine institutions for beneficial-ownership, source-of-wealth and monitoring gaps. AML, not sanctions — but the same gaps weaken sanctions decisions.</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Singapore is one of the few Asian centres with its own Russia measures, so a UN-only check can miss a Singapore restriction.</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On Singapore payments, check for the named banks and what they own, and evidence every decision — MAS expects to see it.</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FSM (Sanctions and Freezing of Assets of Persons) Regs 2023; MAS Notice SNR-N01 (30 Jun 2025, amended Feb 2026); TSOFA; MAS enforcement release (4 Jul 2025).</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HONG KONG</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Hong Kong: UN sanctions are the legal centre of gravity</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Hong Kong only applies UN sanctions — our group rules still apply on top.</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bg1"/>
          </a:solidFill>
          <a:ln w="12700">
            <a:solidFill>
              <a:schemeClr val="accent5"/>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bg1"/>
          </a:solidFill>
          <a:ln w="12700">
            <a:solidFill>
              <a:schemeClr val="accent5"/>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accent6"/>
          </a:solidFill>
          <a:ln w="12700">
            <a:solidFill>
              <a:schemeClr val="accent6"/>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bg1"/>
          </a:solidFill>
          <a:ln w="12700">
            <a:solidFill>
              <a:schemeClr val="accent5"/>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bg1"/>
          </a:solidFill>
          <a:ln w="12700">
            <a:solidFill>
              <a:schemeClr val="accent5"/>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bg1"/>
          </a:solidFill>
          <a:ln w="12700">
            <a:solidFill>
              <a:schemeClr val="accent5"/>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US</a:t>
            </a:r>
            <a:endParaRPr lang="en-US" sz="1000" dirty="0"/>
          </a:p>
        </p:txBody>
      </p:sp>
      <p:sp>
        <p:nvSpPr>
          <p:cNvPr id="17" name="Hong Kong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Hong Kong header"/>
          <p:cNvSpPr/>
          <p:nvPr/>
        </p:nvSpPr>
        <p:spPr>
          <a:xfrm>
            <a:off x="548640" y="1554480"/>
            <a:ext cx="6675120" cy="457200"/>
          </a:xfrm>
          <a:prstGeom prst="roundRect">
            <a:avLst>
              <a:gd name="adj" fmla="val 24000"/>
            </a:avLst>
          </a:prstGeom>
          <a:solidFill>
            <a:schemeClr val="accent6"/>
          </a:solidFill>
          <a:ln w="12700">
            <a:solidFill>
              <a:schemeClr val="accent6"/>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Hong Kong</a:t>
            </a:r>
            <a:pPr indent="0" marL="0">
              <a:buNone/>
            </a:pPr>
            <a:r>
              <a:rPr lang="en-US" sz="1300" dirty="0">
                <a:solidFill>
                  <a:schemeClr val="bg1"/>
                </a:solidFill>
              </a:rPr>
              <a:t>   UN only</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UN sanctions under the UN Sanctions Ordinance (Cap. 537) and terrorist designations under UNATMO (Cap. 575).</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UN measures are implemented by regulation (CEDB); HKMA supervises; JFIU receives reports.</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Covers funds owned or controlled by a listed person — L2 assesses the link.</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Freeze where a UN measure applies. Hong Kong does not implement unilateral sanctions.</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JFIU, via the approved local process (UNATMO s.12 for terrorist property).</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 local clear is common, because Hong Kong applies UN lists only — it does not clear the payment.</a:t>
            </a:r>
            <a:endParaRPr lang="en-US" sz="1300" dirty="0"/>
          </a:p>
          <a:p>
            <a:pPr marL="342900" indent="-342900">
              <a:spcAft>
                <a:spcPts val="400"/>
              </a:spcAft>
              <a:buSzPct val="100000"/>
              <a:buChar char="•"/>
            </a:pPr>
            <a:r>
              <a:rPr lang="en-US" sz="1300" dirty="0">
                <a:solidFill>
                  <a:schemeClr val="tx1"/>
                </a:solidFill>
              </a:rPr>
              <a:t>A party absent from Hong Kong sources may still trigger group, partner or correspondent restrictions.</a:t>
            </a:r>
            <a:endParaRPr lang="en-US" sz="1300" dirty="0"/>
          </a:p>
          <a:p>
            <a:pPr marL="342900" indent="-342900">
              <a:spcAft>
                <a:spcPts val="400"/>
              </a:spcAft>
              <a:buSzPct val="100000"/>
              <a:buChar char="•"/>
            </a:pPr>
            <a:r>
              <a:rPr lang="en-US" sz="1300" dirty="0">
                <a:solidFill>
                  <a:schemeClr val="tx1"/>
                </a:solidFill>
              </a:rPr>
              <a:t>Chinese-language names, transliteration and company-registry details are key to resolving false positives.</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IN THIS SESSION</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Case study 03: a Hong Kong customer is clear on the local list, but the payment touches a UK entity and a USD correspondent bank — so it is not clear.</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The risk in Hong Kong is often not the local list but the UK, EU or US rules the payment also touches.</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Screen against our global lists, not just Hong Kong sources, and escalate anything unresolved — never close on a local clear.</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UN Sanctions Ordinance (Cap. 537) s.3; UNATMO (Cap. 575) s.12; HKMA circular (8 Aug 2020); LegCo reply LCQ2 (23 Jan 2019).</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UNITED KINGDOM</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UK: a mature autonomous regime with detailed guidance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The UK can fine us even if nobody knew — so any doubt means hold.</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bg1"/>
          </a:solidFill>
          <a:ln w="12700">
            <a:solidFill>
              <a:schemeClr val="accent5"/>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bg1"/>
          </a:solidFill>
          <a:ln w="12700">
            <a:solidFill>
              <a:schemeClr val="accent5"/>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bg1"/>
          </a:solidFill>
          <a:ln w="12700">
            <a:solidFill>
              <a:schemeClr val="accent5"/>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tx1"/>
          </a:solidFill>
          <a:ln w="12700">
            <a:solidFill>
              <a:schemeClr val="tx1"/>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bg1"/>
          </a:solidFill>
          <a:ln w="12700">
            <a:solidFill>
              <a:schemeClr val="accent5"/>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bg1"/>
          </a:solidFill>
          <a:ln w="12700">
            <a:solidFill>
              <a:schemeClr val="accent5"/>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US</a:t>
            </a:r>
            <a:endParaRPr lang="en-US" sz="1000" dirty="0"/>
          </a:p>
        </p:txBody>
      </p:sp>
      <p:sp>
        <p:nvSpPr>
          <p:cNvPr id="17" name="United Kingdom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United Kingdom header"/>
          <p:cNvSpPr/>
          <p:nvPr/>
        </p:nvSpPr>
        <p:spPr>
          <a:xfrm>
            <a:off x="548640" y="1554480"/>
            <a:ext cx="6675120" cy="457200"/>
          </a:xfrm>
          <a:prstGeom prst="roundRect">
            <a:avLst>
              <a:gd name="adj" fmla="val 24000"/>
            </a:avLst>
          </a:prstGeom>
          <a:solidFill>
            <a:schemeClr val="tx1"/>
          </a:solidFill>
          <a:ln w="12700">
            <a:solidFill>
              <a:schemeClr val="tx1"/>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United Kingdom</a:t>
            </a:r>
            <a:pPr indent="0" marL="0">
              <a:buNone/>
            </a:pPr>
            <a:r>
              <a:rPr lang="en-US" sz="1300" dirty="0">
                <a:solidFill>
                  <a:schemeClr val="bg1"/>
                </a:solidFill>
              </a:rPr>
              <a:t>   OFSI (HM Treasury)</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UK Sanctions List — the single source for UK designations since 28 Jan 2026.</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OFSI for financial sanctions; other UK authorities for trade, transport and immigration sanctions.</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More than 50% of shares or votes, or control. Holdings of different designated persons are not aggregated.</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Freeze, and do not make funds available — directly or indirectly — to a designated person.</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OFSI, as soon as practicable, where we know or have reasonable cause to suspect.</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Strict liability: OFSI can fine without proving knowledge or suspicion (breaches from 15 June 2022).</a:t>
            </a:r>
            <a:endParaRPr lang="en-US" sz="1300" dirty="0"/>
          </a:p>
          <a:p>
            <a:pPr marL="342900" indent="-342900">
              <a:spcAft>
                <a:spcPts val="400"/>
              </a:spcAft>
              <a:buSzPct val="100000"/>
              <a:buChar char="•"/>
            </a:pPr>
            <a:r>
              <a:rPr lang="en-US" sz="1300" dirty="0">
                <a:solidFill>
                  <a:schemeClr val="tx1"/>
                </a:solidFill>
              </a:rPr>
              <a:t>The old OFSI Consolidated List gets no new names — the UK Sanctions List is the source.</a:t>
            </a:r>
            <a:endParaRPr lang="en-US" sz="1300" dirty="0"/>
          </a:p>
          <a:p>
            <a:pPr marL="342900" indent="-342900">
              <a:spcAft>
                <a:spcPts val="400"/>
              </a:spcAft>
              <a:buSzPct val="100000"/>
              <a:buChar char="•"/>
            </a:pPr>
            <a:r>
              <a:rPr lang="en-US" sz="1300" dirty="0">
                <a:solidFill>
                  <a:schemeClr val="tx1"/>
                </a:solidFill>
              </a:rPr>
              <a:t>A rejected payment can still need a report: the trigger is knowledge or suspicion, not whether we held the funds.</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REAL-LIFE LESSON</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Citibank (£4.73m, Aug 2026): a “PAO” prefix defeated the screening and alerts sat in a backlog. Bank of Scotland (£160k): an alert was generated but wrongly discounted.</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Under strict liability an honest mistake is still a breach — and OFSI publishes its penalties and the reasons for them.</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Hold on any doubt, record the UK list reference and version, and give L2 the facts needed for an OFSI report.</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Russia (Sanctions) (EU Exit) Regs 2019 regs 7, 11–15, 70; PCA 2017 s.146 as amended by ECTEA 2022 s.54; OFSI General Guidance; GOV.UK single-list notice (28 Jan 2026).</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FRANCE / EU</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France: EU and UN measures plus French national overlays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In France, check the EU list and the French national register — they are not the same.</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bg1"/>
          </a:solidFill>
          <a:ln w="12700">
            <a:solidFill>
              <a:schemeClr val="accent5"/>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bg1"/>
          </a:solidFill>
          <a:ln w="12700">
            <a:solidFill>
              <a:schemeClr val="accent5"/>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bg1"/>
          </a:solidFill>
          <a:ln w="12700">
            <a:solidFill>
              <a:schemeClr val="accent5"/>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bg1"/>
          </a:solidFill>
          <a:ln w="12700">
            <a:solidFill>
              <a:schemeClr val="accent5"/>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accent4"/>
          </a:solidFill>
          <a:ln w="12700">
            <a:solidFill>
              <a:schemeClr val="accent4"/>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bg1"/>
          </a:solidFill>
          <a:ln w="12700">
            <a:solidFill>
              <a:schemeClr val="accent5"/>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US</a:t>
            </a:r>
            <a:endParaRPr lang="en-US" sz="1000" dirty="0"/>
          </a:p>
        </p:txBody>
      </p:sp>
      <p:sp>
        <p:nvSpPr>
          <p:cNvPr id="17" name="France / EU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France / EU header"/>
          <p:cNvSpPr/>
          <p:nvPr/>
        </p:nvSpPr>
        <p:spPr>
          <a:xfrm>
            <a:off x="548640" y="1554480"/>
            <a:ext cx="6675120" cy="457200"/>
          </a:xfrm>
          <a:prstGeom prst="roundRect">
            <a:avLst>
              <a:gd name="adj" fmla="val 24000"/>
            </a:avLst>
          </a:prstGeom>
          <a:solidFill>
            <a:schemeClr val="accent4"/>
          </a:solidFill>
          <a:ln w="12700">
            <a:solidFill>
              <a:schemeClr val="accent4"/>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France / EU</a:t>
            </a:r>
            <a:pPr indent="0" marL="0">
              <a:buNone/>
            </a:pPr>
            <a:r>
              <a:rPr lang="en-US" sz="1300" dirty="0">
                <a:solidFill>
                  <a:schemeClr val="bg1"/>
                </a:solidFill>
              </a:rPr>
              <a:t>   DG Trésor</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EU consolidated list plus the French national asset-freeze register (Registre national des gels).</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DG Trésor for financial sanctions; ACPR supervises; TRACFIN receives suspicion reports.</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50% or more, with holdings of listed persons aggregated — or control (EU Best Practices, 2024).</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Freeze without delay, and do not make funds available to a listed person.</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DG Trésor immediately for freezes; TRACFIN for suspicion — two separate reports.</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The French register includes national-only freezes that are not on the EU list.</a:t>
            </a:r>
            <a:endParaRPr lang="en-US" sz="1300" dirty="0"/>
          </a:p>
          <a:p>
            <a:pPr marL="342900" indent="-342900">
              <a:spcAft>
                <a:spcPts val="400"/>
              </a:spcAft>
              <a:buSzPct val="100000"/>
              <a:buChar char="•"/>
            </a:pPr>
            <a:r>
              <a:rPr lang="en-US" sz="1300" dirty="0">
                <a:solidFill>
                  <a:schemeClr val="tx1"/>
                </a:solidFill>
              </a:rPr>
              <a:t>National freezes last six months and can be renewed — names come and go.</a:t>
            </a:r>
            <a:endParaRPr lang="en-US" sz="1300" dirty="0"/>
          </a:p>
          <a:p>
            <a:pPr marL="342900" indent="-342900">
              <a:spcAft>
                <a:spcPts val="400"/>
              </a:spcAft>
              <a:buSzPct val="100000"/>
              <a:buChar char="•"/>
            </a:pPr>
            <a:r>
              <a:rPr lang="en-US" sz="1300" dirty="0">
                <a:solidFill>
                  <a:schemeClr val="tx1"/>
                </a:solidFill>
              </a:rPr>
              <a:t>A freeze report to DG Trésor never replaces a suspicion report to TRACFIN, or the other way round.</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EXAMPLE</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April 2026: a national-only six-month freeze was published in the French register. Screening against the EU list alone would not have caught it.</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Screening against the EU list alone can miss a French national freeze — and a missed freeze is a breach.</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Where France is involved, confirm the French register was checked, and route freeze and suspicion reports separately via L2.</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Code monétaire et financier L562-2 to L562-7, L561-15; DG Trésor register FAQ; DG Trésor / ACPR guidelines (16 Mar 2026); EU Best Practices ST 11623/24.</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LENS — UNITED STATES</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US: OFAC-led sanctions with broad jurisdictional reach</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US rules can reach a payment even when no American is involved — look for any US touch.</a:t>
            </a:r>
            <a:endParaRPr lang="en-US" sz="1700" dirty="0"/>
          </a:p>
        </p:txBody>
      </p:sp>
      <p:sp>
        <p:nvSpPr>
          <p:cNvPr id="5" name="regime MENA"/>
          <p:cNvSpPr/>
          <p:nvPr/>
        </p:nvSpPr>
        <p:spPr>
          <a:xfrm>
            <a:off x="7388352" y="201168"/>
            <a:ext cx="658368" cy="274320"/>
          </a:xfrm>
          <a:prstGeom prst="roundRect">
            <a:avLst>
              <a:gd name="adj" fmla="val 50000"/>
            </a:avLst>
          </a:prstGeom>
          <a:solidFill>
            <a:schemeClr val="bg1"/>
          </a:solidFill>
          <a:ln w="12700">
            <a:solidFill>
              <a:schemeClr val="accent5"/>
            </a:solidFill>
            <a:prstDash val="solid"/>
          </a:ln>
        </p:spPr>
      </p:sp>
      <p:sp>
        <p:nvSpPr>
          <p:cNvPr id="6" name="text"/>
          <p:cNvSpPr txBox="1"/>
          <p:nvPr/>
        </p:nvSpPr>
        <p:spPr>
          <a:xfrm>
            <a:off x="7388352"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MENA</a:t>
            </a:r>
            <a:endParaRPr lang="en-US" sz="1000" dirty="0"/>
          </a:p>
        </p:txBody>
      </p:sp>
      <p:sp>
        <p:nvSpPr>
          <p:cNvPr id="7" name="regime SG"/>
          <p:cNvSpPr/>
          <p:nvPr/>
        </p:nvSpPr>
        <p:spPr>
          <a:xfrm>
            <a:off x="8101584" y="201168"/>
            <a:ext cx="658368" cy="274320"/>
          </a:xfrm>
          <a:prstGeom prst="roundRect">
            <a:avLst>
              <a:gd name="adj" fmla="val 50000"/>
            </a:avLst>
          </a:prstGeom>
          <a:solidFill>
            <a:schemeClr val="bg1"/>
          </a:solidFill>
          <a:ln w="12700">
            <a:solidFill>
              <a:schemeClr val="accent5"/>
            </a:solidFill>
            <a:prstDash val="solid"/>
          </a:ln>
        </p:spPr>
      </p:sp>
      <p:sp>
        <p:nvSpPr>
          <p:cNvPr id="8" name="text"/>
          <p:cNvSpPr txBox="1"/>
          <p:nvPr/>
        </p:nvSpPr>
        <p:spPr>
          <a:xfrm>
            <a:off x="8101584"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SG</a:t>
            </a:r>
            <a:endParaRPr lang="en-US" sz="1000" dirty="0"/>
          </a:p>
        </p:txBody>
      </p:sp>
      <p:sp>
        <p:nvSpPr>
          <p:cNvPr id="9" name="regime HK"/>
          <p:cNvSpPr/>
          <p:nvPr/>
        </p:nvSpPr>
        <p:spPr>
          <a:xfrm>
            <a:off x="8814816" y="201168"/>
            <a:ext cx="658368" cy="274320"/>
          </a:xfrm>
          <a:prstGeom prst="roundRect">
            <a:avLst>
              <a:gd name="adj" fmla="val 50000"/>
            </a:avLst>
          </a:prstGeom>
          <a:solidFill>
            <a:schemeClr val="bg1"/>
          </a:solidFill>
          <a:ln w="12700">
            <a:solidFill>
              <a:schemeClr val="accent5"/>
            </a:solidFill>
            <a:prstDash val="solid"/>
          </a:ln>
        </p:spPr>
      </p:sp>
      <p:sp>
        <p:nvSpPr>
          <p:cNvPr id="10" name="text"/>
          <p:cNvSpPr txBox="1"/>
          <p:nvPr/>
        </p:nvSpPr>
        <p:spPr>
          <a:xfrm>
            <a:off x="8814816"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HK</a:t>
            </a:r>
            <a:endParaRPr lang="en-US" sz="1000" dirty="0"/>
          </a:p>
        </p:txBody>
      </p:sp>
      <p:sp>
        <p:nvSpPr>
          <p:cNvPr id="11" name="regime UK"/>
          <p:cNvSpPr/>
          <p:nvPr/>
        </p:nvSpPr>
        <p:spPr>
          <a:xfrm>
            <a:off x="9528048" y="201168"/>
            <a:ext cx="658368" cy="274320"/>
          </a:xfrm>
          <a:prstGeom prst="roundRect">
            <a:avLst>
              <a:gd name="adj" fmla="val 50000"/>
            </a:avLst>
          </a:prstGeom>
          <a:solidFill>
            <a:schemeClr val="bg1"/>
          </a:solidFill>
          <a:ln w="12700">
            <a:solidFill>
              <a:schemeClr val="accent5"/>
            </a:solidFill>
            <a:prstDash val="solid"/>
          </a:ln>
        </p:spPr>
      </p:sp>
      <p:sp>
        <p:nvSpPr>
          <p:cNvPr id="12" name="text"/>
          <p:cNvSpPr txBox="1"/>
          <p:nvPr/>
        </p:nvSpPr>
        <p:spPr>
          <a:xfrm>
            <a:off x="9528048"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UK</a:t>
            </a:r>
            <a:endParaRPr lang="en-US" sz="1000" dirty="0"/>
          </a:p>
        </p:txBody>
      </p:sp>
      <p:sp>
        <p:nvSpPr>
          <p:cNvPr id="13" name="regime FR / EU"/>
          <p:cNvSpPr/>
          <p:nvPr/>
        </p:nvSpPr>
        <p:spPr>
          <a:xfrm>
            <a:off x="10241280" y="201168"/>
            <a:ext cx="658368" cy="274320"/>
          </a:xfrm>
          <a:prstGeom prst="roundRect">
            <a:avLst>
              <a:gd name="adj" fmla="val 50000"/>
            </a:avLst>
          </a:prstGeom>
          <a:solidFill>
            <a:schemeClr val="bg1"/>
          </a:solidFill>
          <a:ln w="12700">
            <a:solidFill>
              <a:schemeClr val="accent5"/>
            </a:solidFill>
            <a:prstDash val="solid"/>
          </a:ln>
        </p:spPr>
      </p:sp>
      <p:sp>
        <p:nvSpPr>
          <p:cNvPr id="14" name="text"/>
          <p:cNvSpPr txBox="1"/>
          <p:nvPr/>
        </p:nvSpPr>
        <p:spPr>
          <a:xfrm>
            <a:off x="10241280" y="201168"/>
            <a:ext cx="658368" cy="274320"/>
          </a:xfrm>
          <a:prstGeom prst="rect">
            <a:avLst/>
          </a:prstGeom>
          <a:noFill/>
          <a:ln/>
        </p:spPr>
        <p:txBody>
          <a:bodyPr wrap="square" lIns="0" tIns="0" rIns="0" bIns="0" rtlCol="0" anchor="ctr"/>
          <a:lstStyle/>
          <a:p>
            <a:pPr algn="ctr" indent="0" marL="0">
              <a:buNone/>
            </a:pPr>
            <a:r>
              <a:rPr lang="en-US" sz="1000" dirty="0">
                <a:solidFill>
                  <a:schemeClr val="accent6"/>
                </a:solidFill>
              </a:rPr>
              <a:t>FR / EU</a:t>
            </a:r>
            <a:endParaRPr lang="en-US" sz="1000" dirty="0"/>
          </a:p>
        </p:txBody>
      </p:sp>
      <p:sp>
        <p:nvSpPr>
          <p:cNvPr id="15" name="regime US"/>
          <p:cNvSpPr/>
          <p:nvPr/>
        </p:nvSpPr>
        <p:spPr>
          <a:xfrm>
            <a:off x="10954512" y="201168"/>
            <a:ext cx="658368" cy="274320"/>
          </a:xfrm>
          <a:prstGeom prst="roundRect">
            <a:avLst>
              <a:gd name="adj" fmla="val 50000"/>
            </a:avLst>
          </a:prstGeom>
          <a:solidFill>
            <a:schemeClr val="accent1"/>
          </a:solidFill>
          <a:ln w="12700">
            <a:solidFill>
              <a:schemeClr val="accent1"/>
            </a:solidFill>
            <a:prstDash val="solid"/>
          </a:ln>
        </p:spPr>
      </p:sp>
      <p:sp>
        <p:nvSpPr>
          <p:cNvPr id="16" name="text"/>
          <p:cNvSpPr txBox="1"/>
          <p:nvPr/>
        </p:nvSpPr>
        <p:spPr>
          <a:xfrm>
            <a:off x="10954512" y="201168"/>
            <a:ext cx="658368" cy="274320"/>
          </a:xfrm>
          <a:prstGeom prst="rect">
            <a:avLst/>
          </a:prstGeom>
          <a:noFill/>
          <a:ln/>
        </p:spPr>
        <p:txBody>
          <a:bodyPr wrap="square" lIns="0" tIns="0" rIns="0" bIns="0" rtlCol="0" anchor="ctr"/>
          <a:lstStyle/>
          <a:p>
            <a:pPr algn="ctr" indent="0" marL="0">
              <a:buNone/>
            </a:pPr>
            <a:r>
              <a:rPr lang="en-US" sz="1000" b="1" dirty="0">
                <a:solidFill>
                  <a:schemeClr val="bg1"/>
                </a:solidFill>
              </a:rPr>
              <a:t>US</a:t>
            </a:r>
            <a:endParaRPr lang="en-US" sz="1000" dirty="0"/>
          </a:p>
        </p:txBody>
      </p:sp>
      <p:sp>
        <p:nvSpPr>
          <p:cNvPr id="17" name="United States rulebook"/>
          <p:cNvSpPr/>
          <p:nvPr/>
        </p:nvSpPr>
        <p:spPr>
          <a:xfrm>
            <a:off x="548640" y="1554480"/>
            <a:ext cx="6675120" cy="3520440"/>
          </a:xfrm>
          <a:prstGeom prst="roundRect">
            <a:avLst>
              <a:gd name="adj" fmla="val 3117"/>
            </a:avLst>
          </a:prstGeom>
          <a:solidFill>
            <a:schemeClr val="bg2"/>
          </a:solidFill>
          <a:ln w="12700">
            <a:solidFill>
              <a:schemeClr val="bg2"/>
            </a:solidFill>
            <a:prstDash val="solid"/>
          </a:ln>
        </p:spPr>
      </p:sp>
      <p:sp>
        <p:nvSpPr>
          <p:cNvPr id="18" name="United States header"/>
          <p:cNvSpPr/>
          <p:nvPr/>
        </p:nvSpPr>
        <p:spPr>
          <a:xfrm>
            <a:off x="548640" y="1554480"/>
            <a:ext cx="6675120" cy="457200"/>
          </a:xfrm>
          <a:prstGeom prst="roundRect">
            <a:avLst>
              <a:gd name="adj" fmla="val 24000"/>
            </a:avLst>
          </a:prstGeom>
          <a:solidFill>
            <a:schemeClr val="accent1"/>
          </a:solidFill>
          <a:ln w="12700">
            <a:solidFill>
              <a:schemeClr val="accent1"/>
            </a:solidFill>
            <a:prstDash val="solid"/>
          </a:ln>
        </p:spPr>
      </p:sp>
      <p:sp>
        <p:nvSpPr>
          <p:cNvPr id="19" name="text"/>
          <p:cNvSpPr txBox="1"/>
          <p:nvPr/>
        </p:nvSpPr>
        <p:spPr>
          <a:xfrm>
            <a:off x="777240" y="1554480"/>
            <a:ext cx="6309360" cy="457200"/>
          </a:xfrm>
          <a:prstGeom prst="rect">
            <a:avLst/>
          </a:prstGeom>
          <a:noFill/>
          <a:ln/>
        </p:spPr>
        <p:txBody>
          <a:bodyPr wrap="square" lIns="0" tIns="0" rIns="0" bIns="0" rtlCol="0" anchor="ctr"/>
          <a:lstStyle/>
          <a:p>
            <a:pPr indent="0" marL="0">
              <a:buNone/>
            </a:pPr>
            <a:r>
              <a:rPr lang="en-US" sz="1100" b="1" spc="100" kern="0" dirty="0">
                <a:solidFill>
                  <a:schemeClr val="bg1"/>
                </a:solidFill>
              </a:rPr>
              <a:t>THE RULEBOOK   </a:t>
            </a:r>
            <a:pPr indent="0" marL="0">
              <a:buNone/>
            </a:pPr>
            <a:r>
              <a:rPr lang="en-US" sz="1700" b="1" dirty="0">
                <a:solidFill>
                  <a:schemeClr val="bg1"/>
                </a:solidFill>
              </a:rPr>
              <a:t>United States</a:t>
            </a:r>
            <a:pPr indent="0" marL="0">
              <a:buNone/>
            </a:pPr>
            <a:r>
              <a:rPr lang="en-US" sz="1300" dirty="0">
                <a:solidFill>
                  <a:schemeClr val="bg1"/>
                </a:solidFill>
              </a:rPr>
              <a:t>   OFAC (US Treasury)</a:t>
            </a:r>
            <a:endParaRPr lang="en-US" sz="1400" dirty="0"/>
          </a:p>
        </p:txBody>
      </p:sp>
      <p:sp>
        <p:nvSpPr>
          <p:cNvPr id="20" name="text"/>
          <p:cNvSpPr txBox="1"/>
          <p:nvPr/>
        </p:nvSpPr>
        <p:spPr>
          <a:xfrm>
            <a:off x="777240" y="2139696"/>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LISTS TO SCREEN</a:t>
            </a:r>
            <a:endParaRPr lang="en-US" sz="1100" dirty="0"/>
          </a:p>
        </p:txBody>
      </p:sp>
      <p:sp>
        <p:nvSpPr>
          <p:cNvPr id="21" name="text"/>
          <p:cNvSpPr txBox="1"/>
          <p:nvPr/>
        </p:nvSpPr>
        <p:spPr>
          <a:xfrm>
            <a:off x="2423160" y="2103120"/>
            <a:ext cx="4663440" cy="530352"/>
          </a:xfrm>
          <a:prstGeom prst="rect">
            <a:avLst/>
          </a:prstGeom>
          <a:noFill/>
          <a:ln/>
        </p:spPr>
        <p:txBody>
          <a:bodyPr wrap="square" lIns="0" tIns="0" rIns="0" bIns="0" rtlCol="0" anchor="t"/>
          <a:lstStyle/>
          <a:p>
            <a:pPr indent="0" marL="0">
              <a:buNone/>
            </a:pPr>
            <a:r>
              <a:rPr lang="en-US" sz="1400" dirty="0">
                <a:solidFill>
                  <a:schemeClr val="tx1"/>
                </a:solidFill>
              </a:rPr>
              <a:t>OFAC SDN List and other OFAC lists, plus country- and sector-based programmes.</a:t>
            </a:r>
            <a:endParaRPr lang="en-US" sz="1400" dirty="0"/>
          </a:p>
        </p:txBody>
      </p:sp>
      <p:sp>
        <p:nvSpPr>
          <p:cNvPr id="22" name="text"/>
          <p:cNvSpPr txBox="1"/>
          <p:nvPr/>
        </p:nvSpPr>
        <p:spPr>
          <a:xfrm>
            <a:off x="777240" y="2724912"/>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WHO IS IN CHARGE</a:t>
            </a:r>
            <a:endParaRPr lang="en-US" sz="1100" dirty="0"/>
          </a:p>
        </p:txBody>
      </p:sp>
      <p:sp>
        <p:nvSpPr>
          <p:cNvPr id="23" name="text"/>
          <p:cNvSpPr txBox="1"/>
          <p:nvPr/>
        </p:nvSpPr>
        <p:spPr>
          <a:xfrm>
            <a:off x="2423160" y="2688336"/>
            <a:ext cx="4663440" cy="530352"/>
          </a:xfrm>
          <a:prstGeom prst="rect">
            <a:avLst/>
          </a:prstGeom>
          <a:noFill/>
          <a:ln/>
        </p:spPr>
        <p:txBody>
          <a:bodyPr wrap="square" lIns="0" tIns="0" rIns="0" bIns="0" rtlCol="0" anchor="t"/>
          <a:lstStyle/>
          <a:p>
            <a:pPr indent="0" marL="0">
              <a:buNone/>
            </a:pPr>
            <a:r>
              <a:rPr lang="en-US" sz="1400" dirty="0">
                <a:solidFill>
                  <a:schemeClr val="tx1"/>
                </a:solidFill>
              </a:rPr>
              <a:t>OFAC for sanctions. FinCEN handles AML measures such as Section 311 — these are not sanctions.</a:t>
            </a:r>
            <a:endParaRPr lang="en-US" sz="1400" dirty="0"/>
          </a:p>
        </p:txBody>
      </p:sp>
      <p:sp>
        <p:nvSpPr>
          <p:cNvPr id="24" name="text"/>
          <p:cNvSpPr txBox="1"/>
          <p:nvPr/>
        </p:nvSpPr>
        <p:spPr>
          <a:xfrm>
            <a:off x="777240" y="3310128"/>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OWNERSHIP / CONTROL</a:t>
            </a:r>
            <a:endParaRPr lang="en-US" sz="1100" dirty="0"/>
          </a:p>
        </p:txBody>
      </p:sp>
      <p:sp>
        <p:nvSpPr>
          <p:cNvPr id="25" name="text"/>
          <p:cNvSpPr txBox="1"/>
          <p:nvPr/>
        </p:nvSpPr>
        <p:spPr>
          <a:xfrm>
            <a:off x="2423160" y="3273552"/>
            <a:ext cx="4663440" cy="530352"/>
          </a:xfrm>
          <a:prstGeom prst="rect">
            <a:avLst/>
          </a:prstGeom>
          <a:noFill/>
          <a:ln/>
        </p:spPr>
        <p:txBody>
          <a:bodyPr wrap="square" lIns="0" tIns="0" rIns="0" bIns="0" rtlCol="0" anchor="t"/>
          <a:lstStyle/>
          <a:p>
            <a:pPr indent="0" marL="0">
              <a:buNone/>
            </a:pPr>
            <a:r>
              <a:rPr lang="en-US" sz="1400" dirty="0">
                <a:solidFill>
                  <a:schemeClr val="tx1"/>
                </a:solidFill>
              </a:rPr>
              <a:t>50% or more, with holdings of blocked persons aggregated. Below 50% is not automatically clear.</a:t>
            </a:r>
            <a:endParaRPr lang="en-US" sz="1400" dirty="0"/>
          </a:p>
        </p:txBody>
      </p:sp>
      <p:sp>
        <p:nvSpPr>
          <p:cNvPr id="26" name="text"/>
          <p:cNvSpPr txBox="1"/>
          <p:nvPr/>
        </p:nvSpPr>
        <p:spPr>
          <a:xfrm>
            <a:off x="777240" y="3895344"/>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REQUIRED ACTION</a:t>
            </a:r>
            <a:endParaRPr lang="en-US" sz="1100" dirty="0"/>
          </a:p>
        </p:txBody>
      </p:sp>
      <p:sp>
        <p:nvSpPr>
          <p:cNvPr id="27" name="text"/>
          <p:cNvSpPr txBox="1"/>
          <p:nvPr/>
        </p:nvSpPr>
        <p:spPr>
          <a:xfrm>
            <a:off x="2423160" y="3858768"/>
            <a:ext cx="4663440" cy="530352"/>
          </a:xfrm>
          <a:prstGeom prst="rect">
            <a:avLst/>
          </a:prstGeom>
          <a:noFill/>
          <a:ln/>
        </p:spPr>
        <p:txBody>
          <a:bodyPr wrap="square" lIns="0" tIns="0" rIns="0" bIns="0" rtlCol="0" anchor="t"/>
          <a:lstStyle/>
          <a:p>
            <a:pPr indent="0" marL="0">
              <a:buNone/>
            </a:pPr>
            <a:r>
              <a:rPr lang="en-US" sz="1400" dirty="0">
                <a:solidFill>
                  <a:schemeClr val="tx1"/>
                </a:solidFill>
              </a:rPr>
              <a:t>Block where a blocked person has an interest; reject a prohibited transaction where none does.</a:t>
            </a:r>
            <a:endParaRPr lang="en-US" sz="1400" dirty="0"/>
          </a:p>
        </p:txBody>
      </p:sp>
      <p:sp>
        <p:nvSpPr>
          <p:cNvPr id="28" name="text"/>
          <p:cNvSpPr txBox="1"/>
          <p:nvPr/>
        </p:nvSpPr>
        <p:spPr>
          <a:xfrm>
            <a:off x="777240" y="4480560"/>
            <a:ext cx="1600200" cy="457200"/>
          </a:xfrm>
          <a:prstGeom prst="rect">
            <a:avLst/>
          </a:prstGeom>
          <a:noFill/>
          <a:ln/>
        </p:spPr>
        <p:txBody>
          <a:bodyPr wrap="square" lIns="0" tIns="0" rIns="0" bIns="0" rtlCol="0" anchor="t"/>
          <a:lstStyle/>
          <a:p>
            <a:pPr indent="0" marL="0">
              <a:buNone/>
            </a:pPr>
            <a:r>
              <a:rPr lang="en-US" sz="1100" b="1" spc="100" kern="0" dirty="0">
                <a:solidFill>
                  <a:schemeClr val="accent6"/>
                </a:solidFill>
              </a:rPr>
              <a:t>REPORTED TO (VIA L2)</a:t>
            </a:r>
            <a:endParaRPr lang="en-US" sz="1100" dirty="0"/>
          </a:p>
        </p:txBody>
      </p:sp>
      <p:sp>
        <p:nvSpPr>
          <p:cNvPr id="29" name="text"/>
          <p:cNvSpPr txBox="1"/>
          <p:nvPr/>
        </p:nvSpPr>
        <p:spPr>
          <a:xfrm>
            <a:off x="2423160" y="4443984"/>
            <a:ext cx="4663440" cy="530352"/>
          </a:xfrm>
          <a:prstGeom prst="rect">
            <a:avLst/>
          </a:prstGeom>
          <a:noFill/>
          <a:ln/>
        </p:spPr>
        <p:txBody>
          <a:bodyPr wrap="square" lIns="0" tIns="0" rIns="0" bIns="0" rtlCol="0" anchor="t"/>
          <a:lstStyle/>
          <a:p>
            <a:pPr indent="0" marL="0">
              <a:buNone/>
            </a:pPr>
            <a:r>
              <a:rPr lang="en-US" sz="1400" dirty="0">
                <a:solidFill>
                  <a:schemeClr val="tx1"/>
                </a:solidFill>
              </a:rPr>
              <a:t>OFAC within 10 business days, for blocked and for rejected transactions.</a:t>
            </a:r>
            <a:endParaRPr lang="en-US" sz="1400" dirty="0"/>
          </a:p>
        </p:txBody>
      </p:sp>
      <p:sp>
        <p:nvSpPr>
          <p:cNvPr id="30" name="watch for"/>
          <p:cNvSpPr/>
          <p:nvPr/>
        </p:nvSpPr>
        <p:spPr>
          <a:xfrm>
            <a:off x="7406640" y="1554480"/>
            <a:ext cx="4206240" cy="2176272"/>
          </a:xfrm>
          <a:prstGeom prst="roundRect">
            <a:avLst>
              <a:gd name="adj" fmla="val 5042"/>
            </a:avLst>
          </a:prstGeom>
          <a:solidFill>
            <a:schemeClr val="bg2"/>
          </a:solidFill>
          <a:ln w="12700">
            <a:solidFill>
              <a:schemeClr val="bg2"/>
            </a:solidFill>
            <a:prstDash val="solid"/>
          </a:ln>
        </p:spPr>
      </p:sp>
      <p:sp>
        <p:nvSpPr>
          <p:cNvPr id="31" name="text"/>
          <p:cNvSpPr txBox="1"/>
          <p:nvPr/>
        </p:nvSpPr>
        <p:spPr>
          <a:xfrm>
            <a:off x="7607808" y="1645920"/>
            <a:ext cx="384048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a:t>
            </a:r>
            <a:endParaRPr lang="en-US" sz="1100" dirty="0"/>
          </a:p>
        </p:txBody>
      </p:sp>
      <p:sp>
        <p:nvSpPr>
          <p:cNvPr id="32" name="text"/>
          <p:cNvSpPr txBox="1"/>
          <p:nvPr/>
        </p:nvSpPr>
        <p:spPr>
          <a:xfrm>
            <a:off x="7607808" y="1901952"/>
            <a:ext cx="388620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US rules can reach non-US firms through USD clearing, a US bank, a US person or US-origin goods.</a:t>
            </a:r>
            <a:endParaRPr lang="en-US" sz="1300" dirty="0"/>
          </a:p>
          <a:p>
            <a:pPr marL="342900" indent="-342900">
              <a:spcAft>
                <a:spcPts val="400"/>
              </a:spcAft>
              <a:buSzPct val="100000"/>
              <a:buChar char="•"/>
            </a:pPr>
            <a:r>
              <a:rPr lang="en-US" sz="1300" dirty="0">
                <a:solidFill>
                  <a:schemeClr val="tx1"/>
                </a:solidFill>
              </a:rPr>
              <a:t>Do not reduce US analysis to “USD = automatic OFAC” — a non-USD payment can still have a US touch.</a:t>
            </a:r>
            <a:endParaRPr lang="en-US" sz="1300" dirty="0"/>
          </a:p>
          <a:p>
            <a:pPr marL="342900" indent="-342900">
              <a:spcAft>
                <a:spcPts val="400"/>
              </a:spcAft>
              <a:buSzPct val="100000"/>
              <a:buChar char="•"/>
            </a:pPr>
            <a:r>
              <a:rPr lang="en-US" sz="1300" dirty="0">
                <a:solidFill>
                  <a:schemeClr val="tx1"/>
                </a:solidFill>
              </a:rPr>
              <a:t>Use the data you hold: IP address, geolocation and physical address can show a sanctioned-region link.</a:t>
            </a:r>
            <a:endParaRPr lang="en-US" sz="1300" dirty="0"/>
          </a:p>
        </p:txBody>
      </p:sp>
      <p:sp>
        <p:nvSpPr>
          <p:cNvPr id="33" name="lesson"/>
          <p:cNvSpPr/>
          <p:nvPr/>
        </p:nvSpPr>
        <p:spPr>
          <a:xfrm>
            <a:off x="7406640" y="3822192"/>
            <a:ext cx="4206240" cy="1252728"/>
          </a:xfrm>
          <a:prstGeom prst="roundRect">
            <a:avLst>
              <a:gd name="adj" fmla="val 8759"/>
            </a:avLst>
          </a:prstGeom>
          <a:solidFill>
            <a:schemeClr val="bg2"/>
          </a:solidFill>
          <a:ln w="12700">
            <a:solidFill>
              <a:schemeClr val="bg2"/>
            </a:solidFill>
            <a:prstDash val="solid"/>
          </a:ln>
        </p:spPr>
      </p:sp>
      <p:sp>
        <p:nvSpPr>
          <p:cNvPr id="34" name="text"/>
          <p:cNvSpPr txBox="1"/>
          <p:nvPr/>
        </p:nvSpPr>
        <p:spPr>
          <a:xfrm>
            <a:off x="7607808" y="3895344"/>
            <a:ext cx="3840480" cy="219456"/>
          </a:xfrm>
          <a:prstGeom prst="rect">
            <a:avLst/>
          </a:prstGeom>
          <a:noFill/>
          <a:ln/>
        </p:spPr>
        <p:txBody>
          <a:bodyPr wrap="square" lIns="0" tIns="0" rIns="0" bIns="0" rtlCol="0" anchor="t"/>
          <a:lstStyle/>
          <a:p>
            <a:pPr indent="0" marL="0">
              <a:buNone/>
            </a:pPr>
            <a:r>
              <a:rPr lang="en-US" sz="1100" b="1" spc="100" kern="0" dirty="0">
                <a:solidFill>
                  <a:schemeClr val="accent3"/>
                </a:solidFill>
              </a:rPr>
              <a:t>REAL-LIFE LESSON</a:t>
            </a:r>
            <a:endParaRPr lang="en-US" sz="1100" dirty="0"/>
          </a:p>
        </p:txBody>
      </p:sp>
      <p:sp>
        <p:nvSpPr>
          <p:cNvPr id="35" name="text"/>
          <p:cNvSpPr txBox="1"/>
          <p:nvPr/>
        </p:nvSpPr>
        <p:spPr>
          <a:xfrm>
            <a:off x="7607808" y="4133088"/>
            <a:ext cx="3886200" cy="896112"/>
          </a:xfrm>
          <a:prstGeom prst="rect">
            <a:avLst/>
          </a:prstGeom>
          <a:noFill/>
          <a:ln/>
        </p:spPr>
        <p:txBody>
          <a:bodyPr wrap="square" lIns="0" tIns="0" rIns="0" bIns="0" rtlCol="0" anchor="t"/>
          <a:lstStyle/>
          <a:p>
            <a:pPr indent="0" marL="0">
              <a:buNone/>
            </a:pPr>
            <a:r>
              <a:rPr lang="en-US" sz="1300" dirty="0">
                <a:solidFill>
                  <a:schemeClr val="tx1"/>
                </a:solidFill>
              </a:rPr>
              <a:t>Bittrex (OFAC, $24.3m, Oct 2022): IP and address data was collected but never screened — 116,421 apparent violations involving Crimea, Cuba, Iran, Sudan and Syria.</a:t>
            </a:r>
            <a:endParaRPr lang="en-US" sz="1300" dirty="0"/>
          </a:p>
        </p:txBody>
      </p:sp>
      <p:sp>
        <p:nvSpPr>
          <p:cNvPr id="3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A non-US payment can still breach US sanctions through a US bank, person or product — and every transaction counts.</a:t>
            </a:r>
            <a:endParaRPr lang="en-US" sz="1400" dirty="0"/>
          </a:p>
        </p:txBody>
      </p:sp>
      <p:sp>
        <p:nvSpPr>
          <p:cNvPr id="3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4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Flag any US touch — USD, US bank, US person, US goods or a US-linked IP — in your case note so L2 can assess OFAC.</a:t>
            </a:r>
            <a:endParaRPr lang="en-US" sz="1400" dirty="0"/>
          </a:p>
        </p:txBody>
      </p:sp>
      <p:sp>
        <p:nvSpPr>
          <p:cNvPr id="4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OFAC Basic Information on Sanctions; OFAC 50 Percent Rule guidance (2014); 31 CFR 501.603–604; OFAC–Bittrex settlement (11 Oct 2022).</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5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450"/>
                                        <p:tgtEl>
                                          <p:spTgt spid="32"/>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5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REGIONAL COMPARISON</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Six regimes side by side: what changes the outcome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Same model everywhere — different lists, ownership rules and reporting routes.</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1737360"/>
                <a:gridCol w="1554480"/>
                <a:gridCol w="1554480"/>
                <a:gridCol w="1554480"/>
                <a:gridCol w="1554480"/>
                <a:gridCol w="1554480"/>
                <a:gridCol w="1554480"/>
              </a:tblGrid>
              <a:tr h="365760">
                <a:tc>
                  <a:txBody>
                    <a:bodyPr/>
                    <a:lstStyle/>
                    <a:p>
                      <a:pPr indent="0" marL="0">
                        <a:buNone/>
                      </a:pP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MENA (UAE)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accent3"/>
                    </a:solidFill>
                  </a:tcPr>
                </a:tc>
                <a:tc>
                  <a:txBody>
                    <a:bodyPr/>
                    <a:lstStyle/>
                    <a:p>
                      <a:pPr algn="ctr" indent="0" marL="0">
                        <a:buNone/>
                      </a:pPr>
                      <a:r>
                        <a:rPr lang="en-US" sz="1200" b="1" dirty="0">
                          <a:solidFill>
                            <a:schemeClr val="bg1"/>
                          </a:solidFill>
                        </a:rPr>
                        <a:t>Singapore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Hong Kong</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accent6"/>
                    </a:solidFill>
                  </a:tcPr>
                </a:tc>
                <a:tc>
                  <a:txBody>
                    <a:bodyPr/>
                    <a:lstStyle/>
                    <a:p>
                      <a:pPr algn="ctr" indent="0" marL="0">
                        <a:buNone/>
                      </a:pPr>
                      <a:r>
                        <a:rPr lang="en-US" sz="1200" b="1" dirty="0">
                          <a:solidFill>
                            <a:schemeClr val="bg1"/>
                          </a:solidFill>
                        </a:rPr>
                        <a:t>UK</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France / EU</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US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accent1"/>
                    </a:solidFill>
                  </a:tcPr>
                </a:tc>
              </a:tr>
              <a:tr h="621792">
                <a:tc>
                  <a:txBody>
                    <a:bodyPr/>
                    <a:lstStyle/>
                    <a:p>
                      <a:pPr indent="0" marL="0">
                        <a:buNone/>
                      </a:pPr>
                      <a:r>
                        <a:rPr lang="en-US" sz="1100" b="1" dirty="0">
                          <a:solidFill>
                            <a:schemeClr val="accent6"/>
                          </a:solidFill>
                        </a:rPr>
                        <a:t>Lists to screen</a:t>
                      </a:r>
                      <a:endParaRPr lang="en-US" sz="11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 UAE Local Terrorist List</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 SG terrorist list + MAS Russia notice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only (Cap. 537 / 575)</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UK Sanctions List</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EU list + French register</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SDN + other OFAC lists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621792">
                <a:tc>
                  <a:txBody>
                    <a:bodyPr/>
                    <a:lstStyle/>
                    <a:p>
                      <a:pPr indent="0" marL="0">
                        <a:buNone/>
                      </a:pPr>
                      <a:r>
                        <a:rPr lang="en-US" sz="1100" b="1" dirty="0">
                          <a:solidFill>
                            <a:schemeClr val="accent6"/>
                          </a:solidFill>
                        </a:rPr>
                        <a:t>Ownership / control</a:t>
                      </a:r>
                      <a:endParaRPr lang="en-US" sz="11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Owned or controlled — L2 assesses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Owned or controlled — L2 assesses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Owned or controlled — L2 assesses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More than 50%, not aggregated, or control</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 or more, aggregated, or control</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 or more, aggregated</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621792">
                <a:tc>
                  <a:txBody>
                    <a:bodyPr/>
                    <a:lstStyle/>
                    <a:p>
                      <a:pPr indent="0" marL="0">
                        <a:buNone/>
                      </a:pPr>
                      <a:r>
                        <a:rPr lang="en-US" sz="1100" b="1" dirty="0">
                          <a:solidFill>
                            <a:schemeClr val="accent6"/>
                          </a:solidFill>
                        </a:rPr>
                        <a:t>Required action</a:t>
                      </a:r>
                      <a:endParaRPr lang="en-US" sz="11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Freeze within 24h; suspend partial matches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Freeze; no dealings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Freeze (UN measures)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Freeze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Freeze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Block or reject</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621792">
                <a:tc>
                  <a:txBody>
                    <a:bodyPr/>
                    <a:lstStyle/>
                    <a:p>
                      <a:pPr indent="0" marL="0">
                        <a:buNone/>
                      </a:pPr>
                      <a:r>
                        <a:rPr lang="en-US" sz="1100" b="1" dirty="0">
                          <a:solidFill>
                            <a:schemeClr val="accent6"/>
                          </a:solidFill>
                        </a:rPr>
                        <a:t>Reported to (via L2)</a:t>
                      </a:r>
                      <a:endParaRPr lang="en-US" sz="11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EOCN via goAML, 5 business days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MAS immediately; STR to STRO</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JFIU</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OFSI, as soon as practicable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DG Trésor; TRACFIN (separate)</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OFAC, 10 business days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475488">
                <a:tc>
                  <a:txBody>
                    <a:bodyPr/>
                    <a:lstStyle/>
                    <a:p>
                      <a:pPr indent="0" marL="0">
                        <a:buNone/>
                      </a:pPr>
                      <a:r>
                        <a:rPr lang="en-US" sz="1100" b="1" dirty="0">
                          <a:solidFill>
                            <a:schemeClr val="accent6"/>
                          </a:solidFill>
                        </a:rPr>
                        <a:t>Watch for</a:t>
                      </a:r>
                      <a:endParaRPr lang="en-US" sz="11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1"/>
                          </a:solidFill>
                        </a:rPr>
                        <a:t>Which UAE supervisor?</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Four named Russian banks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A local clear is not clear</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Strict liability</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National-only names</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Any US touch</a:t>
                      </a:r>
                      <a:endParaRPr lang="en-US" sz="1200" dirty="0"/>
                    </a:p>
                  </a:txBody>
                  <a:tcPr marL="64008" marR="64008" marT="36576" marB="36576"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bl>
          </a:graphicData>
        </a:graphic>
      </p:graphicFrame>
      <p:sp>
        <p:nvSpPr>
          <p:cNvPr id="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Knowing where the regimes differ tells you when a local answer is not enough — and what L2 will need from you.</a:t>
            </a:r>
            <a:endParaRPr lang="en-US" sz="1400" dirty="0"/>
          </a:p>
        </p:txBody>
      </p:sp>
      <p:sp>
        <p:nvSpPr>
          <p:cNvPr id="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1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Use this as your desk reference: identify every regime the payment touches, then give L2 the facts for each one.</a:t>
            </a:r>
            <a:endParaRPr lang="en-US" sz="1400" dirty="0"/>
          </a:p>
        </p:txBody>
      </p:sp>
      <p:sp>
        <p:nvSpPr>
          <p:cNvPr id="12"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As cited on the six regime slides; see Appendix B and the trainer review for verification status.</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OWNERSHIP &amp; CONTROL</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Ownership and control: same facts, different answers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Countries count ownership differently — so don't do the maths, escalate.</a:t>
            </a:r>
            <a:endParaRPr lang="en-US" sz="1700" dirty="0"/>
          </a:p>
        </p:txBody>
      </p:sp>
      <p:sp>
        <p:nvSpPr>
          <p:cNvPr id="5" name="diagram"/>
          <p:cNvSpPr/>
          <p:nvPr/>
        </p:nvSpPr>
        <p:spPr>
          <a:xfrm>
            <a:off x="548640" y="1554480"/>
            <a:ext cx="5760720" cy="3520440"/>
          </a:xfrm>
          <a:prstGeom prst="roundRect">
            <a:avLst>
              <a:gd name="adj" fmla="val 3117"/>
            </a:avLst>
          </a:prstGeom>
          <a:solidFill>
            <a:schemeClr val="bg2"/>
          </a:solidFill>
          <a:ln w="12700">
            <a:solidFill>
              <a:schemeClr val="bg2"/>
            </a:solidFill>
            <a:prstDash val="solid"/>
          </a:ln>
        </p:spPr>
      </p:sp>
      <p:sp>
        <p:nvSpPr>
          <p:cNvPr id="6" name="Shape 4"/>
          <p:cNvSpPr/>
          <p:nvPr/>
        </p:nvSpPr>
        <p:spPr>
          <a:xfrm>
            <a:off x="822960" y="1737360"/>
            <a:ext cx="1600200" cy="822960"/>
          </a:xfrm>
          <a:prstGeom prst="roundRect">
            <a:avLst>
              <a:gd name="adj" fmla="val 11111"/>
            </a:avLst>
          </a:prstGeom>
          <a:solidFill>
            <a:schemeClr val="accent1"/>
          </a:solidFill>
          <a:ln w="12700">
            <a:solidFill>
              <a:schemeClr val="accent1"/>
            </a:solidFill>
            <a:prstDash val="solid"/>
          </a:ln>
        </p:spPr>
      </p:sp>
      <p:sp>
        <p:nvSpPr>
          <p:cNvPr id="7" name="text"/>
          <p:cNvSpPr txBox="1"/>
          <p:nvPr/>
        </p:nvSpPr>
        <p:spPr>
          <a:xfrm>
            <a:off x="896112" y="1737360"/>
            <a:ext cx="1453896" cy="822960"/>
          </a:xfrm>
          <a:prstGeom prst="rect">
            <a:avLst/>
          </a:prstGeom>
          <a:noFill/>
          <a:ln/>
        </p:spPr>
        <p:txBody>
          <a:bodyPr wrap="square" lIns="0" tIns="0" rIns="0" bIns="0" rtlCol="0" anchor="ctr"/>
          <a:lstStyle/>
          <a:p>
            <a:pPr algn="ctr" indent="0" marL="0">
              <a:buNone/>
            </a:pPr>
            <a:r>
              <a:rPr lang="en-US" sz="1400" b="1" dirty="0">
                <a:solidFill>
                  <a:schemeClr val="bg1"/>
                </a:solidFill>
              </a:rPr>
              <a:t>Designated A</a:t>
            </a:r>
            <a:endParaRPr lang="en-US" sz="1400" dirty="0"/>
          </a:p>
          <a:p>
            <a:pPr algn="ctr" indent="0" marL="0">
              <a:buNone/>
            </a:pPr>
            <a:r>
              <a:rPr lang="en-US" sz="1200" dirty="0">
                <a:solidFill>
                  <a:schemeClr val="bg1"/>
                </a:solidFill>
              </a:rPr>
              <a:t>owns 30%</a:t>
            </a:r>
            <a:endParaRPr lang="en-US" sz="1400" dirty="0"/>
          </a:p>
        </p:txBody>
      </p:sp>
      <p:sp>
        <p:nvSpPr>
          <p:cNvPr id="8" name="Shape 6"/>
          <p:cNvSpPr/>
          <p:nvPr/>
        </p:nvSpPr>
        <p:spPr>
          <a:xfrm>
            <a:off x="1623060" y="2560320"/>
            <a:ext cx="1805940" cy="960120"/>
          </a:xfrm>
          <a:prstGeom prst="line">
            <a:avLst/>
          </a:prstGeom>
          <a:noFill/>
          <a:ln w="25400">
            <a:solidFill>
              <a:srgbClr val="5B6472"/>
            </a:solidFill>
            <a:prstDash val="solid"/>
            <a:tailEnd type="triangle"/>
          </a:ln>
        </p:spPr>
      </p:sp>
      <p:sp>
        <p:nvSpPr>
          <p:cNvPr id="9" name="Shape 7"/>
          <p:cNvSpPr/>
          <p:nvPr/>
        </p:nvSpPr>
        <p:spPr>
          <a:xfrm>
            <a:off x="2514600" y="1737360"/>
            <a:ext cx="1600200" cy="822960"/>
          </a:xfrm>
          <a:prstGeom prst="roundRect">
            <a:avLst>
              <a:gd name="adj" fmla="val 11111"/>
            </a:avLst>
          </a:prstGeom>
          <a:solidFill>
            <a:schemeClr val="accent1"/>
          </a:solidFill>
          <a:ln w="12700">
            <a:solidFill>
              <a:schemeClr val="accent1"/>
            </a:solidFill>
            <a:prstDash val="solid"/>
          </a:ln>
        </p:spPr>
      </p:sp>
      <p:sp>
        <p:nvSpPr>
          <p:cNvPr id="10" name="text"/>
          <p:cNvSpPr txBox="1"/>
          <p:nvPr/>
        </p:nvSpPr>
        <p:spPr>
          <a:xfrm>
            <a:off x="2587752" y="1737360"/>
            <a:ext cx="1453896" cy="822960"/>
          </a:xfrm>
          <a:prstGeom prst="rect">
            <a:avLst/>
          </a:prstGeom>
          <a:noFill/>
          <a:ln/>
        </p:spPr>
        <p:txBody>
          <a:bodyPr wrap="square" lIns="0" tIns="0" rIns="0" bIns="0" rtlCol="0" anchor="ctr"/>
          <a:lstStyle/>
          <a:p>
            <a:pPr algn="ctr" indent="0" marL="0">
              <a:buNone/>
            </a:pPr>
            <a:r>
              <a:rPr lang="en-US" sz="1400" b="1" dirty="0">
                <a:solidFill>
                  <a:schemeClr val="bg1"/>
                </a:solidFill>
              </a:rPr>
              <a:t>Designated B</a:t>
            </a:r>
            <a:endParaRPr lang="en-US" sz="1400" dirty="0"/>
          </a:p>
          <a:p>
            <a:pPr algn="ctr" indent="0" marL="0">
              <a:buNone/>
            </a:pPr>
            <a:r>
              <a:rPr lang="en-US" sz="1200" dirty="0">
                <a:solidFill>
                  <a:schemeClr val="bg1"/>
                </a:solidFill>
              </a:rPr>
              <a:t>owns 25%</a:t>
            </a:r>
            <a:endParaRPr lang="en-US" sz="1400" dirty="0"/>
          </a:p>
        </p:txBody>
      </p:sp>
      <p:sp>
        <p:nvSpPr>
          <p:cNvPr id="11" name="Shape 9"/>
          <p:cNvSpPr/>
          <p:nvPr/>
        </p:nvSpPr>
        <p:spPr>
          <a:xfrm>
            <a:off x="3314700" y="2560320"/>
            <a:ext cx="114300" cy="960120"/>
          </a:xfrm>
          <a:prstGeom prst="line">
            <a:avLst/>
          </a:prstGeom>
          <a:noFill/>
          <a:ln w="25400">
            <a:solidFill>
              <a:srgbClr val="5B6472"/>
            </a:solidFill>
            <a:prstDash val="solid"/>
            <a:tailEnd type="triangle"/>
          </a:ln>
        </p:spPr>
      </p:sp>
      <p:sp>
        <p:nvSpPr>
          <p:cNvPr id="12" name="Shape 10"/>
          <p:cNvSpPr/>
          <p:nvPr/>
        </p:nvSpPr>
        <p:spPr>
          <a:xfrm>
            <a:off x="4206240" y="1737360"/>
            <a:ext cx="1600200" cy="822960"/>
          </a:xfrm>
          <a:prstGeom prst="roundRect">
            <a:avLst>
              <a:gd name="adj" fmla="val 11111"/>
            </a:avLst>
          </a:prstGeom>
          <a:solidFill>
            <a:schemeClr val="accent2"/>
          </a:solidFill>
          <a:ln w="12700">
            <a:solidFill>
              <a:schemeClr val="accent2"/>
            </a:solidFill>
            <a:prstDash val="solid"/>
          </a:ln>
        </p:spPr>
      </p:sp>
      <p:sp>
        <p:nvSpPr>
          <p:cNvPr id="13" name="text"/>
          <p:cNvSpPr txBox="1"/>
          <p:nvPr/>
        </p:nvSpPr>
        <p:spPr>
          <a:xfrm>
            <a:off x="4279392" y="1737360"/>
            <a:ext cx="1453896" cy="822960"/>
          </a:xfrm>
          <a:prstGeom prst="rect">
            <a:avLst/>
          </a:prstGeom>
          <a:noFill/>
          <a:ln/>
        </p:spPr>
        <p:txBody>
          <a:bodyPr wrap="square" lIns="0" tIns="0" rIns="0" bIns="0" rtlCol="0" anchor="ctr"/>
          <a:lstStyle/>
          <a:p>
            <a:pPr algn="ctr" indent="0" marL="0">
              <a:buNone/>
            </a:pPr>
            <a:r>
              <a:rPr lang="en-US" sz="1400" b="1" dirty="0">
                <a:solidFill>
                  <a:schemeClr val="bg1"/>
                </a:solidFill>
              </a:rPr>
              <a:t>Designated C</a:t>
            </a:r>
            <a:endParaRPr lang="en-US" sz="1400" dirty="0"/>
          </a:p>
          <a:p>
            <a:pPr algn="ctr" indent="0" marL="0">
              <a:buNone/>
            </a:pPr>
            <a:r>
              <a:rPr lang="en-US" sz="1200" dirty="0">
                <a:solidFill>
                  <a:schemeClr val="bg1"/>
                </a:solidFill>
              </a:rPr>
              <a:t>director · signs payouts</a:t>
            </a:r>
            <a:endParaRPr lang="en-US" sz="1400" dirty="0"/>
          </a:p>
        </p:txBody>
      </p:sp>
      <p:sp>
        <p:nvSpPr>
          <p:cNvPr id="14" name="Shape 12"/>
          <p:cNvSpPr/>
          <p:nvPr/>
        </p:nvSpPr>
        <p:spPr>
          <a:xfrm flipH="1">
            <a:off x="3429000" y="2560320"/>
            <a:ext cx="1577340" cy="960120"/>
          </a:xfrm>
          <a:prstGeom prst="line">
            <a:avLst/>
          </a:prstGeom>
          <a:noFill/>
          <a:ln w="25400">
            <a:solidFill>
              <a:srgbClr val="5B6472"/>
            </a:solidFill>
            <a:prstDash val="dash"/>
            <a:tailEnd type="triangle"/>
          </a:ln>
        </p:spPr>
      </p:sp>
      <p:sp>
        <p:nvSpPr>
          <p:cNvPr id="15" name="Shape 13"/>
          <p:cNvSpPr/>
          <p:nvPr/>
        </p:nvSpPr>
        <p:spPr>
          <a:xfrm>
            <a:off x="2423160" y="3520440"/>
            <a:ext cx="2011680" cy="822960"/>
          </a:xfrm>
          <a:prstGeom prst="roundRect">
            <a:avLst>
              <a:gd name="adj" fmla="val 11111"/>
            </a:avLst>
          </a:prstGeom>
          <a:solidFill>
            <a:schemeClr val="tx1"/>
          </a:solidFill>
          <a:ln w="12700">
            <a:solidFill>
              <a:schemeClr val="tx1"/>
            </a:solidFill>
            <a:prstDash val="solid"/>
          </a:ln>
        </p:spPr>
      </p:sp>
      <p:sp>
        <p:nvSpPr>
          <p:cNvPr id="16" name="text"/>
          <p:cNvSpPr txBox="1"/>
          <p:nvPr/>
        </p:nvSpPr>
        <p:spPr>
          <a:xfrm>
            <a:off x="2423160" y="3520440"/>
            <a:ext cx="2011680" cy="822960"/>
          </a:xfrm>
          <a:prstGeom prst="rect">
            <a:avLst/>
          </a:prstGeom>
          <a:noFill/>
          <a:ln/>
        </p:spPr>
        <p:txBody>
          <a:bodyPr wrap="square" lIns="0" tIns="0" rIns="0" bIns="0" rtlCol="0" anchor="ctr"/>
          <a:lstStyle/>
          <a:p>
            <a:pPr algn="ctr" indent="0" marL="0">
              <a:buNone/>
            </a:pPr>
            <a:r>
              <a:rPr lang="en-US" sz="1600" b="1" dirty="0">
                <a:solidFill>
                  <a:schemeClr val="bg1"/>
                </a:solidFill>
              </a:rPr>
              <a:t>Company X</a:t>
            </a:r>
            <a:endParaRPr lang="en-US" sz="1600" dirty="0"/>
          </a:p>
          <a:p>
            <a:pPr algn="ctr" indent="0" marL="0">
              <a:buNone/>
            </a:pPr>
            <a:r>
              <a:rPr lang="en-US" sz="1200" dirty="0">
                <a:solidFill>
                  <a:schemeClr val="bg1"/>
                </a:solidFill>
              </a:rPr>
              <a:t>not listed</a:t>
            </a:r>
            <a:endParaRPr lang="en-US" sz="1600" dirty="0"/>
          </a:p>
        </p:txBody>
      </p:sp>
      <p:sp>
        <p:nvSpPr>
          <p:cNvPr id="17" name="text"/>
          <p:cNvSpPr txBox="1"/>
          <p:nvPr/>
        </p:nvSpPr>
        <p:spPr>
          <a:xfrm>
            <a:off x="822960" y="4572000"/>
            <a:ext cx="5212080" cy="320040"/>
          </a:xfrm>
          <a:prstGeom prst="rect">
            <a:avLst/>
          </a:prstGeom>
          <a:noFill/>
          <a:ln/>
        </p:spPr>
        <p:txBody>
          <a:bodyPr wrap="square" lIns="0" tIns="0" rIns="0" bIns="0" rtlCol="0" anchor="t"/>
          <a:lstStyle/>
          <a:p>
            <a:pPr indent="0" marL="0">
              <a:buNone/>
            </a:pPr>
            <a:r>
              <a:rPr lang="en-US" sz="1300" i="1" dirty="0">
                <a:solidFill>
                  <a:schemeClr val="accent6"/>
                </a:solidFill>
              </a:rPr>
              <a:t>Solid line: ownership.  Dashed line: control.</a:t>
            </a:r>
            <a:endParaRPr lang="en-US" sz="1300" dirty="0"/>
          </a:p>
        </p:txBody>
      </p:sp>
      <p:sp>
        <p:nvSpPr>
          <p:cNvPr id="18" name="badge"/>
          <p:cNvSpPr/>
          <p:nvPr/>
        </p:nvSpPr>
        <p:spPr>
          <a:xfrm>
            <a:off x="6583680" y="1755648"/>
            <a:ext cx="621792" cy="621792"/>
          </a:xfrm>
          <a:prstGeom prst="ellipse">
            <a:avLst/>
          </a:prstGeom>
          <a:solidFill>
            <a:schemeClr val="accent1"/>
          </a:solidFill>
          <a:ln w="12700">
            <a:solidFill>
              <a:schemeClr val="accent1"/>
            </a:solidFill>
            <a:prstDash val="solid"/>
          </a:ln>
        </p:spPr>
      </p:sp>
      <p:sp>
        <p:nvSpPr>
          <p:cNvPr id="19" name="badge text"/>
          <p:cNvSpPr txBox="1"/>
          <p:nvPr/>
        </p:nvSpPr>
        <p:spPr>
          <a:xfrm>
            <a:off x="6583680" y="1755648"/>
            <a:ext cx="621792" cy="621792"/>
          </a:xfrm>
          <a:prstGeom prst="rect">
            <a:avLst/>
          </a:prstGeom>
          <a:noFill/>
          <a:ln/>
        </p:spPr>
        <p:txBody>
          <a:bodyPr wrap="square" lIns="0" tIns="0" rIns="0" bIns="0" rtlCol="0" anchor="ctr"/>
          <a:lstStyle/>
          <a:p>
            <a:pPr algn="ctr" indent="0" marL="0">
              <a:buNone/>
            </a:pPr>
            <a:r>
              <a:rPr lang="en-US" sz="1500" b="1" dirty="0">
                <a:solidFill>
                  <a:schemeClr val="bg1"/>
                </a:solidFill>
              </a:rPr>
              <a:t>US</a:t>
            </a:r>
            <a:endParaRPr lang="en-US" sz="1500" dirty="0"/>
          </a:p>
        </p:txBody>
      </p:sp>
      <p:sp>
        <p:nvSpPr>
          <p:cNvPr id="20" name="text"/>
          <p:cNvSpPr txBox="1"/>
          <p:nvPr/>
        </p:nvSpPr>
        <p:spPr>
          <a:xfrm>
            <a:off x="7406640" y="1572768"/>
            <a:ext cx="4206240" cy="1024128"/>
          </a:xfrm>
          <a:prstGeom prst="rect">
            <a:avLst/>
          </a:prstGeom>
          <a:noFill/>
          <a:ln/>
        </p:spPr>
        <p:txBody>
          <a:bodyPr wrap="square" lIns="0" tIns="0" rIns="0" bIns="0" rtlCol="0" anchor="ctr"/>
          <a:lstStyle/>
          <a:p>
            <a:pPr indent="0" marL="0">
              <a:buNone/>
            </a:pPr>
            <a:r>
              <a:rPr lang="en-US" sz="1500" dirty="0">
                <a:solidFill>
                  <a:schemeClr val="tx1"/>
                </a:solidFill>
              </a:rPr>
              <a:t>30% + 25% = 55%. OFAC aggregates the holdings of blocked persons, so Company X is blocked.</a:t>
            </a:r>
            <a:endParaRPr lang="en-US" sz="1500" dirty="0"/>
          </a:p>
        </p:txBody>
      </p:sp>
      <p:sp>
        <p:nvSpPr>
          <p:cNvPr id="21" name="badge"/>
          <p:cNvSpPr/>
          <p:nvPr/>
        </p:nvSpPr>
        <p:spPr>
          <a:xfrm>
            <a:off x="6583680" y="2926080"/>
            <a:ext cx="621792" cy="621792"/>
          </a:xfrm>
          <a:prstGeom prst="ellipse">
            <a:avLst/>
          </a:prstGeom>
          <a:solidFill>
            <a:schemeClr val="accent4"/>
          </a:solidFill>
          <a:ln w="12700">
            <a:solidFill>
              <a:schemeClr val="accent4"/>
            </a:solidFill>
            <a:prstDash val="solid"/>
          </a:ln>
        </p:spPr>
      </p:sp>
      <p:sp>
        <p:nvSpPr>
          <p:cNvPr id="22" name="badge text"/>
          <p:cNvSpPr txBox="1"/>
          <p:nvPr/>
        </p:nvSpPr>
        <p:spPr>
          <a:xfrm>
            <a:off x="6583680" y="2926080"/>
            <a:ext cx="621792" cy="621792"/>
          </a:xfrm>
          <a:prstGeom prst="rect">
            <a:avLst/>
          </a:prstGeom>
          <a:noFill/>
          <a:ln/>
        </p:spPr>
        <p:txBody>
          <a:bodyPr wrap="square" lIns="0" tIns="0" rIns="0" bIns="0" rtlCol="0" anchor="ctr"/>
          <a:lstStyle/>
          <a:p>
            <a:pPr algn="ctr" indent="0" marL="0">
              <a:buNone/>
            </a:pPr>
            <a:r>
              <a:rPr lang="en-US" sz="1500" b="1" dirty="0">
                <a:solidFill>
                  <a:schemeClr val="bg1"/>
                </a:solidFill>
              </a:rPr>
              <a:t>EU</a:t>
            </a:r>
            <a:endParaRPr lang="en-US" sz="1500" dirty="0"/>
          </a:p>
        </p:txBody>
      </p:sp>
      <p:sp>
        <p:nvSpPr>
          <p:cNvPr id="23" name="text"/>
          <p:cNvSpPr txBox="1"/>
          <p:nvPr/>
        </p:nvSpPr>
        <p:spPr>
          <a:xfrm>
            <a:off x="7406640" y="2743200"/>
            <a:ext cx="4206240" cy="1024128"/>
          </a:xfrm>
          <a:prstGeom prst="rect">
            <a:avLst/>
          </a:prstGeom>
          <a:noFill/>
          <a:ln/>
        </p:spPr>
        <p:txBody>
          <a:bodyPr wrap="square" lIns="0" tIns="0" rIns="0" bIns="0" rtlCol="0" anchor="ctr"/>
          <a:lstStyle/>
          <a:p>
            <a:pPr indent="0" marL="0">
              <a:buNone/>
            </a:pPr>
            <a:r>
              <a:rPr lang="en-US" sz="1500" dirty="0">
                <a:solidFill>
                  <a:schemeClr val="tx1"/>
                </a:solidFill>
              </a:rPr>
              <a:t>The EU also aggregates holdings at 50% or more, so Company X is treated as owned.</a:t>
            </a:r>
            <a:endParaRPr lang="en-US" sz="1500" dirty="0"/>
          </a:p>
        </p:txBody>
      </p:sp>
      <p:sp>
        <p:nvSpPr>
          <p:cNvPr id="24" name="badge"/>
          <p:cNvSpPr/>
          <p:nvPr/>
        </p:nvSpPr>
        <p:spPr>
          <a:xfrm>
            <a:off x="6583680" y="4096512"/>
            <a:ext cx="621792" cy="621792"/>
          </a:xfrm>
          <a:prstGeom prst="ellipse">
            <a:avLst/>
          </a:prstGeom>
          <a:solidFill>
            <a:schemeClr val="tx1"/>
          </a:solidFill>
          <a:ln w="12700">
            <a:solidFill>
              <a:schemeClr val="tx1"/>
            </a:solidFill>
            <a:prstDash val="solid"/>
          </a:ln>
        </p:spPr>
      </p:sp>
      <p:sp>
        <p:nvSpPr>
          <p:cNvPr id="25" name="badge text"/>
          <p:cNvSpPr txBox="1"/>
          <p:nvPr/>
        </p:nvSpPr>
        <p:spPr>
          <a:xfrm>
            <a:off x="6583680" y="4096512"/>
            <a:ext cx="621792" cy="621792"/>
          </a:xfrm>
          <a:prstGeom prst="rect">
            <a:avLst/>
          </a:prstGeom>
          <a:noFill/>
          <a:ln/>
        </p:spPr>
        <p:txBody>
          <a:bodyPr wrap="square" lIns="0" tIns="0" rIns="0" bIns="0" rtlCol="0" anchor="ctr"/>
          <a:lstStyle/>
          <a:p>
            <a:pPr algn="ctr" indent="0" marL="0">
              <a:buNone/>
            </a:pPr>
            <a:r>
              <a:rPr lang="en-US" sz="1500" b="1" dirty="0">
                <a:solidFill>
                  <a:schemeClr val="bg1"/>
                </a:solidFill>
              </a:rPr>
              <a:t>UK</a:t>
            </a:r>
            <a:endParaRPr lang="en-US" sz="1500" dirty="0"/>
          </a:p>
        </p:txBody>
      </p:sp>
      <p:sp>
        <p:nvSpPr>
          <p:cNvPr id="26" name="text"/>
          <p:cNvSpPr txBox="1"/>
          <p:nvPr/>
        </p:nvSpPr>
        <p:spPr>
          <a:xfrm>
            <a:off x="7406640" y="3913632"/>
            <a:ext cx="4206240" cy="1024128"/>
          </a:xfrm>
          <a:prstGeom prst="rect">
            <a:avLst/>
          </a:prstGeom>
          <a:noFill/>
          <a:ln/>
        </p:spPr>
        <p:txBody>
          <a:bodyPr wrap="square" lIns="0" tIns="0" rIns="0" bIns="0" rtlCol="0" anchor="ctr"/>
          <a:lstStyle/>
          <a:p>
            <a:pPr indent="0" marL="0">
              <a:buNone/>
            </a:pPr>
            <a:r>
              <a:rPr lang="en-US" sz="1500" dirty="0">
                <a:solidFill>
                  <a:schemeClr val="tx1"/>
                </a:solidFill>
              </a:rPr>
              <a:t>OFSI does not aggregate different designated persons' holdings unless held jointly. But C signs the payouts, so control must be assessed.</a:t>
            </a:r>
            <a:endParaRPr lang="en-US" sz="1500" dirty="0"/>
          </a:p>
        </p:txBody>
      </p:sp>
      <p:sp>
        <p:nvSpPr>
          <p:cNvPr id="27"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28"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29"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The same facts can block a company in one regime but not another — and Citibank's ownership checks missed subsidiaries.</a:t>
            </a:r>
            <a:endParaRPr lang="en-US" sz="1400" dirty="0"/>
          </a:p>
        </p:txBody>
      </p:sp>
      <p:sp>
        <p:nvSpPr>
          <p:cNvPr id="30"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1"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2"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Map owners, directors and signatories from Orbis and corporate documents. Designated person anywhere? Hold and escalate.</a:t>
            </a:r>
            <a:endParaRPr lang="en-US" sz="1400" dirty="0"/>
          </a:p>
        </p:txBody>
      </p:sp>
      <p:sp>
        <p:nvSpPr>
          <p:cNvPr id="33"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OFAC 50 Percent Rule (2014); Russia Regs 2019 reg 7 + OFSI General Guidance; EU Best Practices ST 11623/24 paras 63–64, Commission FAQ, CJEU C-84/24 (Mar 2026).</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5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5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5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5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5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5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2 · OUTCOMES BY REGIME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Freeze, block and reject mean different things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Freezing, blocking or rejecting is not your call — hold the payment and escalate.</a:t>
            </a:r>
            <a:endParaRPr lang="en-US" sz="1700" dirty="0"/>
          </a:p>
        </p:txBody>
      </p:sp>
      <p:sp>
        <p:nvSpPr>
          <p:cNvPr id="5" name="FREEZE"/>
          <p:cNvSpPr/>
          <p:nvPr/>
        </p:nvSpPr>
        <p:spPr>
          <a:xfrm>
            <a:off x="548640" y="1554480"/>
            <a:ext cx="3566160" cy="1828800"/>
          </a:xfrm>
          <a:prstGeom prst="roundRect">
            <a:avLst>
              <a:gd name="adj" fmla="val 6000"/>
            </a:avLst>
          </a:prstGeom>
          <a:solidFill>
            <a:schemeClr val="bg2"/>
          </a:solidFill>
          <a:ln w="12700">
            <a:solidFill>
              <a:schemeClr val="bg2"/>
            </a:solidFill>
            <a:prstDash val="solid"/>
          </a:ln>
        </p:spPr>
      </p:sp>
      <p:sp>
        <p:nvSpPr>
          <p:cNvPr id="6" name="FREEZE circle"/>
          <p:cNvSpPr/>
          <p:nvPr/>
        </p:nvSpPr>
        <p:spPr>
          <a:xfrm>
            <a:off x="777240" y="1691640"/>
            <a:ext cx="566928" cy="566928"/>
          </a:xfrm>
          <a:prstGeom prst="ellipse">
            <a:avLst/>
          </a:prstGeom>
          <a:solidFill>
            <a:schemeClr val="tx1"/>
          </a:solidFill>
          <a:ln w="12700">
            <a:solidFill>
              <a:schemeClr val="tx1"/>
            </a:solidFill>
            <a:prstDash val="solid"/>
          </a:ln>
        </p:spPr>
      </p:sp>
      <p:pic>
        <p:nvPicPr>
          <p:cNvPr id="7" name="FREEZE icon" descr="preencoded.png">    </p:cNvPr>
          <p:cNvPicPr>
            <a:picLocks noChangeAspect="1"/>
          </p:cNvPicPr>
          <p:nvPr/>
        </p:nvPicPr>
        <p:blipFill>
          <a:blip r:embed="rId1"/>
          <a:stretch>
            <a:fillRect/>
          </a:stretch>
        </p:blipFill>
        <p:spPr>
          <a:xfrm>
            <a:off x="890626" y="1805026"/>
            <a:ext cx="340157" cy="340157"/>
          </a:xfrm>
          <a:prstGeom prst="rect">
            <a:avLst/>
          </a:prstGeom>
        </p:spPr>
      </p:pic>
      <p:sp>
        <p:nvSpPr>
          <p:cNvPr id="8" name="text"/>
          <p:cNvSpPr txBox="1"/>
          <p:nvPr/>
        </p:nvSpPr>
        <p:spPr>
          <a:xfrm>
            <a:off x="1508760" y="1673352"/>
            <a:ext cx="2423160" cy="329184"/>
          </a:xfrm>
          <a:prstGeom prst="rect">
            <a:avLst/>
          </a:prstGeom>
          <a:noFill/>
          <a:ln/>
        </p:spPr>
        <p:txBody>
          <a:bodyPr wrap="square" lIns="0" tIns="0" rIns="0" bIns="0" rtlCol="0" anchor="t"/>
          <a:lstStyle/>
          <a:p>
            <a:pPr indent="0" marL="0">
              <a:buNone/>
            </a:pPr>
            <a:r>
              <a:rPr lang="en-US" sz="1900" b="1" dirty="0">
                <a:solidFill>
                  <a:schemeClr val="tx1"/>
                </a:solidFill>
              </a:rPr>
              <a:t>FREEZE</a:t>
            </a:r>
            <a:endParaRPr lang="en-US" sz="1900" dirty="0"/>
          </a:p>
        </p:txBody>
      </p:sp>
      <p:sp>
        <p:nvSpPr>
          <p:cNvPr id="9" name="text"/>
          <p:cNvSpPr txBox="1"/>
          <p:nvPr/>
        </p:nvSpPr>
        <p:spPr>
          <a:xfrm>
            <a:off x="1508760" y="1993392"/>
            <a:ext cx="2423160" cy="274320"/>
          </a:xfrm>
          <a:prstGeom prst="rect">
            <a:avLst/>
          </a:prstGeom>
          <a:noFill/>
          <a:ln/>
        </p:spPr>
        <p:txBody>
          <a:bodyPr wrap="square" lIns="0" tIns="0" rIns="0" bIns="0" rtlCol="0" anchor="t"/>
          <a:lstStyle/>
          <a:p>
            <a:pPr indent="0" marL="0">
              <a:buNone/>
            </a:pPr>
            <a:r>
              <a:rPr lang="en-US" sz="1300" dirty="0">
                <a:solidFill>
                  <a:schemeClr val="accent6"/>
                </a:solidFill>
              </a:rPr>
              <a:t>UK · EU · UN · local regimes</a:t>
            </a:r>
            <a:endParaRPr lang="en-US" sz="1300" dirty="0"/>
          </a:p>
        </p:txBody>
      </p:sp>
      <p:sp>
        <p:nvSpPr>
          <p:cNvPr id="10" name="text"/>
          <p:cNvSpPr txBox="1"/>
          <p:nvPr/>
        </p:nvSpPr>
        <p:spPr>
          <a:xfrm>
            <a:off x="777240" y="2377440"/>
            <a:ext cx="3108960" cy="960120"/>
          </a:xfrm>
          <a:prstGeom prst="rect">
            <a:avLst/>
          </a:prstGeom>
          <a:noFill/>
          <a:ln/>
        </p:spPr>
        <p:txBody>
          <a:bodyPr wrap="square" lIns="0" tIns="0" rIns="0" bIns="0" rtlCol="0" anchor="t"/>
          <a:lstStyle/>
          <a:p>
            <a:pPr indent="0" marL="0">
              <a:buNone/>
            </a:pPr>
            <a:r>
              <a:rPr lang="en-US" sz="1400" dirty="0">
                <a:solidFill>
                  <a:schemeClr val="tx1"/>
                </a:solidFill>
              </a:rPr>
              <a:t>Funds are held and nothing moves in or out. The freeze is reported to the competent authority.</a:t>
            </a:r>
            <a:endParaRPr lang="en-US" sz="1400" dirty="0"/>
          </a:p>
        </p:txBody>
      </p:sp>
      <p:sp>
        <p:nvSpPr>
          <p:cNvPr id="11" name="BLOCK"/>
          <p:cNvSpPr/>
          <p:nvPr/>
        </p:nvSpPr>
        <p:spPr>
          <a:xfrm>
            <a:off x="4297680" y="1554480"/>
            <a:ext cx="3566160" cy="1828800"/>
          </a:xfrm>
          <a:prstGeom prst="roundRect">
            <a:avLst>
              <a:gd name="adj" fmla="val 6000"/>
            </a:avLst>
          </a:prstGeom>
          <a:solidFill>
            <a:schemeClr val="bg2"/>
          </a:solidFill>
          <a:ln w="12700">
            <a:solidFill>
              <a:schemeClr val="bg2"/>
            </a:solidFill>
            <a:prstDash val="solid"/>
          </a:ln>
        </p:spPr>
      </p:sp>
      <p:sp>
        <p:nvSpPr>
          <p:cNvPr id="12" name="BLOCK circle"/>
          <p:cNvSpPr/>
          <p:nvPr/>
        </p:nvSpPr>
        <p:spPr>
          <a:xfrm>
            <a:off x="4526280" y="1691640"/>
            <a:ext cx="566928" cy="566928"/>
          </a:xfrm>
          <a:prstGeom prst="ellipse">
            <a:avLst/>
          </a:prstGeom>
          <a:solidFill>
            <a:schemeClr val="accent1"/>
          </a:solidFill>
          <a:ln w="12700">
            <a:solidFill>
              <a:schemeClr val="accent1"/>
            </a:solidFill>
            <a:prstDash val="solid"/>
          </a:ln>
        </p:spPr>
      </p:sp>
      <p:pic>
        <p:nvPicPr>
          <p:cNvPr id="13" name="BLOCK icon" descr="preencoded.png">    </p:cNvPr>
          <p:cNvPicPr>
            <a:picLocks noChangeAspect="1"/>
          </p:cNvPicPr>
          <p:nvPr/>
        </p:nvPicPr>
        <p:blipFill>
          <a:blip r:embed="rId2"/>
          <a:stretch>
            <a:fillRect/>
          </a:stretch>
        </p:blipFill>
        <p:spPr>
          <a:xfrm>
            <a:off x="4639666" y="1805026"/>
            <a:ext cx="340157" cy="340157"/>
          </a:xfrm>
          <a:prstGeom prst="rect">
            <a:avLst/>
          </a:prstGeom>
        </p:spPr>
      </p:pic>
      <p:sp>
        <p:nvSpPr>
          <p:cNvPr id="14" name="text"/>
          <p:cNvSpPr txBox="1"/>
          <p:nvPr/>
        </p:nvSpPr>
        <p:spPr>
          <a:xfrm>
            <a:off x="5257800" y="1673352"/>
            <a:ext cx="2423160" cy="329184"/>
          </a:xfrm>
          <a:prstGeom prst="rect">
            <a:avLst/>
          </a:prstGeom>
          <a:noFill/>
          <a:ln/>
        </p:spPr>
        <p:txBody>
          <a:bodyPr wrap="square" lIns="0" tIns="0" rIns="0" bIns="0" rtlCol="0" anchor="t"/>
          <a:lstStyle/>
          <a:p>
            <a:pPr indent="0" marL="0">
              <a:buNone/>
            </a:pPr>
            <a:r>
              <a:rPr lang="en-US" sz="1900" b="1" dirty="0">
                <a:solidFill>
                  <a:schemeClr val="accent1"/>
                </a:solidFill>
              </a:rPr>
              <a:t>BLOCK</a:t>
            </a:r>
            <a:endParaRPr lang="en-US" sz="1900" dirty="0"/>
          </a:p>
        </p:txBody>
      </p:sp>
      <p:sp>
        <p:nvSpPr>
          <p:cNvPr id="15" name="text"/>
          <p:cNvSpPr txBox="1"/>
          <p:nvPr/>
        </p:nvSpPr>
        <p:spPr>
          <a:xfrm>
            <a:off x="5257800" y="1993392"/>
            <a:ext cx="2423160" cy="274320"/>
          </a:xfrm>
          <a:prstGeom prst="rect">
            <a:avLst/>
          </a:prstGeom>
          <a:noFill/>
          <a:ln/>
        </p:spPr>
        <p:txBody>
          <a:bodyPr wrap="square" lIns="0" tIns="0" rIns="0" bIns="0" rtlCol="0" anchor="t"/>
          <a:lstStyle/>
          <a:p>
            <a:pPr indent="0" marL="0">
              <a:buNone/>
            </a:pPr>
            <a:r>
              <a:rPr lang="en-US" sz="1300" dirty="0">
                <a:solidFill>
                  <a:schemeClr val="accent6"/>
                </a:solidFill>
              </a:rPr>
              <a:t>US — OFAC</a:t>
            </a:r>
            <a:endParaRPr lang="en-US" sz="1300" dirty="0"/>
          </a:p>
        </p:txBody>
      </p:sp>
      <p:sp>
        <p:nvSpPr>
          <p:cNvPr id="16" name="text"/>
          <p:cNvSpPr txBox="1"/>
          <p:nvPr/>
        </p:nvSpPr>
        <p:spPr>
          <a:xfrm>
            <a:off x="4526280" y="2377440"/>
            <a:ext cx="3108960" cy="960120"/>
          </a:xfrm>
          <a:prstGeom prst="rect">
            <a:avLst/>
          </a:prstGeom>
          <a:noFill/>
          <a:ln/>
        </p:spPr>
        <p:txBody>
          <a:bodyPr wrap="square" lIns="0" tIns="0" rIns="0" bIns="0" rtlCol="0" anchor="t"/>
          <a:lstStyle/>
          <a:p>
            <a:pPr indent="0" marL="0">
              <a:buNone/>
            </a:pPr>
            <a:r>
              <a:rPr lang="en-US" sz="1400" dirty="0">
                <a:solidFill>
                  <a:schemeClr val="tx1"/>
                </a:solidFill>
              </a:rPr>
              <a:t>OFAC's term for a freeze, where a blocked person has an interest. The property stays in place and is reported.</a:t>
            </a:r>
            <a:endParaRPr lang="en-US" sz="1400" dirty="0"/>
          </a:p>
        </p:txBody>
      </p:sp>
      <p:sp>
        <p:nvSpPr>
          <p:cNvPr id="17" name="REJECT"/>
          <p:cNvSpPr/>
          <p:nvPr/>
        </p:nvSpPr>
        <p:spPr>
          <a:xfrm>
            <a:off x="8046720" y="1554480"/>
            <a:ext cx="3566160" cy="1828800"/>
          </a:xfrm>
          <a:prstGeom prst="roundRect">
            <a:avLst>
              <a:gd name="adj" fmla="val 6000"/>
            </a:avLst>
          </a:prstGeom>
          <a:solidFill>
            <a:schemeClr val="bg2"/>
          </a:solidFill>
          <a:ln w="12700">
            <a:solidFill>
              <a:schemeClr val="bg2"/>
            </a:solidFill>
            <a:prstDash val="solid"/>
          </a:ln>
        </p:spPr>
      </p:sp>
      <p:sp>
        <p:nvSpPr>
          <p:cNvPr id="18" name="REJECT circle"/>
          <p:cNvSpPr/>
          <p:nvPr/>
        </p:nvSpPr>
        <p:spPr>
          <a:xfrm>
            <a:off x="8275320" y="1691640"/>
            <a:ext cx="566928" cy="566928"/>
          </a:xfrm>
          <a:prstGeom prst="ellipse">
            <a:avLst/>
          </a:prstGeom>
          <a:solidFill>
            <a:schemeClr val="accent2"/>
          </a:solidFill>
          <a:ln w="12700">
            <a:solidFill>
              <a:schemeClr val="accent2"/>
            </a:solidFill>
            <a:prstDash val="solid"/>
          </a:ln>
        </p:spPr>
      </p:sp>
      <p:pic>
        <p:nvPicPr>
          <p:cNvPr id="19" name="REJECT icon" descr="preencoded.png">    </p:cNvPr>
          <p:cNvPicPr>
            <a:picLocks noChangeAspect="1"/>
          </p:cNvPicPr>
          <p:nvPr/>
        </p:nvPicPr>
        <p:blipFill>
          <a:blip r:embed="rId3"/>
          <a:stretch>
            <a:fillRect/>
          </a:stretch>
        </p:blipFill>
        <p:spPr>
          <a:xfrm>
            <a:off x="8388706" y="1805026"/>
            <a:ext cx="340157" cy="340157"/>
          </a:xfrm>
          <a:prstGeom prst="rect">
            <a:avLst/>
          </a:prstGeom>
        </p:spPr>
      </p:pic>
      <p:sp>
        <p:nvSpPr>
          <p:cNvPr id="20" name="text"/>
          <p:cNvSpPr txBox="1"/>
          <p:nvPr/>
        </p:nvSpPr>
        <p:spPr>
          <a:xfrm>
            <a:off x="9006840" y="1673352"/>
            <a:ext cx="2423160" cy="329184"/>
          </a:xfrm>
          <a:prstGeom prst="rect">
            <a:avLst/>
          </a:prstGeom>
          <a:noFill/>
          <a:ln/>
        </p:spPr>
        <p:txBody>
          <a:bodyPr wrap="square" lIns="0" tIns="0" rIns="0" bIns="0" rtlCol="0" anchor="t"/>
          <a:lstStyle/>
          <a:p>
            <a:pPr indent="0" marL="0">
              <a:buNone/>
            </a:pPr>
            <a:r>
              <a:rPr lang="en-US" sz="1900" b="1" dirty="0">
                <a:solidFill>
                  <a:schemeClr val="accent2"/>
                </a:solidFill>
              </a:rPr>
              <a:t>REJECT</a:t>
            </a:r>
            <a:endParaRPr lang="en-US" sz="1900" dirty="0"/>
          </a:p>
        </p:txBody>
      </p:sp>
      <p:sp>
        <p:nvSpPr>
          <p:cNvPr id="21" name="text"/>
          <p:cNvSpPr txBox="1"/>
          <p:nvPr/>
        </p:nvSpPr>
        <p:spPr>
          <a:xfrm>
            <a:off x="9006840" y="1993392"/>
            <a:ext cx="2423160" cy="274320"/>
          </a:xfrm>
          <a:prstGeom prst="rect">
            <a:avLst/>
          </a:prstGeom>
          <a:noFill/>
          <a:ln/>
        </p:spPr>
        <p:txBody>
          <a:bodyPr wrap="square" lIns="0" tIns="0" rIns="0" bIns="0" rtlCol="0" anchor="t"/>
          <a:lstStyle/>
          <a:p>
            <a:pPr indent="0" marL="0">
              <a:buNone/>
            </a:pPr>
            <a:r>
              <a:rPr lang="en-US" sz="1300" dirty="0">
                <a:solidFill>
                  <a:schemeClr val="accent6"/>
                </a:solidFill>
              </a:rPr>
              <a:t>US — OFAC</a:t>
            </a:r>
            <a:endParaRPr lang="en-US" sz="1300" dirty="0"/>
          </a:p>
        </p:txBody>
      </p:sp>
      <p:sp>
        <p:nvSpPr>
          <p:cNvPr id="22" name="text"/>
          <p:cNvSpPr txBox="1"/>
          <p:nvPr/>
        </p:nvSpPr>
        <p:spPr>
          <a:xfrm>
            <a:off x="8275320" y="2377440"/>
            <a:ext cx="3108960" cy="960120"/>
          </a:xfrm>
          <a:prstGeom prst="rect">
            <a:avLst/>
          </a:prstGeom>
          <a:noFill/>
          <a:ln/>
        </p:spPr>
        <p:txBody>
          <a:bodyPr wrap="square" lIns="0" tIns="0" rIns="0" bIns="0" rtlCol="0" anchor="t"/>
          <a:lstStyle/>
          <a:p>
            <a:pPr indent="0" marL="0">
              <a:buNone/>
            </a:pPr>
            <a:r>
              <a:rPr lang="en-US" sz="1400" dirty="0">
                <a:solidFill>
                  <a:schemeClr val="tx1"/>
                </a:solidFill>
              </a:rPr>
              <a:t>Prohibited, but no blocked person has an interest, so the transaction is refused. Rejections are also reported.</a:t>
            </a:r>
            <a:endParaRPr lang="en-US" sz="1400" dirty="0"/>
          </a:p>
        </p:txBody>
      </p:sp>
      <p:sp>
        <p:nvSpPr>
          <p:cNvPr id="23" name="text"/>
          <p:cNvSpPr txBox="1"/>
          <p:nvPr/>
        </p:nvSpPr>
        <p:spPr>
          <a:xfrm>
            <a:off x="548640" y="3520440"/>
            <a:ext cx="1106424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HOW IT RUNS IN OUR PROCESS</a:t>
            </a:r>
            <a:endParaRPr lang="en-US" sz="1100" dirty="0"/>
          </a:p>
        </p:txBody>
      </p:sp>
      <p:sp>
        <p:nvSpPr>
          <p:cNvPr id="24" name="You (L1)"/>
          <p:cNvSpPr/>
          <p:nvPr/>
        </p:nvSpPr>
        <p:spPr>
          <a:xfrm>
            <a:off x="548640" y="3794760"/>
            <a:ext cx="2651760" cy="1261872"/>
          </a:xfrm>
          <a:prstGeom prst="roundRect">
            <a:avLst>
              <a:gd name="adj" fmla="val 8696"/>
            </a:avLst>
          </a:prstGeom>
          <a:solidFill>
            <a:schemeClr val="bg2"/>
          </a:solidFill>
          <a:ln w="12700">
            <a:solidFill>
              <a:schemeClr val="bg2"/>
            </a:solidFill>
            <a:prstDash val="solid"/>
          </a:ln>
        </p:spPr>
      </p:sp>
      <p:sp>
        <p:nvSpPr>
          <p:cNvPr id="25" name="badge"/>
          <p:cNvSpPr/>
          <p:nvPr/>
        </p:nvSpPr>
        <p:spPr>
          <a:xfrm>
            <a:off x="713232" y="3904488"/>
            <a:ext cx="384048" cy="384048"/>
          </a:xfrm>
          <a:prstGeom prst="ellipse">
            <a:avLst/>
          </a:prstGeom>
          <a:solidFill>
            <a:schemeClr val="accent1"/>
          </a:solidFill>
          <a:ln w="12700">
            <a:solidFill>
              <a:schemeClr val="accent1"/>
            </a:solidFill>
            <a:prstDash val="solid"/>
          </a:ln>
        </p:spPr>
      </p:sp>
      <p:sp>
        <p:nvSpPr>
          <p:cNvPr id="26" name="badge text"/>
          <p:cNvSpPr txBox="1"/>
          <p:nvPr/>
        </p:nvSpPr>
        <p:spPr>
          <a:xfrm>
            <a:off x="713232" y="3904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7" name="text"/>
          <p:cNvSpPr txBox="1"/>
          <p:nvPr/>
        </p:nvSpPr>
        <p:spPr>
          <a:xfrm>
            <a:off x="1188720" y="3904488"/>
            <a:ext cx="1920240" cy="384048"/>
          </a:xfrm>
          <a:prstGeom prst="rect">
            <a:avLst/>
          </a:prstGeom>
          <a:noFill/>
          <a:ln/>
        </p:spPr>
        <p:txBody>
          <a:bodyPr wrap="square" lIns="0" tIns="0" rIns="0" bIns="0" rtlCol="0" anchor="ctr"/>
          <a:lstStyle/>
          <a:p>
            <a:pPr indent="0" marL="0">
              <a:buNone/>
            </a:pPr>
            <a:r>
              <a:rPr lang="en-US" sz="1400" b="1" dirty="0">
                <a:solidFill>
                  <a:schemeClr val="tx1"/>
                </a:solidFill>
              </a:rPr>
              <a:t>You (L1)</a:t>
            </a:r>
            <a:endParaRPr lang="en-US" sz="1400" dirty="0"/>
          </a:p>
        </p:txBody>
      </p:sp>
      <p:sp>
        <p:nvSpPr>
          <p:cNvPr id="28" name="text"/>
          <p:cNvSpPr txBox="1"/>
          <p:nvPr/>
        </p:nvSpPr>
        <p:spPr>
          <a:xfrm>
            <a:off x="731520" y="4370832"/>
            <a:ext cx="2331720" cy="640080"/>
          </a:xfrm>
          <a:prstGeom prst="rect">
            <a:avLst/>
          </a:prstGeom>
          <a:noFill/>
          <a:ln/>
        </p:spPr>
        <p:txBody>
          <a:bodyPr wrap="square" lIns="0" tIns="0" rIns="0" bIns="0" rtlCol="0" anchor="t"/>
          <a:lstStyle/>
          <a:p>
            <a:pPr indent="0" marL="0">
              <a:buNone/>
            </a:pPr>
            <a:r>
              <a:rPr lang="en-US" sz="1400" dirty="0">
                <a:solidFill>
                  <a:schemeClr val="tx1"/>
                </a:solidFill>
              </a:rPr>
              <a:t>Hold the payment and escalate with your findings.</a:t>
            </a:r>
            <a:endParaRPr lang="en-US" sz="1400" dirty="0"/>
          </a:p>
        </p:txBody>
      </p:sp>
      <p:pic>
        <p:nvPicPr>
          <p:cNvPr id="29" name="Image 3" descr="preencoded.png">    </p:cNvPr>
          <p:cNvPicPr>
            <a:picLocks noChangeAspect="1"/>
          </p:cNvPicPr>
          <p:nvPr/>
        </p:nvPicPr>
        <p:blipFill>
          <a:blip r:embed="rId4"/>
          <a:stretch>
            <a:fillRect/>
          </a:stretch>
        </p:blipFill>
        <p:spPr>
          <a:xfrm>
            <a:off x="3182112" y="4343400"/>
            <a:ext cx="182880" cy="182880"/>
          </a:xfrm>
          <a:prstGeom prst="rect">
            <a:avLst/>
          </a:prstGeom>
        </p:spPr>
      </p:pic>
      <p:sp>
        <p:nvSpPr>
          <p:cNvPr id="30" name="L2 Sanctions Compliance"/>
          <p:cNvSpPr/>
          <p:nvPr/>
        </p:nvSpPr>
        <p:spPr>
          <a:xfrm>
            <a:off x="3346704" y="3794760"/>
            <a:ext cx="2651760" cy="1261872"/>
          </a:xfrm>
          <a:prstGeom prst="roundRect">
            <a:avLst>
              <a:gd name="adj" fmla="val 8696"/>
            </a:avLst>
          </a:prstGeom>
          <a:solidFill>
            <a:schemeClr val="bg2"/>
          </a:solidFill>
          <a:ln w="12700">
            <a:solidFill>
              <a:schemeClr val="bg2"/>
            </a:solidFill>
            <a:prstDash val="solid"/>
          </a:ln>
        </p:spPr>
      </p:sp>
      <p:sp>
        <p:nvSpPr>
          <p:cNvPr id="31" name="badge"/>
          <p:cNvSpPr/>
          <p:nvPr/>
        </p:nvSpPr>
        <p:spPr>
          <a:xfrm>
            <a:off x="3511296" y="3904488"/>
            <a:ext cx="384048" cy="384048"/>
          </a:xfrm>
          <a:prstGeom prst="ellipse">
            <a:avLst/>
          </a:prstGeom>
          <a:solidFill>
            <a:schemeClr val="tx1"/>
          </a:solidFill>
          <a:ln w="12700">
            <a:solidFill>
              <a:schemeClr val="tx1"/>
            </a:solidFill>
            <a:prstDash val="solid"/>
          </a:ln>
        </p:spPr>
      </p:sp>
      <p:sp>
        <p:nvSpPr>
          <p:cNvPr id="32" name="badge text"/>
          <p:cNvSpPr txBox="1"/>
          <p:nvPr/>
        </p:nvSpPr>
        <p:spPr>
          <a:xfrm>
            <a:off x="3511296" y="3904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3" name="text"/>
          <p:cNvSpPr txBox="1"/>
          <p:nvPr/>
        </p:nvSpPr>
        <p:spPr>
          <a:xfrm>
            <a:off x="3986784" y="3904488"/>
            <a:ext cx="1920240" cy="384048"/>
          </a:xfrm>
          <a:prstGeom prst="rect">
            <a:avLst/>
          </a:prstGeom>
          <a:noFill/>
          <a:ln/>
        </p:spPr>
        <p:txBody>
          <a:bodyPr wrap="square" lIns="0" tIns="0" rIns="0" bIns="0" rtlCol="0" anchor="ctr"/>
          <a:lstStyle/>
          <a:p>
            <a:pPr indent="0" marL="0">
              <a:buNone/>
            </a:pPr>
            <a:r>
              <a:rPr lang="en-US" sz="1400" b="1" dirty="0">
                <a:solidFill>
                  <a:schemeClr val="tx1"/>
                </a:solidFill>
              </a:rPr>
              <a:t>L2 Sanctions Compliance</a:t>
            </a:r>
            <a:endParaRPr lang="en-US" sz="1400" dirty="0"/>
          </a:p>
        </p:txBody>
      </p:sp>
      <p:sp>
        <p:nvSpPr>
          <p:cNvPr id="34" name="text"/>
          <p:cNvSpPr txBox="1"/>
          <p:nvPr/>
        </p:nvSpPr>
        <p:spPr>
          <a:xfrm>
            <a:off x="3529584" y="4370832"/>
            <a:ext cx="2331720" cy="640080"/>
          </a:xfrm>
          <a:prstGeom prst="rect">
            <a:avLst/>
          </a:prstGeom>
          <a:noFill/>
          <a:ln/>
        </p:spPr>
        <p:txBody>
          <a:bodyPr wrap="square" lIns="0" tIns="0" rIns="0" bIns="0" rtlCol="0" anchor="t"/>
          <a:lstStyle/>
          <a:p>
            <a:pPr indent="0" marL="0">
              <a:buNone/>
            </a:pPr>
            <a:r>
              <a:rPr lang="en-US" sz="1400" dirty="0">
                <a:solidFill>
                  <a:schemeClr val="tx1"/>
                </a:solidFill>
              </a:rPr>
              <a:t>Assess the regime, the match and the right outcome.</a:t>
            </a:r>
            <a:endParaRPr lang="en-US" sz="1400" dirty="0"/>
          </a:p>
        </p:txBody>
      </p:sp>
      <p:pic>
        <p:nvPicPr>
          <p:cNvPr id="35" name="Image 4" descr="preencoded.png">    </p:cNvPr>
          <p:cNvPicPr>
            <a:picLocks noChangeAspect="1"/>
          </p:cNvPicPr>
          <p:nvPr/>
        </p:nvPicPr>
        <p:blipFill>
          <a:blip r:embed="rId5"/>
          <a:stretch>
            <a:fillRect/>
          </a:stretch>
        </p:blipFill>
        <p:spPr>
          <a:xfrm>
            <a:off x="5980176" y="4343400"/>
            <a:ext cx="182880" cy="182880"/>
          </a:xfrm>
          <a:prstGeom prst="rect">
            <a:avLst/>
          </a:prstGeom>
        </p:spPr>
      </p:pic>
      <p:sp>
        <p:nvSpPr>
          <p:cNvPr id="36" name="L3 / Global Head + CCO"/>
          <p:cNvSpPr/>
          <p:nvPr/>
        </p:nvSpPr>
        <p:spPr>
          <a:xfrm>
            <a:off x="6144768" y="3794760"/>
            <a:ext cx="2651760" cy="1261872"/>
          </a:xfrm>
          <a:prstGeom prst="roundRect">
            <a:avLst>
              <a:gd name="adj" fmla="val 8696"/>
            </a:avLst>
          </a:prstGeom>
          <a:solidFill>
            <a:schemeClr val="bg2"/>
          </a:solidFill>
          <a:ln w="12700">
            <a:solidFill>
              <a:schemeClr val="bg2"/>
            </a:solidFill>
            <a:prstDash val="solid"/>
          </a:ln>
        </p:spPr>
      </p:sp>
      <p:sp>
        <p:nvSpPr>
          <p:cNvPr id="37" name="badge"/>
          <p:cNvSpPr/>
          <p:nvPr/>
        </p:nvSpPr>
        <p:spPr>
          <a:xfrm>
            <a:off x="6309360" y="3904488"/>
            <a:ext cx="384048" cy="384048"/>
          </a:xfrm>
          <a:prstGeom prst="ellipse">
            <a:avLst/>
          </a:prstGeom>
          <a:solidFill>
            <a:schemeClr val="tx1"/>
          </a:solidFill>
          <a:ln w="12700">
            <a:solidFill>
              <a:schemeClr val="tx1"/>
            </a:solidFill>
            <a:prstDash val="solid"/>
          </a:ln>
        </p:spPr>
      </p:sp>
      <p:sp>
        <p:nvSpPr>
          <p:cNvPr id="38" name="badge text"/>
          <p:cNvSpPr txBox="1"/>
          <p:nvPr/>
        </p:nvSpPr>
        <p:spPr>
          <a:xfrm>
            <a:off x="6309360" y="3904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9" name="text"/>
          <p:cNvSpPr txBox="1"/>
          <p:nvPr/>
        </p:nvSpPr>
        <p:spPr>
          <a:xfrm>
            <a:off x="6784848" y="3904488"/>
            <a:ext cx="1920240" cy="384048"/>
          </a:xfrm>
          <a:prstGeom prst="rect">
            <a:avLst/>
          </a:prstGeom>
          <a:noFill/>
          <a:ln/>
        </p:spPr>
        <p:txBody>
          <a:bodyPr wrap="square" lIns="0" tIns="0" rIns="0" bIns="0" rtlCol="0" anchor="ctr"/>
          <a:lstStyle/>
          <a:p>
            <a:pPr indent="0" marL="0">
              <a:buNone/>
            </a:pPr>
            <a:r>
              <a:rPr lang="en-US" sz="1400" b="1" dirty="0">
                <a:solidFill>
                  <a:schemeClr val="tx1"/>
                </a:solidFill>
              </a:rPr>
              <a:t>L3 / Global Head + CCO</a:t>
            </a:r>
            <a:endParaRPr lang="en-US" sz="1400" dirty="0"/>
          </a:p>
        </p:txBody>
      </p:sp>
      <p:sp>
        <p:nvSpPr>
          <p:cNvPr id="40" name="text"/>
          <p:cNvSpPr txBox="1"/>
          <p:nvPr/>
        </p:nvSpPr>
        <p:spPr>
          <a:xfrm>
            <a:off x="6327648" y="4370832"/>
            <a:ext cx="2331720" cy="640080"/>
          </a:xfrm>
          <a:prstGeom prst="rect">
            <a:avLst/>
          </a:prstGeom>
          <a:noFill/>
          <a:ln/>
        </p:spPr>
        <p:txBody>
          <a:bodyPr wrap="square" lIns="0" tIns="0" rIns="0" bIns="0" rtlCol="0" anchor="t"/>
          <a:lstStyle/>
          <a:p>
            <a:pPr indent="0" marL="0">
              <a:buNone/>
            </a:pPr>
            <a:r>
              <a:rPr lang="en-US" sz="1400" dirty="0">
                <a:solidFill>
                  <a:schemeClr val="tx1"/>
                </a:solidFill>
              </a:rPr>
              <a:t>Confirm a true match and approve reporting.</a:t>
            </a:r>
            <a:endParaRPr lang="en-US" sz="1400" dirty="0"/>
          </a:p>
        </p:txBody>
      </p:sp>
      <p:pic>
        <p:nvPicPr>
          <p:cNvPr id="41" name="Image 5" descr="preencoded.png">    </p:cNvPr>
          <p:cNvPicPr>
            <a:picLocks noChangeAspect="1"/>
          </p:cNvPicPr>
          <p:nvPr/>
        </p:nvPicPr>
        <p:blipFill>
          <a:blip r:embed="rId6"/>
          <a:stretch>
            <a:fillRect/>
          </a:stretch>
        </p:blipFill>
        <p:spPr>
          <a:xfrm>
            <a:off x="8778240" y="4343400"/>
            <a:ext cx="182880" cy="182880"/>
          </a:xfrm>
          <a:prstGeom prst="rect">
            <a:avLst/>
          </a:prstGeom>
        </p:spPr>
      </p:pic>
      <p:sp>
        <p:nvSpPr>
          <p:cNvPr id="42" name="Treasury &amp; regional MLROs"/>
          <p:cNvSpPr/>
          <p:nvPr/>
        </p:nvSpPr>
        <p:spPr>
          <a:xfrm>
            <a:off x="8942832" y="3794760"/>
            <a:ext cx="2651760" cy="1261872"/>
          </a:xfrm>
          <a:prstGeom prst="roundRect">
            <a:avLst>
              <a:gd name="adj" fmla="val 8696"/>
            </a:avLst>
          </a:prstGeom>
          <a:solidFill>
            <a:schemeClr val="bg2"/>
          </a:solidFill>
          <a:ln w="12700">
            <a:solidFill>
              <a:schemeClr val="bg2"/>
            </a:solidFill>
            <a:prstDash val="solid"/>
          </a:ln>
        </p:spPr>
      </p:sp>
      <p:sp>
        <p:nvSpPr>
          <p:cNvPr id="43" name="badge"/>
          <p:cNvSpPr/>
          <p:nvPr/>
        </p:nvSpPr>
        <p:spPr>
          <a:xfrm>
            <a:off x="9107424" y="3904488"/>
            <a:ext cx="384048" cy="384048"/>
          </a:xfrm>
          <a:prstGeom prst="ellipse">
            <a:avLst/>
          </a:prstGeom>
          <a:solidFill>
            <a:schemeClr val="tx1"/>
          </a:solidFill>
          <a:ln w="12700">
            <a:solidFill>
              <a:schemeClr val="tx1"/>
            </a:solidFill>
            <a:prstDash val="solid"/>
          </a:ln>
        </p:spPr>
      </p:sp>
      <p:sp>
        <p:nvSpPr>
          <p:cNvPr id="44" name="badge text"/>
          <p:cNvSpPr txBox="1"/>
          <p:nvPr/>
        </p:nvSpPr>
        <p:spPr>
          <a:xfrm>
            <a:off x="9107424" y="3904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5" name="text"/>
          <p:cNvSpPr txBox="1"/>
          <p:nvPr/>
        </p:nvSpPr>
        <p:spPr>
          <a:xfrm>
            <a:off x="9582912" y="3904488"/>
            <a:ext cx="1920240" cy="384048"/>
          </a:xfrm>
          <a:prstGeom prst="rect">
            <a:avLst/>
          </a:prstGeom>
          <a:noFill/>
          <a:ln/>
        </p:spPr>
        <p:txBody>
          <a:bodyPr wrap="square" lIns="0" tIns="0" rIns="0" bIns="0" rtlCol="0" anchor="ctr"/>
          <a:lstStyle/>
          <a:p>
            <a:pPr indent="0" marL="0">
              <a:buNone/>
            </a:pPr>
            <a:r>
              <a:rPr lang="en-US" sz="1400" b="1" dirty="0">
                <a:solidFill>
                  <a:schemeClr val="tx1"/>
                </a:solidFill>
              </a:rPr>
              <a:t>Treasury &amp; regional MLROs</a:t>
            </a:r>
            <a:endParaRPr lang="en-US" sz="1400" dirty="0"/>
          </a:p>
        </p:txBody>
      </p:sp>
      <p:sp>
        <p:nvSpPr>
          <p:cNvPr id="46" name="text"/>
          <p:cNvSpPr txBox="1"/>
          <p:nvPr/>
        </p:nvSpPr>
        <p:spPr>
          <a:xfrm>
            <a:off x="9125712" y="4370832"/>
            <a:ext cx="2331720" cy="640080"/>
          </a:xfrm>
          <a:prstGeom prst="rect">
            <a:avLst/>
          </a:prstGeom>
          <a:noFill/>
          <a:ln/>
        </p:spPr>
        <p:txBody>
          <a:bodyPr wrap="square" lIns="0" tIns="0" rIns="0" bIns="0" rtlCol="0" anchor="t"/>
          <a:lstStyle/>
          <a:p>
            <a:pPr indent="0" marL="0">
              <a:buNone/>
            </a:pPr>
            <a:r>
              <a:rPr lang="en-US" sz="1400" dirty="0">
                <a:solidFill>
                  <a:schemeClr val="tx1"/>
                </a:solidFill>
              </a:rPr>
              <a:t>Execute the freeze, block or reject and file reports.</a:t>
            </a:r>
            <a:endParaRPr lang="en-US" sz="1400" dirty="0"/>
          </a:p>
        </p:txBody>
      </p:sp>
      <p:sp>
        <p:nvSpPr>
          <p:cNvPr id="47"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48"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49"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Returning funds to a designated person is itself making funds available — so the wrong action can create a breach.</a:t>
            </a:r>
            <a:endParaRPr lang="en-US" sz="1400" dirty="0"/>
          </a:p>
        </p:txBody>
      </p:sp>
      <p:sp>
        <p:nvSpPr>
          <p:cNvPr id="50"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51"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52"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You never choose between freeze, block and reject. Hold and escalate — a rejected payment may still need reporting.</a:t>
            </a:r>
            <a:endParaRPr lang="en-US" sz="1400" dirty="0"/>
          </a:p>
        </p:txBody>
      </p:sp>
      <p:sp>
        <p:nvSpPr>
          <p:cNvPr id="53"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31 CFR 501.603 (blocked property) and 501.604 (rejected transactions); Russia Regs 2019 regs 11–15 (asset freeze; making funds available) and reg 70 (reporting).</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5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5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5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50"/>
                                        <p:tgtEl>
                                          <p:spTgt spid="28"/>
                                        </p:tgtEl>
                                      </p:cBhvr>
                                    </p:animEffect>
                                  </p:childTnLst>
                                </p:cTn>
                              </p:par>
                            </p:childTnLst>
                          </p:cTn>
                        </p:par>
                        <p:par>
                          <p:cTn id="20" fill="hold">
                            <p:stCondLst>
                              <p:cond delay="450"/>
                            </p:stCondLst>
                            <p:childTnLst>
                              <p:par>
                                <p:cTn id="21" presetID="10"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5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5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5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5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50"/>
                                        <p:tgtEl>
                                          <p:spTgt spid="34"/>
                                        </p:tgtEl>
                                      </p:cBhvr>
                                    </p:animEffect>
                                  </p:childTnLst>
                                </p:cTn>
                              </p:par>
                            </p:childTnLst>
                          </p:cTn>
                        </p:par>
                        <p:par>
                          <p:cTn id="36" fill="hold">
                            <p:stCondLst>
                              <p:cond delay="900"/>
                            </p:stCondLst>
                            <p:childTnLst>
                              <p:par>
                                <p:cTn id="37" presetID="10" presetClass="entr" presetSubtype="0"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450"/>
                                        <p:tgtEl>
                                          <p:spTgt spid="3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50"/>
                                        <p:tgtEl>
                                          <p:spTgt spid="3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450"/>
                                        <p:tgtEl>
                                          <p:spTgt spid="3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450"/>
                                        <p:tgtEl>
                                          <p:spTgt spid="3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50"/>
                                        <p:tgtEl>
                                          <p:spTgt spid="40"/>
                                        </p:tgtEl>
                                      </p:cBhvr>
                                    </p:animEffect>
                                  </p:childTnLst>
                                </p:cTn>
                              </p:par>
                            </p:childTnLst>
                          </p:cTn>
                        </p:par>
                        <p:par>
                          <p:cTn id="52" fill="hold">
                            <p:stCondLst>
                              <p:cond delay="1350"/>
                            </p:stCondLst>
                            <p:childTnLst>
                              <p:par>
                                <p:cTn id="53" presetID="10" presetClass="entr" presetSubtype="0" fill="hold" grpId="0" nodeType="after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5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450"/>
                                        <p:tgtEl>
                                          <p:spTgt spid="4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450"/>
                                        <p:tgtEl>
                                          <p:spTgt spid="4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450"/>
                                        <p:tgtEl>
                                          <p:spTgt spid="4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3 OF 4</a:t>
            </a: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lIns="0" tIns="0" rIns="0" bIns="0" rtlCol="0" anchor="ctr"/>
          <a:lstStyle/>
          <a:p>
            <a:pPr algn="l" indent="0" marL="0">
              <a:buNone/>
            </a:pPr>
            <a:r>
              <a:rPr lang="en-US" sz="3000" b="1" dirty="0">
                <a:solidFill>
                  <a:schemeClr val="bg1"/>
                </a:solidFill>
              </a:rPr>
              <a:t>Apply the indicators</a:t>
            </a:r>
            <a:endParaRPr lang="en-US" sz="3000" dirty="0"/>
          </a:p>
        </p:txBody>
      </p:sp>
      <p:sp>
        <p:nvSpPr>
          <p:cNvPr id="4" name="part 3 circle"/>
          <p:cNvSpPr/>
          <p:nvPr/>
        </p:nvSpPr>
        <p:spPr>
          <a:xfrm>
            <a:off x="10561320" y="320040"/>
            <a:ext cx="1005840" cy="1005840"/>
          </a:xfrm>
          <a:prstGeom prst="ellipse">
            <a:avLst/>
          </a:prstGeom>
          <a:solidFill>
            <a:schemeClr val="accent2"/>
          </a:solidFill>
          <a:ln w="12700">
            <a:solidFill>
              <a:schemeClr val="accent2"/>
            </a:solidFill>
            <a:prstDash val="solid"/>
          </a:ln>
        </p:spPr>
      </p:sp>
      <p:pic>
        <p:nvPicPr>
          <p:cNvPr id="5" name="part 3 icon" descr="preencoded.png">    </p:cNvPr>
          <p:cNvPicPr>
            <a:picLocks noChangeAspect="1"/>
          </p:cNvPicPr>
          <p:nvPr/>
        </p:nvPicPr>
        <p:blipFill>
          <a:blip r:embed="rId1"/>
          <a:stretch>
            <a:fillRect/>
          </a:stretch>
        </p:blipFill>
        <p:spPr>
          <a:xfrm>
            <a:off x="10762488" y="521208"/>
            <a:ext cx="603504" cy="603504"/>
          </a:xfrm>
          <a:prstGeom prst="rect">
            <a:avLst/>
          </a:prstGeom>
        </p:spPr>
      </p:pic>
      <p:sp>
        <p:nvSpPr>
          <p:cNvPr id="6" name="text"/>
          <p:cNvSpPr txBox="1"/>
          <p:nvPr/>
        </p:nvSpPr>
        <p:spPr>
          <a:xfrm>
            <a:off x="548640" y="1234440"/>
            <a:ext cx="9601200" cy="438912"/>
          </a:xfrm>
          <a:prstGeom prst="rect">
            <a:avLst/>
          </a:prstGeom>
          <a:noFill/>
          <a:ln/>
        </p:spPr>
        <p:txBody>
          <a:bodyPr wrap="square" lIns="0" tIns="0" rIns="0" bIns="0" rtlCol="0" anchor="t"/>
          <a:lstStyle/>
          <a:p>
            <a:pPr indent="0" marL="0">
              <a:buNone/>
            </a:pPr>
            <a:r>
              <a:rPr lang="en-US" sz="2200" b="1" i="1" dirty="0">
                <a:solidFill>
                  <a:schemeClr val="accent2"/>
                </a:solidFill>
              </a:rPr>
              <a:t>From alert to evidence.</a:t>
            </a:r>
            <a:endParaRPr lang="en-US" sz="2200" dirty="0"/>
          </a:p>
        </p:txBody>
      </p:sp>
      <p:sp>
        <p:nvSpPr>
          <p:cNvPr id="7" name="text"/>
          <p:cNvSpPr txBox="1"/>
          <p:nvPr/>
        </p:nvSpPr>
        <p:spPr>
          <a:xfrm>
            <a:off x="548640" y="1700784"/>
            <a:ext cx="10515600" cy="292608"/>
          </a:xfrm>
          <a:prstGeom prst="rect">
            <a:avLst/>
          </a:prstGeom>
          <a:noFill/>
          <a:ln/>
        </p:spPr>
        <p:txBody>
          <a:bodyPr wrap="square" lIns="0" tIns="0" rIns="0" bIns="0" rtlCol="0" anchor="t"/>
          <a:lstStyle/>
          <a:p>
            <a:pPr indent="0" marL="0">
              <a:buNone/>
            </a:pPr>
            <a:r>
              <a:rPr lang="en-US" sz="1400" i="1" dirty="0">
                <a:solidFill>
                  <a:schemeClr val="accent5"/>
                </a:solidFill>
              </a:rPr>
              <a:t>Building on Part 2: you know which rules apply and how outcomes differ.</a:t>
            </a:r>
            <a:endParaRPr lang="en-US" sz="1400" dirty="0"/>
          </a:p>
        </p:txBody>
      </p:sp>
      <p:sp>
        <p:nvSpPr>
          <p:cNvPr id="8" name="text"/>
          <p:cNvSpPr txBox="1"/>
          <p:nvPr/>
        </p:nvSpPr>
        <p:spPr>
          <a:xfrm>
            <a:off x="548640" y="2029968"/>
            <a:ext cx="10789920" cy="731520"/>
          </a:xfrm>
          <a:prstGeom prst="rect">
            <a:avLst/>
          </a:prstGeom>
          <a:noFill/>
          <a:ln/>
        </p:spPr>
        <p:txBody>
          <a:bodyPr wrap="square" lIns="0" tIns="0" rIns="0" bIns="0" rtlCol="0" anchor="t"/>
          <a:lstStyle/>
          <a:p>
            <a:pPr indent="0" marL="0">
              <a:buNone/>
            </a:pPr>
            <a:r>
              <a:rPr lang="en-US" sz="1700" dirty="0">
                <a:solidFill>
                  <a:schemeClr val="bg1"/>
                </a:solidFill>
              </a:rPr>
              <a:t>Now use what you already know — identifiers, ownership, geography, payment behaviour — and the tools you already have. In plain terms: prove it, or pass it on.</a:t>
            </a:r>
            <a:endParaRPr lang="en-US" sz="1700" dirty="0"/>
          </a:p>
        </p:txBody>
      </p:sp>
      <p:sp>
        <p:nvSpPr>
          <p:cNvPr id="9" name="In this part"/>
          <p:cNvSpPr/>
          <p:nvPr/>
        </p:nvSpPr>
        <p:spPr>
          <a:xfrm>
            <a:off x="548640" y="2880360"/>
            <a:ext cx="2651760" cy="2743200"/>
          </a:xfrm>
          <a:prstGeom prst="roundRect">
            <a:avLst>
              <a:gd name="adj" fmla="val 4138"/>
            </a:avLst>
          </a:prstGeom>
          <a:solidFill>
            <a:schemeClr val="tx1"/>
          </a:solidFill>
          <a:ln w="12700">
            <a:solidFill>
              <a:schemeClr val="accent4"/>
            </a:solidFill>
            <a:prstDash val="solid"/>
          </a:ln>
        </p:spPr>
      </p:sp>
      <p:sp>
        <p:nvSpPr>
          <p:cNvPr id="10" name="text"/>
          <p:cNvSpPr txBox="1"/>
          <p:nvPr/>
        </p:nvSpPr>
        <p:spPr>
          <a:xfrm>
            <a:off x="731520"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IN THIS PART</a:t>
            </a:r>
            <a:endParaRPr lang="en-US" sz="1100" dirty="0"/>
          </a:p>
        </p:txBody>
      </p:sp>
      <p:sp>
        <p:nvSpPr>
          <p:cNvPr id="11" name="text"/>
          <p:cNvSpPr txBox="1"/>
          <p:nvPr/>
        </p:nvSpPr>
        <p:spPr>
          <a:xfrm>
            <a:off x="731520" y="3337560"/>
            <a:ext cx="233172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Name variants and identifiers</a:t>
            </a:r>
            <a:endParaRPr lang="en-US" sz="1400" dirty="0"/>
          </a:p>
          <a:p>
            <a:pPr marL="342900" indent="-342900">
              <a:spcAft>
                <a:spcPts val="400"/>
              </a:spcAft>
              <a:buSzPct val="100000"/>
              <a:buChar char="•"/>
            </a:pPr>
            <a:r>
              <a:rPr lang="en-US" sz="1400" dirty="0">
                <a:solidFill>
                  <a:schemeClr val="bg1"/>
                </a:solidFill>
              </a:rPr>
              <a:t>Requesting information without tipping off</a:t>
            </a:r>
            <a:endParaRPr lang="en-US" sz="1400" dirty="0"/>
          </a:p>
          <a:p>
            <a:pPr marL="342900" indent="-342900">
              <a:spcAft>
                <a:spcPts val="400"/>
              </a:spcAft>
              <a:buSzPct val="100000"/>
              <a:buChar char="•"/>
            </a:pPr>
            <a:r>
              <a:rPr lang="en-US" sz="1400" dirty="0">
                <a:solidFill>
                  <a:schemeClr val="bg1"/>
                </a:solidFill>
              </a:rPr>
              <a:t>Case studies 01–04</a:t>
            </a:r>
            <a:endParaRPr lang="en-US" sz="1400" dirty="0"/>
          </a:p>
        </p:txBody>
      </p:sp>
      <p:sp>
        <p:nvSpPr>
          <p:cNvPr id="12" name="Why it matters"/>
          <p:cNvSpPr/>
          <p:nvPr/>
        </p:nvSpPr>
        <p:spPr>
          <a:xfrm>
            <a:off x="3346704" y="2880360"/>
            <a:ext cx="2651760" cy="2743200"/>
          </a:xfrm>
          <a:prstGeom prst="roundRect">
            <a:avLst>
              <a:gd name="adj" fmla="val 4138"/>
            </a:avLst>
          </a:prstGeom>
          <a:solidFill>
            <a:schemeClr val="tx1"/>
          </a:solidFill>
          <a:ln w="12700">
            <a:solidFill>
              <a:schemeClr val="accent4"/>
            </a:solidFill>
            <a:prstDash val="solid"/>
          </a:ln>
        </p:spPr>
      </p:sp>
      <p:sp>
        <p:nvSpPr>
          <p:cNvPr id="13" name="text"/>
          <p:cNvSpPr txBox="1"/>
          <p:nvPr/>
        </p:nvSpPr>
        <p:spPr>
          <a:xfrm>
            <a:off x="3529584"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4" name="text"/>
          <p:cNvSpPr txBox="1"/>
          <p:nvPr/>
        </p:nvSpPr>
        <p:spPr>
          <a:xfrm>
            <a:off x="3529584"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Indicators only protect the firm when you turn them into evidence — or into an escalation when the evidence isn't there.</a:t>
            </a:r>
            <a:endParaRPr lang="en-US" sz="1400" dirty="0"/>
          </a:p>
        </p:txBody>
      </p:sp>
      <p:sp>
        <p:nvSpPr>
          <p:cNvPr id="15" name="What it means for you"/>
          <p:cNvSpPr/>
          <p:nvPr/>
        </p:nvSpPr>
        <p:spPr>
          <a:xfrm>
            <a:off x="6144768" y="2880360"/>
            <a:ext cx="2651760" cy="2743200"/>
          </a:xfrm>
          <a:prstGeom prst="roundRect">
            <a:avLst>
              <a:gd name="adj" fmla="val 4138"/>
            </a:avLst>
          </a:prstGeom>
          <a:solidFill>
            <a:schemeClr val="tx1"/>
          </a:solidFill>
          <a:ln w="12700">
            <a:solidFill>
              <a:schemeClr val="accent4"/>
            </a:solidFill>
            <a:prstDash val="solid"/>
          </a:ln>
        </p:spPr>
      </p:sp>
      <p:sp>
        <p:nvSpPr>
          <p:cNvPr id="16" name="text"/>
          <p:cNvSpPr txBox="1"/>
          <p:nvPr/>
        </p:nvSpPr>
        <p:spPr>
          <a:xfrm>
            <a:off x="6327648"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7" name="text"/>
          <p:cNvSpPr txBox="1"/>
          <p:nvPr/>
        </p:nvSpPr>
        <p:spPr>
          <a:xfrm>
            <a:off x="6327648"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Firco match details and the list record; Orbis and corporate registries for ownership; the approved RFI template; re-screening once new data arrives.</a:t>
            </a:r>
            <a:endParaRPr lang="en-US" sz="1400" dirty="0"/>
          </a:p>
        </p:txBody>
      </p:sp>
      <p:sp>
        <p:nvSpPr>
          <p:cNvPr id="18" name="Ask yourself"/>
          <p:cNvSpPr/>
          <p:nvPr/>
        </p:nvSpPr>
        <p:spPr>
          <a:xfrm>
            <a:off x="8942832" y="2880360"/>
            <a:ext cx="2651760" cy="2743200"/>
          </a:xfrm>
          <a:prstGeom prst="roundRect">
            <a:avLst>
              <a:gd name="adj" fmla="val 4138"/>
            </a:avLst>
          </a:prstGeom>
          <a:solidFill>
            <a:schemeClr val="tx1"/>
          </a:solidFill>
          <a:ln w="12700">
            <a:solidFill>
              <a:schemeClr val="accent4"/>
            </a:solidFill>
            <a:prstDash val="solid"/>
          </a:ln>
        </p:spPr>
      </p:sp>
      <p:sp>
        <p:nvSpPr>
          <p:cNvPr id="19" name="text"/>
          <p:cNvSpPr txBox="1"/>
          <p:nvPr/>
        </p:nvSpPr>
        <p:spPr>
          <a:xfrm>
            <a:off x="9125712"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ASK YOURSELF</a:t>
            </a:r>
            <a:endParaRPr lang="en-US" sz="1100" dirty="0"/>
          </a:p>
        </p:txBody>
      </p:sp>
      <p:sp>
        <p:nvSpPr>
          <p:cNvPr id="20" name="text"/>
          <p:cNvSpPr txBox="1"/>
          <p:nvPr/>
        </p:nvSpPr>
        <p:spPr>
          <a:xfrm>
            <a:off x="9125712" y="3337560"/>
            <a:ext cx="2286000" cy="2194560"/>
          </a:xfrm>
          <a:prstGeom prst="rect">
            <a:avLst/>
          </a:prstGeom>
          <a:noFill/>
          <a:ln/>
        </p:spPr>
        <p:txBody>
          <a:bodyPr wrap="square" lIns="0" tIns="0" rIns="0" bIns="0" rtlCol="0" anchor="t"/>
          <a:lstStyle/>
          <a:p>
            <a:pPr indent="0" marL="0">
              <a:buNone/>
            </a:pPr>
            <a:r>
              <a:rPr lang="en-US" sz="1600" i="1" dirty="0">
                <a:solidFill>
                  <a:schemeClr val="bg1"/>
                </a:solidFill>
              </a:rPr>
              <a:t>What evidence would resolve this alert — and where in our process do I get it?</a:t>
            </a:r>
            <a:endParaRPr lang="en-US" sz="1600" dirty="0"/>
          </a:p>
        </p:txBody>
      </p:sp>
      <p:sp>
        <p:nvSpPr>
          <p:cNvPr id="21" name="progress 1"/>
          <p:cNvSpPr/>
          <p:nvPr/>
        </p:nvSpPr>
        <p:spPr>
          <a:xfrm>
            <a:off x="548640" y="5833872"/>
            <a:ext cx="2651760" cy="384048"/>
          </a:xfrm>
          <a:prstGeom prst="roundRect">
            <a:avLst>
              <a:gd name="adj" fmla="val 50000"/>
            </a:avLst>
          </a:prstGeom>
          <a:solidFill>
            <a:schemeClr val="tx2"/>
          </a:solidFill>
          <a:ln w="12700">
            <a:solidFill>
              <a:schemeClr val="accent4"/>
            </a:solidFill>
            <a:prstDash val="solid"/>
          </a:ln>
        </p:spPr>
      </p:sp>
      <p:sp>
        <p:nvSpPr>
          <p:cNvPr id="22" name="text"/>
          <p:cNvSpPr txBox="1"/>
          <p:nvPr/>
        </p:nvSpPr>
        <p:spPr>
          <a:xfrm>
            <a:off x="548640"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1  Understand the model</a:t>
            </a:r>
            <a:endParaRPr lang="en-US" sz="1300" dirty="0"/>
          </a:p>
        </p:txBody>
      </p:sp>
      <p:sp>
        <p:nvSpPr>
          <p:cNvPr id="23" name="progress 2"/>
          <p:cNvSpPr/>
          <p:nvPr/>
        </p:nvSpPr>
        <p:spPr>
          <a:xfrm>
            <a:off x="3346704" y="5833872"/>
            <a:ext cx="2651760" cy="384048"/>
          </a:xfrm>
          <a:prstGeom prst="roundRect">
            <a:avLst>
              <a:gd name="adj" fmla="val 50000"/>
            </a:avLst>
          </a:prstGeom>
          <a:solidFill>
            <a:schemeClr val="tx2"/>
          </a:solidFill>
          <a:ln w="12700">
            <a:solidFill>
              <a:schemeClr val="accent4"/>
            </a:solidFill>
            <a:prstDash val="solid"/>
          </a:ln>
        </p:spPr>
      </p:sp>
      <p:sp>
        <p:nvSpPr>
          <p:cNvPr id="24" name="text"/>
          <p:cNvSpPr txBox="1"/>
          <p:nvPr/>
        </p:nvSpPr>
        <p:spPr>
          <a:xfrm>
            <a:off x="3346704"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2  Compare the regions</a:t>
            </a:r>
            <a:endParaRPr lang="en-US" sz="1300" dirty="0"/>
          </a:p>
        </p:txBody>
      </p:sp>
      <p:sp>
        <p:nvSpPr>
          <p:cNvPr id="25" name="progress 3"/>
          <p:cNvSpPr/>
          <p:nvPr/>
        </p:nvSpPr>
        <p:spPr>
          <a:xfrm>
            <a:off x="6144768" y="5833872"/>
            <a:ext cx="2651760" cy="384048"/>
          </a:xfrm>
          <a:prstGeom prst="roundRect">
            <a:avLst>
              <a:gd name="adj" fmla="val 50000"/>
            </a:avLst>
          </a:prstGeom>
          <a:solidFill>
            <a:schemeClr val="accent2"/>
          </a:solidFill>
          <a:ln w="12700">
            <a:solidFill>
              <a:schemeClr val="accent2"/>
            </a:solidFill>
            <a:prstDash val="solid"/>
          </a:ln>
        </p:spPr>
      </p:sp>
      <p:sp>
        <p:nvSpPr>
          <p:cNvPr id="26" name="text"/>
          <p:cNvSpPr txBox="1"/>
          <p:nvPr/>
        </p:nvSpPr>
        <p:spPr>
          <a:xfrm>
            <a:off x="6144768" y="5833872"/>
            <a:ext cx="2651760" cy="384048"/>
          </a:xfrm>
          <a:prstGeom prst="rect">
            <a:avLst/>
          </a:prstGeom>
          <a:noFill/>
          <a:ln/>
        </p:spPr>
        <p:txBody>
          <a:bodyPr wrap="square" lIns="0" tIns="0" rIns="0" bIns="0" rtlCol="0" anchor="ctr"/>
          <a:lstStyle/>
          <a:p>
            <a:pPr algn="ctr" indent="0" marL="0">
              <a:buNone/>
            </a:pPr>
            <a:r>
              <a:rPr lang="en-US" sz="1300" b="1" dirty="0">
                <a:solidFill>
                  <a:schemeClr val="bg1"/>
                </a:solidFill>
              </a:rPr>
              <a:t>3  Apply the indicators</a:t>
            </a:r>
            <a:endParaRPr lang="en-US" sz="1300" dirty="0"/>
          </a:p>
        </p:txBody>
      </p:sp>
      <p:sp>
        <p:nvSpPr>
          <p:cNvPr id="27" name="progress 4"/>
          <p:cNvSpPr/>
          <p:nvPr/>
        </p:nvSpPr>
        <p:spPr>
          <a:xfrm>
            <a:off x="8942832" y="5833872"/>
            <a:ext cx="2651760" cy="384048"/>
          </a:xfrm>
          <a:prstGeom prst="roundRect">
            <a:avLst>
              <a:gd name="adj" fmla="val 50000"/>
            </a:avLst>
          </a:prstGeom>
          <a:solidFill>
            <a:schemeClr val="tx2"/>
          </a:solidFill>
          <a:ln w="12700">
            <a:solidFill>
              <a:schemeClr val="accent4"/>
            </a:solidFill>
            <a:prstDash val="solid"/>
          </a:ln>
        </p:spPr>
      </p:sp>
      <p:sp>
        <p:nvSpPr>
          <p:cNvPr id="28" name="text"/>
          <p:cNvSpPr txBox="1"/>
          <p:nvPr/>
        </p:nvSpPr>
        <p:spPr>
          <a:xfrm>
            <a:off x="8942832"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4  Record the decision</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3 · NAME MATCHING</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Name variants are where screening most often fails</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One name can be spelled many ways — look past the spelling to the person.</a:t>
            </a:r>
            <a:endParaRPr lang="en-US" sz="1700" dirty="0"/>
          </a:p>
        </p:txBody>
      </p:sp>
      <p:sp>
        <p:nvSpPr>
          <p:cNvPr id="5" name="Legal-form prefixes"/>
          <p:cNvSpPr/>
          <p:nvPr/>
        </p:nvSpPr>
        <p:spPr>
          <a:xfrm>
            <a:off x="548640" y="1554480"/>
            <a:ext cx="6492240" cy="1078992"/>
          </a:xfrm>
          <a:prstGeom prst="roundRect">
            <a:avLst>
              <a:gd name="adj" fmla="val 10169"/>
            </a:avLst>
          </a:prstGeom>
          <a:solidFill>
            <a:schemeClr val="bg2"/>
          </a:solidFill>
          <a:ln w="12700">
            <a:solidFill>
              <a:schemeClr val="bg2"/>
            </a:solidFill>
            <a:prstDash val="solid"/>
          </a:ln>
        </p:spPr>
      </p:sp>
      <p:sp>
        <p:nvSpPr>
          <p:cNvPr id="6" name="text"/>
          <p:cNvSpPr txBox="1"/>
          <p:nvPr/>
        </p:nvSpPr>
        <p:spPr>
          <a:xfrm>
            <a:off x="777240" y="1645920"/>
            <a:ext cx="2103120" cy="896112"/>
          </a:xfrm>
          <a:prstGeom prst="rect">
            <a:avLst/>
          </a:prstGeom>
          <a:noFill/>
          <a:ln/>
        </p:spPr>
        <p:txBody>
          <a:bodyPr wrap="square" lIns="0" tIns="0" rIns="0" bIns="0" rtlCol="0" anchor="ctr"/>
          <a:lstStyle/>
          <a:p>
            <a:pPr indent="0" marL="0">
              <a:buNone/>
            </a:pPr>
            <a:r>
              <a:rPr lang="en-US" sz="1600" b="1" dirty="0">
                <a:solidFill>
                  <a:schemeClr val="tx1"/>
                </a:solidFill>
              </a:rPr>
              <a:t>Legal-form prefixes</a:t>
            </a:r>
            <a:endParaRPr lang="en-US" sz="1600" dirty="0"/>
          </a:p>
        </p:txBody>
      </p:sp>
      <p:sp>
        <p:nvSpPr>
          <p:cNvPr id="7" name="text"/>
          <p:cNvSpPr txBox="1"/>
          <p:nvPr/>
        </p:nvSpPr>
        <p:spPr>
          <a:xfrm>
            <a:off x="2926080" y="1645920"/>
            <a:ext cx="3977640" cy="896112"/>
          </a:xfrm>
          <a:prstGeom prst="rect">
            <a:avLst/>
          </a:prstGeom>
          <a:noFill/>
          <a:ln/>
        </p:spPr>
        <p:txBody>
          <a:bodyPr wrap="square" lIns="0" tIns="0" rIns="0" bIns="0" rtlCol="0" anchor="ctr"/>
          <a:lstStyle/>
          <a:p>
            <a:pPr indent="0" marL="0">
              <a:buNone/>
            </a:pPr>
            <a:r>
              <a:rPr lang="en-US" sz="1400" b="1" dirty="0">
                <a:solidFill>
                  <a:schemeClr val="tx1"/>
                </a:solidFill>
              </a:rPr>
              <a:t>PAO · ПАО · PJSC · OAO · AO · OOO · LLC · Ltd</a:t>
            </a:r>
            <a:endParaRPr lang="en-US" sz="1400" dirty="0"/>
          </a:p>
          <a:p>
            <a:pPr indent="0" marL="0">
              <a:buNone/>
            </a:pPr>
            <a:r>
              <a:rPr lang="en-US" sz="1300" dirty="0">
                <a:solidFill>
                  <a:schemeClr val="accent6"/>
                </a:solidFill>
              </a:rPr>
              <a:t>Citibank: “PAO Sovcomflot” was not matched to “Sovcomflot”.</a:t>
            </a:r>
            <a:endParaRPr lang="en-US" sz="1400" dirty="0"/>
          </a:p>
        </p:txBody>
      </p:sp>
      <p:sp>
        <p:nvSpPr>
          <p:cNvPr id="8" name="Transliteration"/>
          <p:cNvSpPr/>
          <p:nvPr/>
        </p:nvSpPr>
        <p:spPr>
          <a:xfrm>
            <a:off x="548640" y="2743200"/>
            <a:ext cx="6492240" cy="1078992"/>
          </a:xfrm>
          <a:prstGeom prst="roundRect">
            <a:avLst>
              <a:gd name="adj" fmla="val 10169"/>
            </a:avLst>
          </a:prstGeom>
          <a:solidFill>
            <a:schemeClr val="bg2"/>
          </a:solidFill>
          <a:ln w="12700">
            <a:solidFill>
              <a:schemeClr val="bg2"/>
            </a:solidFill>
            <a:prstDash val="solid"/>
          </a:ln>
        </p:spPr>
      </p:sp>
      <p:sp>
        <p:nvSpPr>
          <p:cNvPr id="9" name="text"/>
          <p:cNvSpPr txBox="1"/>
          <p:nvPr/>
        </p:nvSpPr>
        <p:spPr>
          <a:xfrm>
            <a:off x="777240" y="2834640"/>
            <a:ext cx="2103120" cy="896112"/>
          </a:xfrm>
          <a:prstGeom prst="rect">
            <a:avLst/>
          </a:prstGeom>
          <a:noFill/>
          <a:ln/>
        </p:spPr>
        <p:txBody>
          <a:bodyPr wrap="square" lIns="0" tIns="0" rIns="0" bIns="0" rtlCol="0" anchor="ctr"/>
          <a:lstStyle/>
          <a:p>
            <a:pPr indent="0" marL="0">
              <a:buNone/>
            </a:pPr>
            <a:r>
              <a:rPr lang="en-US" sz="1600" b="1" dirty="0">
                <a:solidFill>
                  <a:schemeClr val="tx1"/>
                </a:solidFill>
              </a:rPr>
              <a:t>Transliteration</a:t>
            </a:r>
            <a:endParaRPr lang="en-US" sz="1600" dirty="0"/>
          </a:p>
        </p:txBody>
      </p:sp>
      <p:sp>
        <p:nvSpPr>
          <p:cNvPr id="10" name="text"/>
          <p:cNvSpPr txBox="1"/>
          <p:nvPr/>
        </p:nvSpPr>
        <p:spPr>
          <a:xfrm>
            <a:off x="2926080" y="2834640"/>
            <a:ext cx="3977640" cy="896112"/>
          </a:xfrm>
          <a:prstGeom prst="rect">
            <a:avLst/>
          </a:prstGeom>
          <a:noFill/>
          <a:ln/>
        </p:spPr>
        <p:txBody>
          <a:bodyPr wrap="square" lIns="0" tIns="0" rIns="0" bIns="0" rtlCol="0" anchor="ctr"/>
          <a:lstStyle/>
          <a:p>
            <a:pPr indent="0" marL="0">
              <a:buNone/>
            </a:pPr>
            <a:r>
              <a:rPr lang="en-US" sz="1400" b="1" dirty="0">
                <a:solidFill>
                  <a:schemeClr val="tx1"/>
                </a:solidFill>
              </a:rPr>
              <a:t>Mohammed · Muhammad · Mohamed · Aleksandr · Alexander</a:t>
            </a:r>
            <a:endParaRPr lang="en-US" sz="1400" dirty="0"/>
          </a:p>
          <a:p>
            <a:pPr indent="0" marL="0">
              <a:buNone/>
            </a:pPr>
            <a:r>
              <a:rPr lang="en-US" sz="1300" dirty="0">
                <a:solidFill>
                  <a:schemeClr val="accent6"/>
                </a:solidFill>
              </a:rPr>
              <a:t>Bank of Scotland: the passport spelling differed from the list entry.</a:t>
            </a:r>
            <a:endParaRPr lang="en-US" sz="1400" dirty="0"/>
          </a:p>
        </p:txBody>
      </p:sp>
      <p:sp>
        <p:nvSpPr>
          <p:cNvPr id="11" name="Word order, initials, aliases"/>
          <p:cNvSpPr/>
          <p:nvPr/>
        </p:nvSpPr>
        <p:spPr>
          <a:xfrm>
            <a:off x="548640" y="3931920"/>
            <a:ext cx="6492240" cy="1078992"/>
          </a:xfrm>
          <a:prstGeom prst="roundRect">
            <a:avLst>
              <a:gd name="adj" fmla="val 10169"/>
            </a:avLst>
          </a:prstGeom>
          <a:solidFill>
            <a:schemeClr val="bg2"/>
          </a:solidFill>
          <a:ln w="12700">
            <a:solidFill>
              <a:schemeClr val="bg2"/>
            </a:solidFill>
            <a:prstDash val="solid"/>
          </a:ln>
        </p:spPr>
      </p:sp>
      <p:sp>
        <p:nvSpPr>
          <p:cNvPr id="12" name="text"/>
          <p:cNvSpPr txBox="1"/>
          <p:nvPr/>
        </p:nvSpPr>
        <p:spPr>
          <a:xfrm>
            <a:off x="777240" y="4023360"/>
            <a:ext cx="2103120" cy="896112"/>
          </a:xfrm>
          <a:prstGeom prst="rect">
            <a:avLst/>
          </a:prstGeom>
          <a:noFill/>
          <a:ln/>
        </p:spPr>
        <p:txBody>
          <a:bodyPr wrap="square" lIns="0" tIns="0" rIns="0" bIns="0" rtlCol="0" anchor="ctr"/>
          <a:lstStyle/>
          <a:p>
            <a:pPr indent="0" marL="0">
              <a:buNone/>
            </a:pPr>
            <a:r>
              <a:rPr lang="en-US" sz="1600" b="1" dirty="0">
                <a:solidFill>
                  <a:schemeClr val="tx1"/>
                </a:solidFill>
              </a:rPr>
              <a:t>Word order, initials, aliases</a:t>
            </a:r>
            <a:endParaRPr lang="en-US" sz="1600" dirty="0"/>
          </a:p>
        </p:txBody>
      </p:sp>
      <p:sp>
        <p:nvSpPr>
          <p:cNvPr id="13" name="text"/>
          <p:cNvSpPr txBox="1"/>
          <p:nvPr/>
        </p:nvSpPr>
        <p:spPr>
          <a:xfrm>
            <a:off x="2926080" y="4023360"/>
            <a:ext cx="3977640" cy="896112"/>
          </a:xfrm>
          <a:prstGeom prst="rect">
            <a:avLst/>
          </a:prstGeom>
          <a:noFill/>
          <a:ln/>
        </p:spPr>
        <p:txBody>
          <a:bodyPr wrap="square" lIns="0" tIns="0" rIns="0" bIns="0" rtlCol="0" anchor="ctr"/>
          <a:lstStyle/>
          <a:p>
            <a:pPr indent="0" marL="0">
              <a:buNone/>
            </a:pPr>
            <a:r>
              <a:rPr lang="en-US" sz="1400" b="1" dirty="0">
                <a:solidFill>
                  <a:schemeClr val="tx1"/>
                </a:solidFill>
              </a:rPr>
              <a:t>“M. Rahman” · “Rahman, Mohammed” · “Rakhman”</a:t>
            </a:r>
            <a:endParaRPr lang="en-US" sz="1400" dirty="0"/>
          </a:p>
          <a:p>
            <a:pPr indent="0" marL="0">
              <a:buNone/>
            </a:pPr>
            <a:r>
              <a:rPr lang="en-US" sz="1300" dirty="0">
                <a:solidFill>
                  <a:schemeClr val="accent6"/>
                </a:solidFill>
              </a:rPr>
              <a:t>Historical aliases on the list record count.</a:t>
            </a:r>
            <a:endParaRPr lang="en-US" sz="1400" dirty="0"/>
          </a:p>
        </p:txBody>
      </p:sp>
      <p:sp>
        <p:nvSpPr>
          <p:cNvPr id="14" name="identifiers"/>
          <p:cNvSpPr/>
          <p:nvPr/>
        </p:nvSpPr>
        <p:spPr>
          <a:xfrm>
            <a:off x="7269480" y="1554480"/>
            <a:ext cx="4343400" cy="3456432"/>
          </a:xfrm>
          <a:prstGeom prst="roundRect">
            <a:avLst>
              <a:gd name="adj" fmla="val 3175"/>
            </a:avLst>
          </a:prstGeom>
          <a:solidFill>
            <a:schemeClr val="tx1"/>
          </a:solidFill>
          <a:ln w="12700">
            <a:solidFill>
              <a:schemeClr val="tx1"/>
            </a:solidFill>
            <a:prstDash val="solid"/>
          </a:ln>
        </p:spPr>
      </p:sp>
      <p:sp>
        <p:nvSpPr>
          <p:cNvPr id="15" name="text"/>
          <p:cNvSpPr txBox="1"/>
          <p:nvPr/>
        </p:nvSpPr>
        <p:spPr>
          <a:xfrm>
            <a:off x="7498080" y="1691640"/>
            <a:ext cx="393192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IDENTIFIERS THAT RESOLVE A MATCH</a:t>
            </a:r>
            <a:endParaRPr lang="en-US" sz="1100" dirty="0"/>
          </a:p>
        </p:txBody>
      </p:sp>
      <p:sp>
        <p:nvSpPr>
          <p:cNvPr id="16" name="text"/>
          <p:cNvSpPr txBox="1"/>
          <p:nvPr/>
        </p:nvSpPr>
        <p:spPr>
          <a:xfrm>
            <a:off x="7498080" y="2011680"/>
            <a:ext cx="3931920" cy="2926080"/>
          </a:xfrm>
          <a:prstGeom prst="rect">
            <a:avLst/>
          </a:prstGeom>
          <a:noFill/>
          <a:ln/>
        </p:spPr>
        <p:txBody>
          <a:bodyPr wrap="square" lIns="0" tIns="0" rIns="0" bIns="0" rtlCol="0" anchor="t"/>
          <a:lstStyle/>
          <a:p>
            <a:pPr indent="0" marL="0">
              <a:buNone/>
            </a:pPr>
            <a:r>
              <a:rPr lang="en-US" sz="1500" b="1" dirty="0">
                <a:solidFill>
                  <a:schemeClr val="bg1"/>
                </a:solidFill>
              </a:rPr>
              <a:t>Strong</a:t>
            </a:r>
            <a:endParaRPr lang="en-US" sz="1500" dirty="0"/>
          </a:p>
          <a:p>
            <a:pPr indent="0" marL="0">
              <a:buNone/>
            </a:pPr>
            <a:r>
              <a:rPr lang="en-US" sz="1500" dirty="0">
                <a:solidFill>
                  <a:schemeClr val="bg1"/>
                </a:solidFill>
              </a:rPr>
              <a:t>Date of birth, passport or national ID number, company registration number, IMO number for vessels.</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bg1"/>
                </a:solidFill>
              </a:rPr>
              <a:t>Supporting</a:t>
            </a:r>
            <a:endParaRPr lang="en-US" sz="1500" dirty="0"/>
          </a:p>
          <a:p>
            <a:pPr indent="0" marL="0">
              <a:buNone/>
            </a:pPr>
            <a:r>
              <a:rPr lang="en-US" sz="1500" dirty="0">
                <a:solidFill>
                  <a:schemeClr val="bg1"/>
                </a:solidFill>
              </a:rPr>
              <a:t>Nationality, address, city, year of birth only.</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accent2"/>
                </a:solidFill>
              </a:rPr>
              <a:t>Close only on evidenced, independently checked mismatches.</a:t>
            </a:r>
            <a:endParaRPr lang="en-US" sz="1500" dirty="0"/>
          </a:p>
        </p:txBody>
      </p:sp>
      <p:sp>
        <p:nvSpPr>
          <p:cNvPr id="17"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18"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9"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Both UK penalties in this session began with a name that looked different from the list. Tools miss variants; analysts must not.</a:t>
            </a:r>
            <a:endParaRPr lang="en-US" sz="1400" dirty="0"/>
          </a:p>
        </p:txBody>
      </p:sp>
      <p:sp>
        <p:nvSpPr>
          <p:cNvPr id="20"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21"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22"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Re-screen near-matches with the full legal name and variants. Never discount on a low score, missing data or a common name.</a:t>
            </a:r>
            <a:endParaRPr lang="en-US" sz="1400" dirty="0"/>
          </a:p>
        </p:txBody>
      </p:sp>
      <p:sp>
        <p:nvSpPr>
          <p:cNvPr id="23"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OFSI penalty notices — Citibank N.A. London Branch (2026), Bank of Scotland plc (2026); Checkout screening procedure — identifier standard (cite section).</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3 · REQUESTING INFORMATION</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How to avoid tipping off</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Ask for what you need — never say why you need it.</a:t>
            </a:r>
            <a:endParaRPr lang="en-US" sz="1700" dirty="0"/>
          </a:p>
        </p:txBody>
      </p:sp>
      <p:sp>
        <p:nvSpPr>
          <p:cNvPr id="5" name="do"/>
          <p:cNvSpPr/>
          <p:nvPr/>
        </p:nvSpPr>
        <p:spPr>
          <a:xfrm>
            <a:off x="548640" y="1554480"/>
            <a:ext cx="5440680" cy="3520440"/>
          </a:xfrm>
          <a:prstGeom prst="roundRect">
            <a:avLst>
              <a:gd name="adj" fmla="val 3117"/>
            </a:avLst>
          </a:prstGeom>
          <a:solidFill>
            <a:schemeClr val="bg2"/>
          </a:solidFill>
          <a:ln w="12700">
            <a:solidFill>
              <a:schemeClr val="bg2"/>
            </a:solidFill>
            <a:prstDash val="solid"/>
          </a:ln>
        </p:spPr>
      </p:sp>
      <p:sp>
        <p:nvSpPr>
          <p:cNvPr id="6" name="do circle"/>
          <p:cNvSpPr/>
          <p:nvPr/>
        </p:nvSpPr>
        <p:spPr>
          <a:xfrm>
            <a:off x="777240" y="1691640"/>
            <a:ext cx="530352" cy="530352"/>
          </a:xfrm>
          <a:prstGeom prst="ellipse">
            <a:avLst/>
          </a:prstGeom>
          <a:solidFill>
            <a:schemeClr val="accent3"/>
          </a:solidFill>
          <a:ln w="12700">
            <a:solidFill>
              <a:schemeClr val="accent3"/>
            </a:solidFill>
            <a:prstDash val="solid"/>
          </a:ln>
        </p:spPr>
      </p:sp>
      <p:pic>
        <p:nvPicPr>
          <p:cNvPr id="7" name="do icon" descr="preencoded.png">    </p:cNvPr>
          <p:cNvPicPr>
            <a:picLocks noChangeAspect="1"/>
          </p:cNvPicPr>
          <p:nvPr/>
        </p:nvPicPr>
        <p:blipFill>
          <a:blip r:embed="rId1"/>
          <a:stretch>
            <a:fillRect/>
          </a:stretch>
        </p:blipFill>
        <p:spPr>
          <a:xfrm>
            <a:off x="883310" y="1797710"/>
            <a:ext cx="318211" cy="318211"/>
          </a:xfrm>
          <a:prstGeom prst="rect">
            <a:avLst/>
          </a:prstGeom>
        </p:spPr>
      </p:pic>
      <p:sp>
        <p:nvSpPr>
          <p:cNvPr id="8" name="text"/>
          <p:cNvSpPr txBox="1"/>
          <p:nvPr/>
        </p:nvSpPr>
        <p:spPr>
          <a:xfrm>
            <a:off x="1463040" y="1691640"/>
            <a:ext cx="4297680" cy="530352"/>
          </a:xfrm>
          <a:prstGeom prst="rect">
            <a:avLst/>
          </a:prstGeom>
          <a:noFill/>
          <a:ln/>
        </p:spPr>
        <p:txBody>
          <a:bodyPr wrap="square" lIns="0" tIns="0" rIns="0" bIns="0" rtlCol="0" anchor="ctr"/>
          <a:lstStyle/>
          <a:p>
            <a:pPr indent="0" marL="0">
              <a:buNone/>
            </a:pPr>
            <a:r>
              <a:rPr lang="en-US" sz="2100" b="1" dirty="0">
                <a:solidFill>
                  <a:schemeClr val="accent3"/>
                </a:solidFill>
              </a:rPr>
              <a:t>Do</a:t>
            </a:r>
            <a:endParaRPr lang="en-US" sz="2100" dirty="0"/>
          </a:p>
        </p:txBody>
      </p:sp>
      <p:sp>
        <p:nvSpPr>
          <p:cNvPr id="9" name="text"/>
          <p:cNvSpPr txBox="1"/>
          <p:nvPr/>
        </p:nvSpPr>
        <p:spPr>
          <a:xfrm>
            <a:off x="777240" y="2377440"/>
            <a:ext cx="50292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Use the approved RFI template.</a:t>
            </a:r>
            <a:endParaRPr lang="en-US" sz="1400" dirty="0"/>
          </a:p>
          <a:p>
            <a:pPr marL="342900" indent="-342900">
              <a:spcAft>
                <a:spcPts val="600"/>
              </a:spcAft>
              <a:buSzPct val="100000"/>
              <a:buChar char="•"/>
            </a:pPr>
            <a:r>
              <a:rPr lang="en-US" sz="1400" dirty="0">
                <a:solidFill>
                  <a:schemeClr val="tx1"/>
                </a:solidFill>
              </a:rPr>
              <a:t>Request only what resolves identity or exposure: full name, date of birth, nationality, address, ID or registration number, purpose of payment.</a:t>
            </a:r>
            <a:endParaRPr lang="en-US" sz="1400" dirty="0"/>
          </a:p>
          <a:p>
            <a:pPr marL="342900" indent="-342900">
              <a:spcAft>
                <a:spcPts val="600"/>
              </a:spcAft>
              <a:buSzPct val="100000"/>
              <a:buChar char="•"/>
            </a:pPr>
            <a:r>
              <a:rPr lang="en-US" sz="1400" dirty="0">
                <a:solidFill>
                  <a:schemeClr val="tx1"/>
                </a:solidFill>
              </a:rPr>
              <a:t>Use neutral wording: “We need some additional information to complete our standard checks.”</a:t>
            </a:r>
            <a:endParaRPr lang="en-US" sz="1400" dirty="0"/>
          </a:p>
          <a:p>
            <a:pPr marL="342900" indent="-342900">
              <a:spcAft>
                <a:spcPts val="600"/>
              </a:spcAft>
              <a:buSzPct val="100000"/>
              <a:buChar char="•"/>
            </a:pPr>
            <a:r>
              <a:rPr lang="en-US" sz="1400" dirty="0">
                <a:solidFill>
                  <a:schemeClr val="tx1"/>
                </a:solidFill>
              </a:rPr>
              <a:t>Keep the payment on hold while you wait.</a:t>
            </a:r>
            <a:endParaRPr lang="en-US" sz="1400" dirty="0"/>
          </a:p>
        </p:txBody>
      </p:sp>
      <p:sp>
        <p:nvSpPr>
          <p:cNvPr id="10" name="do not"/>
          <p:cNvSpPr/>
          <p:nvPr/>
        </p:nvSpPr>
        <p:spPr>
          <a:xfrm>
            <a:off x="6172200" y="1554480"/>
            <a:ext cx="5440680" cy="3520440"/>
          </a:xfrm>
          <a:prstGeom prst="roundRect">
            <a:avLst>
              <a:gd name="adj" fmla="val 3117"/>
            </a:avLst>
          </a:prstGeom>
          <a:solidFill>
            <a:schemeClr val="bg2"/>
          </a:solidFill>
          <a:ln w="12700">
            <a:solidFill>
              <a:schemeClr val="bg2"/>
            </a:solidFill>
            <a:prstDash val="solid"/>
          </a:ln>
        </p:spPr>
      </p:sp>
      <p:sp>
        <p:nvSpPr>
          <p:cNvPr id="11" name="do not circle"/>
          <p:cNvSpPr/>
          <p:nvPr/>
        </p:nvSpPr>
        <p:spPr>
          <a:xfrm>
            <a:off x="6400800" y="1691640"/>
            <a:ext cx="530352" cy="530352"/>
          </a:xfrm>
          <a:prstGeom prst="ellipse">
            <a:avLst/>
          </a:prstGeom>
          <a:solidFill>
            <a:schemeClr val="accent1"/>
          </a:solidFill>
          <a:ln w="12700">
            <a:solidFill>
              <a:schemeClr val="accent1"/>
            </a:solidFill>
            <a:prstDash val="solid"/>
          </a:ln>
        </p:spPr>
      </p:sp>
      <p:pic>
        <p:nvPicPr>
          <p:cNvPr id="12" name="do not icon" descr="preencoded.png">    </p:cNvPr>
          <p:cNvPicPr>
            <a:picLocks noChangeAspect="1"/>
          </p:cNvPicPr>
          <p:nvPr/>
        </p:nvPicPr>
        <p:blipFill>
          <a:blip r:embed="rId2"/>
          <a:stretch>
            <a:fillRect/>
          </a:stretch>
        </p:blipFill>
        <p:spPr>
          <a:xfrm>
            <a:off x="6506870" y="1797710"/>
            <a:ext cx="318211" cy="318211"/>
          </a:xfrm>
          <a:prstGeom prst="rect">
            <a:avLst/>
          </a:prstGeom>
        </p:spPr>
      </p:pic>
      <p:sp>
        <p:nvSpPr>
          <p:cNvPr id="13" name="text"/>
          <p:cNvSpPr txBox="1"/>
          <p:nvPr/>
        </p:nvSpPr>
        <p:spPr>
          <a:xfrm>
            <a:off x="7086600" y="1691640"/>
            <a:ext cx="4297680" cy="530352"/>
          </a:xfrm>
          <a:prstGeom prst="rect">
            <a:avLst/>
          </a:prstGeom>
          <a:noFill/>
          <a:ln/>
        </p:spPr>
        <p:txBody>
          <a:bodyPr wrap="square" lIns="0" tIns="0" rIns="0" bIns="0" rtlCol="0" anchor="ctr"/>
          <a:lstStyle/>
          <a:p>
            <a:pPr indent="0" marL="0">
              <a:buNone/>
            </a:pPr>
            <a:r>
              <a:rPr lang="en-US" sz="2100" b="1" dirty="0">
                <a:solidFill>
                  <a:schemeClr val="accent1"/>
                </a:solidFill>
              </a:rPr>
              <a:t>Do not</a:t>
            </a:r>
            <a:endParaRPr lang="en-US" sz="2100" dirty="0"/>
          </a:p>
        </p:txBody>
      </p:sp>
      <p:sp>
        <p:nvSpPr>
          <p:cNvPr id="14" name="text"/>
          <p:cNvSpPr txBox="1"/>
          <p:nvPr/>
        </p:nvSpPr>
        <p:spPr>
          <a:xfrm>
            <a:off x="6400800" y="2377440"/>
            <a:ext cx="50292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Refer to a sanctions list, a match, an investigation or a suspicion.</a:t>
            </a:r>
            <a:endParaRPr lang="en-US" sz="1400" dirty="0"/>
          </a:p>
          <a:p>
            <a:pPr marL="342900" indent="-342900">
              <a:spcAft>
                <a:spcPts val="600"/>
              </a:spcAft>
              <a:buSzPct val="100000"/>
              <a:buChar char="•"/>
            </a:pPr>
            <a:r>
              <a:rPr lang="en-US" sz="1400" dirty="0">
                <a:solidFill>
                  <a:schemeClr val="tx1"/>
                </a:solidFill>
              </a:rPr>
              <a:t>Say that the payment is being reported, or name any authority.</a:t>
            </a:r>
            <a:endParaRPr lang="en-US" sz="1400" dirty="0"/>
          </a:p>
          <a:p>
            <a:pPr marL="342900" indent="-342900">
              <a:spcAft>
                <a:spcPts val="600"/>
              </a:spcAft>
              <a:buSzPct val="100000"/>
              <a:buChar char="•"/>
            </a:pPr>
            <a:r>
              <a:rPr lang="en-US" sz="1400" dirty="0">
                <a:solidFill>
                  <a:schemeClr val="tx1"/>
                </a:solidFill>
              </a:rPr>
              <a:t>Indicate which information would resolve the alert.</a:t>
            </a:r>
            <a:endParaRPr lang="en-US" sz="1400" dirty="0"/>
          </a:p>
          <a:p>
            <a:pPr marL="342900" indent="-342900">
              <a:spcAft>
                <a:spcPts val="600"/>
              </a:spcAft>
              <a:buSzPct val="100000"/>
              <a:buChar char="•"/>
            </a:pPr>
            <a:r>
              <a:rPr lang="en-US" sz="1400" dirty="0">
                <a:solidFill>
                  <a:schemeClr val="tx1"/>
                </a:solidFill>
              </a:rPr>
              <a:t>Commit to a release date.</a:t>
            </a:r>
            <a:endParaRPr lang="en-US" sz="1400" dirty="0"/>
          </a:p>
        </p:txBody>
      </p:sp>
      <p:sp>
        <p:nvSpPr>
          <p:cNvPr id="15"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16"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7"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Tipping off is a criminal offence, and a careless RFI can warn a customer that they are under review.</a:t>
            </a:r>
            <a:endParaRPr lang="en-US" sz="1400" dirty="0"/>
          </a:p>
        </p:txBody>
      </p:sp>
      <p:sp>
        <p:nvSpPr>
          <p:cNvPr id="18"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19"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20"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Use the approved RFI template and neutral wording. If a customer asks why, do not improvise — refer the question to L2.</a:t>
            </a:r>
            <a:endParaRPr lang="en-US" sz="1400" dirty="0"/>
          </a:p>
        </p:txBody>
      </p:sp>
      <p:sp>
        <p:nvSpPr>
          <p:cNvPr id="21"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Proceeds of Crime Act 2002 s.333A; Terrorism Act 2000 s.21D; local equivalents apply. Checkout RFI templates (cite).</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3 · CASE STUDIES</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Case studies 01 and 02: identity and control</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Same name is not the same person — and a hidden owner still counts.</a:t>
            </a:r>
            <a:endParaRPr lang="en-US" sz="1700" dirty="0"/>
          </a:p>
        </p:txBody>
      </p:sp>
      <p:sp>
        <p:nvSpPr>
          <p:cNvPr id="5" name="badge"/>
          <p:cNvSpPr/>
          <p:nvPr/>
        </p:nvSpPr>
        <p:spPr>
          <a:xfrm>
            <a:off x="548640" y="1536192"/>
            <a:ext cx="411480" cy="411480"/>
          </a:xfrm>
          <a:prstGeom prst="ellipse">
            <a:avLst/>
          </a:prstGeom>
          <a:solidFill>
            <a:schemeClr val="tx1"/>
          </a:solidFill>
          <a:ln w="12700">
            <a:solidFill>
              <a:schemeClr val="tx1"/>
            </a:solidFill>
            <a:prstDash val="solid"/>
          </a:ln>
        </p:spPr>
      </p:sp>
      <p:sp>
        <p:nvSpPr>
          <p:cNvPr id="6" name="badge text"/>
          <p:cNvSpPr txBox="1"/>
          <p:nvPr/>
        </p:nvSpPr>
        <p:spPr>
          <a:xfrm>
            <a:off x="548640" y="153619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7" name="text"/>
          <p:cNvSpPr txBox="1"/>
          <p:nvPr/>
        </p:nvSpPr>
        <p:spPr>
          <a:xfrm>
            <a:off x="1078992" y="1536192"/>
            <a:ext cx="4910328" cy="411480"/>
          </a:xfrm>
          <a:prstGeom prst="rect">
            <a:avLst/>
          </a:prstGeom>
          <a:noFill/>
          <a:ln/>
        </p:spPr>
        <p:txBody>
          <a:bodyPr wrap="square" lIns="0" tIns="0" rIns="0" bIns="0" rtlCol="0" anchor="ctr"/>
          <a:lstStyle/>
          <a:p>
            <a:pPr indent="0" marL="0">
              <a:buNone/>
            </a:pPr>
            <a:r>
              <a:rPr lang="en-US" sz="1700" b="1" dirty="0">
                <a:solidFill>
                  <a:schemeClr val="tx1"/>
                </a:solidFill>
              </a:rPr>
              <a:t>Same name, different person</a:t>
            </a:r>
            <a:endParaRPr lang="en-US" sz="1700" dirty="0"/>
          </a:p>
        </p:txBody>
      </p:sp>
      <p:sp>
        <p:nvSpPr>
          <p:cNvPr id="8" name="alert 01"/>
          <p:cNvSpPr/>
          <p:nvPr/>
        </p:nvSpPr>
        <p:spPr>
          <a:xfrm>
            <a:off x="548640" y="2011680"/>
            <a:ext cx="5440680" cy="1005840"/>
          </a:xfrm>
          <a:prstGeom prst="roundRect">
            <a:avLst>
              <a:gd name="adj" fmla="val 10909"/>
            </a:avLst>
          </a:prstGeom>
          <a:solidFill>
            <a:schemeClr val="bg2"/>
          </a:solidFill>
          <a:ln w="12700">
            <a:solidFill>
              <a:schemeClr val="bg2"/>
            </a:solidFill>
            <a:prstDash val="solid"/>
          </a:ln>
        </p:spPr>
      </p:sp>
      <p:sp>
        <p:nvSpPr>
          <p:cNvPr id="9" name="text"/>
          <p:cNvSpPr txBox="1"/>
          <p:nvPr/>
        </p:nvSpPr>
        <p:spPr>
          <a:xfrm>
            <a:off x="777240" y="2075688"/>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ALERT</a:t>
            </a:r>
            <a:endParaRPr lang="en-US" sz="1100" dirty="0"/>
          </a:p>
        </p:txBody>
      </p:sp>
      <p:sp>
        <p:nvSpPr>
          <p:cNvPr id="10" name="text"/>
          <p:cNvSpPr txBox="1"/>
          <p:nvPr/>
        </p:nvSpPr>
        <p:spPr>
          <a:xfrm>
            <a:off x="777240" y="2304288"/>
            <a:ext cx="4983480" cy="676656"/>
          </a:xfrm>
          <a:prstGeom prst="rect">
            <a:avLst/>
          </a:prstGeom>
          <a:noFill/>
          <a:ln/>
        </p:spPr>
        <p:txBody>
          <a:bodyPr wrap="square" lIns="0" tIns="0" rIns="0" bIns="0" rtlCol="0" anchor="t"/>
          <a:lstStyle/>
          <a:p>
            <a:pPr indent="0" marL="0">
              <a:buNone/>
            </a:pPr>
            <a:r>
              <a:rPr lang="en-US" sz="1400" dirty="0">
                <a:solidFill>
                  <a:schemeClr val="tx1"/>
                </a:solidFill>
              </a:rPr>
              <a:t>“Mohamed Hassan” appears on a sanctions list. The customer shares the name but differs on every other identifier: date of birth (1968 vs 1991), nationality, address, document.</a:t>
            </a:r>
            <a:endParaRPr lang="en-US" sz="1400" dirty="0"/>
          </a:p>
        </p:txBody>
      </p:sp>
      <p:sp>
        <p:nvSpPr>
          <p:cNvPr id="11" name="decision 01"/>
          <p:cNvSpPr/>
          <p:nvPr/>
        </p:nvSpPr>
        <p:spPr>
          <a:xfrm>
            <a:off x="548640" y="3090672"/>
            <a:ext cx="5440680" cy="1005840"/>
          </a:xfrm>
          <a:prstGeom prst="roundRect">
            <a:avLst>
              <a:gd name="adj" fmla="val 10909"/>
            </a:avLst>
          </a:prstGeom>
          <a:solidFill>
            <a:schemeClr val="accent3"/>
          </a:solidFill>
          <a:ln w="12700">
            <a:solidFill>
              <a:schemeClr val="accent3"/>
            </a:solidFill>
            <a:prstDash val="solid"/>
          </a:ln>
        </p:spPr>
      </p:sp>
      <p:sp>
        <p:nvSpPr>
          <p:cNvPr id="12" name="text"/>
          <p:cNvSpPr txBox="1"/>
          <p:nvPr/>
        </p:nvSpPr>
        <p:spPr>
          <a:xfrm>
            <a:off x="777240" y="3154680"/>
            <a:ext cx="4983480" cy="219456"/>
          </a:xfrm>
          <a:prstGeom prst="rect">
            <a:avLst/>
          </a:prstGeom>
          <a:noFill/>
          <a:ln/>
        </p:spPr>
        <p:txBody>
          <a:bodyPr wrap="square" lIns="0" tIns="0" rIns="0" bIns="0" rtlCol="0" anchor="t"/>
          <a:lstStyle/>
          <a:p>
            <a:pPr indent="0" marL="0">
              <a:buNone/>
            </a:pPr>
            <a:r>
              <a:rPr lang="en-US" sz="1100" b="1" spc="100" kern="0" dirty="0">
                <a:solidFill>
                  <a:schemeClr val="bg1"/>
                </a:solidFill>
              </a:rPr>
              <a:t>DECISION</a:t>
            </a:r>
            <a:endParaRPr lang="en-US" sz="1100" dirty="0"/>
          </a:p>
        </p:txBody>
      </p:sp>
      <p:sp>
        <p:nvSpPr>
          <p:cNvPr id="13" name="text"/>
          <p:cNvSpPr txBox="1"/>
          <p:nvPr/>
        </p:nvSpPr>
        <p:spPr>
          <a:xfrm>
            <a:off x="777240" y="3383280"/>
            <a:ext cx="4983480" cy="676656"/>
          </a:xfrm>
          <a:prstGeom prst="rect">
            <a:avLst/>
          </a:prstGeom>
          <a:noFill/>
          <a:ln/>
        </p:spPr>
        <p:txBody>
          <a:bodyPr wrap="square" lIns="0" tIns="0" rIns="0" bIns="0" rtlCol="0" anchor="t"/>
          <a:lstStyle/>
          <a:p>
            <a:pPr indent="0" marL="0">
              <a:buNone/>
            </a:pPr>
            <a:r>
              <a:rPr lang="en-US" sz="1400" dirty="0">
                <a:solidFill>
                  <a:schemeClr val="bg1"/>
                </a:solidFill>
              </a:rPr>
              <a:t>Close as a false positive — the mismatch is evidenced and has been independently checked.</a:t>
            </a:r>
            <a:endParaRPr lang="en-US" sz="1400" dirty="0"/>
          </a:p>
        </p:txBody>
      </p:sp>
      <p:sp>
        <p:nvSpPr>
          <p:cNvPr id="14" name="record 01"/>
          <p:cNvSpPr/>
          <p:nvPr/>
        </p:nvSpPr>
        <p:spPr>
          <a:xfrm>
            <a:off x="548640" y="4169664"/>
            <a:ext cx="5440680" cy="896112"/>
          </a:xfrm>
          <a:prstGeom prst="roundRect">
            <a:avLst>
              <a:gd name="adj" fmla="val 12245"/>
            </a:avLst>
          </a:prstGeom>
          <a:solidFill>
            <a:schemeClr val="bg2"/>
          </a:solidFill>
          <a:ln w="12700">
            <a:solidFill>
              <a:schemeClr val="bg2"/>
            </a:solidFill>
            <a:prstDash val="solid"/>
          </a:ln>
        </p:spPr>
      </p:sp>
      <p:sp>
        <p:nvSpPr>
          <p:cNvPr id="15" name="text"/>
          <p:cNvSpPr txBox="1"/>
          <p:nvPr/>
        </p:nvSpPr>
        <p:spPr>
          <a:xfrm>
            <a:off x="777240" y="4233672"/>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RECORD</a:t>
            </a:r>
            <a:endParaRPr lang="en-US" sz="1100" dirty="0"/>
          </a:p>
        </p:txBody>
      </p:sp>
      <p:sp>
        <p:nvSpPr>
          <p:cNvPr id="16" name="text"/>
          <p:cNvSpPr txBox="1"/>
          <p:nvPr/>
        </p:nvSpPr>
        <p:spPr>
          <a:xfrm>
            <a:off x="777240" y="4462272"/>
            <a:ext cx="4983480" cy="548640"/>
          </a:xfrm>
          <a:prstGeom prst="rect">
            <a:avLst/>
          </a:prstGeom>
          <a:noFill/>
          <a:ln/>
        </p:spPr>
        <p:txBody>
          <a:bodyPr wrap="square" lIns="0" tIns="0" rIns="0" bIns="0" rtlCol="0" anchor="t"/>
          <a:lstStyle/>
          <a:p>
            <a:pPr indent="0" marL="0">
              <a:buNone/>
            </a:pPr>
            <a:r>
              <a:rPr lang="en-US" sz="1400" dirty="0">
                <a:solidFill>
                  <a:schemeClr val="tx1"/>
                </a:solidFill>
              </a:rPr>
              <a:t>List entry, identifiers compared, source of each identifier, reviewer and rationale.</a:t>
            </a:r>
            <a:endParaRPr lang="en-US" sz="1400" dirty="0"/>
          </a:p>
        </p:txBody>
      </p:sp>
      <p:sp>
        <p:nvSpPr>
          <p:cNvPr id="17" name="badge"/>
          <p:cNvSpPr/>
          <p:nvPr/>
        </p:nvSpPr>
        <p:spPr>
          <a:xfrm>
            <a:off x="6172200" y="1536192"/>
            <a:ext cx="411480" cy="411480"/>
          </a:xfrm>
          <a:prstGeom prst="ellipse">
            <a:avLst/>
          </a:prstGeom>
          <a:solidFill>
            <a:schemeClr val="tx1"/>
          </a:solidFill>
          <a:ln w="12700">
            <a:solidFill>
              <a:schemeClr val="tx1"/>
            </a:solidFill>
            <a:prstDash val="solid"/>
          </a:ln>
        </p:spPr>
      </p:sp>
      <p:sp>
        <p:nvSpPr>
          <p:cNvPr id="18" name="badge text"/>
          <p:cNvSpPr txBox="1"/>
          <p:nvPr/>
        </p:nvSpPr>
        <p:spPr>
          <a:xfrm>
            <a:off x="6172200" y="153619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9" name="text"/>
          <p:cNvSpPr txBox="1"/>
          <p:nvPr/>
        </p:nvSpPr>
        <p:spPr>
          <a:xfrm>
            <a:off x="6702552" y="1536192"/>
            <a:ext cx="4910328" cy="411480"/>
          </a:xfrm>
          <a:prstGeom prst="rect">
            <a:avLst/>
          </a:prstGeom>
          <a:noFill/>
          <a:ln/>
        </p:spPr>
        <p:txBody>
          <a:bodyPr wrap="square" lIns="0" tIns="0" rIns="0" bIns="0" rtlCol="0" anchor="ctr"/>
          <a:lstStyle/>
          <a:p>
            <a:pPr indent="0" marL="0">
              <a:buNone/>
            </a:pPr>
            <a:r>
              <a:rPr lang="en-US" sz="1700" b="1" dirty="0">
                <a:solidFill>
                  <a:schemeClr val="tx1"/>
                </a:solidFill>
              </a:rPr>
              <a:t>Indirect ownership and control</a:t>
            </a:r>
            <a:endParaRPr lang="en-US" sz="1700" dirty="0"/>
          </a:p>
        </p:txBody>
      </p:sp>
      <p:sp>
        <p:nvSpPr>
          <p:cNvPr id="20" name="alert 02"/>
          <p:cNvSpPr/>
          <p:nvPr/>
        </p:nvSpPr>
        <p:spPr>
          <a:xfrm>
            <a:off x="6172200" y="2011680"/>
            <a:ext cx="5440680" cy="1005840"/>
          </a:xfrm>
          <a:prstGeom prst="roundRect">
            <a:avLst>
              <a:gd name="adj" fmla="val 10909"/>
            </a:avLst>
          </a:prstGeom>
          <a:solidFill>
            <a:schemeClr val="bg2"/>
          </a:solidFill>
          <a:ln w="12700">
            <a:solidFill>
              <a:schemeClr val="bg2"/>
            </a:solidFill>
            <a:prstDash val="solid"/>
          </a:ln>
        </p:spPr>
      </p:sp>
      <p:sp>
        <p:nvSpPr>
          <p:cNvPr id="21" name="text"/>
          <p:cNvSpPr txBox="1"/>
          <p:nvPr/>
        </p:nvSpPr>
        <p:spPr>
          <a:xfrm>
            <a:off x="6400800" y="2075688"/>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ALERT</a:t>
            </a:r>
            <a:endParaRPr lang="en-US" sz="1100" dirty="0"/>
          </a:p>
        </p:txBody>
      </p:sp>
      <p:sp>
        <p:nvSpPr>
          <p:cNvPr id="22" name="text"/>
          <p:cNvSpPr txBox="1"/>
          <p:nvPr/>
        </p:nvSpPr>
        <p:spPr>
          <a:xfrm>
            <a:off x="6400800" y="2304288"/>
            <a:ext cx="4983480" cy="676656"/>
          </a:xfrm>
          <a:prstGeom prst="rect">
            <a:avLst/>
          </a:prstGeom>
          <a:noFill/>
          <a:ln/>
        </p:spPr>
        <p:txBody>
          <a:bodyPr wrap="square" lIns="0" tIns="0" rIns="0" bIns="0" rtlCol="0" anchor="t"/>
          <a:lstStyle/>
          <a:p>
            <a:pPr indent="0" marL="0">
              <a:buNone/>
            </a:pPr>
            <a:r>
              <a:rPr lang="en-US" sz="1400" dirty="0">
                <a:solidFill>
                  <a:schemeClr val="tx1"/>
                </a:solidFill>
              </a:rPr>
              <a:t>The merchant is not listed, but a designated person has just been added as a director and can sign payment instructions.</a:t>
            </a:r>
            <a:endParaRPr lang="en-US" sz="1400" dirty="0"/>
          </a:p>
        </p:txBody>
      </p:sp>
      <p:sp>
        <p:nvSpPr>
          <p:cNvPr id="23" name="decision 02"/>
          <p:cNvSpPr/>
          <p:nvPr/>
        </p:nvSpPr>
        <p:spPr>
          <a:xfrm>
            <a:off x="6172200" y="3090672"/>
            <a:ext cx="5440680" cy="1005840"/>
          </a:xfrm>
          <a:prstGeom prst="roundRect">
            <a:avLst>
              <a:gd name="adj" fmla="val 10909"/>
            </a:avLst>
          </a:prstGeom>
          <a:solidFill>
            <a:schemeClr val="accent3"/>
          </a:solidFill>
          <a:ln w="12700">
            <a:solidFill>
              <a:schemeClr val="accent3"/>
            </a:solidFill>
            <a:prstDash val="solid"/>
          </a:ln>
        </p:spPr>
      </p:sp>
      <p:sp>
        <p:nvSpPr>
          <p:cNvPr id="24" name="text"/>
          <p:cNvSpPr txBox="1"/>
          <p:nvPr/>
        </p:nvSpPr>
        <p:spPr>
          <a:xfrm>
            <a:off x="6400800" y="3154680"/>
            <a:ext cx="4983480" cy="219456"/>
          </a:xfrm>
          <a:prstGeom prst="rect">
            <a:avLst/>
          </a:prstGeom>
          <a:noFill/>
          <a:ln/>
        </p:spPr>
        <p:txBody>
          <a:bodyPr wrap="square" lIns="0" tIns="0" rIns="0" bIns="0" rtlCol="0" anchor="t"/>
          <a:lstStyle/>
          <a:p>
            <a:pPr indent="0" marL="0">
              <a:buNone/>
            </a:pPr>
            <a:r>
              <a:rPr lang="en-US" sz="1100" b="1" spc="100" kern="0" dirty="0">
                <a:solidFill>
                  <a:schemeClr val="bg1"/>
                </a:solidFill>
              </a:rPr>
              <a:t>DECISION</a:t>
            </a:r>
            <a:endParaRPr lang="en-US" sz="1100" dirty="0"/>
          </a:p>
        </p:txBody>
      </p:sp>
      <p:sp>
        <p:nvSpPr>
          <p:cNvPr id="25" name="text"/>
          <p:cNvSpPr txBox="1"/>
          <p:nvPr/>
        </p:nvSpPr>
        <p:spPr>
          <a:xfrm>
            <a:off x="6400800" y="3383280"/>
            <a:ext cx="4983480" cy="676656"/>
          </a:xfrm>
          <a:prstGeom prst="rect">
            <a:avLst/>
          </a:prstGeom>
          <a:noFill/>
          <a:ln/>
        </p:spPr>
        <p:txBody>
          <a:bodyPr wrap="square" lIns="0" tIns="0" rIns="0" bIns="0" rtlCol="0" anchor="t"/>
          <a:lstStyle/>
          <a:p>
            <a:pPr indent="0" marL="0">
              <a:buNone/>
            </a:pPr>
            <a:r>
              <a:rPr lang="en-US" sz="1400" dirty="0">
                <a:solidFill>
                  <a:schemeClr val="bg1"/>
                </a:solidFill>
              </a:rPr>
              <a:t>Hold and escalate to L2. Do not rely on a single percentage threshold: control can create exposure even without ownership.</a:t>
            </a:r>
            <a:endParaRPr lang="en-US" sz="1400" dirty="0"/>
          </a:p>
        </p:txBody>
      </p:sp>
      <p:sp>
        <p:nvSpPr>
          <p:cNvPr id="26" name="record 02"/>
          <p:cNvSpPr/>
          <p:nvPr/>
        </p:nvSpPr>
        <p:spPr>
          <a:xfrm>
            <a:off x="6172200" y="4169664"/>
            <a:ext cx="5440680" cy="896112"/>
          </a:xfrm>
          <a:prstGeom prst="roundRect">
            <a:avLst>
              <a:gd name="adj" fmla="val 12245"/>
            </a:avLst>
          </a:prstGeom>
          <a:solidFill>
            <a:schemeClr val="bg2"/>
          </a:solidFill>
          <a:ln w="12700">
            <a:solidFill>
              <a:schemeClr val="bg2"/>
            </a:solidFill>
            <a:prstDash val="solid"/>
          </a:ln>
        </p:spPr>
      </p:sp>
      <p:sp>
        <p:nvSpPr>
          <p:cNvPr id="27" name="text"/>
          <p:cNvSpPr txBox="1"/>
          <p:nvPr/>
        </p:nvSpPr>
        <p:spPr>
          <a:xfrm>
            <a:off x="6400800" y="4233672"/>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RECORD</a:t>
            </a:r>
            <a:endParaRPr lang="en-US" sz="1100" dirty="0"/>
          </a:p>
        </p:txBody>
      </p:sp>
      <p:sp>
        <p:nvSpPr>
          <p:cNvPr id="28" name="text"/>
          <p:cNvSpPr txBox="1"/>
          <p:nvPr/>
        </p:nvSpPr>
        <p:spPr>
          <a:xfrm>
            <a:off x="6400800" y="4462272"/>
            <a:ext cx="4983480" cy="548640"/>
          </a:xfrm>
          <a:prstGeom prst="rect">
            <a:avLst/>
          </a:prstGeom>
          <a:noFill/>
          <a:ln/>
        </p:spPr>
        <p:txBody>
          <a:bodyPr wrap="square" lIns="0" tIns="0" rIns="0" bIns="0" rtlCol="0" anchor="t"/>
          <a:lstStyle/>
          <a:p>
            <a:pPr indent="0" marL="0">
              <a:buNone/>
            </a:pPr>
            <a:r>
              <a:rPr lang="en-US" sz="1400" dirty="0">
                <a:solidFill>
                  <a:schemeClr val="tx1"/>
                </a:solidFill>
              </a:rPr>
              <a:t>The director's identity, role and signing powers; corporate documents, registry and UBO evidence.</a:t>
            </a:r>
            <a:endParaRPr lang="en-US" sz="1400" dirty="0"/>
          </a:p>
        </p:txBody>
      </p:sp>
      <p:sp>
        <p:nvSpPr>
          <p:cNvPr id="29"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0"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1"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A name difference and a control link look very different, but both need evidence — one to clear, the other to escalate.</a:t>
            </a:r>
            <a:endParaRPr lang="en-US" sz="1400" dirty="0"/>
          </a:p>
        </p:txBody>
      </p:sp>
      <p:sp>
        <p:nvSpPr>
          <p:cNvPr id="32"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3"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4"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For a false positive, record which identifiers differ and where each came from. For a control link, hold and send L2 the facts.</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5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5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450"/>
                                        <p:tgtEl>
                                          <p:spTgt spid="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45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450"/>
                                        <p:tgtEl>
                                          <p:spTgt spid="2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5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3" grpId="0" animBg="1"/>
      <p:bldP spid="24" grpId="0" animBg="1"/>
      <p:bldP spid="25" grpId="0" animBg="1"/>
      <p:bldP spid="26" grpId="0" animBg="1"/>
      <p:bldP spid="27"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3 · CASE STUDIES</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Case studies 03 and 04: reach and merchant pressure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“Clear locally” and “the merchant says it's fine” are not evidence.</a:t>
            </a:r>
            <a:endParaRPr lang="en-US" sz="1700" dirty="0"/>
          </a:p>
        </p:txBody>
      </p:sp>
      <p:sp>
        <p:nvSpPr>
          <p:cNvPr id="5" name="badge"/>
          <p:cNvSpPr/>
          <p:nvPr/>
        </p:nvSpPr>
        <p:spPr>
          <a:xfrm>
            <a:off x="548640" y="1536192"/>
            <a:ext cx="411480" cy="411480"/>
          </a:xfrm>
          <a:prstGeom prst="ellipse">
            <a:avLst/>
          </a:prstGeom>
          <a:solidFill>
            <a:schemeClr val="tx1"/>
          </a:solidFill>
          <a:ln w="12700">
            <a:solidFill>
              <a:schemeClr val="tx1"/>
            </a:solidFill>
            <a:prstDash val="solid"/>
          </a:ln>
        </p:spPr>
      </p:sp>
      <p:sp>
        <p:nvSpPr>
          <p:cNvPr id="6" name="badge text"/>
          <p:cNvSpPr txBox="1"/>
          <p:nvPr/>
        </p:nvSpPr>
        <p:spPr>
          <a:xfrm>
            <a:off x="548640" y="153619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7" name="text"/>
          <p:cNvSpPr txBox="1"/>
          <p:nvPr/>
        </p:nvSpPr>
        <p:spPr>
          <a:xfrm>
            <a:off x="1078992" y="1536192"/>
            <a:ext cx="4910328" cy="411480"/>
          </a:xfrm>
          <a:prstGeom prst="rect">
            <a:avLst/>
          </a:prstGeom>
          <a:noFill/>
          <a:ln/>
        </p:spPr>
        <p:txBody>
          <a:bodyPr wrap="square" lIns="0" tIns="0" rIns="0" bIns="0" rtlCol="0" anchor="ctr"/>
          <a:lstStyle/>
          <a:p>
            <a:pPr indent="0" marL="0">
              <a:buNone/>
            </a:pPr>
            <a:r>
              <a:rPr lang="en-US" sz="1700" b="1" dirty="0">
                <a:solidFill>
                  <a:schemeClr val="tx1"/>
                </a:solidFill>
              </a:rPr>
              <a:t>Local list clear, global exposure remains</a:t>
            </a:r>
            <a:endParaRPr lang="en-US" sz="1700" dirty="0"/>
          </a:p>
        </p:txBody>
      </p:sp>
      <p:sp>
        <p:nvSpPr>
          <p:cNvPr id="8" name="alert 03"/>
          <p:cNvSpPr/>
          <p:nvPr/>
        </p:nvSpPr>
        <p:spPr>
          <a:xfrm>
            <a:off x="548640" y="2011680"/>
            <a:ext cx="5440680" cy="1005840"/>
          </a:xfrm>
          <a:prstGeom prst="roundRect">
            <a:avLst>
              <a:gd name="adj" fmla="val 10909"/>
            </a:avLst>
          </a:prstGeom>
          <a:solidFill>
            <a:schemeClr val="bg2"/>
          </a:solidFill>
          <a:ln w="12700">
            <a:solidFill>
              <a:schemeClr val="bg2"/>
            </a:solidFill>
            <a:prstDash val="solid"/>
          </a:ln>
        </p:spPr>
      </p:sp>
      <p:sp>
        <p:nvSpPr>
          <p:cNvPr id="9" name="text"/>
          <p:cNvSpPr txBox="1"/>
          <p:nvPr/>
        </p:nvSpPr>
        <p:spPr>
          <a:xfrm>
            <a:off x="777240" y="2075688"/>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ALERT</a:t>
            </a:r>
            <a:endParaRPr lang="en-US" sz="1100" dirty="0"/>
          </a:p>
        </p:txBody>
      </p:sp>
      <p:sp>
        <p:nvSpPr>
          <p:cNvPr id="10" name="text"/>
          <p:cNvSpPr txBox="1"/>
          <p:nvPr/>
        </p:nvSpPr>
        <p:spPr>
          <a:xfrm>
            <a:off x="777240" y="2304288"/>
            <a:ext cx="4983480" cy="676656"/>
          </a:xfrm>
          <a:prstGeom prst="rect">
            <a:avLst/>
          </a:prstGeom>
          <a:noFill/>
          <a:ln/>
        </p:spPr>
        <p:txBody>
          <a:bodyPr wrap="square" lIns="0" tIns="0" rIns="0" bIns="0" rtlCol="0" anchor="t"/>
          <a:lstStyle/>
          <a:p>
            <a:pPr indent="0" marL="0">
              <a:buNone/>
            </a:pPr>
            <a:r>
              <a:rPr lang="en-US" sz="1400" dirty="0">
                <a:solidFill>
                  <a:schemeClr val="tx1"/>
                </a:solidFill>
              </a:rPr>
              <a:t>A Hong Kong customer is clear against the local UN-derived source, but the payment touches a UK entity and a USD correspondent bank.</a:t>
            </a:r>
            <a:endParaRPr lang="en-US" sz="1400" dirty="0"/>
          </a:p>
        </p:txBody>
      </p:sp>
      <p:sp>
        <p:nvSpPr>
          <p:cNvPr id="11" name="decision 03"/>
          <p:cNvSpPr/>
          <p:nvPr/>
        </p:nvSpPr>
        <p:spPr>
          <a:xfrm>
            <a:off x="548640" y="3090672"/>
            <a:ext cx="5440680" cy="1005840"/>
          </a:xfrm>
          <a:prstGeom prst="roundRect">
            <a:avLst>
              <a:gd name="adj" fmla="val 10909"/>
            </a:avLst>
          </a:prstGeom>
          <a:solidFill>
            <a:schemeClr val="accent3"/>
          </a:solidFill>
          <a:ln w="12700">
            <a:solidFill>
              <a:schemeClr val="accent3"/>
            </a:solidFill>
            <a:prstDash val="solid"/>
          </a:ln>
        </p:spPr>
      </p:sp>
      <p:sp>
        <p:nvSpPr>
          <p:cNvPr id="12" name="text"/>
          <p:cNvSpPr txBox="1"/>
          <p:nvPr/>
        </p:nvSpPr>
        <p:spPr>
          <a:xfrm>
            <a:off x="777240" y="3154680"/>
            <a:ext cx="4983480" cy="219456"/>
          </a:xfrm>
          <a:prstGeom prst="rect">
            <a:avLst/>
          </a:prstGeom>
          <a:noFill/>
          <a:ln/>
        </p:spPr>
        <p:txBody>
          <a:bodyPr wrap="square" lIns="0" tIns="0" rIns="0" bIns="0" rtlCol="0" anchor="t"/>
          <a:lstStyle/>
          <a:p>
            <a:pPr indent="0" marL="0">
              <a:buNone/>
            </a:pPr>
            <a:r>
              <a:rPr lang="en-US" sz="1100" b="1" spc="100" kern="0" dirty="0">
                <a:solidFill>
                  <a:schemeClr val="bg1"/>
                </a:solidFill>
              </a:rPr>
              <a:t>DECISION</a:t>
            </a:r>
            <a:endParaRPr lang="en-US" sz="1100" dirty="0"/>
          </a:p>
        </p:txBody>
      </p:sp>
      <p:sp>
        <p:nvSpPr>
          <p:cNvPr id="13" name="text"/>
          <p:cNvSpPr txBox="1"/>
          <p:nvPr/>
        </p:nvSpPr>
        <p:spPr>
          <a:xfrm>
            <a:off x="777240" y="3383280"/>
            <a:ext cx="4983480" cy="676656"/>
          </a:xfrm>
          <a:prstGeom prst="rect">
            <a:avLst/>
          </a:prstGeom>
          <a:noFill/>
          <a:ln/>
        </p:spPr>
        <p:txBody>
          <a:bodyPr wrap="square" lIns="0" tIns="0" rIns="0" bIns="0" rtlCol="0" anchor="t"/>
          <a:lstStyle/>
          <a:p>
            <a:pPr indent="0" marL="0">
              <a:buNone/>
            </a:pPr>
            <a:r>
              <a:rPr lang="en-US" sz="1400" dirty="0">
                <a:solidFill>
                  <a:schemeClr val="bg1"/>
                </a:solidFill>
              </a:rPr>
              <a:t>Route to sanctions review — do not auto-clear solely because the local list is clear.</a:t>
            </a:r>
            <a:endParaRPr lang="en-US" sz="1400" dirty="0"/>
          </a:p>
        </p:txBody>
      </p:sp>
      <p:sp>
        <p:nvSpPr>
          <p:cNvPr id="14" name="record 03"/>
          <p:cNvSpPr/>
          <p:nvPr/>
        </p:nvSpPr>
        <p:spPr>
          <a:xfrm>
            <a:off x="548640" y="4169664"/>
            <a:ext cx="5440680" cy="896112"/>
          </a:xfrm>
          <a:prstGeom prst="roundRect">
            <a:avLst>
              <a:gd name="adj" fmla="val 12245"/>
            </a:avLst>
          </a:prstGeom>
          <a:solidFill>
            <a:schemeClr val="bg2"/>
          </a:solidFill>
          <a:ln w="12700">
            <a:solidFill>
              <a:schemeClr val="bg2"/>
            </a:solidFill>
            <a:prstDash val="solid"/>
          </a:ln>
        </p:spPr>
      </p:sp>
      <p:sp>
        <p:nvSpPr>
          <p:cNvPr id="15" name="text"/>
          <p:cNvSpPr txBox="1"/>
          <p:nvPr/>
        </p:nvSpPr>
        <p:spPr>
          <a:xfrm>
            <a:off x="777240" y="4233672"/>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RECORD</a:t>
            </a:r>
            <a:endParaRPr lang="en-US" sz="1100" dirty="0"/>
          </a:p>
        </p:txBody>
      </p:sp>
      <p:sp>
        <p:nvSpPr>
          <p:cNvPr id="16" name="text"/>
          <p:cNvSpPr txBox="1"/>
          <p:nvPr/>
        </p:nvSpPr>
        <p:spPr>
          <a:xfrm>
            <a:off x="777240" y="4462272"/>
            <a:ext cx="4983480" cy="548640"/>
          </a:xfrm>
          <a:prstGeom prst="rect">
            <a:avLst/>
          </a:prstGeom>
          <a:noFill/>
          <a:ln/>
        </p:spPr>
        <p:txBody>
          <a:bodyPr wrap="square" lIns="0" tIns="0" rIns="0" bIns="0" rtlCol="0" anchor="t"/>
          <a:lstStyle/>
          <a:p>
            <a:pPr indent="0" marL="0">
              <a:buNone/>
            </a:pPr>
            <a:r>
              <a:rPr lang="en-US" sz="1400" dirty="0">
                <a:solidFill>
                  <a:schemeClr val="tx1"/>
                </a:solidFill>
              </a:rPr>
              <a:t>All applicable regimes considered, and why the final action is proportionate.</a:t>
            </a:r>
            <a:endParaRPr lang="en-US" sz="1400" dirty="0"/>
          </a:p>
        </p:txBody>
      </p:sp>
      <p:sp>
        <p:nvSpPr>
          <p:cNvPr id="17" name="badge"/>
          <p:cNvSpPr/>
          <p:nvPr/>
        </p:nvSpPr>
        <p:spPr>
          <a:xfrm>
            <a:off x="6172200" y="1536192"/>
            <a:ext cx="411480" cy="411480"/>
          </a:xfrm>
          <a:prstGeom prst="ellipse">
            <a:avLst/>
          </a:prstGeom>
          <a:solidFill>
            <a:schemeClr val="tx1"/>
          </a:solidFill>
          <a:ln w="12700">
            <a:solidFill>
              <a:schemeClr val="tx1"/>
            </a:solidFill>
            <a:prstDash val="solid"/>
          </a:ln>
        </p:spPr>
      </p:sp>
      <p:sp>
        <p:nvSpPr>
          <p:cNvPr id="18" name="badge text"/>
          <p:cNvSpPr txBox="1"/>
          <p:nvPr/>
        </p:nvSpPr>
        <p:spPr>
          <a:xfrm>
            <a:off x="6172200" y="153619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19" name="text"/>
          <p:cNvSpPr txBox="1"/>
          <p:nvPr/>
        </p:nvSpPr>
        <p:spPr>
          <a:xfrm>
            <a:off x="6702552" y="1536192"/>
            <a:ext cx="4910328" cy="411480"/>
          </a:xfrm>
          <a:prstGeom prst="rect">
            <a:avLst/>
          </a:prstGeom>
          <a:noFill/>
          <a:ln/>
        </p:spPr>
        <p:txBody>
          <a:bodyPr wrap="square" lIns="0" tIns="0" rIns="0" bIns="0" rtlCol="0" anchor="ctr"/>
          <a:lstStyle/>
          <a:p>
            <a:pPr indent="0" marL="0">
              <a:buNone/>
            </a:pPr>
            <a:r>
              <a:rPr lang="en-US" sz="1700" b="1" dirty="0">
                <a:solidFill>
                  <a:schemeClr val="tx1"/>
                </a:solidFill>
              </a:rPr>
              <a:t>Unresolved name match on an insurance payout</a:t>
            </a:r>
            <a:endParaRPr lang="en-US" sz="1700" dirty="0"/>
          </a:p>
        </p:txBody>
      </p:sp>
      <p:sp>
        <p:nvSpPr>
          <p:cNvPr id="20" name="alert 04"/>
          <p:cNvSpPr/>
          <p:nvPr/>
        </p:nvSpPr>
        <p:spPr>
          <a:xfrm>
            <a:off x="6172200" y="2011680"/>
            <a:ext cx="5440680" cy="1005840"/>
          </a:xfrm>
          <a:prstGeom prst="roundRect">
            <a:avLst>
              <a:gd name="adj" fmla="val 10909"/>
            </a:avLst>
          </a:prstGeom>
          <a:solidFill>
            <a:schemeClr val="bg2"/>
          </a:solidFill>
          <a:ln w="12700">
            <a:solidFill>
              <a:schemeClr val="bg2"/>
            </a:solidFill>
            <a:prstDash val="solid"/>
          </a:ln>
        </p:spPr>
      </p:sp>
      <p:sp>
        <p:nvSpPr>
          <p:cNvPr id="21" name="text"/>
          <p:cNvSpPr txBox="1"/>
          <p:nvPr/>
        </p:nvSpPr>
        <p:spPr>
          <a:xfrm>
            <a:off x="6400800" y="2075688"/>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ALERT</a:t>
            </a:r>
            <a:endParaRPr lang="en-US" sz="1100" dirty="0"/>
          </a:p>
        </p:txBody>
      </p:sp>
      <p:sp>
        <p:nvSpPr>
          <p:cNvPr id="22" name="text"/>
          <p:cNvSpPr txBox="1"/>
          <p:nvPr/>
        </p:nvSpPr>
        <p:spPr>
          <a:xfrm>
            <a:off x="6400800" y="2304288"/>
            <a:ext cx="4983480" cy="676656"/>
          </a:xfrm>
          <a:prstGeom prst="rect">
            <a:avLst/>
          </a:prstGeom>
          <a:noFill/>
          <a:ln/>
        </p:spPr>
        <p:txBody>
          <a:bodyPr wrap="square" lIns="0" tIns="0" rIns="0" bIns="0" rtlCol="0" anchor="t"/>
          <a:lstStyle/>
          <a:p>
            <a:pPr indent="0" marL="0">
              <a:buNone/>
            </a:pPr>
            <a:r>
              <a:rPr lang="en-US" sz="1400" dirty="0">
                <a:solidFill>
                  <a:schemeClr val="tx1"/>
                </a:solidFill>
              </a:rPr>
              <a:t>Beneficiary “Daniel ABC” matches a sanctioned individual; no date of birth, nationality, address or ID. The merchant says: “We know the customer — let it pass.”</a:t>
            </a:r>
            <a:endParaRPr lang="en-US" sz="1400" dirty="0"/>
          </a:p>
        </p:txBody>
      </p:sp>
      <p:sp>
        <p:nvSpPr>
          <p:cNvPr id="23" name="decision 04"/>
          <p:cNvSpPr/>
          <p:nvPr/>
        </p:nvSpPr>
        <p:spPr>
          <a:xfrm>
            <a:off x="6172200" y="3090672"/>
            <a:ext cx="5440680" cy="1005840"/>
          </a:xfrm>
          <a:prstGeom prst="roundRect">
            <a:avLst>
              <a:gd name="adj" fmla="val 10909"/>
            </a:avLst>
          </a:prstGeom>
          <a:solidFill>
            <a:schemeClr val="accent3"/>
          </a:solidFill>
          <a:ln w="12700">
            <a:solidFill>
              <a:schemeClr val="accent3"/>
            </a:solidFill>
            <a:prstDash val="solid"/>
          </a:ln>
        </p:spPr>
      </p:sp>
      <p:sp>
        <p:nvSpPr>
          <p:cNvPr id="24" name="text"/>
          <p:cNvSpPr txBox="1"/>
          <p:nvPr/>
        </p:nvSpPr>
        <p:spPr>
          <a:xfrm>
            <a:off x="6400800" y="3154680"/>
            <a:ext cx="4983480" cy="219456"/>
          </a:xfrm>
          <a:prstGeom prst="rect">
            <a:avLst/>
          </a:prstGeom>
          <a:noFill/>
          <a:ln/>
        </p:spPr>
        <p:txBody>
          <a:bodyPr wrap="square" lIns="0" tIns="0" rIns="0" bIns="0" rtlCol="0" anchor="t"/>
          <a:lstStyle/>
          <a:p>
            <a:pPr indent="0" marL="0">
              <a:buNone/>
            </a:pPr>
            <a:r>
              <a:rPr lang="en-US" sz="1100" b="1" spc="100" kern="0" dirty="0">
                <a:solidFill>
                  <a:schemeClr val="bg1"/>
                </a:solidFill>
              </a:rPr>
              <a:t>DECISION</a:t>
            </a:r>
            <a:endParaRPr lang="en-US" sz="1100" dirty="0"/>
          </a:p>
        </p:txBody>
      </p:sp>
      <p:sp>
        <p:nvSpPr>
          <p:cNvPr id="25" name="text"/>
          <p:cNvSpPr txBox="1"/>
          <p:nvPr/>
        </p:nvSpPr>
        <p:spPr>
          <a:xfrm>
            <a:off x="6400800" y="3383280"/>
            <a:ext cx="4983480" cy="676656"/>
          </a:xfrm>
          <a:prstGeom prst="rect">
            <a:avLst/>
          </a:prstGeom>
          <a:noFill/>
          <a:ln/>
        </p:spPr>
        <p:txBody>
          <a:bodyPr wrap="square" lIns="0" tIns="0" rIns="0" bIns="0" rtlCol="0" anchor="t"/>
          <a:lstStyle/>
          <a:p>
            <a:pPr indent="0" marL="0">
              <a:buNone/>
            </a:pPr>
            <a:r>
              <a:rPr lang="en-US" sz="1400" dirty="0">
                <a:solidFill>
                  <a:schemeClr val="bg1"/>
                </a:solidFill>
              </a:rPr>
              <a:t>Hold, send an RFI and re-screen. Clear only if shown not to be the listed person. If still unresolved, reject per procedure and escalate.</a:t>
            </a:r>
            <a:endParaRPr lang="en-US" sz="1400" dirty="0"/>
          </a:p>
        </p:txBody>
      </p:sp>
      <p:sp>
        <p:nvSpPr>
          <p:cNvPr id="26" name="record 04"/>
          <p:cNvSpPr/>
          <p:nvPr/>
        </p:nvSpPr>
        <p:spPr>
          <a:xfrm>
            <a:off x="6172200" y="4169664"/>
            <a:ext cx="5440680" cy="896112"/>
          </a:xfrm>
          <a:prstGeom prst="roundRect">
            <a:avLst>
              <a:gd name="adj" fmla="val 12245"/>
            </a:avLst>
          </a:prstGeom>
          <a:solidFill>
            <a:schemeClr val="bg2"/>
          </a:solidFill>
          <a:ln w="12700">
            <a:solidFill>
              <a:schemeClr val="bg2"/>
            </a:solidFill>
            <a:prstDash val="solid"/>
          </a:ln>
        </p:spPr>
      </p:sp>
      <p:sp>
        <p:nvSpPr>
          <p:cNvPr id="27" name="text"/>
          <p:cNvSpPr txBox="1"/>
          <p:nvPr/>
        </p:nvSpPr>
        <p:spPr>
          <a:xfrm>
            <a:off x="6400800" y="4233672"/>
            <a:ext cx="498348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RECORD</a:t>
            </a:r>
            <a:endParaRPr lang="en-US" sz="1100" dirty="0"/>
          </a:p>
        </p:txBody>
      </p:sp>
      <p:sp>
        <p:nvSpPr>
          <p:cNvPr id="28" name="text"/>
          <p:cNvSpPr txBox="1"/>
          <p:nvPr/>
        </p:nvSpPr>
        <p:spPr>
          <a:xfrm>
            <a:off x="6400800" y="4462272"/>
            <a:ext cx="4983480" cy="548640"/>
          </a:xfrm>
          <a:prstGeom prst="rect">
            <a:avLst/>
          </a:prstGeom>
          <a:noFill/>
          <a:ln/>
        </p:spPr>
        <p:txBody>
          <a:bodyPr wrap="square" lIns="0" tIns="0" rIns="0" bIns="0" rtlCol="0" anchor="t"/>
          <a:lstStyle/>
          <a:p>
            <a:pPr indent="0" marL="0">
              <a:buNone/>
            </a:pPr>
            <a:r>
              <a:rPr lang="en-US" sz="1400" dirty="0">
                <a:solidFill>
                  <a:schemeClr val="tx1"/>
                </a:solidFill>
              </a:rPr>
              <a:t>Merchant position, checks completed, RFI outcome, decision and rationale.</a:t>
            </a:r>
            <a:endParaRPr lang="en-US" sz="1400" dirty="0"/>
          </a:p>
        </p:txBody>
      </p:sp>
      <p:sp>
        <p:nvSpPr>
          <p:cNvPr id="29"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0"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1"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A local clear and merchant pressure both push towards a quick release — and neither is evidence.</a:t>
            </a:r>
            <a:endParaRPr lang="en-US" sz="1400" dirty="0"/>
          </a:p>
        </p:txBody>
      </p:sp>
      <p:sp>
        <p:nvSpPr>
          <p:cNvPr id="32"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3"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4"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Check every regime the payment touches. Merchant comfort is never a reason to clear; if still unresolved, reject and escalate.</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5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5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450"/>
                                        <p:tgtEl>
                                          <p:spTgt spid="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45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450"/>
                                        <p:tgtEl>
                                          <p:spTgt spid="2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5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3" grpId="0" animBg="1"/>
      <p:bldP spid="24" grpId="0" animBg="1"/>
      <p:bldP spid="25" grpId="0" animBg="1"/>
      <p:bldP spid="26"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lIns="0" tIns="0" rIns="0" bIns="0" rtlCol="0" anchor="ctr"/>
          <a:lstStyle/>
          <a:p>
            <a:pPr algn="l" indent="0" marL="0">
              <a:buNone/>
            </a:pPr>
            <a:r>
              <a:rPr lang="en-US" sz="1200" b="1" spc="100" kern="0" dirty="0">
                <a:solidFill>
                  <a:schemeClr val="accent2"/>
                </a:solidFill>
              </a:rPr>
              <a:t>PART 4 OF 4</a:t>
            </a: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lIns="0" tIns="0" rIns="0" bIns="0" rtlCol="0" anchor="ctr"/>
          <a:lstStyle/>
          <a:p>
            <a:pPr algn="l" indent="0" marL="0">
              <a:buNone/>
            </a:pPr>
            <a:r>
              <a:rPr lang="en-US" sz="3000" b="1" dirty="0">
                <a:solidFill>
                  <a:schemeClr val="bg1"/>
                </a:solidFill>
              </a:rPr>
              <a:t>Record the decision</a:t>
            </a:r>
            <a:endParaRPr lang="en-US" sz="3000" dirty="0"/>
          </a:p>
        </p:txBody>
      </p:sp>
      <p:sp>
        <p:nvSpPr>
          <p:cNvPr id="4" name="part 4 circle"/>
          <p:cNvSpPr/>
          <p:nvPr/>
        </p:nvSpPr>
        <p:spPr>
          <a:xfrm>
            <a:off x="10561320" y="320040"/>
            <a:ext cx="1005840" cy="1005840"/>
          </a:xfrm>
          <a:prstGeom prst="ellipse">
            <a:avLst/>
          </a:prstGeom>
          <a:solidFill>
            <a:schemeClr val="accent3"/>
          </a:solidFill>
          <a:ln w="12700">
            <a:solidFill>
              <a:schemeClr val="accent3"/>
            </a:solidFill>
            <a:prstDash val="solid"/>
          </a:ln>
        </p:spPr>
      </p:sp>
      <p:pic>
        <p:nvPicPr>
          <p:cNvPr id="5" name="part 4 icon" descr="preencoded.png">    </p:cNvPr>
          <p:cNvPicPr>
            <a:picLocks noChangeAspect="1"/>
          </p:cNvPicPr>
          <p:nvPr/>
        </p:nvPicPr>
        <p:blipFill>
          <a:blip r:embed="rId1"/>
          <a:stretch>
            <a:fillRect/>
          </a:stretch>
        </p:blipFill>
        <p:spPr>
          <a:xfrm>
            <a:off x="10762488" y="521208"/>
            <a:ext cx="603504" cy="603504"/>
          </a:xfrm>
          <a:prstGeom prst="rect">
            <a:avLst/>
          </a:prstGeom>
        </p:spPr>
      </p:pic>
      <p:sp>
        <p:nvSpPr>
          <p:cNvPr id="6" name="text"/>
          <p:cNvSpPr txBox="1"/>
          <p:nvPr/>
        </p:nvSpPr>
        <p:spPr>
          <a:xfrm>
            <a:off x="548640" y="1234440"/>
            <a:ext cx="9601200" cy="438912"/>
          </a:xfrm>
          <a:prstGeom prst="rect">
            <a:avLst/>
          </a:prstGeom>
          <a:noFill/>
          <a:ln/>
        </p:spPr>
        <p:txBody>
          <a:bodyPr wrap="square" lIns="0" tIns="0" rIns="0" bIns="0" rtlCol="0" anchor="t"/>
          <a:lstStyle/>
          <a:p>
            <a:pPr indent="0" marL="0">
              <a:buNone/>
            </a:pPr>
            <a:r>
              <a:rPr lang="en-US" sz="2200" b="1" i="1" dirty="0">
                <a:solidFill>
                  <a:schemeClr val="accent2"/>
                </a:solidFill>
              </a:rPr>
              <a:t>Defensible and reproducible.</a:t>
            </a:r>
            <a:endParaRPr lang="en-US" sz="2200" dirty="0"/>
          </a:p>
        </p:txBody>
      </p:sp>
      <p:sp>
        <p:nvSpPr>
          <p:cNvPr id="7" name="text"/>
          <p:cNvSpPr txBox="1"/>
          <p:nvPr/>
        </p:nvSpPr>
        <p:spPr>
          <a:xfrm>
            <a:off x="548640" y="1700784"/>
            <a:ext cx="10515600" cy="292608"/>
          </a:xfrm>
          <a:prstGeom prst="rect">
            <a:avLst/>
          </a:prstGeom>
          <a:noFill/>
          <a:ln/>
        </p:spPr>
        <p:txBody>
          <a:bodyPr wrap="square" lIns="0" tIns="0" rIns="0" bIns="0" rtlCol="0" anchor="t"/>
          <a:lstStyle/>
          <a:p>
            <a:pPr indent="0" marL="0">
              <a:buNone/>
            </a:pPr>
            <a:r>
              <a:rPr lang="en-US" sz="1400" i="1" dirty="0">
                <a:solidFill>
                  <a:schemeClr val="accent5"/>
                </a:solidFill>
              </a:rPr>
              <a:t>Building on Part 3: you can gather the evidence and reach a recommendation.</a:t>
            </a:r>
            <a:endParaRPr lang="en-US" sz="1400" dirty="0"/>
          </a:p>
        </p:txBody>
      </p:sp>
      <p:sp>
        <p:nvSpPr>
          <p:cNvPr id="8" name="text"/>
          <p:cNvSpPr txBox="1"/>
          <p:nvPr/>
        </p:nvSpPr>
        <p:spPr>
          <a:xfrm>
            <a:off x="548640" y="2029968"/>
            <a:ext cx="10789920" cy="731520"/>
          </a:xfrm>
          <a:prstGeom prst="rect">
            <a:avLst/>
          </a:prstGeom>
          <a:noFill/>
          <a:ln/>
        </p:spPr>
        <p:txBody>
          <a:bodyPr wrap="square" lIns="0" tIns="0" rIns="0" bIns="0" rtlCol="0" anchor="t"/>
          <a:lstStyle/>
          <a:p>
            <a:pPr indent="0" marL="0">
              <a:buNone/>
            </a:pPr>
            <a:r>
              <a:rPr lang="en-US" sz="1700" dirty="0">
                <a:solidFill>
                  <a:schemeClr val="bg1"/>
                </a:solidFill>
              </a:rPr>
              <a:t>A decision is only as strong as its record. In plain terms: if it isn't written down, it didn't happen — then put it all together in a cross-team case.</a:t>
            </a:r>
            <a:endParaRPr lang="en-US" sz="1700" dirty="0"/>
          </a:p>
        </p:txBody>
      </p:sp>
      <p:sp>
        <p:nvSpPr>
          <p:cNvPr id="9" name="In this part"/>
          <p:cNvSpPr/>
          <p:nvPr/>
        </p:nvSpPr>
        <p:spPr>
          <a:xfrm>
            <a:off x="548640" y="2880360"/>
            <a:ext cx="2651760" cy="2743200"/>
          </a:xfrm>
          <a:prstGeom prst="roundRect">
            <a:avLst>
              <a:gd name="adj" fmla="val 4138"/>
            </a:avLst>
          </a:prstGeom>
          <a:solidFill>
            <a:schemeClr val="tx1"/>
          </a:solidFill>
          <a:ln w="12700">
            <a:solidFill>
              <a:schemeClr val="accent4"/>
            </a:solidFill>
            <a:prstDash val="solid"/>
          </a:ln>
        </p:spPr>
      </p:sp>
      <p:sp>
        <p:nvSpPr>
          <p:cNvPr id="10" name="text"/>
          <p:cNvSpPr txBox="1"/>
          <p:nvPr/>
        </p:nvSpPr>
        <p:spPr>
          <a:xfrm>
            <a:off x="731520"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IN THIS PART</a:t>
            </a:r>
            <a:endParaRPr lang="en-US" sz="1100" dirty="0"/>
          </a:p>
        </p:txBody>
      </p:sp>
      <p:sp>
        <p:nvSpPr>
          <p:cNvPr id="11" name="text"/>
          <p:cNvSpPr txBox="1"/>
          <p:nvPr/>
        </p:nvSpPr>
        <p:spPr>
          <a:xfrm>
            <a:off x="731520" y="3337560"/>
            <a:ext cx="233172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The defensible case note</a:t>
            </a:r>
            <a:endParaRPr lang="en-US" sz="1400" dirty="0"/>
          </a:p>
          <a:p>
            <a:pPr marL="342900" indent="-342900">
              <a:spcAft>
                <a:spcPts val="400"/>
              </a:spcAft>
              <a:buSzPct val="100000"/>
              <a:buChar char="•"/>
            </a:pPr>
            <a:r>
              <a:rPr lang="en-US" sz="1400" dirty="0">
                <a:solidFill>
                  <a:schemeClr val="bg1"/>
                </a:solidFill>
              </a:rPr>
              <a:t>Three teams, one risk picture</a:t>
            </a:r>
            <a:endParaRPr lang="en-US" sz="1400" dirty="0"/>
          </a:p>
          <a:p>
            <a:pPr marL="342900" indent="-342900">
              <a:spcAft>
                <a:spcPts val="400"/>
              </a:spcAft>
              <a:buSzPct val="100000"/>
              <a:buChar char="•"/>
            </a:pPr>
            <a:r>
              <a:rPr lang="en-US" sz="1400" dirty="0">
                <a:solidFill>
                  <a:schemeClr val="bg1"/>
                </a:solidFill>
              </a:rPr>
              <a:t>Answer reveal and team handoffs</a:t>
            </a:r>
            <a:endParaRPr lang="en-US" sz="1400" dirty="0"/>
          </a:p>
        </p:txBody>
      </p:sp>
      <p:sp>
        <p:nvSpPr>
          <p:cNvPr id="12" name="Why it matters"/>
          <p:cNvSpPr/>
          <p:nvPr/>
        </p:nvSpPr>
        <p:spPr>
          <a:xfrm>
            <a:off x="3346704" y="2880360"/>
            <a:ext cx="2651760" cy="2743200"/>
          </a:xfrm>
          <a:prstGeom prst="roundRect">
            <a:avLst>
              <a:gd name="adj" fmla="val 4138"/>
            </a:avLst>
          </a:prstGeom>
          <a:solidFill>
            <a:schemeClr val="tx1"/>
          </a:solidFill>
          <a:ln w="12700">
            <a:solidFill>
              <a:schemeClr val="accent4"/>
            </a:solidFill>
            <a:prstDash val="solid"/>
          </a:ln>
        </p:spPr>
      </p:sp>
      <p:sp>
        <p:nvSpPr>
          <p:cNvPr id="13" name="text"/>
          <p:cNvSpPr txBox="1"/>
          <p:nvPr/>
        </p:nvSpPr>
        <p:spPr>
          <a:xfrm>
            <a:off x="3529584"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14" name="text"/>
          <p:cNvSpPr txBox="1"/>
          <p:nvPr/>
        </p:nvSpPr>
        <p:spPr>
          <a:xfrm>
            <a:off x="3529584"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Reviewers, auditors and regulators judge a decision from the record alone. A sound decision with a weak record is still exposed.</a:t>
            </a:r>
            <a:endParaRPr lang="en-US" sz="1400" dirty="0"/>
          </a:p>
        </p:txBody>
      </p:sp>
      <p:sp>
        <p:nvSpPr>
          <p:cNvPr id="15" name="What it means for you"/>
          <p:cNvSpPr/>
          <p:nvPr/>
        </p:nvSpPr>
        <p:spPr>
          <a:xfrm>
            <a:off x="6144768" y="2880360"/>
            <a:ext cx="2651760" cy="2743200"/>
          </a:xfrm>
          <a:prstGeom prst="roundRect">
            <a:avLst>
              <a:gd name="adj" fmla="val 4138"/>
            </a:avLst>
          </a:prstGeom>
          <a:solidFill>
            <a:schemeClr val="tx1"/>
          </a:solidFill>
          <a:ln w="12700">
            <a:solidFill>
              <a:schemeClr val="accent4"/>
            </a:solidFill>
            <a:prstDash val="solid"/>
          </a:ln>
        </p:spPr>
      </p:sp>
      <p:sp>
        <p:nvSpPr>
          <p:cNvPr id="16" name="text"/>
          <p:cNvSpPr txBox="1"/>
          <p:nvPr/>
        </p:nvSpPr>
        <p:spPr>
          <a:xfrm>
            <a:off x="6327648"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17" name="text"/>
          <p:cNvSpPr txBox="1"/>
          <p:nvPr/>
        </p:nvSpPr>
        <p:spPr>
          <a:xfrm>
            <a:off x="6327648" y="3337560"/>
            <a:ext cx="2286000" cy="2194560"/>
          </a:xfrm>
          <a:prstGeom prst="rect">
            <a:avLst/>
          </a:prstGeom>
          <a:noFill/>
          <a:ln/>
        </p:spPr>
        <p:txBody>
          <a:bodyPr wrap="square" lIns="0" tIns="0" rIns="0" bIns="0" rtlCol="0" anchor="t"/>
          <a:lstStyle/>
          <a:p>
            <a:pPr indent="0" marL="0">
              <a:buNone/>
            </a:pPr>
            <a:r>
              <a:rPr lang="en-US" sz="1400" dirty="0">
                <a:solidFill>
                  <a:schemeClr val="bg1"/>
                </a:solidFill>
              </a:rPr>
              <a:t>Case note in house format, 4-eye sign-off and L2 escalation — plus a TM referral (UAR / MLRO) or EDR trigger where activity or ownership has changed.</a:t>
            </a:r>
            <a:endParaRPr lang="en-US" sz="1400" dirty="0"/>
          </a:p>
        </p:txBody>
      </p:sp>
      <p:sp>
        <p:nvSpPr>
          <p:cNvPr id="18" name="Ask yourself"/>
          <p:cNvSpPr/>
          <p:nvPr/>
        </p:nvSpPr>
        <p:spPr>
          <a:xfrm>
            <a:off x="8942832" y="2880360"/>
            <a:ext cx="2651760" cy="2743200"/>
          </a:xfrm>
          <a:prstGeom prst="roundRect">
            <a:avLst>
              <a:gd name="adj" fmla="val 4138"/>
            </a:avLst>
          </a:prstGeom>
          <a:solidFill>
            <a:schemeClr val="tx1"/>
          </a:solidFill>
          <a:ln w="12700">
            <a:solidFill>
              <a:schemeClr val="accent4"/>
            </a:solidFill>
            <a:prstDash val="solid"/>
          </a:ln>
        </p:spPr>
      </p:sp>
      <p:sp>
        <p:nvSpPr>
          <p:cNvPr id="19" name="text"/>
          <p:cNvSpPr txBox="1"/>
          <p:nvPr/>
        </p:nvSpPr>
        <p:spPr>
          <a:xfrm>
            <a:off x="9125712" y="3017520"/>
            <a:ext cx="228600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ASK YOURSELF</a:t>
            </a:r>
            <a:endParaRPr lang="en-US" sz="1100" dirty="0"/>
          </a:p>
        </p:txBody>
      </p:sp>
      <p:sp>
        <p:nvSpPr>
          <p:cNvPr id="20" name="text"/>
          <p:cNvSpPr txBox="1"/>
          <p:nvPr/>
        </p:nvSpPr>
        <p:spPr>
          <a:xfrm>
            <a:off x="9125712" y="3337560"/>
            <a:ext cx="2286000" cy="2194560"/>
          </a:xfrm>
          <a:prstGeom prst="rect">
            <a:avLst/>
          </a:prstGeom>
          <a:noFill/>
          <a:ln/>
        </p:spPr>
        <p:txBody>
          <a:bodyPr wrap="square" lIns="0" tIns="0" rIns="0" bIns="0" rtlCol="0" anchor="t"/>
          <a:lstStyle/>
          <a:p>
            <a:pPr indent="0" marL="0">
              <a:buNone/>
            </a:pPr>
            <a:r>
              <a:rPr lang="en-US" sz="1600" i="1" dirty="0">
                <a:solidFill>
                  <a:schemeClr val="bg1"/>
                </a:solidFill>
              </a:rPr>
              <a:t>Could someone who has never seen this case defend my decision from the record alone?</a:t>
            </a:r>
            <a:endParaRPr lang="en-US" sz="1600" dirty="0"/>
          </a:p>
        </p:txBody>
      </p:sp>
      <p:sp>
        <p:nvSpPr>
          <p:cNvPr id="21" name="progress 1"/>
          <p:cNvSpPr/>
          <p:nvPr/>
        </p:nvSpPr>
        <p:spPr>
          <a:xfrm>
            <a:off x="548640" y="5833872"/>
            <a:ext cx="2651760" cy="384048"/>
          </a:xfrm>
          <a:prstGeom prst="roundRect">
            <a:avLst>
              <a:gd name="adj" fmla="val 50000"/>
            </a:avLst>
          </a:prstGeom>
          <a:solidFill>
            <a:schemeClr val="tx2"/>
          </a:solidFill>
          <a:ln w="12700">
            <a:solidFill>
              <a:schemeClr val="accent4"/>
            </a:solidFill>
            <a:prstDash val="solid"/>
          </a:ln>
        </p:spPr>
      </p:sp>
      <p:sp>
        <p:nvSpPr>
          <p:cNvPr id="22" name="text"/>
          <p:cNvSpPr txBox="1"/>
          <p:nvPr/>
        </p:nvSpPr>
        <p:spPr>
          <a:xfrm>
            <a:off x="548640"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1  Understand the model</a:t>
            </a:r>
            <a:endParaRPr lang="en-US" sz="1300" dirty="0"/>
          </a:p>
        </p:txBody>
      </p:sp>
      <p:sp>
        <p:nvSpPr>
          <p:cNvPr id="23" name="progress 2"/>
          <p:cNvSpPr/>
          <p:nvPr/>
        </p:nvSpPr>
        <p:spPr>
          <a:xfrm>
            <a:off x="3346704" y="5833872"/>
            <a:ext cx="2651760" cy="384048"/>
          </a:xfrm>
          <a:prstGeom prst="roundRect">
            <a:avLst>
              <a:gd name="adj" fmla="val 50000"/>
            </a:avLst>
          </a:prstGeom>
          <a:solidFill>
            <a:schemeClr val="tx2"/>
          </a:solidFill>
          <a:ln w="12700">
            <a:solidFill>
              <a:schemeClr val="accent4"/>
            </a:solidFill>
            <a:prstDash val="solid"/>
          </a:ln>
        </p:spPr>
      </p:sp>
      <p:sp>
        <p:nvSpPr>
          <p:cNvPr id="24" name="text"/>
          <p:cNvSpPr txBox="1"/>
          <p:nvPr/>
        </p:nvSpPr>
        <p:spPr>
          <a:xfrm>
            <a:off x="3346704"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2  Compare the regions</a:t>
            </a:r>
            <a:endParaRPr lang="en-US" sz="1300" dirty="0"/>
          </a:p>
        </p:txBody>
      </p:sp>
      <p:sp>
        <p:nvSpPr>
          <p:cNvPr id="25" name="progress 3"/>
          <p:cNvSpPr/>
          <p:nvPr/>
        </p:nvSpPr>
        <p:spPr>
          <a:xfrm>
            <a:off x="6144768" y="5833872"/>
            <a:ext cx="2651760" cy="384048"/>
          </a:xfrm>
          <a:prstGeom prst="roundRect">
            <a:avLst>
              <a:gd name="adj" fmla="val 50000"/>
            </a:avLst>
          </a:prstGeom>
          <a:solidFill>
            <a:schemeClr val="tx2"/>
          </a:solidFill>
          <a:ln w="12700">
            <a:solidFill>
              <a:schemeClr val="accent4"/>
            </a:solidFill>
            <a:prstDash val="solid"/>
          </a:ln>
        </p:spPr>
      </p:sp>
      <p:sp>
        <p:nvSpPr>
          <p:cNvPr id="26" name="text"/>
          <p:cNvSpPr txBox="1"/>
          <p:nvPr/>
        </p:nvSpPr>
        <p:spPr>
          <a:xfrm>
            <a:off x="6144768" y="5833872"/>
            <a:ext cx="2651760" cy="384048"/>
          </a:xfrm>
          <a:prstGeom prst="rect">
            <a:avLst/>
          </a:prstGeom>
          <a:noFill/>
          <a:ln/>
        </p:spPr>
        <p:txBody>
          <a:bodyPr wrap="square" lIns="0" tIns="0" rIns="0" bIns="0" rtlCol="0" anchor="ctr"/>
          <a:lstStyle/>
          <a:p>
            <a:pPr algn="ctr" indent="0" marL="0">
              <a:buNone/>
            </a:pPr>
            <a:r>
              <a:rPr lang="en-US" sz="1300" dirty="0">
                <a:solidFill>
                  <a:schemeClr val="accent5"/>
                </a:solidFill>
              </a:rPr>
              <a:t>3  Apply the indicators</a:t>
            </a:r>
            <a:endParaRPr lang="en-US" sz="1300" dirty="0"/>
          </a:p>
        </p:txBody>
      </p:sp>
      <p:sp>
        <p:nvSpPr>
          <p:cNvPr id="27" name="progress 4"/>
          <p:cNvSpPr/>
          <p:nvPr/>
        </p:nvSpPr>
        <p:spPr>
          <a:xfrm>
            <a:off x="8942832" y="5833872"/>
            <a:ext cx="2651760" cy="384048"/>
          </a:xfrm>
          <a:prstGeom prst="roundRect">
            <a:avLst>
              <a:gd name="adj" fmla="val 50000"/>
            </a:avLst>
          </a:prstGeom>
          <a:solidFill>
            <a:schemeClr val="accent3"/>
          </a:solidFill>
          <a:ln w="12700">
            <a:solidFill>
              <a:schemeClr val="accent3"/>
            </a:solidFill>
            <a:prstDash val="solid"/>
          </a:ln>
        </p:spPr>
      </p:sp>
      <p:sp>
        <p:nvSpPr>
          <p:cNvPr id="28" name="text"/>
          <p:cNvSpPr txBox="1"/>
          <p:nvPr/>
        </p:nvSpPr>
        <p:spPr>
          <a:xfrm>
            <a:off x="8942832" y="5833872"/>
            <a:ext cx="2651760" cy="384048"/>
          </a:xfrm>
          <a:prstGeom prst="rect">
            <a:avLst/>
          </a:prstGeom>
          <a:noFill/>
          <a:ln/>
        </p:spPr>
        <p:txBody>
          <a:bodyPr wrap="square" lIns="0" tIns="0" rIns="0" bIns="0" rtlCol="0" anchor="ctr"/>
          <a:lstStyle/>
          <a:p>
            <a:pPr algn="ctr" indent="0" marL="0">
              <a:buNone/>
            </a:pPr>
            <a:r>
              <a:rPr lang="en-US" sz="1300" b="1" dirty="0">
                <a:solidFill>
                  <a:schemeClr val="bg1"/>
                </a:solidFill>
              </a:rPr>
              <a:t>4  Record the decision</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4 · DEFENSIBLE CASE NOTE — MINIMUM STANDARD</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The defensible case note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If it isn't written down, it didn't happen.</a:t>
            </a:r>
            <a:endParaRPr lang="en-US" sz="1700" dirty="0"/>
          </a:p>
        </p:txBody>
      </p:sp>
      <p:sp>
        <p:nvSpPr>
          <p:cNvPr id="5" name="Alert"/>
          <p:cNvSpPr/>
          <p:nvPr/>
        </p:nvSpPr>
        <p:spPr>
          <a:xfrm>
            <a:off x="548640" y="1554480"/>
            <a:ext cx="5440680" cy="1097280"/>
          </a:xfrm>
          <a:prstGeom prst="roundRect">
            <a:avLst>
              <a:gd name="adj" fmla="val 10000"/>
            </a:avLst>
          </a:prstGeom>
          <a:solidFill>
            <a:schemeClr val="bg2"/>
          </a:solidFill>
          <a:ln w="12700">
            <a:solidFill>
              <a:schemeClr val="bg2"/>
            </a:solidFill>
            <a:prstDash val="solid"/>
          </a:ln>
        </p:spPr>
      </p:sp>
      <p:sp>
        <p:nvSpPr>
          <p:cNvPr id="6" name="badge"/>
          <p:cNvSpPr/>
          <p:nvPr/>
        </p:nvSpPr>
        <p:spPr>
          <a:xfrm>
            <a:off x="749808" y="1828800"/>
            <a:ext cx="548640" cy="548640"/>
          </a:xfrm>
          <a:prstGeom prst="ellipse">
            <a:avLst/>
          </a:prstGeom>
          <a:solidFill>
            <a:schemeClr val="tx1"/>
          </a:solidFill>
          <a:ln w="12700">
            <a:solidFill>
              <a:schemeClr val="tx1"/>
            </a:solidFill>
            <a:prstDash val="solid"/>
          </a:ln>
        </p:spPr>
      </p:sp>
      <p:sp>
        <p:nvSpPr>
          <p:cNvPr id="7" name="badge text"/>
          <p:cNvSpPr txBox="1"/>
          <p:nvPr/>
        </p:nvSpPr>
        <p:spPr>
          <a:xfrm>
            <a:off x="749808" y="18288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8" name="text"/>
          <p:cNvSpPr txBox="1"/>
          <p:nvPr/>
        </p:nvSpPr>
        <p:spPr>
          <a:xfrm>
            <a:off x="1463040" y="1645920"/>
            <a:ext cx="4343400" cy="310896"/>
          </a:xfrm>
          <a:prstGeom prst="rect">
            <a:avLst/>
          </a:prstGeom>
          <a:noFill/>
          <a:ln/>
        </p:spPr>
        <p:txBody>
          <a:bodyPr wrap="square" lIns="0" tIns="0" rIns="0" bIns="0" rtlCol="0" anchor="t"/>
          <a:lstStyle/>
          <a:p>
            <a:pPr indent="0" marL="0">
              <a:buNone/>
            </a:pPr>
            <a:r>
              <a:rPr lang="en-US" sz="1600" b="1" dirty="0">
                <a:solidFill>
                  <a:schemeClr val="tx1"/>
                </a:solidFill>
              </a:rPr>
              <a:t>Alert</a:t>
            </a:r>
            <a:endParaRPr lang="en-US" sz="1600" dirty="0"/>
          </a:p>
        </p:txBody>
      </p:sp>
      <p:sp>
        <p:nvSpPr>
          <p:cNvPr id="9" name="text"/>
          <p:cNvSpPr txBox="1"/>
          <p:nvPr/>
        </p:nvSpPr>
        <p:spPr>
          <a:xfrm>
            <a:off x="1463040" y="197510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Beneficiary “Daniel ABC” matched [list / programme]; match unresolved due to missing identifiers.</a:t>
            </a:r>
            <a:endParaRPr lang="en-US" sz="1400" dirty="0"/>
          </a:p>
        </p:txBody>
      </p:sp>
      <p:sp>
        <p:nvSpPr>
          <p:cNvPr id="10" name="Merchant position"/>
          <p:cNvSpPr/>
          <p:nvPr/>
        </p:nvSpPr>
        <p:spPr>
          <a:xfrm>
            <a:off x="548640" y="2743200"/>
            <a:ext cx="5440680" cy="1097280"/>
          </a:xfrm>
          <a:prstGeom prst="roundRect">
            <a:avLst>
              <a:gd name="adj" fmla="val 10000"/>
            </a:avLst>
          </a:prstGeom>
          <a:solidFill>
            <a:schemeClr val="bg2"/>
          </a:solidFill>
          <a:ln w="12700">
            <a:solidFill>
              <a:schemeClr val="bg2"/>
            </a:solidFill>
            <a:prstDash val="solid"/>
          </a:ln>
        </p:spPr>
      </p:sp>
      <p:sp>
        <p:nvSpPr>
          <p:cNvPr id="11" name="badge"/>
          <p:cNvSpPr/>
          <p:nvPr/>
        </p:nvSpPr>
        <p:spPr>
          <a:xfrm>
            <a:off x="749808" y="3017520"/>
            <a:ext cx="548640" cy="548640"/>
          </a:xfrm>
          <a:prstGeom prst="ellipse">
            <a:avLst/>
          </a:prstGeom>
          <a:solidFill>
            <a:schemeClr val="tx1"/>
          </a:solidFill>
          <a:ln w="12700">
            <a:solidFill>
              <a:schemeClr val="tx1"/>
            </a:solidFill>
            <a:prstDash val="solid"/>
          </a:ln>
        </p:spPr>
      </p:sp>
      <p:sp>
        <p:nvSpPr>
          <p:cNvPr id="12" name="badge text"/>
          <p:cNvSpPr txBox="1"/>
          <p:nvPr/>
        </p:nvSpPr>
        <p:spPr>
          <a:xfrm>
            <a:off x="749808" y="3017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p:cNvSpPr txBox="1"/>
          <p:nvPr/>
        </p:nvSpPr>
        <p:spPr>
          <a:xfrm>
            <a:off x="1463040" y="2834640"/>
            <a:ext cx="4343400" cy="310896"/>
          </a:xfrm>
          <a:prstGeom prst="rect">
            <a:avLst/>
          </a:prstGeom>
          <a:noFill/>
          <a:ln/>
        </p:spPr>
        <p:txBody>
          <a:bodyPr wrap="square" lIns="0" tIns="0" rIns="0" bIns="0" rtlCol="0" anchor="t"/>
          <a:lstStyle/>
          <a:p>
            <a:pPr indent="0" marL="0">
              <a:buNone/>
            </a:pPr>
            <a:r>
              <a:rPr lang="en-US" sz="1600" b="1" dirty="0">
                <a:solidFill>
                  <a:schemeClr val="tx1"/>
                </a:solidFill>
              </a:rPr>
              <a:t>Merchant position</a:t>
            </a:r>
            <a:endParaRPr lang="en-US" sz="1600" dirty="0"/>
          </a:p>
        </p:txBody>
      </p:sp>
      <p:sp>
        <p:nvSpPr>
          <p:cNvPr id="14" name="text"/>
          <p:cNvSpPr txBox="1"/>
          <p:nvPr/>
        </p:nvSpPr>
        <p:spPr>
          <a:xfrm>
            <a:off x="1463040" y="316382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Merchant was comfortable processing the payment but provided no further reliable identifiers.</a:t>
            </a:r>
            <a:endParaRPr lang="en-US" sz="1400" dirty="0"/>
          </a:p>
        </p:txBody>
      </p:sp>
      <p:sp>
        <p:nvSpPr>
          <p:cNvPr id="15" name="Checks completed"/>
          <p:cNvSpPr/>
          <p:nvPr/>
        </p:nvSpPr>
        <p:spPr>
          <a:xfrm>
            <a:off x="548640" y="3931920"/>
            <a:ext cx="5440680" cy="1097280"/>
          </a:xfrm>
          <a:prstGeom prst="roundRect">
            <a:avLst>
              <a:gd name="adj" fmla="val 10000"/>
            </a:avLst>
          </a:prstGeom>
          <a:solidFill>
            <a:schemeClr val="bg2"/>
          </a:solidFill>
          <a:ln w="12700">
            <a:solidFill>
              <a:schemeClr val="bg2"/>
            </a:solidFill>
            <a:prstDash val="solid"/>
          </a:ln>
        </p:spPr>
      </p:sp>
      <p:sp>
        <p:nvSpPr>
          <p:cNvPr id="16" name="badge"/>
          <p:cNvSpPr/>
          <p:nvPr/>
        </p:nvSpPr>
        <p:spPr>
          <a:xfrm>
            <a:off x="749808" y="4206240"/>
            <a:ext cx="548640" cy="548640"/>
          </a:xfrm>
          <a:prstGeom prst="ellipse">
            <a:avLst/>
          </a:prstGeom>
          <a:solidFill>
            <a:schemeClr val="tx1"/>
          </a:solidFill>
          <a:ln w="12700">
            <a:solidFill>
              <a:schemeClr val="tx1"/>
            </a:solidFill>
            <a:prstDash val="solid"/>
          </a:ln>
        </p:spPr>
      </p:sp>
      <p:sp>
        <p:nvSpPr>
          <p:cNvPr id="17" name="badge text"/>
          <p:cNvSpPr txBox="1"/>
          <p:nvPr/>
        </p:nvSpPr>
        <p:spPr>
          <a:xfrm>
            <a:off x="749808" y="420624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text"/>
          <p:cNvSpPr txBox="1"/>
          <p:nvPr/>
        </p:nvSpPr>
        <p:spPr>
          <a:xfrm>
            <a:off x="1463040" y="4023360"/>
            <a:ext cx="4343400" cy="310896"/>
          </a:xfrm>
          <a:prstGeom prst="rect">
            <a:avLst/>
          </a:prstGeom>
          <a:noFill/>
          <a:ln/>
        </p:spPr>
        <p:txBody>
          <a:bodyPr wrap="square" lIns="0" tIns="0" rIns="0" bIns="0" rtlCol="0" anchor="t"/>
          <a:lstStyle/>
          <a:p>
            <a:pPr indent="0" marL="0">
              <a:buNone/>
            </a:pPr>
            <a:r>
              <a:rPr lang="en-US" sz="1600" b="1" dirty="0">
                <a:solidFill>
                  <a:schemeClr val="tx1"/>
                </a:solidFill>
              </a:rPr>
              <a:t>Checks completed</a:t>
            </a:r>
            <a:endParaRPr lang="en-US" sz="1600" dirty="0"/>
          </a:p>
        </p:txBody>
      </p:sp>
      <p:sp>
        <p:nvSpPr>
          <p:cNvPr id="19" name="text"/>
          <p:cNvSpPr txBox="1"/>
          <p:nvPr/>
        </p:nvSpPr>
        <p:spPr>
          <a:xfrm>
            <a:off x="1463040" y="435254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Name and alias comparison, account and payment data, linked-party review; RFI issued and assessed.</a:t>
            </a:r>
            <a:endParaRPr lang="en-US" sz="1400" dirty="0"/>
          </a:p>
        </p:txBody>
      </p:sp>
      <p:sp>
        <p:nvSpPr>
          <p:cNvPr id="20" name="Decision"/>
          <p:cNvSpPr/>
          <p:nvPr/>
        </p:nvSpPr>
        <p:spPr>
          <a:xfrm>
            <a:off x="6172200" y="1554480"/>
            <a:ext cx="5440680" cy="1097280"/>
          </a:xfrm>
          <a:prstGeom prst="roundRect">
            <a:avLst>
              <a:gd name="adj" fmla="val 10000"/>
            </a:avLst>
          </a:prstGeom>
          <a:solidFill>
            <a:schemeClr val="bg2"/>
          </a:solidFill>
          <a:ln w="12700">
            <a:solidFill>
              <a:schemeClr val="bg2"/>
            </a:solidFill>
            <a:prstDash val="solid"/>
          </a:ln>
        </p:spPr>
      </p:sp>
      <p:sp>
        <p:nvSpPr>
          <p:cNvPr id="21" name="badge"/>
          <p:cNvSpPr/>
          <p:nvPr/>
        </p:nvSpPr>
        <p:spPr>
          <a:xfrm>
            <a:off x="6373368" y="1828800"/>
            <a:ext cx="548640" cy="548640"/>
          </a:xfrm>
          <a:prstGeom prst="ellipse">
            <a:avLst/>
          </a:prstGeom>
          <a:solidFill>
            <a:schemeClr val="tx1"/>
          </a:solidFill>
          <a:ln w="12700">
            <a:solidFill>
              <a:schemeClr val="tx1"/>
            </a:solidFill>
            <a:prstDash val="solid"/>
          </a:ln>
        </p:spPr>
      </p:sp>
      <p:sp>
        <p:nvSpPr>
          <p:cNvPr id="22" name="badge text"/>
          <p:cNvSpPr txBox="1"/>
          <p:nvPr/>
        </p:nvSpPr>
        <p:spPr>
          <a:xfrm>
            <a:off x="6373368" y="18288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3" name="text"/>
          <p:cNvSpPr txBox="1"/>
          <p:nvPr/>
        </p:nvSpPr>
        <p:spPr>
          <a:xfrm>
            <a:off x="7086600" y="1645920"/>
            <a:ext cx="4343400" cy="310896"/>
          </a:xfrm>
          <a:prstGeom prst="rect">
            <a:avLst/>
          </a:prstGeom>
          <a:noFill/>
          <a:ln/>
        </p:spPr>
        <p:txBody>
          <a:bodyPr wrap="square" lIns="0" tIns="0" rIns="0" bIns="0" rtlCol="0" anchor="t"/>
          <a:lstStyle/>
          <a:p>
            <a:pPr indent="0" marL="0">
              <a:buNone/>
            </a:pPr>
            <a:r>
              <a:rPr lang="en-US" sz="1600" b="1" dirty="0">
                <a:solidFill>
                  <a:schemeClr val="tx1"/>
                </a:solidFill>
              </a:rPr>
              <a:t>Decision</a:t>
            </a:r>
            <a:endParaRPr lang="en-US" sz="1600" dirty="0"/>
          </a:p>
        </p:txBody>
      </p:sp>
      <p:sp>
        <p:nvSpPr>
          <p:cNvPr id="24" name="text"/>
          <p:cNvSpPr txBox="1"/>
          <p:nvPr/>
        </p:nvSpPr>
        <p:spPr>
          <a:xfrm>
            <a:off x="7086600" y="197510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Not cleared on merchant assurance; held; rejected per procedure; escalated to L2.</a:t>
            </a:r>
            <a:endParaRPr lang="en-US" sz="1400" dirty="0"/>
          </a:p>
        </p:txBody>
      </p:sp>
      <p:sp>
        <p:nvSpPr>
          <p:cNvPr id="25" name="Rationale"/>
          <p:cNvSpPr/>
          <p:nvPr/>
        </p:nvSpPr>
        <p:spPr>
          <a:xfrm>
            <a:off x="6172200" y="2743200"/>
            <a:ext cx="5440680" cy="1097280"/>
          </a:xfrm>
          <a:prstGeom prst="roundRect">
            <a:avLst>
              <a:gd name="adj" fmla="val 10000"/>
            </a:avLst>
          </a:prstGeom>
          <a:solidFill>
            <a:schemeClr val="bg2"/>
          </a:solidFill>
          <a:ln w="12700">
            <a:solidFill>
              <a:schemeClr val="bg2"/>
            </a:solidFill>
            <a:prstDash val="solid"/>
          </a:ln>
        </p:spPr>
      </p:sp>
      <p:sp>
        <p:nvSpPr>
          <p:cNvPr id="26" name="badge"/>
          <p:cNvSpPr/>
          <p:nvPr/>
        </p:nvSpPr>
        <p:spPr>
          <a:xfrm>
            <a:off x="6373368" y="3017520"/>
            <a:ext cx="548640" cy="548640"/>
          </a:xfrm>
          <a:prstGeom prst="ellipse">
            <a:avLst/>
          </a:prstGeom>
          <a:solidFill>
            <a:schemeClr val="tx1"/>
          </a:solidFill>
          <a:ln w="12700">
            <a:solidFill>
              <a:schemeClr val="tx1"/>
            </a:solidFill>
            <a:prstDash val="solid"/>
          </a:ln>
        </p:spPr>
      </p:sp>
      <p:sp>
        <p:nvSpPr>
          <p:cNvPr id="27" name="badge text"/>
          <p:cNvSpPr txBox="1"/>
          <p:nvPr/>
        </p:nvSpPr>
        <p:spPr>
          <a:xfrm>
            <a:off x="6373368" y="3017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8" name="text"/>
          <p:cNvSpPr txBox="1"/>
          <p:nvPr/>
        </p:nvSpPr>
        <p:spPr>
          <a:xfrm>
            <a:off x="7086600" y="2834640"/>
            <a:ext cx="4343400" cy="310896"/>
          </a:xfrm>
          <a:prstGeom prst="rect">
            <a:avLst/>
          </a:prstGeom>
          <a:noFill/>
          <a:ln/>
        </p:spPr>
        <p:txBody>
          <a:bodyPr wrap="square" lIns="0" tIns="0" rIns="0" bIns="0" rtlCol="0" anchor="t"/>
          <a:lstStyle/>
          <a:p>
            <a:pPr indent="0" marL="0">
              <a:buNone/>
            </a:pPr>
            <a:r>
              <a:rPr lang="en-US" sz="1600" b="1" dirty="0">
                <a:solidFill>
                  <a:schemeClr val="tx1"/>
                </a:solidFill>
              </a:rPr>
              <a:t>Rationale</a:t>
            </a:r>
            <a:endParaRPr lang="en-US" sz="1600" dirty="0"/>
          </a:p>
        </p:txBody>
      </p:sp>
      <p:sp>
        <p:nvSpPr>
          <p:cNvPr id="29" name="text"/>
          <p:cNvSpPr txBox="1"/>
          <p:nvPr/>
        </p:nvSpPr>
        <p:spPr>
          <a:xfrm>
            <a:off x="7086600" y="316382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Unresolved material sanctions exposure; insufficient evidence to conclude a false positive.</a:t>
            </a:r>
            <a:endParaRPr lang="en-US" sz="1400" dirty="0"/>
          </a:p>
        </p:txBody>
      </p:sp>
      <p:sp>
        <p:nvSpPr>
          <p:cNvPr id="30" name="Sign-off"/>
          <p:cNvSpPr/>
          <p:nvPr/>
        </p:nvSpPr>
        <p:spPr>
          <a:xfrm>
            <a:off x="6172200" y="3931920"/>
            <a:ext cx="5440680" cy="1097280"/>
          </a:xfrm>
          <a:prstGeom prst="roundRect">
            <a:avLst>
              <a:gd name="adj" fmla="val 10000"/>
            </a:avLst>
          </a:prstGeom>
          <a:solidFill>
            <a:schemeClr val="bg2"/>
          </a:solidFill>
          <a:ln w="12700">
            <a:solidFill>
              <a:schemeClr val="bg2"/>
            </a:solidFill>
            <a:prstDash val="solid"/>
          </a:ln>
        </p:spPr>
      </p:sp>
      <p:sp>
        <p:nvSpPr>
          <p:cNvPr id="31" name="badge"/>
          <p:cNvSpPr/>
          <p:nvPr/>
        </p:nvSpPr>
        <p:spPr>
          <a:xfrm>
            <a:off x="6373368" y="4206240"/>
            <a:ext cx="548640" cy="548640"/>
          </a:xfrm>
          <a:prstGeom prst="ellipse">
            <a:avLst/>
          </a:prstGeom>
          <a:solidFill>
            <a:schemeClr val="tx1"/>
          </a:solidFill>
          <a:ln w="12700">
            <a:solidFill>
              <a:schemeClr val="tx1"/>
            </a:solidFill>
            <a:prstDash val="solid"/>
          </a:ln>
        </p:spPr>
      </p:sp>
      <p:sp>
        <p:nvSpPr>
          <p:cNvPr id="32" name="badge text"/>
          <p:cNvSpPr txBox="1"/>
          <p:nvPr/>
        </p:nvSpPr>
        <p:spPr>
          <a:xfrm>
            <a:off x="6373368" y="420624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33" name="text"/>
          <p:cNvSpPr txBox="1"/>
          <p:nvPr/>
        </p:nvSpPr>
        <p:spPr>
          <a:xfrm>
            <a:off x="7086600" y="4023360"/>
            <a:ext cx="4343400" cy="310896"/>
          </a:xfrm>
          <a:prstGeom prst="rect">
            <a:avLst/>
          </a:prstGeom>
          <a:noFill/>
          <a:ln/>
        </p:spPr>
        <p:txBody>
          <a:bodyPr wrap="square" lIns="0" tIns="0" rIns="0" bIns="0" rtlCol="0" anchor="t"/>
          <a:lstStyle/>
          <a:p>
            <a:pPr indent="0" marL="0">
              <a:buNone/>
            </a:pPr>
            <a:r>
              <a:rPr lang="en-US" sz="1600" b="1" dirty="0">
                <a:solidFill>
                  <a:schemeClr val="tx1"/>
                </a:solidFill>
              </a:rPr>
              <a:t>Sign-off</a:t>
            </a:r>
            <a:endParaRPr lang="en-US" sz="1600" dirty="0"/>
          </a:p>
        </p:txBody>
      </p:sp>
      <p:sp>
        <p:nvSpPr>
          <p:cNvPr id="34" name="text"/>
          <p:cNvSpPr txBox="1"/>
          <p:nvPr/>
        </p:nvSpPr>
        <p:spPr>
          <a:xfrm>
            <a:off x="7086600" y="4352544"/>
            <a:ext cx="4343400" cy="621792"/>
          </a:xfrm>
          <a:prstGeom prst="rect">
            <a:avLst/>
          </a:prstGeom>
          <a:noFill/>
          <a:ln/>
        </p:spPr>
        <p:txBody>
          <a:bodyPr wrap="square" lIns="0" tIns="0" rIns="0" bIns="0" rtlCol="0" anchor="t"/>
          <a:lstStyle/>
          <a:p>
            <a:pPr indent="0" marL="0">
              <a:buNone/>
            </a:pPr>
            <a:r>
              <a:rPr lang="en-US" sz="1400" dirty="0">
                <a:solidFill>
                  <a:schemeClr val="accent6"/>
                </a:solidFill>
              </a:rPr>
              <a:t>Analyst, reviewer and Sanctions Compliance — names and timestamps.</a:t>
            </a:r>
            <a:endParaRPr lang="en-US" sz="1400" dirty="0"/>
          </a:p>
        </p:txBody>
      </p:sp>
      <p:sp>
        <p:nvSpPr>
          <p:cNvPr id="35"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36"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37"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If it is not in the record, it did not happen. Reviewers, auditors and OFSI judge the decision from the note alone.</a:t>
            </a:r>
            <a:endParaRPr lang="en-US" sz="1400" dirty="0"/>
          </a:p>
        </p:txBody>
      </p:sp>
      <p:sp>
        <p:nvSpPr>
          <p:cNvPr id="38"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9"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40"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Write every case note in this structure before you close or escalate. Your 4-eye reviewer should reach the same conclusion.</a:t>
            </a:r>
            <a:endParaRPr lang="en-US" sz="1400" dirty="0"/>
          </a:p>
        </p:txBody>
      </p:sp>
      <p:sp>
        <p:nvSpPr>
          <p:cNvPr id="41" name="text"/>
          <p:cNvSpPr txBox="1"/>
          <p:nvPr/>
        </p:nvSpPr>
        <p:spPr>
          <a:xfrm>
            <a:off x="548640" y="6108192"/>
            <a:ext cx="11064240" cy="274320"/>
          </a:xfrm>
          <a:prstGeom prst="rect">
            <a:avLst/>
          </a:prstGeom>
          <a:noFill/>
          <a:ln/>
        </p:spPr>
        <p:txBody>
          <a:bodyPr wrap="square" lIns="0" tIns="0" rIns="0" bIns="0" rtlCol="0" anchor="b"/>
          <a:lstStyle/>
          <a:p>
            <a:pPr indent="0" marL="0">
              <a:buNone/>
            </a:pPr>
            <a:r>
              <a:rPr lang="en-US" sz="1000" i="1" dirty="0">
                <a:solidFill>
                  <a:schemeClr val="accent6"/>
                </a:solidFill>
              </a:rPr>
              <a:t>Source: Checkout PEP &amp; Sanctions Screening Checks; Global Sanctions Reporting Procedure (cite sections); Global Screening alert-rationale house format.</a:t>
            </a:r>
            <a:endParaRPr lang="en-US" sz="10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4 · INTERACTIVE CASE — CROSS-TEAM EXERCISE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Three teams, one risk picture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Three teams each hold one clue. Would you release this payment?</a:t>
            </a:r>
            <a:endParaRPr lang="en-US" sz="1700" dirty="0"/>
          </a:p>
        </p:txBody>
      </p:sp>
      <p:sp>
        <p:nvSpPr>
          <p:cNvPr id="5" name="text"/>
          <p:cNvSpPr txBox="1"/>
          <p:nvPr/>
        </p:nvSpPr>
        <p:spPr>
          <a:xfrm>
            <a:off x="548640" y="1536192"/>
            <a:ext cx="11064240" cy="502920"/>
          </a:xfrm>
          <a:prstGeom prst="rect">
            <a:avLst/>
          </a:prstGeom>
          <a:noFill/>
          <a:ln/>
        </p:spPr>
        <p:txBody>
          <a:bodyPr wrap="square" lIns="0" tIns="0" rIns="0" bIns="0" rtlCol="0" anchor="t"/>
          <a:lstStyle/>
          <a:p>
            <a:pPr indent="0" marL="0">
              <a:buNone/>
            </a:pPr>
            <a:r>
              <a:rPr lang="en-US" sz="1400" dirty="0">
                <a:solidFill>
                  <a:schemeClr val="tx1"/>
                </a:solidFill>
              </a:rPr>
              <a:t>Atlas Bridge Technologies Pte. Ltd. (fictional): a Singapore B2B software marketplace using Checkout for cross-border payouts. On book 18 months, S$1.2–1.8m a month, two non-sanctioned founders. A payout is pending.</a:t>
            </a:r>
            <a:endParaRPr lang="en-US" sz="1400" dirty="0"/>
          </a:p>
        </p:txBody>
      </p:sp>
      <p:sp>
        <p:nvSpPr>
          <p:cNvPr id="6" name="Sanctions screening"/>
          <p:cNvSpPr/>
          <p:nvPr/>
        </p:nvSpPr>
        <p:spPr>
          <a:xfrm>
            <a:off x="548640" y="2121408"/>
            <a:ext cx="3566160" cy="2240280"/>
          </a:xfrm>
          <a:prstGeom prst="roundRect">
            <a:avLst>
              <a:gd name="adj" fmla="val 4898"/>
            </a:avLst>
          </a:prstGeom>
          <a:solidFill>
            <a:schemeClr val="bg2"/>
          </a:solidFill>
          <a:ln w="12700">
            <a:solidFill>
              <a:schemeClr val="bg2"/>
            </a:solidFill>
            <a:prstDash val="solid"/>
          </a:ln>
        </p:spPr>
      </p:sp>
      <p:sp>
        <p:nvSpPr>
          <p:cNvPr id="7" name="Sanctions screening circle"/>
          <p:cNvSpPr/>
          <p:nvPr/>
        </p:nvSpPr>
        <p:spPr>
          <a:xfrm>
            <a:off x="749808" y="2240280"/>
            <a:ext cx="530352" cy="530352"/>
          </a:xfrm>
          <a:prstGeom prst="ellipse">
            <a:avLst/>
          </a:prstGeom>
          <a:solidFill>
            <a:schemeClr val="accent1"/>
          </a:solidFill>
          <a:ln w="12700">
            <a:solidFill>
              <a:schemeClr val="accent1"/>
            </a:solidFill>
            <a:prstDash val="solid"/>
          </a:ln>
        </p:spPr>
      </p:sp>
      <p:pic>
        <p:nvPicPr>
          <p:cNvPr id="8" name="Sanctions screening icon" descr="preencoded.png">    </p:cNvPr>
          <p:cNvPicPr>
            <a:picLocks noChangeAspect="1"/>
          </p:cNvPicPr>
          <p:nvPr/>
        </p:nvPicPr>
        <p:blipFill>
          <a:blip r:embed="rId1"/>
          <a:stretch>
            <a:fillRect/>
          </a:stretch>
        </p:blipFill>
        <p:spPr>
          <a:xfrm>
            <a:off x="855878" y="2346350"/>
            <a:ext cx="318211" cy="318211"/>
          </a:xfrm>
          <a:prstGeom prst="rect">
            <a:avLst/>
          </a:prstGeom>
        </p:spPr>
      </p:pic>
      <p:sp>
        <p:nvSpPr>
          <p:cNvPr id="9" name="text"/>
          <p:cNvSpPr txBox="1"/>
          <p:nvPr/>
        </p:nvSpPr>
        <p:spPr>
          <a:xfrm>
            <a:off x="1417320" y="2258568"/>
            <a:ext cx="2560320" cy="219456"/>
          </a:xfrm>
          <a:prstGeom prst="rect">
            <a:avLst/>
          </a:prstGeom>
          <a:noFill/>
          <a:ln/>
        </p:spPr>
        <p:txBody>
          <a:bodyPr wrap="square" lIns="0" tIns="0" rIns="0" bIns="0" rtlCol="0" anchor="t"/>
          <a:lstStyle/>
          <a:p>
            <a:pPr indent="0" marL="0">
              <a:buNone/>
            </a:pPr>
            <a:r>
              <a:rPr lang="en-US" sz="1100" b="1" spc="100" kern="0" dirty="0">
                <a:solidFill>
                  <a:schemeClr val="accent1"/>
                </a:solidFill>
              </a:rPr>
              <a:t>EVIDENCE DROP 1</a:t>
            </a:r>
            <a:endParaRPr lang="en-US" sz="1100" dirty="0"/>
          </a:p>
        </p:txBody>
      </p:sp>
      <p:sp>
        <p:nvSpPr>
          <p:cNvPr id="10" name="text"/>
          <p:cNvSpPr txBox="1"/>
          <p:nvPr/>
        </p:nvSpPr>
        <p:spPr>
          <a:xfrm>
            <a:off x="1417320" y="2468880"/>
            <a:ext cx="2560320" cy="310896"/>
          </a:xfrm>
          <a:prstGeom prst="rect">
            <a:avLst/>
          </a:prstGeom>
          <a:noFill/>
          <a:ln/>
        </p:spPr>
        <p:txBody>
          <a:bodyPr wrap="square" lIns="0" tIns="0" rIns="0" bIns="0" rtlCol="0" anchor="t"/>
          <a:lstStyle/>
          <a:p>
            <a:pPr indent="0" marL="0">
              <a:buNone/>
            </a:pPr>
            <a:r>
              <a:rPr lang="en-US" sz="1500" b="1" dirty="0">
                <a:solidFill>
                  <a:schemeClr val="tx1"/>
                </a:solidFill>
              </a:rPr>
              <a:t>Sanctions screening</a:t>
            </a:r>
            <a:endParaRPr lang="en-US" sz="1500" dirty="0"/>
          </a:p>
        </p:txBody>
      </p:sp>
      <p:sp>
        <p:nvSpPr>
          <p:cNvPr id="11" name="text"/>
          <p:cNvSpPr txBox="1"/>
          <p:nvPr/>
        </p:nvSpPr>
        <p:spPr>
          <a:xfrm>
            <a:off x="749808" y="2880360"/>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Close match on the new director, “M. Rahman”, against a historical alias on the UK list.</a:t>
            </a:r>
            <a:endParaRPr lang="en-US" sz="1400" dirty="0"/>
          </a:p>
          <a:p>
            <a:pPr marL="342900" indent="-342900">
              <a:spcAft>
                <a:spcPts val="400"/>
              </a:spcAft>
              <a:buSzPct val="100000"/>
              <a:buChar char="•"/>
            </a:pPr>
            <a:r>
              <a:rPr lang="en-US" sz="1400" dirty="0">
                <a:solidFill>
                  <a:schemeClr val="tx1"/>
                </a:solidFill>
              </a:rPr>
              <a:t>Nationality matches; date of birth is missing.</a:t>
            </a:r>
            <a:endParaRPr lang="en-US" sz="1400" dirty="0"/>
          </a:p>
        </p:txBody>
      </p:sp>
      <p:sp>
        <p:nvSpPr>
          <p:cNvPr id="12" name="Transaction monitoring"/>
          <p:cNvSpPr/>
          <p:nvPr/>
        </p:nvSpPr>
        <p:spPr>
          <a:xfrm>
            <a:off x="4297680" y="2121408"/>
            <a:ext cx="3566160" cy="2240280"/>
          </a:xfrm>
          <a:prstGeom prst="roundRect">
            <a:avLst>
              <a:gd name="adj" fmla="val 4898"/>
            </a:avLst>
          </a:prstGeom>
          <a:solidFill>
            <a:schemeClr val="bg2"/>
          </a:solidFill>
          <a:ln w="12700">
            <a:solidFill>
              <a:schemeClr val="bg2"/>
            </a:solidFill>
            <a:prstDash val="solid"/>
          </a:ln>
        </p:spPr>
      </p:sp>
      <p:sp>
        <p:nvSpPr>
          <p:cNvPr id="13" name="Transaction monitoring circle"/>
          <p:cNvSpPr/>
          <p:nvPr/>
        </p:nvSpPr>
        <p:spPr>
          <a:xfrm>
            <a:off x="4498848" y="2240280"/>
            <a:ext cx="530352" cy="530352"/>
          </a:xfrm>
          <a:prstGeom prst="ellipse">
            <a:avLst/>
          </a:prstGeom>
          <a:solidFill>
            <a:schemeClr val="accent2"/>
          </a:solidFill>
          <a:ln w="12700">
            <a:solidFill>
              <a:schemeClr val="accent2"/>
            </a:solidFill>
            <a:prstDash val="solid"/>
          </a:ln>
        </p:spPr>
      </p:sp>
      <p:pic>
        <p:nvPicPr>
          <p:cNvPr id="14" name="Transaction monitoring icon" descr="preencoded.png">    </p:cNvPr>
          <p:cNvPicPr>
            <a:picLocks noChangeAspect="1"/>
          </p:cNvPicPr>
          <p:nvPr/>
        </p:nvPicPr>
        <p:blipFill>
          <a:blip r:embed="rId2"/>
          <a:stretch>
            <a:fillRect/>
          </a:stretch>
        </p:blipFill>
        <p:spPr>
          <a:xfrm>
            <a:off x="4604918" y="2346350"/>
            <a:ext cx="318211" cy="318211"/>
          </a:xfrm>
          <a:prstGeom prst="rect">
            <a:avLst/>
          </a:prstGeom>
        </p:spPr>
      </p:pic>
      <p:sp>
        <p:nvSpPr>
          <p:cNvPr id="15" name="text"/>
          <p:cNvSpPr txBox="1"/>
          <p:nvPr/>
        </p:nvSpPr>
        <p:spPr>
          <a:xfrm>
            <a:off x="5166360" y="2258568"/>
            <a:ext cx="256032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EVIDENCE DROP 2</a:t>
            </a:r>
            <a:endParaRPr lang="en-US" sz="1100" dirty="0"/>
          </a:p>
        </p:txBody>
      </p:sp>
      <p:sp>
        <p:nvSpPr>
          <p:cNvPr id="16" name="text"/>
          <p:cNvSpPr txBox="1"/>
          <p:nvPr/>
        </p:nvSpPr>
        <p:spPr>
          <a:xfrm>
            <a:off x="5166360" y="2468880"/>
            <a:ext cx="2560320" cy="310896"/>
          </a:xfrm>
          <a:prstGeom prst="rect">
            <a:avLst/>
          </a:prstGeom>
          <a:noFill/>
          <a:ln/>
        </p:spPr>
        <p:txBody>
          <a:bodyPr wrap="square" lIns="0" tIns="0" rIns="0" bIns="0" rtlCol="0" anchor="t"/>
          <a:lstStyle/>
          <a:p>
            <a:pPr indent="0" marL="0">
              <a:buNone/>
            </a:pPr>
            <a:r>
              <a:rPr lang="en-US" sz="1500" b="1" dirty="0">
                <a:solidFill>
                  <a:schemeClr val="tx1"/>
                </a:solidFill>
              </a:rPr>
              <a:t>Transaction monitoring</a:t>
            </a:r>
            <a:endParaRPr lang="en-US" sz="1500" dirty="0"/>
          </a:p>
        </p:txBody>
      </p:sp>
      <p:sp>
        <p:nvSpPr>
          <p:cNvPr id="17" name="text"/>
          <p:cNvSpPr txBox="1"/>
          <p:nvPr/>
        </p:nvSpPr>
        <p:spPr>
          <a:xfrm>
            <a:off x="4498848" y="2880360"/>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Volume is 4.5× the baseline over the last 10 days.</a:t>
            </a:r>
            <a:endParaRPr lang="en-US" sz="1400" dirty="0"/>
          </a:p>
          <a:p>
            <a:pPr marL="342900" indent="-342900">
              <a:spcAft>
                <a:spcPts val="400"/>
              </a:spcAft>
              <a:buSzPct val="100000"/>
              <a:buChar char="•"/>
            </a:pPr>
            <a:r>
              <a:rPr lang="en-US" sz="1400" dirty="0">
                <a:solidFill>
                  <a:schemeClr val="tx1"/>
                </a:solidFill>
              </a:rPr>
              <a:t>Payouts split through two new intermediaries to new beneficiaries in a UAE free zone and Hong Kong.</a:t>
            </a:r>
            <a:endParaRPr lang="en-US" sz="1400" dirty="0"/>
          </a:p>
        </p:txBody>
      </p:sp>
      <p:sp>
        <p:nvSpPr>
          <p:cNvPr id="18" name="Event-driven review"/>
          <p:cNvSpPr/>
          <p:nvPr/>
        </p:nvSpPr>
        <p:spPr>
          <a:xfrm>
            <a:off x="8046720" y="2121408"/>
            <a:ext cx="3566160" cy="2240280"/>
          </a:xfrm>
          <a:prstGeom prst="roundRect">
            <a:avLst>
              <a:gd name="adj" fmla="val 4898"/>
            </a:avLst>
          </a:prstGeom>
          <a:solidFill>
            <a:schemeClr val="bg2"/>
          </a:solidFill>
          <a:ln w="12700">
            <a:solidFill>
              <a:schemeClr val="bg2"/>
            </a:solidFill>
            <a:prstDash val="solid"/>
          </a:ln>
        </p:spPr>
      </p:sp>
      <p:sp>
        <p:nvSpPr>
          <p:cNvPr id="19" name="Event-driven review circle"/>
          <p:cNvSpPr/>
          <p:nvPr/>
        </p:nvSpPr>
        <p:spPr>
          <a:xfrm>
            <a:off x="8247888" y="2240280"/>
            <a:ext cx="530352" cy="530352"/>
          </a:xfrm>
          <a:prstGeom prst="ellipse">
            <a:avLst/>
          </a:prstGeom>
          <a:solidFill>
            <a:schemeClr val="accent4"/>
          </a:solidFill>
          <a:ln w="12700">
            <a:solidFill>
              <a:schemeClr val="accent4"/>
            </a:solidFill>
            <a:prstDash val="solid"/>
          </a:ln>
        </p:spPr>
      </p:sp>
      <p:pic>
        <p:nvPicPr>
          <p:cNvPr id="20" name="Event-driven review icon" descr="preencoded.png">    </p:cNvPr>
          <p:cNvPicPr>
            <a:picLocks noChangeAspect="1"/>
          </p:cNvPicPr>
          <p:nvPr/>
        </p:nvPicPr>
        <p:blipFill>
          <a:blip r:embed="rId3"/>
          <a:stretch>
            <a:fillRect/>
          </a:stretch>
        </p:blipFill>
        <p:spPr>
          <a:xfrm>
            <a:off x="8353958" y="2346350"/>
            <a:ext cx="318211" cy="318211"/>
          </a:xfrm>
          <a:prstGeom prst="rect">
            <a:avLst/>
          </a:prstGeom>
        </p:spPr>
      </p:pic>
      <p:sp>
        <p:nvSpPr>
          <p:cNvPr id="21" name="text"/>
          <p:cNvSpPr txBox="1"/>
          <p:nvPr/>
        </p:nvSpPr>
        <p:spPr>
          <a:xfrm>
            <a:off x="8915400" y="2258568"/>
            <a:ext cx="2560320" cy="219456"/>
          </a:xfrm>
          <a:prstGeom prst="rect">
            <a:avLst/>
          </a:prstGeom>
          <a:noFill/>
          <a:ln/>
        </p:spPr>
        <p:txBody>
          <a:bodyPr wrap="square" lIns="0" tIns="0" rIns="0" bIns="0" rtlCol="0" anchor="t"/>
          <a:lstStyle/>
          <a:p>
            <a:pPr indent="0" marL="0">
              <a:buNone/>
            </a:pPr>
            <a:r>
              <a:rPr lang="en-US" sz="1100" b="1" spc="100" kern="0" dirty="0">
                <a:solidFill>
                  <a:schemeClr val="accent4"/>
                </a:solidFill>
              </a:rPr>
              <a:t>EVIDENCE DROP 3</a:t>
            </a:r>
            <a:endParaRPr lang="en-US" sz="1100" dirty="0"/>
          </a:p>
        </p:txBody>
      </p:sp>
      <p:sp>
        <p:nvSpPr>
          <p:cNvPr id="22" name="text"/>
          <p:cNvSpPr txBox="1"/>
          <p:nvPr/>
        </p:nvSpPr>
        <p:spPr>
          <a:xfrm>
            <a:off x="8915400" y="2468880"/>
            <a:ext cx="2560320" cy="310896"/>
          </a:xfrm>
          <a:prstGeom prst="rect">
            <a:avLst/>
          </a:prstGeom>
          <a:noFill/>
          <a:ln/>
        </p:spPr>
        <p:txBody>
          <a:bodyPr wrap="square" lIns="0" tIns="0" rIns="0" bIns="0" rtlCol="0" anchor="t"/>
          <a:lstStyle/>
          <a:p>
            <a:pPr indent="0" marL="0">
              <a:buNone/>
            </a:pPr>
            <a:r>
              <a:rPr lang="en-US" sz="1500" b="1" dirty="0">
                <a:solidFill>
                  <a:schemeClr val="tx1"/>
                </a:solidFill>
              </a:rPr>
              <a:t>Event-driven review</a:t>
            </a:r>
            <a:endParaRPr lang="en-US" sz="1500" dirty="0"/>
          </a:p>
        </p:txBody>
      </p:sp>
      <p:sp>
        <p:nvSpPr>
          <p:cNvPr id="23" name="text"/>
          <p:cNvSpPr txBox="1"/>
          <p:nvPr/>
        </p:nvSpPr>
        <p:spPr>
          <a:xfrm>
            <a:off x="8247888" y="2880360"/>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The new director is also a 35% shareholder with signing authority over payouts.</a:t>
            </a:r>
            <a:endParaRPr lang="en-US" sz="1400" dirty="0"/>
          </a:p>
          <a:p>
            <a:pPr marL="342900" indent="-342900">
              <a:spcAft>
                <a:spcPts val="400"/>
              </a:spcAft>
              <a:buSzPct val="100000"/>
              <a:buChar char="•"/>
            </a:pPr>
            <a:r>
              <a:rPr lang="en-US" sz="1400" dirty="0">
                <a:solidFill>
                  <a:schemeClr val="tx1"/>
                </a:solidFill>
              </a:rPr>
              <a:t>The UBO chain ends at a nominee company.</a:t>
            </a:r>
            <a:endParaRPr lang="en-US" sz="1400" dirty="0"/>
          </a:p>
        </p:txBody>
      </p:sp>
      <p:sp>
        <p:nvSpPr>
          <p:cNvPr id="24" name="vote"/>
          <p:cNvSpPr/>
          <p:nvPr/>
        </p:nvSpPr>
        <p:spPr>
          <a:xfrm>
            <a:off x="548640" y="4462272"/>
            <a:ext cx="11064240" cy="603504"/>
          </a:xfrm>
          <a:prstGeom prst="roundRect">
            <a:avLst>
              <a:gd name="adj" fmla="val 18182"/>
            </a:avLst>
          </a:prstGeom>
          <a:solidFill>
            <a:schemeClr val="bg2"/>
          </a:solidFill>
          <a:ln w="12700">
            <a:solidFill>
              <a:schemeClr val="bg2"/>
            </a:solidFill>
            <a:prstDash val="solid"/>
          </a:ln>
        </p:spPr>
      </p:sp>
      <p:sp>
        <p:nvSpPr>
          <p:cNvPr id="25" name="text"/>
          <p:cNvSpPr txBox="1"/>
          <p:nvPr/>
        </p:nvSpPr>
        <p:spPr>
          <a:xfrm>
            <a:off x="777240" y="4462272"/>
            <a:ext cx="10607040" cy="603504"/>
          </a:xfrm>
          <a:prstGeom prst="rect">
            <a:avLst/>
          </a:prstGeom>
          <a:noFill/>
          <a:ln/>
        </p:spPr>
        <p:txBody>
          <a:bodyPr wrap="square" lIns="0" tIns="0" rIns="0" bIns="0" rtlCol="0" anchor="ctr"/>
          <a:lstStyle/>
          <a:p>
            <a:pPr indent="0" marL="0">
              <a:buNone/>
            </a:pPr>
            <a:r>
              <a:rPr lang="en-US" sz="1200" b="1" spc="100" kern="0" dirty="0">
                <a:solidFill>
                  <a:schemeClr val="accent1"/>
                </a:solidFill>
              </a:rPr>
              <a:t>PAUSE &amp; VOTE   </a:t>
            </a:r>
            <a:pPr indent="0" marL="0">
              <a:buNone/>
            </a:pPr>
            <a:r>
              <a:rPr lang="en-US" sz="1500" dirty="0">
                <a:solidFill>
                  <a:schemeClr val="tx1"/>
                </a:solidFill>
              </a:rPr>
              <a:t>A  Clear and continue      B  Reject this payment only      C  Joined escalation across Sanctions, TM and EDR</a:t>
            </a:r>
            <a:endParaRPr lang="en-US" sz="1500" dirty="0"/>
          </a:p>
        </p:txBody>
      </p:sp>
      <p:sp>
        <p:nvSpPr>
          <p:cNvPr id="26"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27"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28"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Real cases rarely arrive as one clean alert. This exercise uses the three controls you work with: screening, TM and EDR.</a:t>
            </a:r>
            <a:endParaRPr lang="en-US" sz="1400" dirty="0"/>
          </a:p>
        </p:txBody>
      </p:sp>
      <p:sp>
        <p:nvSpPr>
          <p:cNvPr id="29"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30"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31"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Vote as you would act in your queue — and name the evidence and the process step behind your choice.</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PART 4 · ANSWER REVEAL</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Choose C — the risks converge</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When the clues add up, keep the payment on hold and escalate together.</a:t>
            </a:r>
            <a:endParaRPr lang="en-US" sz="1700" dirty="0"/>
          </a:p>
        </p:txBody>
      </p:sp>
      <p:sp>
        <p:nvSpPr>
          <p:cNvPr id="5" name="Sanctions screening"/>
          <p:cNvSpPr/>
          <p:nvPr/>
        </p:nvSpPr>
        <p:spPr>
          <a:xfrm>
            <a:off x="548640" y="1554480"/>
            <a:ext cx="3566160" cy="2057400"/>
          </a:xfrm>
          <a:prstGeom prst="roundRect">
            <a:avLst>
              <a:gd name="adj" fmla="val 5333"/>
            </a:avLst>
          </a:prstGeom>
          <a:solidFill>
            <a:schemeClr val="bg2"/>
          </a:solidFill>
          <a:ln w="12700">
            <a:solidFill>
              <a:schemeClr val="bg2"/>
            </a:solidFill>
            <a:prstDash val="solid"/>
          </a:ln>
        </p:spPr>
      </p:sp>
      <p:sp>
        <p:nvSpPr>
          <p:cNvPr id="6" name="text"/>
          <p:cNvSpPr txBox="1"/>
          <p:nvPr/>
        </p:nvSpPr>
        <p:spPr>
          <a:xfrm>
            <a:off x="777240" y="1664208"/>
            <a:ext cx="3108960" cy="347472"/>
          </a:xfrm>
          <a:prstGeom prst="rect">
            <a:avLst/>
          </a:prstGeom>
          <a:noFill/>
          <a:ln/>
        </p:spPr>
        <p:txBody>
          <a:bodyPr wrap="square" lIns="0" tIns="0" rIns="0" bIns="0" rtlCol="0" anchor="t"/>
          <a:lstStyle/>
          <a:p>
            <a:pPr indent="0" marL="0">
              <a:buNone/>
            </a:pPr>
            <a:r>
              <a:rPr lang="en-US" sz="1700" b="1" dirty="0">
                <a:solidFill>
                  <a:schemeClr val="accent1"/>
                </a:solidFill>
              </a:rPr>
              <a:t>Sanctions screening</a:t>
            </a:r>
            <a:endParaRPr lang="en-US" sz="1700" dirty="0"/>
          </a:p>
        </p:txBody>
      </p:sp>
      <p:sp>
        <p:nvSpPr>
          <p:cNvPr id="7" name="text"/>
          <p:cNvSpPr txBox="1"/>
          <p:nvPr/>
        </p:nvSpPr>
        <p:spPr>
          <a:xfrm>
            <a:off x="777240" y="2075688"/>
            <a:ext cx="3108960" cy="1463040"/>
          </a:xfrm>
          <a:prstGeom prst="rect">
            <a:avLst/>
          </a:prstGeom>
          <a:noFill/>
          <a:ln/>
        </p:spPr>
        <p:txBody>
          <a:bodyPr wrap="square" lIns="0" tIns="0" rIns="0" bIns="0" rtlCol="0" anchor="t"/>
          <a:lstStyle/>
          <a:p>
            <a:pPr indent="0" marL="0">
              <a:buNone/>
            </a:pPr>
            <a:r>
              <a:rPr lang="en-US" sz="1500" dirty="0">
                <a:solidFill>
                  <a:schemeClr val="tx1"/>
                </a:solidFill>
              </a:rPr>
              <a:t>Resolve identity, aliases and ownership/control. Get the director's date of birth and ID through a focused RFI, then re-screen.</a:t>
            </a:r>
            <a:endParaRPr lang="en-US" sz="1500" dirty="0"/>
          </a:p>
        </p:txBody>
      </p:sp>
      <p:sp>
        <p:nvSpPr>
          <p:cNvPr id="8" name="Transaction monitoring"/>
          <p:cNvSpPr/>
          <p:nvPr/>
        </p:nvSpPr>
        <p:spPr>
          <a:xfrm>
            <a:off x="4297680" y="1554480"/>
            <a:ext cx="3566160" cy="2057400"/>
          </a:xfrm>
          <a:prstGeom prst="roundRect">
            <a:avLst>
              <a:gd name="adj" fmla="val 5333"/>
            </a:avLst>
          </a:prstGeom>
          <a:solidFill>
            <a:schemeClr val="bg2"/>
          </a:solidFill>
          <a:ln w="12700">
            <a:solidFill>
              <a:schemeClr val="bg2"/>
            </a:solidFill>
            <a:prstDash val="solid"/>
          </a:ln>
        </p:spPr>
      </p:sp>
      <p:sp>
        <p:nvSpPr>
          <p:cNvPr id="9" name="text"/>
          <p:cNvSpPr txBox="1"/>
          <p:nvPr/>
        </p:nvSpPr>
        <p:spPr>
          <a:xfrm>
            <a:off x="4526280" y="1664208"/>
            <a:ext cx="3108960" cy="347472"/>
          </a:xfrm>
          <a:prstGeom prst="rect">
            <a:avLst/>
          </a:prstGeom>
          <a:noFill/>
          <a:ln/>
        </p:spPr>
        <p:txBody>
          <a:bodyPr wrap="square" lIns="0" tIns="0" rIns="0" bIns="0" rtlCol="0" anchor="t"/>
          <a:lstStyle/>
          <a:p>
            <a:pPr indent="0" marL="0">
              <a:buNone/>
            </a:pPr>
            <a:r>
              <a:rPr lang="en-US" sz="1700" b="1" dirty="0">
                <a:solidFill>
                  <a:schemeClr val="accent2"/>
                </a:solidFill>
              </a:rPr>
              <a:t>Transaction monitoring</a:t>
            </a:r>
            <a:endParaRPr lang="en-US" sz="1700" dirty="0"/>
          </a:p>
        </p:txBody>
      </p:sp>
      <p:sp>
        <p:nvSpPr>
          <p:cNvPr id="10" name="text"/>
          <p:cNvSpPr txBox="1"/>
          <p:nvPr/>
        </p:nvSpPr>
        <p:spPr>
          <a:xfrm>
            <a:off x="4526280" y="2075688"/>
            <a:ext cx="3108960" cy="1463040"/>
          </a:xfrm>
          <a:prstGeom prst="rect">
            <a:avLst/>
          </a:prstGeom>
          <a:noFill/>
          <a:ln/>
        </p:spPr>
        <p:txBody>
          <a:bodyPr wrap="square" lIns="0" tIns="0" rIns="0" bIns="0" rtlCol="0" anchor="t"/>
          <a:lstStyle/>
          <a:p>
            <a:pPr indent="0" marL="0">
              <a:buNone/>
            </a:pPr>
            <a:r>
              <a:rPr lang="en-US" sz="1500" dirty="0">
                <a:solidFill>
                  <a:schemeClr val="tx1"/>
                </a:solidFill>
              </a:rPr>
              <a:t>Analyse variance from baseline, counterparties, geographies and evasion indicators; consider a UAR / MLRO referral.</a:t>
            </a:r>
            <a:endParaRPr lang="en-US" sz="1500" dirty="0"/>
          </a:p>
        </p:txBody>
      </p:sp>
      <p:sp>
        <p:nvSpPr>
          <p:cNvPr id="11" name="Event-driven review"/>
          <p:cNvSpPr/>
          <p:nvPr/>
        </p:nvSpPr>
        <p:spPr>
          <a:xfrm>
            <a:off x="8046720" y="1554480"/>
            <a:ext cx="3566160" cy="2057400"/>
          </a:xfrm>
          <a:prstGeom prst="roundRect">
            <a:avLst>
              <a:gd name="adj" fmla="val 5333"/>
            </a:avLst>
          </a:prstGeom>
          <a:solidFill>
            <a:schemeClr val="bg2"/>
          </a:solidFill>
          <a:ln w="12700">
            <a:solidFill>
              <a:schemeClr val="bg2"/>
            </a:solidFill>
            <a:prstDash val="solid"/>
          </a:ln>
        </p:spPr>
      </p:sp>
      <p:sp>
        <p:nvSpPr>
          <p:cNvPr id="12" name="text"/>
          <p:cNvSpPr txBox="1"/>
          <p:nvPr/>
        </p:nvSpPr>
        <p:spPr>
          <a:xfrm>
            <a:off x="8275320" y="1664208"/>
            <a:ext cx="3108960" cy="347472"/>
          </a:xfrm>
          <a:prstGeom prst="rect">
            <a:avLst/>
          </a:prstGeom>
          <a:noFill/>
          <a:ln/>
        </p:spPr>
        <p:txBody>
          <a:bodyPr wrap="square" lIns="0" tIns="0" rIns="0" bIns="0" rtlCol="0" anchor="t"/>
          <a:lstStyle/>
          <a:p>
            <a:pPr indent="0" marL="0">
              <a:buNone/>
            </a:pPr>
            <a:r>
              <a:rPr lang="en-US" sz="1700" b="1" dirty="0">
                <a:solidFill>
                  <a:schemeClr val="accent4"/>
                </a:solidFill>
              </a:rPr>
              <a:t>Event-driven review</a:t>
            </a:r>
            <a:endParaRPr lang="en-US" sz="1700" dirty="0"/>
          </a:p>
        </p:txBody>
      </p:sp>
      <p:sp>
        <p:nvSpPr>
          <p:cNvPr id="13" name="text"/>
          <p:cNvSpPr txBox="1"/>
          <p:nvPr/>
        </p:nvSpPr>
        <p:spPr>
          <a:xfrm>
            <a:off x="8275320" y="2075688"/>
            <a:ext cx="3108960" cy="1463040"/>
          </a:xfrm>
          <a:prstGeom prst="rect">
            <a:avLst/>
          </a:prstGeom>
          <a:noFill/>
          <a:ln/>
        </p:spPr>
        <p:txBody>
          <a:bodyPr wrap="square" lIns="0" tIns="0" rIns="0" bIns="0" rtlCol="0" anchor="t"/>
          <a:lstStyle/>
          <a:p>
            <a:pPr indent="0" marL="0">
              <a:buNone/>
            </a:pPr>
            <a:r>
              <a:rPr lang="en-US" sz="1500" dirty="0">
                <a:solidFill>
                  <a:schemeClr val="tx1"/>
                </a:solidFill>
              </a:rPr>
              <a:t>Refresh KYB and UBO beyond the nominee, re-screen all linked parties and reassess the customer's risk.</a:t>
            </a:r>
            <a:endParaRPr lang="en-US" sz="1500" dirty="0"/>
          </a:p>
        </p:txBody>
      </p:sp>
      <p:sp>
        <p:nvSpPr>
          <p:cNvPr id="14" name="text"/>
          <p:cNvSpPr txBox="1"/>
          <p:nvPr/>
        </p:nvSpPr>
        <p:spPr>
          <a:xfrm>
            <a:off x="548640" y="3749040"/>
            <a:ext cx="11064240" cy="219456"/>
          </a:xfrm>
          <a:prstGeom prst="rect">
            <a:avLst/>
          </a:prstGeom>
          <a:noFill/>
          <a:ln/>
        </p:spPr>
        <p:txBody>
          <a:bodyPr wrap="square" lIns="0" tIns="0" rIns="0" bIns="0" rtlCol="0" anchor="t"/>
          <a:lstStyle/>
          <a:p>
            <a:pPr indent="0" marL="0">
              <a:buNone/>
            </a:pPr>
            <a:r>
              <a:rPr lang="en-US" sz="1100" b="1" spc="100" kern="0" dirty="0">
                <a:solidFill>
                  <a:schemeClr val="accent6"/>
                </a:solidFill>
              </a:rPr>
              <a:t>L2 AND L3 DECIDE THE OUTCOME — LINKED UNDER ONE SHARED CASE ID</a:t>
            </a:r>
            <a:endParaRPr lang="en-US" sz="1100" dirty="0"/>
          </a:p>
        </p:txBody>
      </p:sp>
      <p:sp>
        <p:nvSpPr>
          <p:cNvPr id="15" name="Release"/>
          <p:cNvSpPr/>
          <p:nvPr/>
        </p:nvSpPr>
        <p:spPr>
          <a:xfrm>
            <a:off x="548640" y="4041648"/>
            <a:ext cx="2651760" cy="566928"/>
          </a:xfrm>
          <a:prstGeom prst="roundRect">
            <a:avLst>
              <a:gd name="adj" fmla="val 19355"/>
            </a:avLst>
          </a:prstGeom>
          <a:solidFill>
            <a:schemeClr val="bg2"/>
          </a:solidFill>
          <a:ln w="12700">
            <a:solidFill>
              <a:schemeClr val="bg2"/>
            </a:solidFill>
            <a:prstDash val="solid"/>
          </a:ln>
        </p:spPr>
      </p:sp>
      <p:sp>
        <p:nvSpPr>
          <p:cNvPr id="16" name="text"/>
          <p:cNvSpPr txBox="1"/>
          <p:nvPr/>
        </p:nvSpPr>
        <p:spPr>
          <a:xfrm>
            <a:off x="548640" y="4041648"/>
            <a:ext cx="2651760" cy="566928"/>
          </a:xfrm>
          <a:prstGeom prst="rect">
            <a:avLst/>
          </a:prstGeom>
          <a:noFill/>
          <a:ln/>
        </p:spPr>
        <p:txBody>
          <a:bodyPr wrap="square" lIns="0" tIns="0" rIns="0" bIns="0" rtlCol="0" anchor="ctr"/>
          <a:lstStyle/>
          <a:p>
            <a:pPr algn="ctr" indent="0" marL="0">
              <a:buNone/>
            </a:pPr>
            <a:r>
              <a:rPr lang="en-US" sz="1600" b="1" dirty="0">
                <a:solidFill>
                  <a:schemeClr val="tx1"/>
                </a:solidFill>
              </a:rPr>
              <a:t>Release</a:t>
            </a:r>
            <a:endParaRPr lang="en-US" sz="1600" dirty="0"/>
          </a:p>
        </p:txBody>
      </p:sp>
      <p:sp>
        <p:nvSpPr>
          <p:cNvPr id="17" name="Reject"/>
          <p:cNvSpPr/>
          <p:nvPr/>
        </p:nvSpPr>
        <p:spPr>
          <a:xfrm>
            <a:off x="3346704" y="4041648"/>
            <a:ext cx="2651760" cy="566928"/>
          </a:xfrm>
          <a:prstGeom prst="roundRect">
            <a:avLst>
              <a:gd name="adj" fmla="val 19355"/>
            </a:avLst>
          </a:prstGeom>
          <a:solidFill>
            <a:schemeClr val="bg2"/>
          </a:solidFill>
          <a:ln w="12700">
            <a:solidFill>
              <a:schemeClr val="bg2"/>
            </a:solidFill>
            <a:prstDash val="solid"/>
          </a:ln>
        </p:spPr>
      </p:sp>
      <p:sp>
        <p:nvSpPr>
          <p:cNvPr id="18" name="text"/>
          <p:cNvSpPr txBox="1"/>
          <p:nvPr/>
        </p:nvSpPr>
        <p:spPr>
          <a:xfrm>
            <a:off x="3346704" y="4041648"/>
            <a:ext cx="2651760" cy="566928"/>
          </a:xfrm>
          <a:prstGeom prst="rect">
            <a:avLst/>
          </a:prstGeom>
          <a:noFill/>
          <a:ln/>
        </p:spPr>
        <p:txBody>
          <a:bodyPr wrap="square" lIns="0" tIns="0" rIns="0" bIns="0" rtlCol="0" anchor="ctr"/>
          <a:lstStyle/>
          <a:p>
            <a:pPr algn="ctr" indent="0" marL="0">
              <a:buNone/>
            </a:pPr>
            <a:r>
              <a:rPr lang="en-US" sz="1600" b="1" dirty="0">
                <a:solidFill>
                  <a:schemeClr val="tx1"/>
                </a:solidFill>
              </a:rPr>
              <a:t>Reject</a:t>
            </a:r>
            <a:endParaRPr lang="en-US" sz="1600" dirty="0"/>
          </a:p>
        </p:txBody>
      </p:sp>
      <p:sp>
        <p:nvSpPr>
          <p:cNvPr id="19" name="Freeze and report"/>
          <p:cNvSpPr/>
          <p:nvPr/>
        </p:nvSpPr>
        <p:spPr>
          <a:xfrm>
            <a:off x="6144768" y="4041648"/>
            <a:ext cx="2651760" cy="566928"/>
          </a:xfrm>
          <a:prstGeom prst="roundRect">
            <a:avLst>
              <a:gd name="adj" fmla="val 19355"/>
            </a:avLst>
          </a:prstGeom>
          <a:solidFill>
            <a:schemeClr val="bg2"/>
          </a:solidFill>
          <a:ln w="12700">
            <a:solidFill>
              <a:schemeClr val="bg2"/>
            </a:solidFill>
            <a:prstDash val="solid"/>
          </a:ln>
        </p:spPr>
      </p:sp>
      <p:sp>
        <p:nvSpPr>
          <p:cNvPr id="20" name="text"/>
          <p:cNvSpPr txBox="1"/>
          <p:nvPr/>
        </p:nvSpPr>
        <p:spPr>
          <a:xfrm>
            <a:off x="6144768" y="4041648"/>
            <a:ext cx="2651760" cy="566928"/>
          </a:xfrm>
          <a:prstGeom prst="rect">
            <a:avLst/>
          </a:prstGeom>
          <a:noFill/>
          <a:ln/>
        </p:spPr>
        <p:txBody>
          <a:bodyPr wrap="square" lIns="0" tIns="0" rIns="0" bIns="0" rtlCol="0" anchor="ctr"/>
          <a:lstStyle/>
          <a:p>
            <a:pPr algn="ctr" indent="0" marL="0">
              <a:buNone/>
            </a:pPr>
            <a:r>
              <a:rPr lang="en-US" sz="1600" b="1" dirty="0">
                <a:solidFill>
                  <a:schemeClr val="tx1"/>
                </a:solidFill>
              </a:rPr>
              <a:t>Freeze and report</a:t>
            </a:r>
            <a:endParaRPr lang="en-US" sz="1600" dirty="0"/>
          </a:p>
        </p:txBody>
      </p:sp>
      <p:sp>
        <p:nvSpPr>
          <p:cNvPr id="21" name="Offboard"/>
          <p:cNvSpPr/>
          <p:nvPr/>
        </p:nvSpPr>
        <p:spPr>
          <a:xfrm>
            <a:off x="8942832" y="4041648"/>
            <a:ext cx="2651760" cy="566928"/>
          </a:xfrm>
          <a:prstGeom prst="roundRect">
            <a:avLst>
              <a:gd name="adj" fmla="val 19355"/>
            </a:avLst>
          </a:prstGeom>
          <a:solidFill>
            <a:schemeClr val="bg2"/>
          </a:solidFill>
          <a:ln w="12700">
            <a:solidFill>
              <a:schemeClr val="bg2"/>
            </a:solidFill>
            <a:prstDash val="solid"/>
          </a:ln>
        </p:spPr>
      </p:sp>
      <p:sp>
        <p:nvSpPr>
          <p:cNvPr id="22" name="text"/>
          <p:cNvSpPr txBox="1"/>
          <p:nvPr/>
        </p:nvSpPr>
        <p:spPr>
          <a:xfrm>
            <a:off x="8942832" y="4041648"/>
            <a:ext cx="2651760" cy="566928"/>
          </a:xfrm>
          <a:prstGeom prst="rect">
            <a:avLst/>
          </a:prstGeom>
          <a:noFill/>
          <a:ln/>
        </p:spPr>
        <p:txBody>
          <a:bodyPr wrap="square" lIns="0" tIns="0" rIns="0" bIns="0" rtlCol="0" anchor="ctr"/>
          <a:lstStyle/>
          <a:p>
            <a:pPr algn="ctr" indent="0" marL="0">
              <a:buNone/>
            </a:pPr>
            <a:r>
              <a:rPr lang="en-US" sz="1600" b="1" dirty="0">
                <a:solidFill>
                  <a:schemeClr val="tx1"/>
                </a:solidFill>
              </a:rPr>
              <a:t>Offboard</a:t>
            </a:r>
            <a:endParaRPr lang="en-US" sz="1600" dirty="0"/>
          </a:p>
        </p:txBody>
      </p:sp>
      <p:sp>
        <p:nvSpPr>
          <p:cNvPr id="23" name="text"/>
          <p:cNvSpPr txBox="1"/>
          <p:nvPr/>
        </p:nvSpPr>
        <p:spPr>
          <a:xfrm>
            <a:off x="548640" y="4709160"/>
            <a:ext cx="11064240" cy="365760"/>
          </a:xfrm>
          <a:prstGeom prst="rect">
            <a:avLst/>
          </a:prstGeom>
          <a:noFill/>
          <a:ln/>
        </p:spPr>
        <p:txBody>
          <a:bodyPr wrap="square" lIns="0" tIns="0" rIns="0" bIns="0" rtlCol="0" anchor="t"/>
          <a:lstStyle/>
          <a:p>
            <a:pPr indent="0" marL="0">
              <a:buNone/>
            </a:pPr>
            <a:r>
              <a:rPr lang="en-US" sz="1300" i="1" dirty="0">
                <a:solidFill>
                  <a:schemeClr val="accent6"/>
                </a:solidFill>
              </a:rPr>
              <a:t>Facilitator: do not label this a confirmed sanctions breach until the relevant facts and legal basis are established.</a:t>
            </a:r>
            <a:endParaRPr lang="en-US" sz="1300" dirty="0"/>
          </a:p>
        </p:txBody>
      </p:sp>
      <p:sp>
        <p:nvSpPr>
          <p:cNvPr id="24" name="Why it matters"/>
          <p:cNvSpPr/>
          <p:nvPr/>
        </p:nvSpPr>
        <p:spPr>
          <a:xfrm>
            <a:off x="548640" y="5193792"/>
            <a:ext cx="5440680" cy="868680"/>
          </a:xfrm>
          <a:prstGeom prst="roundRect">
            <a:avLst>
              <a:gd name="adj" fmla="val 12632"/>
            </a:avLst>
          </a:prstGeom>
          <a:solidFill>
            <a:schemeClr val="tx1"/>
          </a:solidFill>
          <a:ln w="12700">
            <a:solidFill>
              <a:schemeClr val="tx1"/>
            </a:solidFill>
            <a:prstDash val="solid"/>
          </a:ln>
        </p:spPr>
      </p:sp>
      <p:sp>
        <p:nvSpPr>
          <p:cNvPr id="25" name="text"/>
          <p:cNvSpPr txBox="1"/>
          <p:nvPr/>
        </p:nvSpPr>
        <p:spPr>
          <a:xfrm>
            <a:off x="77724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2"/>
                </a:solidFill>
              </a:rPr>
              <a:t>WHY IT MATTERS</a:t>
            </a:r>
            <a:endParaRPr lang="en-US" sz="1100" dirty="0"/>
          </a:p>
        </p:txBody>
      </p:sp>
      <p:sp>
        <p:nvSpPr>
          <p:cNvPr id="26" name="text"/>
          <p:cNvSpPr txBox="1"/>
          <p:nvPr/>
        </p:nvSpPr>
        <p:spPr>
          <a:xfrm>
            <a:off x="77724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No single alert proved a breach. Closing them one by one would have released the payment and missed the pattern.</a:t>
            </a:r>
            <a:endParaRPr lang="en-US" sz="1400" dirty="0"/>
          </a:p>
        </p:txBody>
      </p:sp>
      <p:sp>
        <p:nvSpPr>
          <p:cNvPr id="27" name="What it means for you"/>
          <p:cNvSpPr/>
          <p:nvPr/>
        </p:nvSpPr>
        <p:spPr>
          <a:xfrm>
            <a:off x="6172200" y="5193792"/>
            <a:ext cx="5440680" cy="868680"/>
          </a:xfrm>
          <a:prstGeom prst="roundRect">
            <a:avLst>
              <a:gd name="adj" fmla="val 12632"/>
            </a:avLst>
          </a:prstGeom>
          <a:solidFill>
            <a:schemeClr val="tx1"/>
          </a:solidFill>
          <a:ln w="12700">
            <a:solidFill>
              <a:schemeClr val="tx1"/>
            </a:solidFill>
            <a:prstDash val="solid"/>
          </a:ln>
        </p:spPr>
      </p:sp>
      <p:sp>
        <p:nvSpPr>
          <p:cNvPr id="28" name="text"/>
          <p:cNvSpPr txBox="1"/>
          <p:nvPr/>
        </p:nvSpPr>
        <p:spPr>
          <a:xfrm>
            <a:off x="6400800" y="5266944"/>
            <a:ext cx="4983480" cy="219456"/>
          </a:xfrm>
          <a:prstGeom prst="rect">
            <a:avLst/>
          </a:prstGeom>
          <a:noFill/>
          <a:ln/>
        </p:spPr>
        <p:txBody>
          <a:bodyPr wrap="square" lIns="0" tIns="0" rIns="0" bIns="0" rtlCol="0" anchor="t"/>
          <a:lstStyle/>
          <a:p>
            <a:pPr indent="0" marL="0">
              <a:buNone/>
            </a:pPr>
            <a:r>
              <a:rPr lang="en-US" sz="1100" b="1" spc="100" kern="0" dirty="0">
                <a:solidFill>
                  <a:schemeClr val="accent5"/>
                </a:solidFill>
              </a:rPr>
              <a:t>WHAT IT MEANS FOR YOU</a:t>
            </a:r>
            <a:endParaRPr lang="en-US" sz="1100" dirty="0"/>
          </a:p>
        </p:txBody>
      </p:sp>
      <p:sp>
        <p:nvSpPr>
          <p:cNvPr id="29" name="text"/>
          <p:cNvSpPr txBox="1"/>
          <p:nvPr/>
        </p:nvSpPr>
        <p:spPr>
          <a:xfrm>
            <a:off x="6400800" y="5504688"/>
            <a:ext cx="4983480" cy="512064"/>
          </a:xfrm>
          <a:prstGeom prst="rect">
            <a:avLst/>
          </a:prstGeom>
          <a:noFill/>
          <a:ln/>
        </p:spPr>
        <p:txBody>
          <a:bodyPr wrap="square" lIns="0" tIns="0" rIns="0" bIns="0" rtlCol="0" anchor="t"/>
          <a:lstStyle/>
          <a:p>
            <a:pPr indent="0" marL="0">
              <a:buNone/>
            </a:pPr>
            <a:r>
              <a:rPr lang="en-US" sz="1400" dirty="0">
                <a:solidFill>
                  <a:schemeClr val="bg1"/>
                </a:solidFill>
              </a:rPr>
              <a:t>Link the evidence under one case ID, keep the payment pending and hand off to Sanctions, TM and EDR in parallel.</a:t>
            </a:r>
            <a:endParaRPr lang="en-US" sz="14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childTnLst>
                          </p:cTn>
                        </p:par>
                        <p:par>
                          <p:cTn id="14"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par>
                          <p:cTn id="24" fill="hold">
                            <p:stCondLst>
                              <p:cond delay="9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34" fill="hold">
                            <p:stCondLst>
                              <p:cond delay="135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274320"/>
          </a:xfrm>
          <a:prstGeom prst="rect">
            <a:avLst/>
          </a:prstGeom>
          <a:noFill/>
          <a:ln/>
        </p:spPr>
        <p:txBody>
          <a:bodyPr wrap="square" lIns="0" tIns="0" rIns="0" bIns="0" rtlCol="0" anchor="ctr"/>
          <a:lstStyle/>
          <a:p>
            <a:pPr algn="l" indent="0" marL="0">
              <a:buNone/>
            </a:pPr>
            <a:r>
              <a:rPr lang="en-US" sz="1200" b="1" spc="100" kern="0" dirty="0">
                <a:solidFill>
                  <a:schemeClr val="accent2"/>
                </a:solidFill>
              </a:rPr>
              <a:t>CLOSE</a:t>
            </a:r>
            <a:endParaRPr lang="en-US" sz="1200" dirty="0"/>
          </a:p>
        </p:txBody>
      </p:sp>
      <p:sp>
        <p:nvSpPr>
          <p:cNvPr id="3" name="Text 0"/>
          <p:cNvSpPr/>
          <p:nvPr>
            <p:ph idx="101" type="title" hasCustomPrompt="1"/>
          </p:nvPr>
        </p:nvSpPr>
        <p:spPr>
          <a:xfrm>
            <a:off x="548640" y="566928"/>
            <a:ext cx="11064240" cy="621792"/>
          </a:xfrm>
          <a:prstGeom prst="rect">
            <a:avLst/>
          </a:prstGeom>
          <a:noFill/>
          <a:ln/>
        </p:spPr>
        <p:txBody>
          <a:bodyPr wrap="square" lIns="0" tIns="0" rIns="0" bIns="0" rtlCol="0" anchor="ctr"/>
          <a:lstStyle/>
          <a:p>
            <a:pPr algn="l" indent="0" marL="0">
              <a:buNone/>
            </a:pPr>
            <a:r>
              <a:rPr lang="en-US" sz="3000" b="1" dirty="0">
                <a:solidFill>
                  <a:schemeClr val="bg1"/>
                </a:solidFill>
              </a:rPr>
              <a:t>Key takeaways</a:t>
            </a:r>
            <a:endParaRPr lang="en-US" sz="3000" dirty="0"/>
          </a:p>
        </p:txBody>
      </p:sp>
      <p:sp>
        <p:nvSpPr>
          <p:cNvPr id="4" name="text"/>
          <p:cNvSpPr txBox="1"/>
          <p:nvPr/>
        </p:nvSpPr>
        <p:spPr>
          <a:xfrm>
            <a:off x="548640" y="1280160"/>
            <a:ext cx="11064240" cy="685800"/>
          </a:xfrm>
          <a:prstGeom prst="rect">
            <a:avLst/>
          </a:prstGeom>
          <a:noFill/>
          <a:ln/>
        </p:spPr>
        <p:txBody>
          <a:bodyPr wrap="square" lIns="0" tIns="0" rIns="0" bIns="0" rtlCol="0" anchor="t"/>
          <a:lstStyle/>
          <a:p>
            <a:pPr indent="0" marL="0">
              <a:buNone/>
            </a:pPr>
            <a:r>
              <a:rPr lang="en-US" sz="1800" b="1" i="1" dirty="0">
                <a:solidFill>
                  <a:schemeClr val="accent2"/>
                </a:solidFill>
              </a:rPr>
              <a:t>In one sentence:  </a:t>
            </a:r>
            <a:pPr indent="0" marL="0">
              <a:buNone/>
            </a:pPr>
            <a:r>
              <a:rPr lang="en-US" sz="1800" i="1" dirty="0">
                <a:solidFill>
                  <a:schemeClr val="bg1"/>
                </a:solidFill>
              </a:rPr>
              <a:t>If in doubt, don't let it go: stop the payment, check who is really behind it and every country it touches, pass anything unclear to L2 — and write down why.</a:t>
            </a:r>
            <a:endParaRPr lang="en-US" sz="1800" dirty="0"/>
          </a:p>
        </p:txBody>
      </p:sp>
      <p:sp>
        <p:nvSpPr>
          <p:cNvPr id="5" name="recap 1 circle"/>
          <p:cNvSpPr/>
          <p:nvPr/>
        </p:nvSpPr>
        <p:spPr>
          <a:xfrm>
            <a:off x="1463040" y="2240280"/>
            <a:ext cx="822960" cy="822960"/>
          </a:xfrm>
          <a:prstGeom prst="ellipse">
            <a:avLst/>
          </a:prstGeom>
          <a:solidFill>
            <a:schemeClr val="accent1"/>
          </a:solidFill>
          <a:ln w="12700">
            <a:solidFill>
              <a:schemeClr val="accent1"/>
            </a:solidFill>
            <a:prstDash val="solid"/>
          </a:ln>
        </p:spPr>
      </p:sp>
      <p:pic>
        <p:nvPicPr>
          <p:cNvPr id="6" name="recap 1 icon" descr="preencoded.png">    </p:cNvPr>
          <p:cNvPicPr>
            <a:picLocks noChangeAspect="1"/>
          </p:cNvPicPr>
          <p:nvPr/>
        </p:nvPicPr>
        <p:blipFill>
          <a:blip r:embed="rId1"/>
          <a:stretch>
            <a:fillRect/>
          </a:stretch>
        </p:blipFill>
        <p:spPr>
          <a:xfrm>
            <a:off x="1627632" y="2404872"/>
            <a:ext cx="493776" cy="493776"/>
          </a:xfrm>
          <a:prstGeom prst="rect">
            <a:avLst/>
          </a:prstGeom>
        </p:spPr>
      </p:pic>
      <p:sp>
        <p:nvSpPr>
          <p:cNvPr id="7" name="text"/>
          <p:cNvSpPr txBox="1"/>
          <p:nvPr/>
        </p:nvSpPr>
        <p:spPr>
          <a:xfrm>
            <a:off x="548640" y="3200400"/>
            <a:ext cx="2651760" cy="384048"/>
          </a:xfrm>
          <a:prstGeom prst="rect">
            <a:avLst/>
          </a:prstGeom>
          <a:noFill/>
          <a:ln/>
        </p:spPr>
        <p:txBody>
          <a:bodyPr wrap="square" lIns="0" tIns="0" rIns="0" bIns="0" rtlCol="0" anchor="t"/>
          <a:lstStyle/>
          <a:p>
            <a:pPr algn="ctr" indent="0" marL="0">
              <a:buNone/>
            </a:pPr>
            <a:r>
              <a:rPr lang="en-US" sz="1700" b="1" dirty="0">
                <a:solidFill>
                  <a:schemeClr val="bg1"/>
                </a:solidFill>
              </a:rPr>
              <a:t>1  Understand the model</a:t>
            </a:r>
            <a:endParaRPr lang="en-US" sz="1700" dirty="0"/>
          </a:p>
        </p:txBody>
      </p:sp>
      <p:sp>
        <p:nvSpPr>
          <p:cNvPr id="8" name="text"/>
          <p:cNvSpPr txBox="1"/>
          <p:nvPr/>
        </p:nvSpPr>
        <p:spPr>
          <a:xfrm>
            <a:off x="685800" y="3611880"/>
            <a:ext cx="2377440" cy="1097280"/>
          </a:xfrm>
          <a:prstGeom prst="rect">
            <a:avLst/>
          </a:prstGeom>
          <a:noFill/>
          <a:ln/>
        </p:spPr>
        <p:txBody>
          <a:bodyPr wrap="square" lIns="0" tIns="0" rIns="0" bIns="0" rtlCol="0" anchor="t"/>
          <a:lstStyle/>
          <a:p>
            <a:pPr algn="ctr" indent="0" marL="0">
              <a:buNone/>
            </a:pPr>
            <a:r>
              <a:rPr lang="en-US" sz="1500" dirty="0">
                <a:solidFill>
                  <a:schemeClr val="accent5"/>
                </a:solidFill>
              </a:rPr>
              <a:t>Run the same model on every alert: pause, investigate, escalate, record.</a:t>
            </a:r>
            <a:endParaRPr lang="en-US" sz="1500" dirty="0"/>
          </a:p>
        </p:txBody>
      </p:sp>
      <p:sp>
        <p:nvSpPr>
          <p:cNvPr id="9" name="recap 2 circle"/>
          <p:cNvSpPr/>
          <p:nvPr/>
        </p:nvSpPr>
        <p:spPr>
          <a:xfrm>
            <a:off x="4261104" y="2240280"/>
            <a:ext cx="822960" cy="822960"/>
          </a:xfrm>
          <a:prstGeom prst="ellipse">
            <a:avLst/>
          </a:prstGeom>
          <a:solidFill>
            <a:schemeClr val="accent4"/>
          </a:solidFill>
          <a:ln w="12700">
            <a:solidFill>
              <a:schemeClr val="accent4"/>
            </a:solidFill>
            <a:prstDash val="solid"/>
          </a:ln>
        </p:spPr>
      </p:sp>
      <p:pic>
        <p:nvPicPr>
          <p:cNvPr id="10" name="recap 2 icon" descr="preencoded.png">    </p:cNvPr>
          <p:cNvPicPr>
            <a:picLocks noChangeAspect="1"/>
          </p:cNvPicPr>
          <p:nvPr/>
        </p:nvPicPr>
        <p:blipFill>
          <a:blip r:embed="rId2"/>
          <a:stretch>
            <a:fillRect/>
          </a:stretch>
        </p:blipFill>
        <p:spPr>
          <a:xfrm>
            <a:off x="4425696" y="2404872"/>
            <a:ext cx="493776" cy="493776"/>
          </a:xfrm>
          <a:prstGeom prst="rect">
            <a:avLst/>
          </a:prstGeom>
        </p:spPr>
      </p:pic>
      <p:sp>
        <p:nvSpPr>
          <p:cNvPr id="11" name="text"/>
          <p:cNvSpPr txBox="1"/>
          <p:nvPr/>
        </p:nvSpPr>
        <p:spPr>
          <a:xfrm>
            <a:off x="3346704" y="3200400"/>
            <a:ext cx="2651760" cy="384048"/>
          </a:xfrm>
          <a:prstGeom prst="rect">
            <a:avLst/>
          </a:prstGeom>
          <a:noFill/>
          <a:ln/>
        </p:spPr>
        <p:txBody>
          <a:bodyPr wrap="square" lIns="0" tIns="0" rIns="0" bIns="0" rtlCol="0" anchor="t"/>
          <a:lstStyle/>
          <a:p>
            <a:pPr algn="ctr" indent="0" marL="0">
              <a:buNone/>
            </a:pPr>
            <a:r>
              <a:rPr lang="en-US" sz="1700" b="1" dirty="0">
                <a:solidFill>
                  <a:schemeClr val="bg1"/>
                </a:solidFill>
              </a:rPr>
              <a:t>2  Compare the regions</a:t>
            </a:r>
            <a:endParaRPr lang="en-US" sz="1700" dirty="0"/>
          </a:p>
        </p:txBody>
      </p:sp>
      <p:sp>
        <p:nvSpPr>
          <p:cNvPr id="12" name="text"/>
          <p:cNvSpPr txBox="1"/>
          <p:nvPr/>
        </p:nvSpPr>
        <p:spPr>
          <a:xfrm>
            <a:off x="3483864" y="3611880"/>
            <a:ext cx="2377440" cy="1097280"/>
          </a:xfrm>
          <a:prstGeom prst="rect">
            <a:avLst/>
          </a:prstGeom>
          <a:noFill/>
          <a:ln/>
        </p:spPr>
        <p:txBody>
          <a:bodyPr wrap="square" lIns="0" tIns="0" rIns="0" bIns="0" rtlCol="0" anchor="t"/>
          <a:lstStyle/>
          <a:p>
            <a:pPr algn="ctr" indent="0" marL="0">
              <a:buNone/>
            </a:pPr>
            <a:r>
              <a:rPr lang="en-US" sz="1500" dirty="0">
                <a:solidFill>
                  <a:schemeClr val="accent5"/>
                </a:solidFill>
              </a:rPr>
              <a:t>Check every regime the payment touches — not just the local list.</a:t>
            </a:r>
            <a:endParaRPr lang="en-US" sz="1500" dirty="0"/>
          </a:p>
        </p:txBody>
      </p:sp>
      <p:sp>
        <p:nvSpPr>
          <p:cNvPr id="13" name="recap 3 circle"/>
          <p:cNvSpPr/>
          <p:nvPr/>
        </p:nvSpPr>
        <p:spPr>
          <a:xfrm>
            <a:off x="7059168" y="2240280"/>
            <a:ext cx="822960" cy="822960"/>
          </a:xfrm>
          <a:prstGeom prst="ellipse">
            <a:avLst/>
          </a:prstGeom>
          <a:solidFill>
            <a:schemeClr val="accent2"/>
          </a:solidFill>
          <a:ln w="12700">
            <a:solidFill>
              <a:schemeClr val="accent2"/>
            </a:solidFill>
            <a:prstDash val="solid"/>
          </a:ln>
        </p:spPr>
      </p:sp>
      <p:pic>
        <p:nvPicPr>
          <p:cNvPr id="14" name="recap 3 icon" descr="preencoded.png">    </p:cNvPr>
          <p:cNvPicPr>
            <a:picLocks noChangeAspect="1"/>
          </p:cNvPicPr>
          <p:nvPr/>
        </p:nvPicPr>
        <p:blipFill>
          <a:blip r:embed="rId3"/>
          <a:stretch>
            <a:fillRect/>
          </a:stretch>
        </p:blipFill>
        <p:spPr>
          <a:xfrm>
            <a:off x="7223760" y="2404872"/>
            <a:ext cx="493776" cy="493776"/>
          </a:xfrm>
          <a:prstGeom prst="rect">
            <a:avLst/>
          </a:prstGeom>
        </p:spPr>
      </p:pic>
      <p:sp>
        <p:nvSpPr>
          <p:cNvPr id="15" name="text"/>
          <p:cNvSpPr txBox="1"/>
          <p:nvPr/>
        </p:nvSpPr>
        <p:spPr>
          <a:xfrm>
            <a:off x="6144768" y="3200400"/>
            <a:ext cx="2651760" cy="384048"/>
          </a:xfrm>
          <a:prstGeom prst="rect">
            <a:avLst/>
          </a:prstGeom>
          <a:noFill/>
          <a:ln/>
        </p:spPr>
        <p:txBody>
          <a:bodyPr wrap="square" lIns="0" tIns="0" rIns="0" bIns="0" rtlCol="0" anchor="t"/>
          <a:lstStyle/>
          <a:p>
            <a:pPr algn="ctr" indent="0" marL="0">
              <a:buNone/>
            </a:pPr>
            <a:r>
              <a:rPr lang="en-US" sz="1700" b="1" dirty="0">
                <a:solidFill>
                  <a:schemeClr val="bg1"/>
                </a:solidFill>
              </a:rPr>
              <a:t>3  Apply the indicators</a:t>
            </a:r>
            <a:endParaRPr lang="en-US" sz="1700" dirty="0"/>
          </a:p>
        </p:txBody>
      </p:sp>
      <p:sp>
        <p:nvSpPr>
          <p:cNvPr id="16" name="text"/>
          <p:cNvSpPr txBox="1"/>
          <p:nvPr/>
        </p:nvSpPr>
        <p:spPr>
          <a:xfrm>
            <a:off x="6281928" y="3611880"/>
            <a:ext cx="2377440" cy="1097280"/>
          </a:xfrm>
          <a:prstGeom prst="rect">
            <a:avLst/>
          </a:prstGeom>
          <a:noFill/>
          <a:ln/>
        </p:spPr>
        <p:txBody>
          <a:bodyPr wrap="square" lIns="0" tIns="0" rIns="0" bIns="0" rtlCol="0" anchor="t"/>
          <a:lstStyle/>
          <a:p>
            <a:pPr algn="ctr" indent="0" marL="0">
              <a:buNone/>
            </a:pPr>
            <a:r>
              <a:rPr lang="en-US" sz="1500" dirty="0">
                <a:solidFill>
                  <a:schemeClr val="accent5"/>
                </a:solidFill>
              </a:rPr>
              <a:t>Use identifiers, ownership and the tools you already have to resolve or escalate.</a:t>
            </a:r>
            <a:endParaRPr lang="en-US" sz="1500" dirty="0"/>
          </a:p>
        </p:txBody>
      </p:sp>
      <p:sp>
        <p:nvSpPr>
          <p:cNvPr id="17" name="recap 4 circle"/>
          <p:cNvSpPr/>
          <p:nvPr/>
        </p:nvSpPr>
        <p:spPr>
          <a:xfrm>
            <a:off x="9857232" y="2240280"/>
            <a:ext cx="822960" cy="822960"/>
          </a:xfrm>
          <a:prstGeom prst="ellipse">
            <a:avLst/>
          </a:prstGeom>
          <a:solidFill>
            <a:schemeClr val="accent3"/>
          </a:solidFill>
          <a:ln w="12700">
            <a:solidFill>
              <a:schemeClr val="accent3"/>
            </a:solidFill>
            <a:prstDash val="solid"/>
          </a:ln>
        </p:spPr>
      </p:sp>
      <p:pic>
        <p:nvPicPr>
          <p:cNvPr id="18" name="recap 4 icon" descr="preencoded.png">    </p:cNvPr>
          <p:cNvPicPr>
            <a:picLocks noChangeAspect="1"/>
          </p:cNvPicPr>
          <p:nvPr/>
        </p:nvPicPr>
        <p:blipFill>
          <a:blip r:embed="rId4"/>
          <a:stretch>
            <a:fillRect/>
          </a:stretch>
        </p:blipFill>
        <p:spPr>
          <a:xfrm>
            <a:off x="10021824" y="2404872"/>
            <a:ext cx="493776" cy="493776"/>
          </a:xfrm>
          <a:prstGeom prst="rect">
            <a:avLst/>
          </a:prstGeom>
        </p:spPr>
      </p:pic>
      <p:sp>
        <p:nvSpPr>
          <p:cNvPr id="19" name="text"/>
          <p:cNvSpPr txBox="1"/>
          <p:nvPr/>
        </p:nvSpPr>
        <p:spPr>
          <a:xfrm>
            <a:off x="8942832" y="3200400"/>
            <a:ext cx="2651760" cy="384048"/>
          </a:xfrm>
          <a:prstGeom prst="rect">
            <a:avLst/>
          </a:prstGeom>
          <a:noFill/>
          <a:ln/>
        </p:spPr>
        <p:txBody>
          <a:bodyPr wrap="square" lIns="0" tIns="0" rIns="0" bIns="0" rtlCol="0" anchor="t"/>
          <a:lstStyle/>
          <a:p>
            <a:pPr algn="ctr" indent="0" marL="0">
              <a:buNone/>
            </a:pPr>
            <a:r>
              <a:rPr lang="en-US" sz="1700" b="1" dirty="0">
                <a:solidFill>
                  <a:schemeClr val="bg1"/>
                </a:solidFill>
              </a:rPr>
              <a:t>4  Record the decision</a:t>
            </a:r>
            <a:endParaRPr lang="en-US" sz="1700" dirty="0"/>
          </a:p>
        </p:txBody>
      </p:sp>
      <p:sp>
        <p:nvSpPr>
          <p:cNvPr id="20" name="text"/>
          <p:cNvSpPr txBox="1"/>
          <p:nvPr/>
        </p:nvSpPr>
        <p:spPr>
          <a:xfrm>
            <a:off x="9079992" y="3611880"/>
            <a:ext cx="2377440" cy="1097280"/>
          </a:xfrm>
          <a:prstGeom prst="rect">
            <a:avLst/>
          </a:prstGeom>
          <a:noFill/>
          <a:ln/>
        </p:spPr>
        <p:txBody>
          <a:bodyPr wrap="square" lIns="0" tIns="0" rIns="0" bIns="0" rtlCol="0" anchor="t"/>
          <a:lstStyle/>
          <a:p>
            <a:pPr algn="ctr" indent="0" marL="0">
              <a:buNone/>
            </a:pPr>
            <a:r>
              <a:rPr lang="en-US" sz="1500" dirty="0">
                <a:solidFill>
                  <a:schemeClr val="accent5"/>
                </a:solidFill>
              </a:rPr>
              <a:t>Write every decision so it can be reproduced from the case record alone.</a:t>
            </a:r>
            <a:endParaRPr lang="en-US" sz="1500" dirty="0"/>
          </a:p>
        </p:txBody>
      </p:sp>
      <p:sp>
        <p:nvSpPr>
          <p:cNvPr id="21" name="text"/>
          <p:cNvSpPr txBox="1"/>
          <p:nvPr/>
        </p:nvSpPr>
        <p:spPr>
          <a:xfrm>
            <a:off x="914400" y="4983480"/>
            <a:ext cx="10332720" cy="822960"/>
          </a:xfrm>
          <a:prstGeom prst="rect">
            <a:avLst/>
          </a:prstGeom>
          <a:noFill/>
          <a:ln/>
        </p:spPr>
        <p:txBody>
          <a:bodyPr wrap="square" lIns="0" tIns="0" rIns="0" bIns="0" rtlCol="0" anchor="t"/>
          <a:lstStyle/>
          <a:p>
            <a:pPr algn="ctr" indent="0" marL="0">
              <a:buNone/>
            </a:pPr>
            <a:r>
              <a:rPr lang="en-US" sz="1600" i="1" dirty="0">
                <a:solidFill>
                  <a:schemeClr val="bg1"/>
                </a:solidFill>
              </a:rPr>
              <a:t>Thank you. Under strict liability, your alert decisions are the firm's control. For edge cases or policy updates, contact the Sanctions &amp; Compliance team and refer to the Global Sanctions Reporting Procedure.</a:t>
            </a:r>
            <a:endParaRPr lang="en-US" sz="16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childTnLst>
                          </p:cTn>
                        </p:par>
                        <p:par>
                          <p:cTn id="17" fill="hold">
                            <p:stCondLst>
                              <p:cond delay="45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childTnLst>
                          </p:cTn>
                        </p:par>
                        <p:par>
                          <p:cTn id="30" fill="hold">
                            <p:stCondLst>
                              <p:cond delay="9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childTnLst>
                          </p:cTn>
                        </p:par>
                        <p:par>
                          <p:cTn id="43" fill="hold">
                            <p:stCondLst>
                              <p:cond delay="1350"/>
                            </p:stCondLst>
                            <p:childTnLst>
                              <p:par>
                                <p:cTn id="44" presetID="10"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APPENDIX A</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Acronyms used in this session</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A quick reference for the session and for your queue.</a:t>
            </a:r>
            <a:endParaRPr lang="en-US" sz="1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440680" cy="914400"/>
        </p:xfrm>
        <a:graphic>
          <a:graphicData uri="http://schemas.openxmlformats.org/drawingml/2006/table">
            <a:tbl>
              <a:tblPr/>
              <a:tblGrid>
                <a:gridCol w="1463040"/>
                <a:gridCol w="3977640"/>
              </a:tblGrid>
              <a:tr h="512064">
                <a:tc>
                  <a:txBody>
                    <a:bodyPr/>
                    <a:lstStyle/>
                    <a:p>
                      <a:pPr indent="0" marL="0">
                        <a:buNone/>
                      </a:pPr>
                      <a:r>
                        <a:rPr lang="en-US" sz="1400" b="1" dirty="0">
                          <a:solidFill>
                            <a:schemeClr val="tx1"/>
                          </a:solidFill>
                        </a:rPr>
                        <a:t>DP</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Designated person (on a sanctions list)</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OFSI</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Office of Financial Sanctions Implementation (UK)</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OFAC</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Office of Foreign Assets Control (US)</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SDN</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Specially Designated Nationals list (OFAC)</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DG Trésor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French competent authority for financial sanctions</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TRACFIN</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French financial intelligence unit (suspicion reports)</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EOCN</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UAE Executive Office for Control &amp; Non-Proliferation</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goAML</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UAE reporting system (CNMR / PNMR)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172200" y="1600200"/>
          <a:ext cx="5440680" cy="914400"/>
        </p:xfrm>
        <a:graphic>
          <a:graphicData uri="http://schemas.openxmlformats.org/drawingml/2006/table">
            <a:tbl>
              <a:tblPr/>
              <a:tblGrid>
                <a:gridCol w="1463040"/>
                <a:gridCol w="3977640"/>
              </a:tblGrid>
              <a:tr h="512064">
                <a:tc>
                  <a:txBody>
                    <a:bodyPr/>
                    <a:lstStyle/>
                    <a:p>
                      <a:pPr indent="0" marL="0">
                        <a:buNone/>
                      </a:pPr>
                      <a:r>
                        <a:rPr lang="en-US" sz="1400" b="1" dirty="0">
                          <a:solidFill>
                            <a:schemeClr val="tx1"/>
                          </a:solidFill>
                        </a:rPr>
                        <a:t>CNMR / PNMR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Confirmed / Partial Name Match Report (UAE)</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MAS</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Monetary Authority of Singapore</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STRO</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Suspicious Transaction Reporting Office (Singapore)</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JFIU</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Joint Financial Intelligence Unit (Hong Kong)</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UBO</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Ultimate beneficial owner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RFI</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Request for information</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EDR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Event-driven review</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UAR</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Unusual activity report (internal)</a:t>
                      </a:r>
                      <a:endParaRPr lang="en-US" sz="1400" dirty="0"/>
                    </a:p>
                  </a:txBody>
                  <a:tcPr marL="91440" marR="91440"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6424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rPr>
              <a:t>APPENDIX B — FACILITATOR REFERENCE</a:t>
            </a:r>
            <a:endParaRPr lang="en-US" sz="1200" dirty="0"/>
          </a:p>
        </p:txBody>
      </p:sp>
      <p:sp>
        <p:nvSpPr>
          <p:cNvPr id="3" name="Text 0"/>
          <p:cNvSpPr/>
          <p:nvPr>
            <p:ph idx="101" type="title" hasCustomPrompt="1"/>
          </p:nvPr>
        </p:nvSpPr>
        <p:spPr>
          <a:xfrm>
            <a:off x="548640" y="512064"/>
            <a:ext cx="11064240" cy="548640"/>
          </a:xfrm>
          <a:prstGeom prst="rect">
            <a:avLst/>
          </a:prstGeom>
          <a:noFill/>
          <a:ln/>
        </p:spPr>
        <p:txBody>
          <a:bodyPr wrap="square" lIns="0" tIns="0" rIns="0" bIns="0" rtlCol="0" anchor="ctr"/>
          <a:lstStyle/>
          <a:p>
            <a:pPr algn="l" indent="0" marL="0">
              <a:buNone/>
            </a:pPr>
            <a:r>
              <a:rPr lang="en-US" sz="2800" b="1" dirty="0">
                <a:solidFill>
                  <a:schemeClr val="tx1"/>
                </a:solidFill>
              </a:rPr>
              <a:t>Real-life cases used in this session</a:t>
            </a:r>
            <a:endParaRPr lang="en-US" sz="2800" dirty="0"/>
          </a:p>
        </p:txBody>
      </p:sp>
      <p:sp>
        <p:nvSpPr>
          <p:cNvPr id="4" name="text"/>
          <p:cNvSpPr txBox="1"/>
          <p:nvPr/>
        </p:nvSpPr>
        <p:spPr>
          <a:xfrm>
            <a:off x="548640" y="1097280"/>
            <a:ext cx="11064240" cy="347472"/>
          </a:xfrm>
          <a:prstGeom prst="rect">
            <a:avLst/>
          </a:prstGeom>
          <a:noFill/>
          <a:ln/>
        </p:spPr>
        <p:txBody>
          <a:bodyPr wrap="square" lIns="0" tIns="0" rIns="0" bIns="0" rtlCol="0" anchor="ctr"/>
          <a:lstStyle/>
          <a:p>
            <a:pPr indent="0" marL="0">
              <a:buNone/>
            </a:pPr>
            <a:r>
              <a:rPr lang="en-US" sz="1700" b="1" dirty="0">
                <a:solidFill>
                  <a:schemeClr val="accent1"/>
                </a:solidFill>
              </a:rPr>
              <a:t>In short:  </a:t>
            </a:r>
            <a:pPr indent="0" marL="0">
              <a:buNone/>
            </a:pPr>
            <a:r>
              <a:rPr lang="en-US" sz="1700" b="1" dirty="0">
                <a:solidFill>
                  <a:schemeClr val="tx1"/>
                </a:solidFill>
              </a:rPr>
              <a:t>Every one of these started with an everyday decision — read the last column first.</a:t>
            </a:r>
            <a:endParaRPr lang="en-US" sz="1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514600"/>
                <a:gridCol w="1737360"/>
                <a:gridCol w="3703320"/>
                <a:gridCol w="3108960"/>
              </a:tblGrid>
              <a:tr h="365760">
                <a:tc>
                  <a:txBody>
                    <a:bodyPr/>
                    <a:lstStyle/>
                    <a:p>
                      <a:pPr indent="0" marL="0">
                        <a:buNone/>
                      </a:pPr>
                      <a:r>
                        <a:rPr lang="en-US" sz="1200" b="1" dirty="0">
                          <a:solidFill>
                            <a:schemeClr val="bg1"/>
                          </a:solidFill>
                        </a:rPr>
                        <a:t>Case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Type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went wrong</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means for you</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tx1"/>
                    </a:solidFill>
                  </a:tcPr>
                </a:tc>
              </a:tr>
              <a:tr h="713232">
                <a:tc>
                  <a:txBody>
                    <a:bodyPr/>
                    <a:lstStyle/>
                    <a:p>
                      <a:pPr indent="0" marL="0">
                        <a:buNone/>
                      </a:pPr>
                      <a:r>
                        <a:rPr lang="en-US" sz="1200" dirty="0">
                          <a:solidFill>
                            <a:schemeClr val="tx1"/>
                          </a:solidFill>
                        </a:rPr>
                        <a:t>Citibank N.A. London (OFSI, £4.73m, Aug 2026)</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UK sanctions penalty</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“PAO” prefix defeated the screening; no restriction without proof of &gt;50% ownership; backlog; frozen-asset reports up to 518 days late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Recognise legal-form variants; treat missing ownership evidence as a reason to hold.</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640080">
                <a:tc>
                  <a:txBody>
                    <a:bodyPr/>
                    <a:lstStyle/>
                    <a:p>
                      <a:pPr indent="0" marL="0">
                        <a:buNone/>
                      </a:pPr>
                      <a:r>
                        <a:rPr lang="en-US" sz="1200" dirty="0">
                          <a:solidFill>
                            <a:schemeClr val="tx1"/>
                          </a:solidFill>
                        </a:rPr>
                        <a:t>Bank of Scotland (OFSI, £160k, imposed Nov 2025)</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UK sanctions penalty</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Alert wrongly discounted (person believed delisted); passport spelling differed; no PEP-to-sanctions route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Never discount on an assumption — check the current list and escalate.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Bittrex (OFAC, $24.3m, Oct 2022)</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 sanctions settlement</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IP and address data collected but not screened for sanctioned jurisdictions</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Use the data we already hold, such as IP and address, as evidence.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Banque Misr UAE (FinCEN, Aug 2026)</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 AML — proposed s.311 rule</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Front companies and USD correspondent access; UAE branches only; proposed, not final</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A clean SDN result does not clear correspondent or AML risk.</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r h="548640">
                <a:tc>
                  <a:txBody>
                    <a:bodyPr/>
                    <a:lstStyle/>
                    <a:p>
                      <a:pPr indent="0" marL="0">
                        <a:buNone/>
                      </a:pPr>
                      <a:r>
                        <a:rPr lang="en-US" sz="1200" dirty="0">
                          <a:solidFill>
                            <a:schemeClr val="tx1"/>
                          </a:solidFill>
                        </a:rPr>
                        <a:t>Nine FIs (MAS, Jul 2025)</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Singapore AML penalties</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Beneficial ownership, source of wealth, TM and post-STR follow-up — AML, not sanctions</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Weak ownership checks undermine sanctions decisions too.</a:t>
                      </a:r>
                      <a:endParaRPr lang="en-US" sz="1200" dirty="0"/>
                    </a:p>
                  </a:txBody>
                  <a:tcPr marL="73152" marR="73152" marT="45720" marB="45720" anchor="ctr">
                    <a:lnL w="6350" cap="flat" cmpd="sng" algn="ctr">
                      <a:solidFill>
                        <a:srgbClr val="C9D8EA"/>
                      </a:solidFill>
                      <a:prstDash val="solid"/>
                      <a:round/>
                      <a:headEnd type="none" w="med" len="med"/>
                      <a:tailEnd type="none" w="med" len="med"/>
                    </a:lnL>
                    <a:lnR w="6350" cap="flat" cmpd="sng" algn="ctr">
                      <a:solidFill>
                        <a:srgbClr val="C9D8EA"/>
                      </a:solidFill>
                      <a:prstDash val="solid"/>
                      <a:round/>
                      <a:headEnd type="none" w="med" len="med"/>
                      <a:tailEnd type="none" w="med" len="med"/>
                    </a:lnR>
                    <a:lnT w="6350" cap="flat" cmpd="sng" algn="ctr">
                      <a:solidFill>
                        <a:srgbClr val="C9D8EA"/>
                      </a:solidFill>
                      <a:prstDash val="solid"/>
                      <a:round/>
                      <a:headEnd type="none" w="med" len="med"/>
                      <a:tailEnd type="none" w="med" len="med"/>
                    </a:lnT>
                    <a:lnB w="6350" cap="flat" cmpd="sng" algn="ctr">
                      <a:solidFill>
                        <a:srgbClr val="C9D8EA"/>
                      </a:solidFill>
                      <a:prstDash val="solid"/>
                      <a:round/>
                      <a:headEnd type="none" w="med" len="med"/>
                      <a:tailEnd type="none" w="med" len="med"/>
                    </a:lnB>
                    <a:solidFill>
                      <a:schemeClr val="bg1"/>
                    </a:solidFill>
                  </a:tcPr>
                </a:tc>
              </a:tr>
            </a:tbl>
          </a:graphicData>
        </a:graphic>
      </p:graphicFrame>
      <p:sp>
        <p:nvSpPr>
          <p:cNvPr id="6" name="text"/>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300" i="1" dirty="0">
                <a:solidFill>
                  <a:schemeClr val="accent1"/>
                </a:solidFill>
              </a:rPr>
              <a:t>Only the first three are sanctions enforcement actions; the AML cases are context. Validate every figure against the primary notice before external circulation.</a:t>
            </a:r>
            <a:endParaRPr lang="en-US" sz="1300" dirty="0"/>
          </a:p>
        </p:txBody>
      </p:sp>
      <p:sp>
        <p:nvSpPr>
          <p:cNvPr id="25" name="Slide Number Placeholder 0"/>
          <p:cNvSpPr>
            <a:spLocks noGrp="1"/>
          </p:cNvSpPr>
          <p:nvPr>
            <p:ph type="sldNum" sz="quarter" idx="4294967295"/>
          </p:nvPr>
        </p:nvSpPr>
        <p:spPr>
          <a:xfrm>
            <a:off x="1115568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transition spd="med">
    <p:fade/>
  </p:transition>
</p:sld>
</file>

<file path=ppt/theme/theme1.xml><?xml version="1.0" encoding="utf-8"?>
<a:theme xmlns:a="http://schemas.openxmlformats.org/drawingml/2006/main" name="Screening Signal">
  <a:themeElements>
    <a:clrScheme name="Screening Signal">
      <a:dk1>
        <a:srgbClr val="14213D"/>
      </a:dk1>
      <a:lt1>
        <a:srgbClr val="FFFFFF"/>
      </a:lt1>
      <a:dk2>
        <a:srgbClr val="0B1426"/>
      </a:dk2>
      <a:lt2>
        <a:srgbClr val="EEF2F7"/>
      </a:lt2>
      <a:accent1>
        <a:srgbClr val="C8102E"/>
      </a:accent1>
      <a:accent2>
        <a:srgbClr val="D98A1C"/>
      </a:accent2>
      <a:accent3>
        <a:srgbClr val="1F7A63"/>
      </a:accent3>
      <a:accent4>
        <a:srgbClr val="3D5A80"/>
      </a:accent4>
      <a:accent5>
        <a:srgbClr val="C9D8EA"/>
      </a:accent5>
      <a:accent6>
        <a:srgbClr val="5B6472"/>
      </a:accent6>
      <a:hlink>
        <a:srgbClr val="3D5A80"/>
      </a:hlink>
      <a:folHlink>
        <a:srgbClr val="5B6472"/>
      </a:folHlink>
    </a:clrScheme>
    <a:fontScheme name="Screening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Checkout.com Global Screening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Sanctions in Practice — Analyst Edition</dc:title>
  <dc:subject>Sanctions training for operations analysts</dc:subject>
  <dc:creator>PptxGenJS</dc:creator>
  <cp:lastModifiedBy>PptxGenJS</cp:lastModifiedBy>
  <cp:revision>1</cp:revision>
  <dcterms:created xsi:type="dcterms:W3CDTF">2026-10-12T19:39:20Z</dcterms:created>
  <dcterms:modified xsi:type="dcterms:W3CDTF">2026-10-12T19:39:20Z</dcterms:modified>
</cp:coreProperties>
</file>