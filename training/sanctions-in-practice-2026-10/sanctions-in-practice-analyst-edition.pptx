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9e5a932c-548a-a9ec-a3ec-99dcb3814838}">
          <p14:sldIdLst>
            <p14:sldId id="256"/>
            <p14:sldId id="257"/>
          </p14:sldIdLst>
        </p14:section>
        <p14:section name="The rules" id="{627c9a4c-0606-1d48-8a8b-8ae54a35d254}">
          <p14:sldIdLst>
            <p14:sldId id="258"/>
            <p14:sldId id="259"/>
            <p14:sldId id="260"/>
          </p14:sldIdLst>
        </p14:section>
        <p14:section name="Regimes" id="{434abeb5-8b0e-476c-4d57-2a73c3888b6c}">
          <p14:sldIdLst>
            <p14:sldId id="261"/>
            <p14:sldId id="262"/>
            <p14:sldId id="263"/>
            <p14:sldId id="264"/>
          </p14:sldIdLst>
        </p14:section>
        <p14:section name="Actions" id="{20e3010a-4af4-49ba-4731-e3ce55ff49f3}">
          <p14:sldIdLst>
            <p14:sldId id="265"/>
            <p14:sldId id="266"/>
            <p14:sldId id="267"/>
          </p14:sldIdLst>
        </p14:section>
        <p14:section name="Cases" id="{63a2b823-1c15-b402-2e77-e8ed56c8e13e}">
          <p14:sldIdLst>
            <p14:sldId id="268"/>
            <p14:sldId id="269"/>
          </p14:sldIdLst>
        </p14:section>
        <p14:section name="Exercise" id="{98ec6f1b-5154-5404-fadc-96a525cf551e}">
          <p14:sldIdLst>
            <p14:sldId id="270"/>
            <p14:sldId id="271"/>
          </p14:sldIdLst>
        </p14:section>
        <p14:section name="Close" id="{34148e72-359b-f863-8fc9-9d6fac64167e}">
          <p14:sldIdLst>
            <p14:sldId id="272"/>
            <p14:sldId id="273"/>
          </p14:sldIdLst>
        </p14:section>
        <p14:section name="Appendix" id="{d897c181-d6f2-8d0c-f292-d24661f11ad8}">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Simplified rebuild of 'Sanctions in Practice October 2026 — Regional Rules, Common Controls &amp; Escalation' for operations analysts. 47 slides → ~20. The four circles are the whole session: Hold, Check, Escalate, Write it down. They recur on every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strict liability: it is the single biggest UK nuance and the original deck never states it. Then two cases, both caused by ordinary alert-level failures rather than missing systems. Citibank: name variant (legal-form prefix PAO), backlog at third-level review, ownership assessments that missed subsidiaries, and an internal guidance change that only restricted accounts with 'affirmative evidence' of ownership. Bank of Scotland: a transliteration/spelling variant missed by automated screening. Message: your decisions are the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analysts remember one slide, it is this one. Every case later in the session maps back to these rules. Rule 1 is in red because under UK strict liability unresolved doubt produces a hold, not a release. Rule 5 is the Citibank lesson: an internal guidance change that required 'affirmative evidence' before restricting turned missing data into releases.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merges three original slides (first response, triage, operating model) into one. The key addition is the explicit lane: what an L1 analyst decides and what they never decide. The original 'Decide' column listed 'Hold / reject or freeze' and 'Licence / exception review' as if they were analyst actions; they are not. Also note 'no refund / return to sender' — returning funds to a designated person is itself making funds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from the original (slide 'What counts as a sanctions exposure?') with an example on each card. The 'restricted place' example is the Bittrex lesson (OFAC, Oct 2022): IP and address data was collected at onboarding but never screened for sanctioned jurisdictions.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'apply every layer' list was buried on the MENA slide of the original deck; it is the organising idea for every region, so it moves up front. The three questions replace six regional 'lenses': an analyst does not need six rulebooks, they need to spot which ones are triggered. Warn against 'USD = automatic OFAC' in both directions: USD is a common trigger, but a non-USD payment can still have a US nexus (US person, US bank, US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cards, four lines each, same order every time: which list, when an unlisted company counts as owned, who gets told (by L2 — never by the analyst), and the one thing that trips people up. The UK line on strict liability and the US line on block vs reject are the two most important nuances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mostly implement UN sanctions, plus a local layer. The nuance analysts miss is the reverse: a local clear does not clear the payment, because group policy, partners and UK/EU/US rules still apply. UAE: partial-match handling is distinctive. Singapore: unusual among Asian centres in having its own Russia financial measures. Hong Kong: UN only — so the local list will often be clear when other regimes are not. Saudi Arabia (SAMA TFS Rules, 7 Dec 2025, in force) was in the original MENA slide: add a card only if a Checkout entity or product is SAMA-supervised. UAE note: CNMR/PNMR cover the UN and UAE Local Terrorist lists only, not OFAC/EU/UK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regime difference that most often changes an outcome, and the original deck never put the thresholds side by side. Keep the message for analysts simple: the percentages are for awareness; the action is always the same — escalate. Also stress: below 50% is not clear (control and benefit still matter), and incomplete UBO data is a reason to hold, not to release. That is precisely what OFSI penalised in Citibank (Aug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UK slide said 'a rejected payment is not treated like frozen assets', which analysts can read as 'reject means no report'. That is the wrong takeaway. In the UK the reporting duty is triggered by knowledge or reasonable cause to suspect; in the US both blocked and rejected transactions are reported within 10 business days. The analyst never chooses between freeze and reject — they hold and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deck has a 'How to avoid tipping off?' slide with no content. This fills it. Technical note for trainers: tipping off is an AML/CTF offence (UK: POCA s.333A, TA 2000 s.21D), not a sanctions-regulations offence. A frozen-funds conversation with a customer is a separate question, and it belongs to L2. For analysts the practical rule is the same: neutral RFIs, no explanations.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new. Both UK penalties in the deck were name-variant misses, so analysts need to recognise variants when they review a near-match, and not discount an alert because the score is low or the name looks different. Trainers: legal-form prefixes are the single most common miss for entities; transliteration for 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1 (original Case Study 01): a common name with evidenced differences in strong identifiers is the textbook false positive — the point is the evidence trail. Case 2 (original Case Study 02): do not rely on a single percentage; the control test is legally nuanced, which is exactly why it is an L2 call, not an L1 one. Ask the room to vote before revealing each green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3 (original Case Study 03): Hong Kong only implements UN sanctions, so a local clear is common while UK, EU or US exposure remains. Case 4 (original insurance practice case): NB the original answer slide reads 'Clear only if truly matched' — inverted; it must read 'clear only if shown not to match'. If the alert stays unresolved and the payment is rejected, L2 still considers whether a report is needed: reasonable cause to suspect doesn't disappear on rejection.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Condenses the original 9-slide Atlas Bridge sequence (baseline, three evidence drops, decision, answer, handoffs, case close) into two slides. Facilitators can still reveal one lane at a time using animations. Ask each team to name the specific evidence behind their vote before revealing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A: the alias match is unresolved and the ownership chain is incomplete. Why not B: rejecting one payment leaves the customer, the control question and the TM pattern untouched. Debrief question from the original: what single piece of information would change the outcome to 'clear', 'reject' or 'freeze and report'? (Answer: the director's date of birth and ID resolving the alias, and the UBO behind the nominee.) Do not label this a confirmed sanctions breach — that needs the facts and the legal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Replaces the original 'joined case note' and 'defensible case note' slides with one template. Worked example uses the insurance case (Case 4). Never write 'merchant confirmed' as a reason to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four signals. Point to the Global Sanctions Reporting Procedure and the Sanctions team channel for edge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deck uses these acronyms without defining them. Hand this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deck spent 2–3 slides each on these cases. For an analyst audience, each is one sentence of narration attached to a rule. Detail lives here for facilitators who want it. The internal merchant case from the original deck is deliberately not reproduced: see the review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3716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383280"/>
            <a:ext cx="10698480" cy="1280160"/>
          </a:xfrm>
          <a:prstGeom prst="rect">
            <a:avLst/>
          </a:prstGeom>
          <a:noFill/>
          <a:ln/>
        </p:spPr>
        <p:txBody>
          <a:bodyPr wrap="square" rtlCol="0"/>
          <a:lstStyle>
            <a:lvl1pPr algn="l" indent="0" marL="0">
              <a:buNone/>
              <a:defRPr lang="en-US" sz="2200" dirty="0">
                <a:solidFill>
                  <a:schemeClr val="accent5"/>
                </a:solidFill>
              </a:defRPr>
            </a:lvl1pPr>
          </a:lstStyle>
          <a:p>
            <a:pPr algn="l" indent="0" marL="0">
              <a:buNone/>
            </a:pPr>
            <a:endParaRPr lang="en-US" sz="2200" dirty="0"/>
          </a:p>
        </p:txBody>
      </p:sp>
      <p:sp>
        <p:nvSpPr>
          <p:cNvPr id="4" name="Text 0"/>
          <p:cNvSpPr/>
          <p:nvPr/>
        </p:nvSpPr>
        <p:spPr>
          <a:xfrm>
            <a:off x="731520" y="6263640"/>
            <a:ext cx="10698480" cy="320040"/>
          </a:xfrm>
          <a:prstGeom prst="rect">
            <a:avLst/>
          </a:prstGeom>
          <a:noFill/>
          <a:ln/>
        </p:spPr>
        <p:txBody>
          <a:bodyPr wrap="square" lIns="0" tIns="0" rIns="0" bIns="0" rtlCol="0" anchor="ctr"/>
          <a:lstStyle/>
          <a:p>
            <a:pPr indent="0" marL="0">
              <a:buNone/>
            </a:pPr>
            <a:r>
              <a:rPr lang="en-US" sz="1000" dirty="0">
                <a:solidFill>
                  <a:schemeClr val="accent5"/>
                </a:solidFill>
              </a:rPr>
              <a:t>DRAFT for Sanctions Officer review  ·  Training use only — not legal advice  ·  12 Oct 2026</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DRAFT for Sanctions Officer review  ·  Training use only — not legal advice  ·  12 Oct 2026</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chemeClr val="accent5"/>
                </a:solidFill>
              </a:rPr>
              <a:t>DRAFT for Sanctions Officer review  ·  Training use only — not legal advice  ·  12 Oct 2026</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4.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371600"/>
          </a:xfrm>
          <a:prstGeom prst="rect">
            <a:avLst/>
          </a:prstGeom>
          <a:noFill/>
          <a:ln/>
        </p:spPr>
        <p:txBody>
          <a:bodyPr wrap="square" lIns="0" tIns="0" rIns="0" bIns="0" rtlCol="0" anchor="b"/>
          <a:lstStyle/>
          <a:p>
            <a:pPr algn="l" indent="0" marL="0">
              <a:buNone/>
            </a:pPr>
            <a:r>
              <a:rPr lang="en-US" sz="4800" b="1" dirty="0">
                <a:solidFill>
                  <a:schemeClr val="bg1"/>
                </a:solidFill>
              </a:rPr>
              <a:t>Sanctions in Practice</a:t>
            </a:r>
            <a:endParaRPr lang="en-US" sz="4800" dirty="0"/>
          </a:p>
        </p:txBody>
      </p:sp>
      <p:sp>
        <p:nvSpPr>
          <p:cNvPr id="3" name="Text 0"/>
          <p:cNvSpPr/>
          <p:nvPr>
            <p:ph idx="101" type="body" hasCustomPrompt="1"/>
          </p:nvPr>
        </p:nvSpPr>
        <p:spPr>
          <a:xfrm>
            <a:off x="731520" y="3383280"/>
            <a:ext cx="10698480" cy="1280160"/>
          </a:xfrm>
          <a:prstGeom prst="rect">
            <a:avLst/>
          </a:prstGeom>
          <a:noFill/>
          <a:ln/>
        </p:spPr>
        <p:txBody>
          <a:bodyPr wrap="square" lIns="0" tIns="0" rIns="0" bIns="0" rtlCol="0" anchor="t"/>
          <a:lstStyle/>
          <a:p>
            <a:pPr algn="l" indent="0" marL="0">
              <a:buNone/>
            </a:pPr>
            <a:r>
              <a:rPr lang="en-US" sz="2200" dirty="0">
                <a:solidFill>
                  <a:schemeClr val="accent5"/>
                </a:solidFill>
              </a:rPr>
              <a:t>The analyst edition: what to do, what changes by country, and when to stop</a:t>
            </a:r>
            <a:endParaRPr lang="en-US" sz="2200" dirty="0"/>
          </a:p>
          <a:p>
            <a:pPr algn="l" indent="0" marL="0">
              <a:buNone/>
            </a:pPr>
            <a:r>
              <a:rPr lang="en-US" sz="1600" dirty="0">
                <a:solidFill>
                  <a:schemeClr val="accent5"/>
                </a:solidFill>
              </a:rPr>
              <a:t>Global Screening · October 2026</a:t>
            </a:r>
            <a:endParaRPr lang="en-US" sz="2200" dirty="0"/>
          </a:p>
        </p:txBody>
      </p:sp>
      <p:sp>
        <p:nvSpPr>
          <p:cNvPr id="4" name="MdPanTool circle"/>
          <p:cNvSpPr/>
          <p:nvPr/>
        </p:nvSpPr>
        <p:spPr>
          <a:xfrm>
            <a:off x="731520" y="822960"/>
            <a:ext cx="731520" cy="731520"/>
          </a:xfrm>
          <a:prstGeom prst="ellipse">
            <a:avLst/>
          </a:prstGeom>
          <a:solidFill>
            <a:schemeClr val="accent1"/>
          </a:solidFill>
          <a:ln w="12700">
            <a:solidFill>
              <a:schemeClr val="accent1"/>
            </a:solidFill>
            <a:prstDash val="solid"/>
          </a:ln>
        </p:spPr>
      </p:sp>
      <p:pic>
        <p:nvPicPr>
          <p:cNvPr id="5" name="MdPanTool icon" descr="preencoded.png">    </p:cNvPr>
          <p:cNvPicPr>
            <a:picLocks noChangeAspect="1"/>
          </p:cNvPicPr>
          <p:nvPr/>
        </p:nvPicPr>
        <p:blipFill>
          <a:blip r:embed="rId1"/>
          <a:stretch>
            <a:fillRect/>
          </a:stretch>
        </p:blipFill>
        <p:spPr>
          <a:xfrm>
            <a:off x="877824" y="969264"/>
            <a:ext cx="438912" cy="438912"/>
          </a:xfrm>
          <a:prstGeom prst="rect">
            <a:avLst/>
          </a:prstGeom>
        </p:spPr>
      </p:pic>
      <p:sp>
        <p:nvSpPr>
          <p:cNvPr id="6" name="MdSearch circle"/>
          <p:cNvSpPr/>
          <p:nvPr/>
        </p:nvSpPr>
        <p:spPr>
          <a:xfrm>
            <a:off x="1691640" y="822960"/>
            <a:ext cx="731520" cy="731520"/>
          </a:xfrm>
          <a:prstGeom prst="ellipse">
            <a:avLst/>
          </a:prstGeom>
          <a:solidFill>
            <a:schemeClr val="accent2"/>
          </a:solidFill>
          <a:ln w="12700">
            <a:solidFill>
              <a:schemeClr val="accent2"/>
            </a:solidFill>
            <a:prstDash val="solid"/>
          </a:ln>
        </p:spPr>
      </p:sp>
      <p:pic>
        <p:nvPicPr>
          <p:cNvPr id="7" name="MdSearch icon" descr="preencoded.png">    </p:cNvPr>
          <p:cNvPicPr>
            <a:picLocks noChangeAspect="1"/>
          </p:cNvPicPr>
          <p:nvPr/>
        </p:nvPicPr>
        <p:blipFill>
          <a:blip r:embed="rId2"/>
          <a:stretch>
            <a:fillRect/>
          </a:stretch>
        </p:blipFill>
        <p:spPr>
          <a:xfrm>
            <a:off x="1837944" y="969264"/>
            <a:ext cx="438912" cy="438912"/>
          </a:xfrm>
          <a:prstGeom prst="rect">
            <a:avLst/>
          </a:prstGeom>
        </p:spPr>
      </p:pic>
      <p:sp>
        <p:nvSpPr>
          <p:cNvPr id="8" name="MdTrendingUp circle"/>
          <p:cNvSpPr/>
          <p:nvPr/>
        </p:nvSpPr>
        <p:spPr>
          <a:xfrm>
            <a:off x="2651760" y="822960"/>
            <a:ext cx="731520" cy="731520"/>
          </a:xfrm>
          <a:prstGeom prst="ellipse">
            <a:avLst/>
          </a:prstGeom>
          <a:solidFill>
            <a:schemeClr val="accent4"/>
          </a:solidFill>
          <a:ln w="12700">
            <a:solidFill>
              <a:schemeClr val="accent4"/>
            </a:solidFill>
            <a:prstDash val="solid"/>
          </a:ln>
        </p:spPr>
      </p:sp>
      <p:pic>
        <p:nvPicPr>
          <p:cNvPr id="9" name="MdTrendingUp icon" descr="preencoded.png">    </p:cNvPr>
          <p:cNvPicPr>
            <a:picLocks noChangeAspect="1"/>
          </p:cNvPicPr>
          <p:nvPr/>
        </p:nvPicPr>
        <p:blipFill>
          <a:blip r:embed="rId3"/>
          <a:stretch>
            <a:fillRect/>
          </a:stretch>
        </p:blipFill>
        <p:spPr>
          <a:xfrm>
            <a:off x="2798064" y="969264"/>
            <a:ext cx="438912" cy="438912"/>
          </a:xfrm>
          <a:prstGeom prst="rect">
            <a:avLst/>
          </a:prstGeom>
        </p:spPr>
      </p:pic>
      <p:sp>
        <p:nvSpPr>
          <p:cNvPr id="10" name="MdEditNote circle"/>
          <p:cNvSpPr/>
          <p:nvPr/>
        </p:nvSpPr>
        <p:spPr>
          <a:xfrm>
            <a:off x="3611880" y="822960"/>
            <a:ext cx="731520" cy="731520"/>
          </a:xfrm>
          <a:prstGeom prst="ellipse">
            <a:avLst/>
          </a:prstGeom>
          <a:solidFill>
            <a:schemeClr val="accent3"/>
          </a:solidFill>
          <a:ln w="12700">
            <a:solidFill>
              <a:schemeClr val="accent3"/>
            </a:solidFill>
            <a:prstDash val="solid"/>
          </a:ln>
        </p:spPr>
      </p:sp>
      <p:pic>
        <p:nvPicPr>
          <p:cNvPr id="11" name="MdEditNote icon" descr="preencoded.png">    </p:cNvPr>
          <p:cNvPicPr>
            <a:picLocks noChangeAspect="1"/>
          </p:cNvPicPr>
          <p:nvPr/>
        </p:nvPicPr>
        <p:blipFill>
          <a:blip r:embed="rId4"/>
          <a:stretch>
            <a:fillRect/>
          </a:stretch>
        </p:blipFill>
        <p:spPr>
          <a:xfrm>
            <a:off x="3758184" y="969264"/>
            <a:ext cx="438912" cy="43891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Why this matters to you</a:t>
            </a:r>
            <a:endParaRPr lang="en-US" sz="3200" dirty="0"/>
          </a:p>
        </p:txBody>
      </p:sp>
      <p:sp>
        <p:nvSpPr>
          <p:cNvPr id="3" name="stat Strict liability"/>
          <p:cNvSpPr/>
          <p:nvPr/>
        </p:nvSpPr>
        <p:spPr>
          <a:xfrm>
            <a:off x="548640" y="1371600"/>
            <a:ext cx="3566160" cy="379476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822960" y="1645920"/>
            <a:ext cx="3017520" cy="91440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Strict liability</a:t>
            </a:r>
            <a:endParaRPr lang="en-US" sz="3000" dirty="0"/>
          </a:p>
        </p:txBody>
      </p:sp>
      <p:sp>
        <p:nvSpPr>
          <p:cNvPr id="5" name="Text 3"/>
          <p:cNvSpPr txBox="1"/>
          <p:nvPr/>
        </p:nvSpPr>
        <p:spPr>
          <a:xfrm>
            <a:off x="822960" y="2743200"/>
            <a:ext cx="3017520" cy="2331720"/>
          </a:xfrm>
          <a:prstGeom prst="rect">
            <a:avLst/>
          </a:prstGeom>
          <a:noFill/>
          <a:ln/>
        </p:spPr>
        <p:txBody>
          <a:bodyPr wrap="square" lIns="0" tIns="0" rIns="0" bIns="0" rtlCol="0" anchor="t"/>
          <a:lstStyle/>
          <a:p>
            <a:pPr indent="0" marL="0">
              <a:buNone/>
            </a:pPr>
            <a:r>
              <a:rPr lang="en-US" sz="1700" dirty="0">
                <a:solidFill>
                  <a:schemeClr val="tx1"/>
                </a:solidFill>
              </a:rPr>
              <a:t>In the UK, OFSI can fine the firm without proving anyone knew or suspected. Applies to breaches from 15 June 2022.</a:t>
            </a:r>
            <a:endParaRPr lang="en-US" sz="1700" dirty="0"/>
          </a:p>
        </p:txBody>
      </p:sp>
      <p:sp>
        <p:nvSpPr>
          <p:cNvPr id="6" name="stat £4.7m"/>
          <p:cNvSpPr/>
          <p:nvPr/>
        </p:nvSpPr>
        <p:spPr>
          <a:xfrm>
            <a:off x="4297680" y="1371600"/>
            <a:ext cx="3566160" cy="3794760"/>
          </a:xfrm>
          <a:prstGeom prst="roundRect">
            <a:avLst>
              <a:gd name="adj" fmla="val 3077"/>
            </a:avLst>
          </a:prstGeom>
          <a:solidFill>
            <a:schemeClr val="bg2"/>
          </a:solidFill>
          <a:ln w="12700">
            <a:solidFill>
              <a:schemeClr val="bg2"/>
            </a:solidFill>
            <a:prstDash val="solid"/>
          </a:ln>
        </p:spPr>
      </p:sp>
      <p:sp>
        <p:nvSpPr>
          <p:cNvPr id="7" name="Text 5"/>
          <p:cNvSpPr txBox="1"/>
          <p:nvPr/>
        </p:nvSpPr>
        <p:spPr>
          <a:xfrm>
            <a:off x="4572000" y="1645920"/>
            <a:ext cx="3017520" cy="914400"/>
          </a:xfrm>
          <a:prstGeom prst="rect">
            <a:avLst/>
          </a:prstGeom>
          <a:noFill/>
          <a:ln/>
        </p:spPr>
        <p:txBody>
          <a:bodyPr wrap="square" lIns="0" tIns="0" rIns="0" bIns="0" rtlCol="0" anchor="ctr"/>
          <a:lstStyle/>
          <a:p>
            <a:pPr indent="0" marL="0">
              <a:buNone/>
            </a:pPr>
            <a:r>
              <a:rPr lang="en-US" sz="5400" b="1" dirty="0">
                <a:solidFill>
                  <a:schemeClr val="tx1"/>
                </a:solidFill>
                <a:latin typeface="Arial" pitchFamily="34" charset="0"/>
                <a:ea typeface="Arial" pitchFamily="34" charset="-122"/>
                <a:cs typeface="Arial" pitchFamily="34" charset="-120"/>
              </a:rPr>
              <a:t>£4.7m</a:t>
            </a:r>
            <a:endParaRPr lang="en-US" sz="5400" dirty="0"/>
          </a:p>
        </p:txBody>
      </p:sp>
      <p:sp>
        <p:nvSpPr>
          <p:cNvPr id="8" name="Text 6"/>
          <p:cNvSpPr txBox="1"/>
          <p:nvPr/>
        </p:nvSpPr>
        <p:spPr>
          <a:xfrm>
            <a:off x="4572000" y="2743200"/>
            <a:ext cx="3017520" cy="2331720"/>
          </a:xfrm>
          <a:prstGeom prst="rect">
            <a:avLst/>
          </a:prstGeom>
          <a:noFill/>
          <a:ln/>
        </p:spPr>
        <p:txBody>
          <a:bodyPr wrap="square" lIns="0" tIns="0" rIns="0" bIns="0" rtlCol="0" anchor="t"/>
          <a:lstStyle/>
          <a:p>
            <a:pPr indent="0" marL="0">
              <a:buNone/>
            </a:pPr>
            <a:r>
              <a:rPr lang="en-US" sz="1700" dirty="0">
                <a:solidFill>
                  <a:schemeClr val="tx1"/>
                </a:solidFill>
              </a:rPr>
              <a:t>Citibank London (OFSI, Aug 2026). "PAO Sovcomflot" didn't match "Sovcomflot", so no alert fired. Alerts sat in a backlog. Accounts weren't restricted without proof of majority ownership.</a:t>
            </a:r>
            <a:endParaRPr lang="en-US" sz="1700" dirty="0"/>
          </a:p>
        </p:txBody>
      </p:sp>
      <p:sp>
        <p:nvSpPr>
          <p:cNvPr id="9" name="stat £160k"/>
          <p:cNvSpPr/>
          <p:nvPr/>
        </p:nvSpPr>
        <p:spPr>
          <a:xfrm>
            <a:off x="8046720" y="1371600"/>
            <a:ext cx="3566160" cy="379476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8321040" y="1645920"/>
            <a:ext cx="3017520" cy="914400"/>
          </a:xfrm>
          <a:prstGeom prst="rect">
            <a:avLst/>
          </a:prstGeom>
          <a:noFill/>
          <a:ln/>
        </p:spPr>
        <p:txBody>
          <a:bodyPr wrap="square" lIns="0" tIns="0" rIns="0" bIns="0" rtlCol="0" anchor="ctr"/>
          <a:lstStyle/>
          <a:p>
            <a:pPr indent="0" marL="0">
              <a:buNone/>
            </a:pPr>
            <a:r>
              <a:rPr lang="en-US" sz="5400" b="1" dirty="0">
                <a:solidFill>
                  <a:schemeClr val="accent4"/>
                </a:solidFill>
                <a:latin typeface="Arial" pitchFamily="34" charset="0"/>
                <a:ea typeface="Arial" pitchFamily="34" charset="-122"/>
                <a:cs typeface="Arial" pitchFamily="34" charset="-120"/>
              </a:rPr>
              <a:t>£160k</a:t>
            </a:r>
            <a:endParaRPr lang="en-US" sz="5400" dirty="0"/>
          </a:p>
        </p:txBody>
      </p:sp>
      <p:sp>
        <p:nvSpPr>
          <p:cNvPr id="11" name="Text 9"/>
          <p:cNvSpPr txBox="1"/>
          <p:nvPr/>
        </p:nvSpPr>
        <p:spPr>
          <a:xfrm>
            <a:off x="8321040" y="2743200"/>
            <a:ext cx="3017520" cy="2331720"/>
          </a:xfrm>
          <a:prstGeom prst="rect">
            <a:avLst/>
          </a:prstGeom>
          <a:noFill/>
          <a:ln/>
        </p:spPr>
        <p:txBody>
          <a:bodyPr wrap="square" lIns="0" tIns="0" rIns="0" bIns="0" rtlCol="0" anchor="t"/>
          <a:lstStyle/>
          <a:p>
            <a:pPr indent="0" marL="0">
              <a:buNone/>
            </a:pPr>
            <a:r>
              <a:rPr lang="en-US" sz="1700" dirty="0">
                <a:solidFill>
                  <a:schemeClr val="tx1"/>
                </a:solidFill>
              </a:rPr>
              <a:t>Bank of Scotland (OFSI, published Jan 2026). An alert did fire — staff wrongly decided the person had been delisted. The passport spelling differed from the list. 24 payments went through.</a:t>
            </a:r>
            <a:endParaRPr lang="en-US" sz="1700" dirty="0"/>
          </a:p>
        </p:txBody>
      </p:sp>
      <p:sp>
        <p:nvSpPr>
          <p:cNvPr id="12" name="Text 10"/>
          <p:cNvSpPr txBox="1"/>
          <p:nvPr/>
        </p:nvSpPr>
        <p:spPr>
          <a:xfrm>
            <a:off x="548640" y="5440680"/>
            <a:ext cx="11064240" cy="411480"/>
          </a:xfrm>
          <a:prstGeom prst="rect">
            <a:avLst/>
          </a:prstGeom>
          <a:noFill/>
          <a:ln/>
        </p:spPr>
        <p:txBody>
          <a:bodyPr wrap="square" lIns="0" tIns="0" rIns="0" bIns="0" rtlCol="0" anchor="t"/>
          <a:lstStyle/>
          <a:p>
            <a:pPr indent="0" marL="0">
              <a:buNone/>
            </a:pPr>
            <a:r>
              <a:rPr lang="en-US" sz="1800" b="1" i="1" dirty="0">
                <a:solidFill>
                  <a:schemeClr val="tx1"/>
                </a:solidFill>
              </a:rPr>
              <a:t>None of these were missing tools. They were everyday alert decisions — the ones you make.</a:t>
            </a:r>
            <a:endParaRPr lang="en-US" sz="1800" dirty="0"/>
          </a:p>
        </p:txBody>
      </p:sp>
      <p:sp>
        <p:nvSpPr>
          <p:cNvPr id="13" name="Text 11"/>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Policing and Crime Act 2017 s.146, amended by Economic Crime (Transparency and Enforcement) Act 2022 s.54 (in force 15 Jun 2022; civil penalties only); OFSI penalty notices — Citibank N.A. London Branch (imposed 11 Aug 2026), Bank of Scotland plc (imposed 10 Nov 2025, published 26 Jan 2026).</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Eight rules that hold in every country</a:t>
            </a:r>
            <a:endParaRPr lang="en-US" sz="3200" dirty="0"/>
          </a:p>
        </p:txBody>
      </p:sp>
      <p:sp>
        <p:nvSpPr>
          <p:cNvPr id="3" name="Shape 1"/>
          <p:cNvSpPr/>
          <p:nvPr/>
        </p:nvSpPr>
        <p:spPr>
          <a:xfrm>
            <a:off x="548640" y="1399032"/>
            <a:ext cx="640080" cy="640080"/>
          </a:xfrm>
          <a:prstGeom prst="ellipse">
            <a:avLst/>
          </a:prstGeom>
          <a:solidFill>
            <a:schemeClr val="accent1"/>
          </a:solidFill>
          <a:ln w="12700">
            <a:solidFill>
              <a:schemeClr val="accent1"/>
            </a:solidFill>
            <a:prstDash val="solid"/>
          </a:ln>
        </p:spPr>
      </p:sp>
      <p:sp>
        <p:nvSpPr>
          <p:cNvPr id="4" name="Text 2"/>
          <p:cNvSpPr txBox="1"/>
          <p:nvPr/>
        </p:nvSpPr>
        <p:spPr>
          <a:xfrm>
            <a:off x="548640" y="1399032"/>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5" name="Text 3"/>
          <p:cNvSpPr txBox="1"/>
          <p:nvPr/>
        </p:nvSpPr>
        <p:spPr>
          <a:xfrm>
            <a:off x="1417320" y="1325880"/>
            <a:ext cx="4526280" cy="411480"/>
          </a:xfrm>
          <a:prstGeom prst="rect">
            <a:avLst/>
          </a:prstGeom>
          <a:noFill/>
          <a:ln/>
        </p:spPr>
        <p:txBody>
          <a:bodyPr wrap="square" lIns="0" tIns="0" rIns="0" bIns="0" rtlCol="0" anchor="t"/>
          <a:lstStyle/>
          <a:p>
            <a:pPr indent="0" marL="0">
              <a:buNone/>
            </a:pPr>
            <a:r>
              <a:rPr lang="en-US" sz="2000" b="1" dirty="0">
                <a:solidFill>
                  <a:schemeClr val="accent1"/>
                </a:solidFill>
              </a:rPr>
              <a:t>In doubt? Hold.</a:t>
            </a:r>
            <a:endParaRPr lang="en-US" sz="2000" dirty="0"/>
          </a:p>
        </p:txBody>
      </p:sp>
      <p:sp>
        <p:nvSpPr>
          <p:cNvPr id="6" name="Text 4"/>
          <p:cNvSpPr txBox="1"/>
          <p:nvPr/>
        </p:nvSpPr>
        <p:spPr>
          <a:xfrm>
            <a:off x="1417320" y="1755648"/>
            <a:ext cx="4526280" cy="640080"/>
          </a:xfrm>
          <a:prstGeom prst="rect">
            <a:avLst/>
          </a:prstGeom>
          <a:noFill/>
          <a:ln/>
        </p:spPr>
        <p:txBody>
          <a:bodyPr wrap="square" lIns="0" tIns="0" rIns="0" bIns="0" rtlCol="0" anchor="t"/>
          <a:lstStyle/>
          <a:p>
            <a:pPr indent="0" marL="0">
              <a:buNone/>
            </a:pPr>
            <a:r>
              <a:rPr lang="en-US" sz="1500" dirty="0">
                <a:solidFill>
                  <a:schemeClr val="accent6"/>
                </a:solidFill>
              </a:rPr>
              <a:t>Nothing is released while a question is still open.</a:t>
            </a:r>
            <a:endParaRPr lang="en-US" sz="1500" dirty="0"/>
          </a:p>
        </p:txBody>
      </p:sp>
      <p:sp>
        <p:nvSpPr>
          <p:cNvPr id="7" name="Shape 5"/>
          <p:cNvSpPr/>
          <p:nvPr/>
        </p:nvSpPr>
        <p:spPr>
          <a:xfrm>
            <a:off x="548640" y="2587752"/>
            <a:ext cx="640080" cy="640080"/>
          </a:xfrm>
          <a:prstGeom prst="ellipse">
            <a:avLst/>
          </a:prstGeom>
          <a:solidFill>
            <a:schemeClr val="tx1"/>
          </a:solidFill>
          <a:ln w="12700">
            <a:solidFill>
              <a:schemeClr val="tx1"/>
            </a:solidFill>
            <a:prstDash val="solid"/>
          </a:ln>
        </p:spPr>
      </p:sp>
      <p:sp>
        <p:nvSpPr>
          <p:cNvPr id="8" name="Text 6"/>
          <p:cNvSpPr txBox="1"/>
          <p:nvPr/>
        </p:nvSpPr>
        <p:spPr>
          <a:xfrm>
            <a:off x="548640" y="2587752"/>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9" name="Text 7"/>
          <p:cNvSpPr txBox="1"/>
          <p:nvPr/>
        </p:nvSpPr>
        <p:spPr>
          <a:xfrm>
            <a:off x="1417320" y="2514600"/>
            <a:ext cx="4526280" cy="411480"/>
          </a:xfrm>
          <a:prstGeom prst="rect">
            <a:avLst/>
          </a:prstGeom>
          <a:noFill/>
          <a:ln/>
        </p:spPr>
        <p:txBody>
          <a:bodyPr wrap="square" lIns="0" tIns="0" rIns="0" bIns="0" rtlCol="0" anchor="t"/>
          <a:lstStyle/>
          <a:p>
            <a:pPr indent="0" marL="0">
              <a:buNone/>
            </a:pPr>
            <a:r>
              <a:rPr lang="en-US" sz="2000" b="1" dirty="0">
                <a:solidFill>
                  <a:schemeClr val="tx1"/>
                </a:solidFill>
              </a:rPr>
              <a:t>A name is not an identity.</a:t>
            </a:r>
            <a:endParaRPr lang="en-US" sz="2000" dirty="0"/>
          </a:p>
        </p:txBody>
      </p:sp>
      <p:sp>
        <p:nvSpPr>
          <p:cNvPr id="10" name="Text 8"/>
          <p:cNvSpPr txBox="1"/>
          <p:nvPr/>
        </p:nvSpPr>
        <p:spPr>
          <a:xfrm>
            <a:off x="1417320" y="2944368"/>
            <a:ext cx="4526280" cy="640080"/>
          </a:xfrm>
          <a:prstGeom prst="rect">
            <a:avLst/>
          </a:prstGeom>
          <a:noFill/>
          <a:ln/>
        </p:spPr>
        <p:txBody>
          <a:bodyPr wrap="square" lIns="0" tIns="0" rIns="0" bIns="0" rtlCol="0" anchor="t"/>
          <a:lstStyle/>
          <a:p>
            <a:pPr indent="0" marL="0">
              <a:buNone/>
            </a:pPr>
            <a:r>
              <a:rPr lang="en-US" sz="1500" dirty="0">
                <a:solidFill>
                  <a:schemeClr val="accent6"/>
                </a:solidFill>
              </a:rPr>
              <a:t>Compare date of birth, nationality, address, ID or registration number.</a:t>
            </a:r>
            <a:endParaRPr lang="en-US" sz="1500" dirty="0"/>
          </a:p>
        </p:txBody>
      </p:sp>
      <p:sp>
        <p:nvSpPr>
          <p:cNvPr id="11" name="Shape 9"/>
          <p:cNvSpPr/>
          <p:nvPr/>
        </p:nvSpPr>
        <p:spPr>
          <a:xfrm>
            <a:off x="548640" y="3776472"/>
            <a:ext cx="640080" cy="640080"/>
          </a:xfrm>
          <a:prstGeom prst="ellipse">
            <a:avLst/>
          </a:prstGeom>
          <a:solidFill>
            <a:schemeClr val="tx1"/>
          </a:solidFill>
          <a:ln w="12700">
            <a:solidFill>
              <a:schemeClr val="tx1"/>
            </a:solidFill>
            <a:prstDash val="solid"/>
          </a:ln>
        </p:spPr>
      </p:sp>
      <p:sp>
        <p:nvSpPr>
          <p:cNvPr id="12" name="Text 10"/>
          <p:cNvSpPr txBox="1"/>
          <p:nvPr/>
        </p:nvSpPr>
        <p:spPr>
          <a:xfrm>
            <a:off x="548640" y="3776472"/>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3" name="Text 11"/>
          <p:cNvSpPr txBox="1"/>
          <p:nvPr/>
        </p:nvSpPr>
        <p:spPr>
          <a:xfrm>
            <a:off x="1417320" y="3703320"/>
            <a:ext cx="4526280" cy="411480"/>
          </a:xfrm>
          <a:prstGeom prst="rect">
            <a:avLst/>
          </a:prstGeom>
          <a:noFill/>
          <a:ln/>
        </p:spPr>
        <p:txBody>
          <a:bodyPr wrap="square" lIns="0" tIns="0" rIns="0" bIns="0" rtlCol="0" anchor="t"/>
          <a:lstStyle/>
          <a:p>
            <a:pPr indent="0" marL="0">
              <a:buNone/>
            </a:pPr>
            <a:r>
              <a:rPr lang="en-US" sz="2000" b="1" dirty="0">
                <a:solidFill>
                  <a:schemeClr val="tx1"/>
                </a:solidFill>
              </a:rPr>
              <a:t>Not listed ≠ clear.</a:t>
            </a:r>
            <a:endParaRPr lang="en-US" sz="2000" dirty="0"/>
          </a:p>
        </p:txBody>
      </p:sp>
      <p:sp>
        <p:nvSpPr>
          <p:cNvPr id="14" name="Text 12"/>
          <p:cNvSpPr txBox="1"/>
          <p:nvPr/>
        </p:nvSpPr>
        <p:spPr>
          <a:xfrm>
            <a:off x="1417320" y="4133088"/>
            <a:ext cx="4526280" cy="640080"/>
          </a:xfrm>
          <a:prstGeom prst="rect">
            <a:avLst/>
          </a:prstGeom>
          <a:noFill/>
          <a:ln/>
        </p:spPr>
        <p:txBody>
          <a:bodyPr wrap="square" lIns="0" tIns="0" rIns="0" bIns="0" rtlCol="0" anchor="t"/>
          <a:lstStyle/>
          <a:p>
            <a:pPr indent="0" marL="0">
              <a:buNone/>
            </a:pPr>
            <a:r>
              <a:rPr lang="en-US" sz="1500" dirty="0">
                <a:solidFill>
                  <a:schemeClr val="accent6"/>
                </a:solidFill>
              </a:rPr>
              <a:t>Check who owns it, who controls it and who benefits.</a:t>
            </a:r>
            <a:endParaRPr lang="en-US" sz="1500" dirty="0"/>
          </a:p>
        </p:txBody>
      </p:sp>
      <p:sp>
        <p:nvSpPr>
          <p:cNvPr id="15" name="Shape 13"/>
          <p:cNvSpPr/>
          <p:nvPr/>
        </p:nvSpPr>
        <p:spPr>
          <a:xfrm>
            <a:off x="548640" y="4965192"/>
            <a:ext cx="640080" cy="640080"/>
          </a:xfrm>
          <a:prstGeom prst="ellipse">
            <a:avLst/>
          </a:prstGeom>
          <a:solidFill>
            <a:schemeClr val="tx1"/>
          </a:solidFill>
          <a:ln w="12700">
            <a:solidFill>
              <a:schemeClr val="tx1"/>
            </a:solidFill>
            <a:prstDash val="solid"/>
          </a:ln>
        </p:spPr>
      </p:sp>
      <p:sp>
        <p:nvSpPr>
          <p:cNvPr id="16" name="Text 14"/>
          <p:cNvSpPr txBox="1"/>
          <p:nvPr/>
        </p:nvSpPr>
        <p:spPr>
          <a:xfrm>
            <a:off x="548640" y="4965192"/>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17" name="Text 15"/>
          <p:cNvSpPr txBox="1"/>
          <p:nvPr/>
        </p:nvSpPr>
        <p:spPr>
          <a:xfrm>
            <a:off x="1417320" y="4892040"/>
            <a:ext cx="4526280" cy="411480"/>
          </a:xfrm>
          <a:prstGeom prst="rect">
            <a:avLst/>
          </a:prstGeom>
          <a:noFill/>
          <a:ln/>
        </p:spPr>
        <p:txBody>
          <a:bodyPr wrap="square" lIns="0" tIns="0" rIns="0" bIns="0" rtlCol="0" anchor="t"/>
          <a:lstStyle/>
          <a:p>
            <a:pPr indent="0" marL="0">
              <a:buNone/>
            </a:pPr>
            <a:r>
              <a:rPr lang="en-US" sz="2000" b="1" dirty="0">
                <a:solidFill>
                  <a:schemeClr val="tx1"/>
                </a:solidFill>
              </a:rPr>
              <a:t>Local clear ≠ clear.</a:t>
            </a:r>
            <a:endParaRPr lang="en-US" sz="2000" dirty="0"/>
          </a:p>
        </p:txBody>
      </p:sp>
      <p:sp>
        <p:nvSpPr>
          <p:cNvPr id="18" name="Text 16"/>
          <p:cNvSpPr txBox="1"/>
          <p:nvPr/>
        </p:nvSpPr>
        <p:spPr>
          <a:xfrm>
            <a:off x="1417320" y="5321808"/>
            <a:ext cx="4526280" cy="640080"/>
          </a:xfrm>
          <a:prstGeom prst="rect">
            <a:avLst/>
          </a:prstGeom>
          <a:noFill/>
          <a:ln/>
        </p:spPr>
        <p:txBody>
          <a:bodyPr wrap="square" lIns="0" tIns="0" rIns="0" bIns="0" rtlCol="0" anchor="t"/>
          <a:lstStyle/>
          <a:p>
            <a:pPr indent="0" marL="0">
              <a:buNone/>
            </a:pPr>
            <a:r>
              <a:rPr lang="en-US" sz="1500" dirty="0">
                <a:solidFill>
                  <a:schemeClr val="accent6"/>
                </a:solidFill>
              </a:rPr>
              <a:t>Every country the payment touches has a say.</a:t>
            </a:r>
            <a:endParaRPr lang="en-US" sz="1500" dirty="0"/>
          </a:p>
        </p:txBody>
      </p:sp>
      <p:sp>
        <p:nvSpPr>
          <p:cNvPr id="19" name="Shape 17"/>
          <p:cNvSpPr/>
          <p:nvPr/>
        </p:nvSpPr>
        <p:spPr>
          <a:xfrm>
            <a:off x="6217920" y="1399032"/>
            <a:ext cx="640080" cy="640080"/>
          </a:xfrm>
          <a:prstGeom prst="ellipse">
            <a:avLst/>
          </a:prstGeom>
          <a:solidFill>
            <a:schemeClr val="tx1"/>
          </a:solidFill>
          <a:ln w="12700">
            <a:solidFill>
              <a:schemeClr val="tx1"/>
            </a:solidFill>
            <a:prstDash val="solid"/>
          </a:ln>
        </p:spPr>
      </p:sp>
      <p:sp>
        <p:nvSpPr>
          <p:cNvPr id="20" name="Text 18"/>
          <p:cNvSpPr txBox="1"/>
          <p:nvPr/>
        </p:nvSpPr>
        <p:spPr>
          <a:xfrm>
            <a:off x="6217920" y="1399032"/>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21" name="Text 19"/>
          <p:cNvSpPr txBox="1"/>
          <p:nvPr/>
        </p:nvSpPr>
        <p:spPr>
          <a:xfrm>
            <a:off x="7086600" y="1325880"/>
            <a:ext cx="4526280" cy="411480"/>
          </a:xfrm>
          <a:prstGeom prst="rect">
            <a:avLst/>
          </a:prstGeom>
          <a:noFill/>
          <a:ln/>
        </p:spPr>
        <p:txBody>
          <a:bodyPr wrap="square" lIns="0" tIns="0" rIns="0" bIns="0" rtlCol="0" anchor="t"/>
          <a:lstStyle/>
          <a:p>
            <a:pPr indent="0" marL="0">
              <a:buNone/>
            </a:pPr>
            <a:r>
              <a:rPr lang="en-US" sz="2000" b="1" dirty="0">
                <a:solidFill>
                  <a:schemeClr val="tx1"/>
                </a:solidFill>
              </a:rPr>
              <a:t>Missing data never clears.</a:t>
            </a:r>
            <a:endParaRPr lang="en-US" sz="2000" dirty="0"/>
          </a:p>
        </p:txBody>
      </p:sp>
      <p:sp>
        <p:nvSpPr>
          <p:cNvPr id="22" name="Text 20"/>
          <p:cNvSpPr txBox="1"/>
          <p:nvPr/>
        </p:nvSpPr>
        <p:spPr>
          <a:xfrm>
            <a:off x="7086600" y="1755648"/>
            <a:ext cx="4526280" cy="640080"/>
          </a:xfrm>
          <a:prstGeom prst="rect">
            <a:avLst/>
          </a:prstGeom>
          <a:noFill/>
          <a:ln/>
        </p:spPr>
        <p:txBody>
          <a:bodyPr wrap="square" lIns="0" tIns="0" rIns="0" bIns="0" rtlCol="0" anchor="t"/>
          <a:lstStyle/>
          <a:p>
            <a:pPr indent="0" marL="0">
              <a:buNone/>
            </a:pPr>
            <a:r>
              <a:rPr lang="en-US" sz="1500" dirty="0">
                <a:solidFill>
                  <a:schemeClr val="accent6"/>
                </a:solidFill>
              </a:rPr>
              <a:t>Ask for it. If you can't get it, escalate.</a:t>
            </a:r>
            <a:endParaRPr lang="en-US" sz="1500" dirty="0"/>
          </a:p>
        </p:txBody>
      </p:sp>
      <p:sp>
        <p:nvSpPr>
          <p:cNvPr id="23" name="Shape 21"/>
          <p:cNvSpPr/>
          <p:nvPr/>
        </p:nvSpPr>
        <p:spPr>
          <a:xfrm>
            <a:off x="6217920" y="2587752"/>
            <a:ext cx="640080" cy="640080"/>
          </a:xfrm>
          <a:prstGeom prst="ellipse">
            <a:avLst/>
          </a:prstGeom>
          <a:solidFill>
            <a:schemeClr val="tx1"/>
          </a:solidFill>
          <a:ln w="12700">
            <a:solidFill>
              <a:schemeClr val="tx1"/>
            </a:solidFill>
            <a:prstDash val="solid"/>
          </a:ln>
        </p:spPr>
      </p:sp>
      <p:sp>
        <p:nvSpPr>
          <p:cNvPr id="24" name="Text 22"/>
          <p:cNvSpPr txBox="1"/>
          <p:nvPr/>
        </p:nvSpPr>
        <p:spPr>
          <a:xfrm>
            <a:off x="6217920" y="2587752"/>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6</a:t>
            </a:r>
            <a:endParaRPr lang="en-US" sz="2200" dirty="0"/>
          </a:p>
        </p:txBody>
      </p:sp>
      <p:sp>
        <p:nvSpPr>
          <p:cNvPr id="25" name="Text 23"/>
          <p:cNvSpPr txBox="1"/>
          <p:nvPr/>
        </p:nvSpPr>
        <p:spPr>
          <a:xfrm>
            <a:off x="7086600" y="2514600"/>
            <a:ext cx="4526280" cy="411480"/>
          </a:xfrm>
          <a:prstGeom prst="rect">
            <a:avLst/>
          </a:prstGeom>
          <a:noFill/>
          <a:ln/>
        </p:spPr>
        <p:txBody>
          <a:bodyPr wrap="square" lIns="0" tIns="0" rIns="0" bIns="0" rtlCol="0" anchor="t"/>
          <a:lstStyle/>
          <a:p>
            <a:pPr indent="0" marL="0">
              <a:buNone/>
            </a:pPr>
            <a:r>
              <a:rPr lang="en-US" sz="2000" b="1" dirty="0">
                <a:solidFill>
                  <a:schemeClr val="tx1"/>
                </a:solidFill>
              </a:rPr>
              <a:t>Merchant comfort is not evidence.</a:t>
            </a:r>
            <a:endParaRPr lang="en-US" sz="2000" dirty="0"/>
          </a:p>
        </p:txBody>
      </p:sp>
      <p:sp>
        <p:nvSpPr>
          <p:cNvPr id="26" name="Text 24"/>
          <p:cNvSpPr txBox="1"/>
          <p:nvPr/>
        </p:nvSpPr>
        <p:spPr>
          <a:xfrm>
            <a:off x="7086600" y="2944368"/>
            <a:ext cx="4526280" cy="640080"/>
          </a:xfrm>
          <a:prstGeom prst="rect">
            <a:avLst/>
          </a:prstGeom>
          <a:noFill/>
          <a:ln/>
        </p:spPr>
        <p:txBody>
          <a:bodyPr wrap="square" lIns="0" tIns="0" rIns="0" bIns="0" rtlCol="0" anchor="t"/>
          <a:lstStyle/>
          <a:p>
            <a:pPr indent="0" marL="0">
              <a:buNone/>
            </a:pPr>
            <a:r>
              <a:rPr lang="en-US" sz="1500" dirty="0">
                <a:solidFill>
                  <a:schemeClr val="accent6"/>
                </a:solidFill>
              </a:rPr>
              <a:t>"We know the customer" resolves nothing.</a:t>
            </a:r>
            <a:endParaRPr lang="en-US" sz="1500" dirty="0"/>
          </a:p>
        </p:txBody>
      </p:sp>
      <p:sp>
        <p:nvSpPr>
          <p:cNvPr id="27" name="Shape 25"/>
          <p:cNvSpPr/>
          <p:nvPr/>
        </p:nvSpPr>
        <p:spPr>
          <a:xfrm>
            <a:off x="6217920" y="3776472"/>
            <a:ext cx="640080" cy="640080"/>
          </a:xfrm>
          <a:prstGeom prst="ellipse">
            <a:avLst/>
          </a:prstGeom>
          <a:solidFill>
            <a:schemeClr val="tx1"/>
          </a:solidFill>
          <a:ln w="12700">
            <a:solidFill>
              <a:schemeClr val="tx1"/>
            </a:solidFill>
            <a:prstDash val="solid"/>
          </a:ln>
        </p:spPr>
      </p:sp>
      <p:sp>
        <p:nvSpPr>
          <p:cNvPr id="28" name="Text 26"/>
          <p:cNvSpPr txBox="1"/>
          <p:nvPr/>
        </p:nvSpPr>
        <p:spPr>
          <a:xfrm>
            <a:off x="6217920" y="3776472"/>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7</a:t>
            </a:r>
            <a:endParaRPr lang="en-US" sz="2200" dirty="0"/>
          </a:p>
        </p:txBody>
      </p:sp>
      <p:sp>
        <p:nvSpPr>
          <p:cNvPr id="29" name="Text 27"/>
          <p:cNvSpPr txBox="1"/>
          <p:nvPr/>
        </p:nvSpPr>
        <p:spPr>
          <a:xfrm>
            <a:off x="7086600" y="3703320"/>
            <a:ext cx="4526280" cy="411480"/>
          </a:xfrm>
          <a:prstGeom prst="rect">
            <a:avLst/>
          </a:prstGeom>
          <a:noFill/>
          <a:ln/>
        </p:spPr>
        <p:txBody>
          <a:bodyPr wrap="square" lIns="0" tIns="0" rIns="0" bIns="0" rtlCol="0" anchor="t"/>
          <a:lstStyle/>
          <a:p>
            <a:pPr indent="0" marL="0">
              <a:buNone/>
            </a:pPr>
            <a:r>
              <a:rPr lang="en-US" sz="2000" b="1" dirty="0">
                <a:solidFill>
                  <a:schemeClr val="tx1"/>
                </a:solidFill>
              </a:rPr>
              <a:t>Ask neutrally — never tip off.</a:t>
            </a:r>
            <a:endParaRPr lang="en-US" sz="2000" dirty="0"/>
          </a:p>
        </p:txBody>
      </p:sp>
      <p:sp>
        <p:nvSpPr>
          <p:cNvPr id="30" name="Text 28"/>
          <p:cNvSpPr txBox="1"/>
          <p:nvPr/>
        </p:nvSpPr>
        <p:spPr>
          <a:xfrm>
            <a:off x="7086600" y="4133088"/>
            <a:ext cx="4526280" cy="640080"/>
          </a:xfrm>
          <a:prstGeom prst="rect">
            <a:avLst/>
          </a:prstGeom>
          <a:noFill/>
          <a:ln/>
        </p:spPr>
        <p:txBody>
          <a:bodyPr wrap="square" lIns="0" tIns="0" rIns="0" bIns="0" rtlCol="0" anchor="t"/>
          <a:lstStyle/>
          <a:p>
            <a:pPr indent="0" marL="0">
              <a:buNone/>
            </a:pPr>
            <a:r>
              <a:rPr lang="en-US" sz="1500" dirty="0">
                <a:solidFill>
                  <a:schemeClr val="accent6"/>
                </a:solidFill>
              </a:rPr>
              <a:t>Request information without saying why.</a:t>
            </a:r>
            <a:endParaRPr lang="en-US" sz="1500" dirty="0"/>
          </a:p>
        </p:txBody>
      </p:sp>
      <p:sp>
        <p:nvSpPr>
          <p:cNvPr id="31" name="Shape 29"/>
          <p:cNvSpPr/>
          <p:nvPr/>
        </p:nvSpPr>
        <p:spPr>
          <a:xfrm>
            <a:off x="6217920" y="4965192"/>
            <a:ext cx="640080" cy="640080"/>
          </a:xfrm>
          <a:prstGeom prst="ellipse">
            <a:avLst/>
          </a:prstGeom>
          <a:solidFill>
            <a:schemeClr val="tx1"/>
          </a:solidFill>
          <a:ln w="12700">
            <a:solidFill>
              <a:schemeClr val="tx1"/>
            </a:solidFill>
            <a:prstDash val="solid"/>
          </a:ln>
        </p:spPr>
      </p:sp>
      <p:sp>
        <p:nvSpPr>
          <p:cNvPr id="32" name="Text 30"/>
          <p:cNvSpPr txBox="1"/>
          <p:nvPr/>
        </p:nvSpPr>
        <p:spPr>
          <a:xfrm>
            <a:off x="6217920" y="4965192"/>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8</a:t>
            </a:r>
            <a:endParaRPr lang="en-US" sz="2200" dirty="0"/>
          </a:p>
        </p:txBody>
      </p:sp>
      <p:sp>
        <p:nvSpPr>
          <p:cNvPr id="33" name="Text 31"/>
          <p:cNvSpPr txBox="1"/>
          <p:nvPr/>
        </p:nvSpPr>
        <p:spPr>
          <a:xfrm>
            <a:off x="7086600" y="4892040"/>
            <a:ext cx="4526280" cy="411480"/>
          </a:xfrm>
          <a:prstGeom prst="rect">
            <a:avLst/>
          </a:prstGeom>
          <a:noFill/>
          <a:ln/>
        </p:spPr>
        <p:txBody>
          <a:bodyPr wrap="square" lIns="0" tIns="0" rIns="0" bIns="0" rtlCol="0" anchor="t"/>
          <a:lstStyle/>
          <a:p>
            <a:pPr indent="0" marL="0">
              <a:buNone/>
            </a:pPr>
            <a:r>
              <a:rPr lang="en-US" sz="2000" b="1" dirty="0">
                <a:solidFill>
                  <a:schemeClr val="tx1"/>
                </a:solidFill>
              </a:rPr>
              <a:t>Write it so a stranger agrees.</a:t>
            </a:r>
            <a:endParaRPr lang="en-US" sz="2000" dirty="0"/>
          </a:p>
        </p:txBody>
      </p:sp>
      <p:sp>
        <p:nvSpPr>
          <p:cNvPr id="34" name="Text 32"/>
          <p:cNvSpPr txBox="1"/>
          <p:nvPr/>
        </p:nvSpPr>
        <p:spPr>
          <a:xfrm>
            <a:off x="7086600" y="5321808"/>
            <a:ext cx="4526280" cy="640080"/>
          </a:xfrm>
          <a:prstGeom prst="rect">
            <a:avLst/>
          </a:prstGeom>
          <a:noFill/>
          <a:ln/>
        </p:spPr>
        <p:txBody>
          <a:bodyPr wrap="square" lIns="0" tIns="0" rIns="0" bIns="0" rtlCol="0" anchor="t"/>
          <a:lstStyle/>
          <a:p>
            <a:pPr indent="0" marL="0">
              <a:buNone/>
            </a:pPr>
            <a:r>
              <a:rPr lang="en-US" sz="1500" dirty="0">
                <a:solidFill>
                  <a:schemeClr val="accent6"/>
                </a:solidFill>
              </a:rPr>
              <a:t>Another analyst should reach the same answer from your note alone.</a:t>
            </a:r>
            <a:endParaRPr lang="en-US" sz="1500" dirty="0"/>
          </a:p>
        </p:txBody>
      </p:sp>
      <p:sp>
        <p:nvSpPr>
          <p:cNvPr id="35" name="Text 33"/>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Checkout Global Sanctions Reporting Procedure (cite section); OFSI Financial Sanctions General Guidance; OFAC Framework for Compliance Commitments (2019).</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An alert hits: Hold → Check → Escalate</a:t>
            </a:r>
            <a:endParaRPr lang="en-US" sz="3200" dirty="0"/>
          </a:p>
        </p:txBody>
      </p:sp>
      <p:sp>
        <p:nvSpPr>
          <p:cNvPr id="3" name="HOLD circle"/>
          <p:cNvSpPr/>
          <p:nvPr/>
        </p:nvSpPr>
        <p:spPr>
          <a:xfrm>
            <a:off x="548640" y="1325880"/>
            <a:ext cx="777240" cy="777240"/>
          </a:xfrm>
          <a:prstGeom prst="ellipse">
            <a:avLst/>
          </a:prstGeom>
          <a:solidFill>
            <a:schemeClr val="accent1"/>
          </a:solidFill>
          <a:ln w="12700">
            <a:solidFill>
              <a:schemeClr val="accent1"/>
            </a:solidFill>
            <a:prstDash val="solid"/>
          </a:ln>
        </p:spPr>
      </p:sp>
      <p:pic>
        <p:nvPicPr>
          <p:cNvPr id="4" name="HOLD icon" descr="preencoded.png">    </p:cNvPr>
          <p:cNvPicPr>
            <a:picLocks noChangeAspect="1"/>
          </p:cNvPicPr>
          <p:nvPr/>
        </p:nvPicPr>
        <p:blipFill>
          <a:blip r:embed="rId1"/>
          <a:stretch>
            <a:fillRect/>
          </a:stretch>
        </p:blipFill>
        <p:spPr>
          <a:xfrm>
            <a:off x="704088" y="1481328"/>
            <a:ext cx="466344" cy="466344"/>
          </a:xfrm>
          <a:prstGeom prst="rect">
            <a:avLst/>
          </a:prstGeom>
        </p:spPr>
      </p:pic>
      <p:sp>
        <p:nvSpPr>
          <p:cNvPr id="5" name="Text 2"/>
          <p:cNvSpPr txBox="1"/>
          <p:nvPr/>
        </p:nvSpPr>
        <p:spPr>
          <a:xfrm>
            <a:off x="1508760" y="1325880"/>
            <a:ext cx="2377440" cy="777240"/>
          </a:xfrm>
          <a:prstGeom prst="rect">
            <a:avLst/>
          </a:prstGeom>
          <a:noFill/>
          <a:ln/>
        </p:spPr>
        <p:txBody>
          <a:bodyPr wrap="square" lIns="0" tIns="0" rIns="0" bIns="0" rtlCol="0" anchor="ctr"/>
          <a:lstStyle/>
          <a:p>
            <a:pPr indent="0" marL="0">
              <a:buNone/>
            </a:pPr>
            <a:r>
              <a:rPr lang="en-US" sz="2400" b="1" dirty="0">
                <a:solidFill>
                  <a:schemeClr val="accent1"/>
                </a:solidFill>
              </a:rPr>
              <a:t>HOLD</a:t>
            </a:r>
            <a:endParaRPr lang="en-US" sz="2400" dirty="0"/>
          </a:p>
        </p:txBody>
      </p:sp>
      <p:sp>
        <p:nvSpPr>
          <p:cNvPr id="6" name="Text 3"/>
          <p:cNvSpPr txBox="1"/>
          <p:nvPr/>
        </p:nvSpPr>
        <p:spPr>
          <a:xfrm>
            <a:off x="548640" y="2286000"/>
            <a:ext cx="3383280" cy="1371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Payment stays pending</a:t>
            </a:r>
            <a:endParaRPr lang="en-US" sz="1600" dirty="0"/>
          </a:p>
          <a:p>
            <a:pPr marL="342900" indent="-342900">
              <a:spcAft>
                <a:spcPts val="600"/>
              </a:spcAft>
              <a:buSzPct val="100000"/>
              <a:buChar char="•"/>
            </a:pPr>
            <a:r>
              <a:rPr lang="en-US" sz="1600" dirty="0">
                <a:solidFill>
                  <a:schemeClr val="tx1"/>
                </a:solidFill>
              </a:rPr>
              <a:t>No release, no manual bypass</a:t>
            </a:r>
            <a:endParaRPr lang="en-US" sz="1600" dirty="0"/>
          </a:p>
          <a:p>
            <a:pPr marL="342900" indent="-342900">
              <a:spcAft>
                <a:spcPts val="600"/>
              </a:spcAft>
              <a:buSzPct val="100000"/>
              <a:buChar char="•"/>
            </a:pPr>
            <a:r>
              <a:rPr lang="en-US" sz="1600" dirty="0">
                <a:solidFill>
                  <a:schemeClr val="tx1"/>
                </a:solidFill>
              </a:rPr>
              <a:t>No refund or "return to sender"</a:t>
            </a:r>
            <a:endParaRPr lang="en-US" sz="1600" dirty="0"/>
          </a:p>
        </p:txBody>
      </p:sp>
      <p:pic>
        <p:nvPicPr>
          <p:cNvPr id="7" name="Image 1" descr="preencoded.png">    </p:cNvPr>
          <p:cNvPicPr>
            <a:picLocks noChangeAspect="1"/>
          </p:cNvPicPr>
          <p:nvPr/>
        </p:nvPicPr>
        <p:blipFill>
          <a:blip r:embed="rId2"/>
          <a:stretch>
            <a:fillRect/>
          </a:stretch>
        </p:blipFill>
        <p:spPr>
          <a:xfrm>
            <a:off x="3977640" y="1481328"/>
            <a:ext cx="411480" cy="411480"/>
          </a:xfrm>
          <a:prstGeom prst="rect">
            <a:avLst/>
          </a:prstGeom>
        </p:spPr>
      </p:pic>
      <p:sp>
        <p:nvSpPr>
          <p:cNvPr id="8" name="CHECK circle"/>
          <p:cNvSpPr/>
          <p:nvPr/>
        </p:nvSpPr>
        <p:spPr>
          <a:xfrm>
            <a:off x="4343400" y="1325880"/>
            <a:ext cx="777240" cy="777240"/>
          </a:xfrm>
          <a:prstGeom prst="ellipse">
            <a:avLst/>
          </a:prstGeom>
          <a:solidFill>
            <a:schemeClr val="accent2"/>
          </a:solidFill>
          <a:ln w="12700">
            <a:solidFill>
              <a:schemeClr val="accent2"/>
            </a:solidFill>
            <a:prstDash val="solid"/>
          </a:ln>
        </p:spPr>
      </p:sp>
      <p:pic>
        <p:nvPicPr>
          <p:cNvPr id="9" name="CHECK icon" descr="preencoded.png">    </p:cNvPr>
          <p:cNvPicPr>
            <a:picLocks noChangeAspect="1"/>
          </p:cNvPicPr>
          <p:nvPr/>
        </p:nvPicPr>
        <p:blipFill>
          <a:blip r:embed="rId3"/>
          <a:stretch>
            <a:fillRect/>
          </a:stretch>
        </p:blipFill>
        <p:spPr>
          <a:xfrm>
            <a:off x="4498848" y="1481328"/>
            <a:ext cx="466344" cy="466344"/>
          </a:xfrm>
          <a:prstGeom prst="rect">
            <a:avLst/>
          </a:prstGeom>
        </p:spPr>
      </p:pic>
      <p:sp>
        <p:nvSpPr>
          <p:cNvPr id="10" name="Text 5"/>
          <p:cNvSpPr txBox="1"/>
          <p:nvPr/>
        </p:nvSpPr>
        <p:spPr>
          <a:xfrm>
            <a:off x="5303520" y="1325880"/>
            <a:ext cx="2377440" cy="777240"/>
          </a:xfrm>
          <a:prstGeom prst="rect">
            <a:avLst/>
          </a:prstGeom>
          <a:noFill/>
          <a:ln/>
        </p:spPr>
        <p:txBody>
          <a:bodyPr wrap="square" lIns="0" tIns="0" rIns="0" bIns="0" rtlCol="0" anchor="ctr"/>
          <a:lstStyle/>
          <a:p>
            <a:pPr indent="0" marL="0">
              <a:buNone/>
            </a:pPr>
            <a:r>
              <a:rPr lang="en-US" sz="2400" b="1" dirty="0">
                <a:solidFill>
                  <a:schemeClr val="accent2"/>
                </a:solidFill>
              </a:rPr>
              <a:t>CHECK</a:t>
            </a:r>
            <a:endParaRPr lang="en-US" sz="2400" dirty="0"/>
          </a:p>
        </p:txBody>
      </p:sp>
      <p:sp>
        <p:nvSpPr>
          <p:cNvPr id="11" name="Text 6"/>
          <p:cNvSpPr txBox="1"/>
          <p:nvPr/>
        </p:nvSpPr>
        <p:spPr>
          <a:xfrm>
            <a:off x="4343400" y="2286000"/>
            <a:ext cx="3383280" cy="1371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Compare every identifier you have</a:t>
            </a:r>
            <a:endParaRPr lang="en-US" sz="1600" dirty="0"/>
          </a:p>
          <a:p>
            <a:pPr marL="342900" indent="-342900">
              <a:spcAft>
                <a:spcPts val="600"/>
              </a:spcAft>
              <a:buSzPct val="100000"/>
              <a:buChar char="•"/>
            </a:pPr>
            <a:r>
              <a:rPr lang="en-US" sz="1600" dirty="0">
                <a:solidFill>
                  <a:schemeClr val="tx1"/>
                </a:solidFill>
              </a:rPr>
              <a:t>Check owners, directors, signatories</a:t>
            </a:r>
            <a:endParaRPr lang="en-US" sz="1600" dirty="0"/>
          </a:p>
          <a:p>
            <a:pPr marL="342900" indent="-342900">
              <a:spcAft>
                <a:spcPts val="600"/>
              </a:spcAft>
              <a:buSzPct val="100000"/>
              <a:buChar char="•"/>
            </a:pPr>
            <a:r>
              <a:rPr lang="en-US" sz="1600" dirty="0">
                <a:solidFill>
                  <a:schemeClr val="tx1"/>
                </a:solidFill>
              </a:rPr>
              <a:t>Need data? Send a neutral RFI</a:t>
            </a:r>
            <a:endParaRPr lang="en-US" sz="1600" dirty="0"/>
          </a:p>
        </p:txBody>
      </p:sp>
      <p:pic>
        <p:nvPicPr>
          <p:cNvPr id="12" name="Image 3" descr="preencoded.png">    </p:cNvPr>
          <p:cNvPicPr>
            <a:picLocks noChangeAspect="1"/>
          </p:cNvPicPr>
          <p:nvPr/>
        </p:nvPicPr>
        <p:blipFill>
          <a:blip r:embed="rId4"/>
          <a:stretch>
            <a:fillRect/>
          </a:stretch>
        </p:blipFill>
        <p:spPr>
          <a:xfrm>
            <a:off x="7772400" y="1481328"/>
            <a:ext cx="411480" cy="411480"/>
          </a:xfrm>
          <a:prstGeom prst="rect">
            <a:avLst/>
          </a:prstGeom>
        </p:spPr>
      </p:pic>
      <p:sp>
        <p:nvSpPr>
          <p:cNvPr id="13" name="ESCALATE circle"/>
          <p:cNvSpPr/>
          <p:nvPr/>
        </p:nvSpPr>
        <p:spPr>
          <a:xfrm>
            <a:off x="8138160" y="1325880"/>
            <a:ext cx="777240" cy="777240"/>
          </a:xfrm>
          <a:prstGeom prst="ellipse">
            <a:avLst/>
          </a:prstGeom>
          <a:solidFill>
            <a:schemeClr val="accent4"/>
          </a:solidFill>
          <a:ln w="12700">
            <a:solidFill>
              <a:schemeClr val="accent4"/>
            </a:solidFill>
            <a:prstDash val="solid"/>
          </a:ln>
        </p:spPr>
      </p:sp>
      <p:pic>
        <p:nvPicPr>
          <p:cNvPr id="14" name="ESCALATE icon" descr="preencoded.png">    </p:cNvPr>
          <p:cNvPicPr>
            <a:picLocks noChangeAspect="1"/>
          </p:cNvPicPr>
          <p:nvPr/>
        </p:nvPicPr>
        <p:blipFill>
          <a:blip r:embed="rId5"/>
          <a:stretch>
            <a:fillRect/>
          </a:stretch>
        </p:blipFill>
        <p:spPr>
          <a:xfrm>
            <a:off x="8293608" y="1481328"/>
            <a:ext cx="466344" cy="466344"/>
          </a:xfrm>
          <a:prstGeom prst="rect">
            <a:avLst/>
          </a:prstGeom>
        </p:spPr>
      </p:pic>
      <p:sp>
        <p:nvSpPr>
          <p:cNvPr id="15" name="Text 8"/>
          <p:cNvSpPr txBox="1"/>
          <p:nvPr/>
        </p:nvSpPr>
        <p:spPr>
          <a:xfrm>
            <a:off x="9098280" y="1325880"/>
            <a:ext cx="2377440" cy="777240"/>
          </a:xfrm>
          <a:prstGeom prst="rect">
            <a:avLst/>
          </a:prstGeom>
          <a:noFill/>
          <a:ln/>
        </p:spPr>
        <p:txBody>
          <a:bodyPr wrap="square" lIns="0" tIns="0" rIns="0" bIns="0" rtlCol="0" anchor="ctr"/>
          <a:lstStyle/>
          <a:p>
            <a:pPr indent="0" marL="0">
              <a:buNone/>
            </a:pPr>
            <a:r>
              <a:rPr lang="en-US" sz="2400" b="1" dirty="0">
                <a:solidFill>
                  <a:schemeClr val="accent4"/>
                </a:solidFill>
              </a:rPr>
              <a:t>ESCALATE</a:t>
            </a:r>
            <a:endParaRPr lang="en-US" sz="2400" dirty="0"/>
          </a:p>
        </p:txBody>
      </p:sp>
      <p:sp>
        <p:nvSpPr>
          <p:cNvPr id="16" name="Text 9"/>
          <p:cNvSpPr txBox="1"/>
          <p:nvPr/>
        </p:nvSpPr>
        <p:spPr>
          <a:xfrm>
            <a:off x="8138160" y="2286000"/>
            <a:ext cx="3383280" cy="1371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True or unresolved match → L2</a:t>
            </a:r>
            <a:endParaRPr lang="en-US" sz="1600" dirty="0"/>
          </a:p>
          <a:p>
            <a:pPr marL="342900" indent="-342900">
              <a:spcAft>
                <a:spcPts val="600"/>
              </a:spcAft>
              <a:buSzPct val="100000"/>
              <a:buChar char="•"/>
            </a:pPr>
            <a:r>
              <a:rPr lang="en-US" sz="1600" dirty="0">
                <a:solidFill>
                  <a:schemeClr val="tx1"/>
                </a:solidFill>
              </a:rPr>
              <a:t>Record what you found and why</a:t>
            </a:r>
            <a:endParaRPr lang="en-US" sz="1600" dirty="0"/>
          </a:p>
          <a:p>
            <a:pPr marL="342900" indent="-342900">
              <a:spcAft>
                <a:spcPts val="600"/>
              </a:spcAft>
              <a:buSzPct val="100000"/>
              <a:buChar char="•"/>
            </a:pPr>
            <a:r>
              <a:rPr lang="en-US" sz="1600" dirty="0">
                <a:solidFill>
                  <a:schemeClr val="tx1"/>
                </a:solidFill>
              </a:rPr>
              <a:t>Don't contact the customer about it</a:t>
            </a:r>
            <a:endParaRPr lang="en-US" sz="1600" dirty="0"/>
          </a:p>
        </p:txBody>
      </p:sp>
      <p:sp>
        <p:nvSpPr>
          <p:cNvPr id="17" name="your call"/>
          <p:cNvSpPr/>
          <p:nvPr/>
        </p:nvSpPr>
        <p:spPr>
          <a:xfrm>
            <a:off x="548640" y="3886200"/>
            <a:ext cx="5440680" cy="1600200"/>
          </a:xfrm>
          <a:prstGeom prst="roundRect">
            <a:avLst>
              <a:gd name="adj" fmla="val 6857"/>
            </a:avLst>
          </a:prstGeom>
          <a:solidFill>
            <a:schemeClr val="bg2"/>
          </a:solidFill>
          <a:ln w="12700">
            <a:solidFill>
              <a:schemeClr val="bg2"/>
            </a:solidFill>
            <a:prstDash val="solid"/>
          </a:ln>
        </p:spPr>
      </p:sp>
      <p:sp>
        <p:nvSpPr>
          <p:cNvPr id="18" name="Text 11"/>
          <p:cNvSpPr txBox="1"/>
          <p:nvPr/>
        </p:nvSpPr>
        <p:spPr>
          <a:xfrm>
            <a:off x="777240" y="4023360"/>
            <a:ext cx="5029200" cy="274320"/>
          </a:xfrm>
          <a:prstGeom prst="rect">
            <a:avLst/>
          </a:prstGeom>
          <a:noFill/>
          <a:ln/>
        </p:spPr>
        <p:txBody>
          <a:bodyPr wrap="square" lIns="0" tIns="0" rIns="0" bIns="0" rtlCol="0" anchor="t"/>
          <a:lstStyle/>
          <a:p>
            <a:pPr indent="0" marL="0">
              <a:buNone/>
            </a:pPr>
            <a:r>
              <a:rPr lang="en-US" sz="1200" b="1" spc="100" kern="0" dirty="0">
                <a:solidFill>
                  <a:schemeClr val="accent3"/>
                </a:solidFill>
              </a:rPr>
              <a:t>YOUR CALL (L1)</a:t>
            </a:r>
            <a:endParaRPr lang="en-US" sz="1200" dirty="0"/>
          </a:p>
        </p:txBody>
      </p:sp>
      <p:sp>
        <p:nvSpPr>
          <p:cNvPr id="19" name="Text 12"/>
          <p:cNvSpPr txBox="1"/>
          <p:nvPr/>
        </p:nvSpPr>
        <p:spPr>
          <a:xfrm>
            <a:off x="777240" y="4343400"/>
            <a:ext cx="5029200" cy="1051560"/>
          </a:xfrm>
          <a:prstGeom prst="rect">
            <a:avLst/>
          </a:prstGeom>
          <a:noFill/>
          <a:ln/>
        </p:spPr>
        <p:txBody>
          <a:bodyPr wrap="square" lIns="0" tIns="0" rIns="0" bIns="0" rtlCol="0" anchor="t"/>
          <a:lstStyle/>
          <a:p>
            <a:pPr indent="0" marL="0">
              <a:buNone/>
            </a:pPr>
            <a:r>
              <a:rPr lang="en-US" sz="1500" dirty="0">
                <a:solidFill>
                  <a:schemeClr val="tx1"/>
                </a:solidFill>
              </a:rPr>
              <a:t>Close a false positive when the mismatch is evidenced — with the 4-eye check your procedure requires. Request information. Escalate.</a:t>
            </a:r>
            <a:endParaRPr lang="en-US" sz="1500" dirty="0"/>
          </a:p>
        </p:txBody>
      </p:sp>
      <p:sp>
        <p:nvSpPr>
          <p:cNvPr id="20" name="not your call"/>
          <p:cNvSpPr/>
          <p:nvPr/>
        </p:nvSpPr>
        <p:spPr>
          <a:xfrm>
            <a:off x="6172200" y="3886200"/>
            <a:ext cx="5440680" cy="1600200"/>
          </a:xfrm>
          <a:prstGeom prst="roundRect">
            <a:avLst>
              <a:gd name="adj" fmla="val 6857"/>
            </a:avLst>
          </a:prstGeom>
          <a:solidFill>
            <a:schemeClr val="bg2"/>
          </a:solidFill>
          <a:ln w="12700">
            <a:solidFill>
              <a:schemeClr val="bg2"/>
            </a:solidFill>
            <a:prstDash val="solid"/>
          </a:ln>
        </p:spPr>
      </p:sp>
      <p:sp>
        <p:nvSpPr>
          <p:cNvPr id="21" name="Text 14"/>
          <p:cNvSpPr txBox="1"/>
          <p:nvPr/>
        </p:nvSpPr>
        <p:spPr>
          <a:xfrm>
            <a:off x="6400800" y="4023360"/>
            <a:ext cx="5029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NOT YOUR CALL — ESCALATE</a:t>
            </a:r>
            <a:endParaRPr lang="en-US" sz="1200" dirty="0"/>
          </a:p>
        </p:txBody>
      </p:sp>
      <p:sp>
        <p:nvSpPr>
          <p:cNvPr id="22" name="Text 15"/>
          <p:cNvSpPr txBox="1"/>
          <p:nvPr/>
        </p:nvSpPr>
        <p:spPr>
          <a:xfrm>
            <a:off x="6400800" y="4343400"/>
            <a:ext cx="5029200" cy="1051560"/>
          </a:xfrm>
          <a:prstGeom prst="rect">
            <a:avLst/>
          </a:prstGeom>
          <a:noFill/>
          <a:ln/>
        </p:spPr>
        <p:txBody>
          <a:bodyPr wrap="square" lIns="0" tIns="0" rIns="0" bIns="0" rtlCol="0" anchor="t"/>
          <a:lstStyle/>
          <a:p>
            <a:pPr indent="0" marL="0">
              <a:buNone/>
            </a:pPr>
            <a:r>
              <a:rPr lang="en-US" sz="1500" dirty="0">
                <a:solidFill>
                  <a:schemeClr val="tx1"/>
                </a:solidFill>
              </a:rPr>
              <a:t>Releasing an unresolved hit. Freeze vs reject. Licences and exceptions. Reporting to a regulator. Telling the customer anything about why.</a:t>
            </a:r>
            <a:endParaRPr lang="en-US" sz="1500" dirty="0"/>
          </a:p>
        </p:txBody>
      </p:sp>
      <p:sp>
        <p:nvSpPr>
          <p:cNvPr id="23" name="Text 16"/>
          <p:cNvSpPr txBox="1"/>
          <p:nvPr/>
        </p:nvSpPr>
        <p:spPr>
          <a:xfrm>
            <a:off x="548640" y="5623560"/>
            <a:ext cx="11064240" cy="365760"/>
          </a:xfrm>
          <a:prstGeom prst="rect">
            <a:avLst/>
          </a:prstGeom>
          <a:noFill/>
          <a:ln/>
        </p:spPr>
        <p:txBody>
          <a:bodyPr wrap="square" lIns="0" tIns="0" rIns="0" bIns="0" rtlCol="0" anchor="t"/>
          <a:lstStyle/>
          <a:p>
            <a:pPr indent="0" marL="0">
              <a:buNone/>
            </a:pPr>
            <a:r>
              <a:rPr lang="en-US" sz="1400" b="1" dirty="0">
                <a:solidFill>
                  <a:schemeClr val="tx1"/>
                </a:solidFill>
              </a:rPr>
              <a:t>Escalation path:  </a:t>
            </a:r>
            <a:pPr indent="0" marL="0">
              <a:buNone/>
            </a:pPr>
            <a:r>
              <a:rPr lang="en-US" sz="1400" dirty="0">
                <a:solidFill>
                  <a:schemeClr val="tx1"/>
                </a:solidFill>
              </a:rPr>
              <a:t>L1 analyst → 4-eye review → L2 Sanctions → L3 Global Head of Sanctions / CCO → Treasury &amp; regional MLROs execute freeze and reporting</a:t>
            </a:r>
            <a:endParaRPr lang="en-US" sz="1400" dirty="0"/>
          </a:p>
        </p:txBody>
      </p:sp>
      <p:sp>
        <p:nvSpPr>
          <p:cNvPr id="24" name="Text 17"/>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Checkout Global Sanctions Reporting Procedure — escalation and operating model (cite section).</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Four ways a payment can be exposed</a:t>
            </a:r>
            <a:endParaRPr lang="en-US" sz="3200" dirty="0"/>
          </a:p>
        </p:txBody>
      </p:sp>
      <p:sp>
        <p:nvSpPr>
          <p:cNvPr id="3" name="Direct hit"/>
          <p:cNvSpPr/>
          <p:nvPr/>
        </p:nvSpPr>
        <p:spPr>
          <a:xfrm>
            <a:off x="548640" y="1280160"/>
            <a:ext cx="5440680" cy="2057400"/>
          </a:xfrm>
          <a:prstGeom prst="roundRect">
            <a:avLst>
              <a:gd name="adj" fmla="val 5333"/>
            </a:avLst>
          </a:prstGeom>
          <a:solidFill>
            <a:schemeClr val="bg2"/>
          </a:solidFill>
          <a:ln w="12700">
            <a:solidFill>
              <a:schemeClr val="bg2"/>
            </a:solidFill>
            <a:prstDash val="solid"/>
          </a:ln>
        </p:spPr>
      </p:sp>
      <p:sp>
        <p:nvSpPr>
          <p:cNvPr id="4" name="Direct hit circle"/>
          <p:cNvSpPr/>
          <p:nvPr/>
        </p:nvSpPr>
        <p:spPr>
          <a:xfrm>
            <a:off x="822960" y="1554480"/>
            <a:ext cx="731520" cy="731520"/>
          </a:xfrm>
          <a:prstGeom prst="ellipse">
            <a:avLst/>
          </a:prstGeom>
          <a:solidFill>
            <a:schemeClr val="accent1"/>
          </a:solidFill>
          <a:ln w="12700">
            <a:solidFill>
              <a:schemeClr val="accent1"/>
            </a:solidFill>
            <a:prstDash val="solid"/>
          </a:ln>
        </p:spPr>
      </p:sp>
      <p:pic>
        <p:nvPicPr>
          <p:cNvPr id="5" name="Direct hit icon" descr="preencoded.png">    </p:cNvPr>
          <p:cNvPicPr>
            <a:picLocks noChangeAspect="1"/>
          </p:cNvPicPr>
          <p:nvPr/>
        </p:nvPicPr>
        <p:blipFill>
          <a:blip r:embed="rId1"/>
          <a:stretch>
            <a:fillRect/>
          </a:stretch>
        </p:blipFill>
        <p:spPr>
          <a:xfrm>
            <a:off x="969264" y="1700784"/>
            <a:ext cx="438912" cy="438912"/>
          </a:xfrm>
          <a:prstGeom prst="rect">
            <a:avLst/>
          </a:prstGeom>
        </p:spPr>
      </p:pic>
      <p:sp>
        <p:nvSpPr>
          <p:cNvPr id="6" name="Text 3"/>
          <p:cNvSpPr txBox="1"/>
          <p:nvPr/>
        </p:nvSpPr>
        <p:spPr>
          <a:xfrm>
            <a:off x="1737360" y="1554480"/>
            <a:ext cx="4023360" cy="457200"/>
          </a:xfrm>
          <a:prstGeom prst="rect">
            <a:avLst/>
          </a:prstGeom>
          <a:noFill/>
          <a:ln/>
        </p:spPr>
        <p:txBody>
          <a:bodyPr wrap="square" lIns="0" tIns="0" rIns="0" bIns="0" rtlCol="0" anchor="t"/>
          <a:lstStyle/>
          <a:p>
            <a:pPr indent="0" marL="0">
              <a:buNone/>
            </a:pPr>
            <a:r>
              <a:rPr lang="en-US" sz="2000" b="1" dirty="0">
                <a:solidFill>
                  <a:schemeClr val="tx1"/>
                </a:solidFill>
              </a:rPr>
              <a:t>Direct hit</a:t>
            </a:r>
            <a:endParaRPr lang="en-US" sz="2000" dirty="0"/>
          </a:p>
        </p:txBody>
      </p:sp>
      <p:sp>
        <p:nvSpPr>
          <p:cNvPr id="7" name="Text 4"/>
          <p:cNvSpPr txBox="1"/>
          <p:nvPr/>
        </p:nvSpPr>
        <p:spPr>
          <a:xfrm>
            <a:off x="1737360" y="2029968"/>
            <a:ext cx="4023360" cy="594360"/>
          </a:xfrm>
          <a:prstGeom prst="rect">
            <a:avLst/>
          </a:prstGeom>
          <a:noFill/>
          <a:ln/>
        </p:spPr>
        <p:txBody>
          <a:bodyPr wrap="square" lIns="0" tIns="0" rIns="0" bIns="0" rtlCol="0" anchor="t"/>
          <a:lstStyle/>
          <a:p>
            <a:pPr indent="0" marL="0">
              <a:buNone/>
            </a:pPr>
            <a:r>
              <a:rPr lang="en-US" sz="1500" dirty="0">
                <a:solidFill>
                  <a:schemeClr val="tx1"/>
                </a:solidFill>
              </a:rPr>
              <a:t>The party itself is on a list.</a:t>
            </a:r>
            <a:endParaRPr lang="en-US" sz="1500" dirty="0"/>
          </a:p>
        </p:txBody>
      </p:sp>
      <p:sp>
        <p:nvSpPr>
          <p:cNvPr id="8" name="Text 5"/>
          <p:cNvSpPr txBox="1"/>
          <p:nvPr/>
        </p:nvSpPr>
        <p:spPr>
          <a:xfrm>
            <a:off x="1737360" y="2651760"/>
            <a:ext cx="4023360" cy="548640"/>
          </a:xfrm>
          <a:prstGeom prst="rect">
            <a:avLst/>
          </a:prstGeom>
          <a:noFill/>
          <a:ln/>
        </p:spPr>
        <p:txBody>
          <a:bodyPr wrap="square" lIns="0" tIns="0" rIns="0" bIns="0" rtlCol="0" anchor="t"/>
          <a:lstStyle/>
          <a:p>
            <a:pPr indent="0" marL="0">
              <a:buNone/>
            </a:pPr>
            <a:r>
              <a:rPr lang="en-US" sz="1400" i="1" dirty="0">
                <a:solidFill>
                  <a:schemeClr val="accent6"/>
                </a:solidFill>
              </a:rPr>
              <a:t>e.g. The beneficiary bank is a listed Russian bank.</a:t>
            </a:r>
            <a:endParaRPr lang="en-US" sz="1400" dirty="0"/>
          </a:p>
        </p:txBody>
      </p:sp>
      <p:sp>
        <p:nvSpPr>
          <p:cNvPr id="9" name="Owned or controlled"/>
          <p:cNvSpPr/>
          <p:nvPr/>
        </p:nvSpPr>
        <p:spPr>
          <a:xfrm>
            <a:off x="6172200" y="1280160"/>
            <a:ext cx="5440680" cy="2057400"/>
          </a:xfrm>
          <a:prstGeom prst="roundRect">
            <a:avLst>
              <a:gd name="adj" fmla="val 5333"/>
            </a:avLst>
          </a:prstGeom>
          <a:solidFill>
            <a:schemeClr val="bg2"/>
          </a:solidFill>
          <a:ln w="12700">
            <a:solidFill>
              <a:schemeClr val="bg2"/>
            </a:solidFill>
            <a:prstDash val="solid"/>
          </a:ln>
        </p:spPr>
      </p:sp>
      <p:sp>
        <p:nvSpPr>
          <p:cNvPr id="10" name="Owned or controlled circle"/>
          <p:cNvSpPr/>
          <p:nvPr/>
        </p:nvSpPr>
        <p:spPr>
          <a:xfrm>
            <a:off x="6446520" y="1554480"/>
            <a:ext cx="731520" cy="731520"/>
          </a:xfrm>
          <a:prstGeom prst="ellipse">
            <a:avLst/>
          </a:prstGeom>
          <a:solidFill>
            <a:schemeClr val="tx1"/>
          </a:solidFill>
          <a:ln w="12700">
            <a:solidFill>
              <a:schemeClr val="tx1"/>
            </a:solidFill>
            <a:prstDash val="solid"/>
          </a:ln>
        </p:spPr>
      </p:sp>
      <p:pic>
        <p:nvPicPr>
          <p:cNvPr id="11" name="Owned or controlled icon" descr="preencoded.png">    </p:cNvPr>
          <p:cNvPicPr>
            <a:picLocks noChangeAspect="1"/>
          </p:cNvPicPr>
          <p:nvPr/>
        </p:nvPicPr>
        <p:blipFill>
          <a:blip r:embed="rId2"/>
          <a:stretch>
            <a:fillRect/>
          </a:stretch>
        </p:blipFill>
        <p:spPr>
          <a:xfrm>
            <a:off x="6592824" y="1700784"/>
            <a:ext cx="438912" cy="438912"/>
          </a:xfrm>
          <a:prstGeom prst="rect">
            <a:avLst/>
          </a:prstGeom>
        </p:spPr>
      </p:pic>
      <p:sp>
        <p:nvSpPr>
          <p:cNvPr id="12" name="Text 8"/>
          <p:cNvSpPr txBox="1"/>
          <p:nvPr/>
        </p:nvSpPr>
        <p:spPr>
          <a:xfrm>
            <a:off x="7360920" y="1554480"/>
            <a:ext cx="4023360" cy="457200"/>
          </a:xfrm>
          <a:prstGeom prst="rect">
            <a:avLst/>
          </a:prstGeom>
          <a:noFill/>
          <a:ln/>
        </p:spPr>
        <p:txBody>
          <a:bodyPr wrap="square" lIns="0" tIns="0" rIns="0" bIns="0" rtlCol="0" anchor="t"/>
          <a:lstStyle/>
          <a:p>
            <a:pPr indent="0" marL="0">
              <a:buNone/>
            </a:pPr>
            <a:r>
              <a:rPr lang="en-US" sz="2000" b="1" dirty="0">
                <a:solidFill>
                  <a:schemeClr val="tx1"/>
                </a:solidFill>
              </a:rPr>
              <a:t>Owned or controlled</a:t>
            </a:r>
            <a:endParaRPr lang="en-US" sz="2000" dirty="0"/>
          </a:p>
        </p:txBody>
      </p:sp>
      <p:sp>
        <p:nvSpPr>
          <p:cNvPr id="13" name="Text 9"/>
          <p:cNvSpPr txBox="1"/>
          <p:nvPr/>
        </p:nvSpPr>
        <p:spPr>
          <a:xfrm>
            <a:off x="7360920" y="2029968"/>
            <a:ext cx="4023360" cy="594360"/>
          </a:xfrm>
          <a:prstGeom prst="rect">
            <a:avLst/>
          </a:prstGeom>
          <a:noFill/>
          <a:ln/>
        </p:spPr>
        <p:txBody>
          <a:bodyPr wrap="square" lIns="0" tIns="0" rIns="0" bIns="0" rtlCol="0" anchor="t"/>
          <a:lstStyle/>
          <a:p>
            <a:pPr indent="0" marL="0">
              <a:buNone/>
            </a:pPr>
            <a:r>
              <a:rPr lang="en-US" sz="1500" dirty="0">
                <a:solidFill>
                  <a:schemeClr val="tx1"/>
                </a:solidFill>
              </a:rPr>
              <a:t>Not listed — but a listed person owns, controls or benefits from it.</a:t>
            </a:r>
            <a:endParaRPr lang="en-US" sz="1500" dirty="0"/>
          </a:p>
        </p:txBody>
      </p:sp>
      <p:sp>
        <p:nvSpPr>
          <p:cNvPr id="14" name="Text 10"/>
          <p:cNvSpPr txBox="1"/>
          <p:nvPr/>
        </p:nvSpPr>
        <p:spPr>
          <a:xfrm>
            <a:off x="7360920" y="2651760"/>
            <a:ext cx="4023360" cy="548640"/>
          </a:xfrm>
          <a:prstGeom prst="rect">
            <a:avLst/>
          </a:prstGeom>
          <a:noFill/>
          <a:ln/>
        </p:spPr>
        <p:txBody>
          <a:bodyPr wrap="square" lIns="0" tIns="0" rIns="0" bIns="0" rtlCol="0" anchor="t"/>
          <a:lstStyle/>
          <a:p>
            <a:pPr indent="0" marL="0">
              <a:buNone/>
            </a:pPr>
            <a:r>
              <a:rPr lang="en-US" sz="1400" i="1" dirty="0">
                <a:solidFill>
                  <a:schemeClr val="accent6"/>
                </a:solidFill>
              </a:rPr>
              <a:t>e.g. A newly added director is designated and signs payouts.</a:t>
            </a:r>
            <a:endParaRPr lang="en-US" sz="1400" dirty="0"/>
          </a:p>
        </p:txBody>
      </p:sp>
      <p:sp>
        <p:nvSpPr>
          <p:cNvPr id="15" name="Restricted place or activity"/>
          <p:cNvSpPr/>
          <p:nvPr/>
        </p:nvSpPr>
        <p:spPr>
          <a:xfrm>
            <a:off x="548640" y="3520440"/>
            <a:ext cx="5440680" cy="2057400"/>
          </a:xfrm>
          <a:prstGeom prst="roundRect">
            <a:avLst>
              <a:gd name="adj" fmla="val 5333"/>
            </a:avLst>
          </a:prstGeom>
          <a:solidFill>
            <a:schemeClr val="bg2"/>
          </a:solidFill>
          <a:ln w="12700">
            <a:solidFill>
              <a:schemeClr val="bg2"/>
            </a:solidFill>
            <a:prstDash val="solid"/>
          </a:ln>
        </p:spPr>
      </p:sp>
      <p:sp>
        <p:nvSpPr>
          <p:cNvPr id="16" name="Restricted place or activity circle"/>
          <p:cNvSpPr/>
          <p:nvPr/>
        </p:nvSpPr>
        <p:spPr>
          <a:xfrm>
            <a:off x="822960" y="3794760"/>
            <a:ext cx="731520" cy="731520"/>
          </a:xfrm>
          <a:prstGeom prst="ellipse">
            <a:avLst/>
          </a:prstGeom>
          <a:solidFill>
            <a:schemeClr val="accent4"/>
          </a:solidFill>
          <a:ln w="12700">
            <a:solidFill>
              <a:schemeClr val="accent4"/>
            </a:solidFill>
            <a:prstDash val="solid"/>
          </a:ln>
        </p:spPr>
      </p:sp>
      <p:pic>
        <p:nvPicPr>
          <p:cNvPr id="17" name="Restricted place or activity icon" descr="preencoded.png">    </p:cNvPr>
          <p:cNvPicPr>
            <a:picLocks noChangeAspect="1"/>
          </p:cNvPicPr>
          <p:nvPr/>
        </p:nvPicPr>
        <p:blipFill>
          <a:blip r:embed="rId3"/>
          <a:stretch>
            <a:fillRect/>
          </a:stretch>
        </p:blipFill>
        <p:spPr>
          <a:xfrm>
            <a:off x="969264" y="3941064"/>
            <a:ext cx="438912" cy="438912"/>
          </a:xfrm>
          <a:prstGeom prst="rect">
            <a:avLst/>
          </a:prstGeom>
        </p:spPr>
      </p:pic>
      <p:sp>
        <p:nvSpPr>
          <p:cNvPr id="18" name="Text 13"/>
          <p:cNvSpPr txBox="1"/>
          <p:nvPr/>
        </p:nvSpPr>
        <p:spPr>
          <a:xfrm>
            <a:off x="1737360" y="3794760"/>
            <a:ext cx="4023360" cy="457200"/>
          </a:xfrm>
          <a:prstGeom prst="rect">
            <a:avLst/>
          </a:prstGeom>
          <a:noFill/>
          <a:ln/>
        </p:spPr>
        <p:txBody>
          <a:bodyPr wrap="square" lIns="0" tIns="0" rIns="0" bIns="0" rtlCol="0" anchor="t"/>
          <a:lstStyle/>
          <a:p>
            <a:pPr indent="0" marL="0">
              <a:buNone/>
            </a:pPr>
            <a:r>
              <a:rPr lang="en-US" sz="2000" b="1" dirty="0">
                <a:solidFill>
                  <a:schemeClr val="tx1"/>
                </a:solidFill>
              </a:rPr>
              <a:t>Restricted place or activity</a:t>
            </a:r>
            <a:endParaRPr lang="en-US" sz="2000" dirty="0"/>
          </a:p>
        </p:txBody>
      </p:sp>
      <p:sp>
        <p:nvSpPr>
          <p:cNvPr id="19" name="Text 14"/>
          <p:cNvSpPr txBox="1"/>
          <p:nvPr/>
        </p:nvSpPr>
        <p:spPr>
          <a:xfrm>
            <a:off x="1737360" y="4270248"/>
            <a:ext cx="4023360" cy="594360"/>
          </a:xfrm>
          <a:prstGeom prst="rect">
            <a:avLst/>
          </a:prstGeom>
          <a:noFill/>
          <a:ln/>
        </p:spPr>
        <p:txBody>
          <a:bodyPr wrap="square" lIns="0" tIns="0" rIns="0" bIns="0" rtlCol="0" anchor="t"/>
          <a:lstStyle/>
          <a:p>
            <a:pPr indent="0" marL="0">
              <a:buNone/>
            </a:pPr>
            <a:r>
              <a:rPr lang="en-US" sz="1500" dirty="0">
                <a:solidFill>
                  <a:schemeClr val="tx1"/>
                </a:solidFill>
              </a:rPr>
              <a:t>A country, region, sector, service or goods is restricted.</a:t>
            </a:r>
            <a:endParaRPr lang="en-US" sz="1500" dirty="0"/>
          </a:p>
        </p:txBody>
      </p:sp>
      <p:sp>
        <p:nvSpPr>
          <p:cNvPr id="20" name="Text 15"/>
          <p:cNvSpPr txBox="1"/>
          <p:nvPr/>
        </p:nvSpPr>
        <p:spPr>
          <a:xfrm>
            <a:off x="1737360" y="4892040"/>
            <a:ext cx="4023360" cy="548640"/>
          </a:xfrm>
          <a:prstGeom prst="rect">
            <a:avLst/>
          </a:prstGeom>
          <a:noFill/>
          <a:ln/>
        </p:spPr>
        <p:txBody>
          <a:bodyPr wrap="square" lIns="0" tIns="0" rIns="0" bIns="0" rtlCol="0" anchor="t"/>
          <a:lstStyle/>
          <a:p>
            <a:pPr indent="0" marL="0">
              <a:buNone/>
            </a:pPr>
            <a:r>
              <a:rPr lang="en-US" sz="1400" i="1" dirty="0">
                <a:solidFill>
                  <a:schemeClr val="accent6"/>
                </a:solidFill>
              </a:rPr>
              <a:t>e.g. The customer's IP address is in a sanctioned region.</a:t>
            </a:r>
            <a:endParaRPr lang="en-US" sz="1400" dirty="0"/>
          </a:p>
        </p:txBody>
      </p:sp>
      <p:sp>
        <p:nvSpPr>
          <p:cNvPr id="21" name="Evasion red flags"/>
          <p:cNvSpPr/>
          <p:nvPr/>
        </p:nvSpPr>
        <p:spPr>
          <a:xfrm>
            <a:off x="6172200" y="3520440"/>
            <a:ext cx="5440680" cy="2057400"/>
          </a:xfrm>
          <a:prstGeom prst="roundRect">
            <a:avLst>
              <a:gd name="adj" fmla="val 5333"/>
            </a:avLst>
          </a:prstGeom>
          <a:solidFill>
            <a:schemeClr val="bg2"/>
          </a:solidFill>
          <a:ln w="12700">
            <a:solidFill>
              <a:schemeClr val="bg2"/>
            </a:solidFill>
            <a:prstDash val="solid"/>
          </a:ln>
        </p:spPr>
      </p:sp>
      <p:sp>
        <p:nvSpPr>
          <p:cNvPr id="22" name="Evasion red flags circle"/>
          <p:cNvSpPr/>
          <p:nvPr/>
        </p:nvSpPr>
        <p:spPr>
          <a:xfrm>
            <a:off x="6446520" y="3794760"/>
            <a:ext cx="731520" cy="731520"/>
          </a:xfrm>
          <a:prstGeom prst="ellipse">
            <a:avLst/>
          </a:prstGeom>
          <a:solidFill>
            <a:schemeClr val="accent2"/>
          </a:solidFill>
          <a:ln w="12700">
            <a:solidFill>
              <a:schemeClr val="accent2"/>
            </a:solidFill>
            <a:prstDash val="solid"/>
          </a:ln>
        </p:spPr>
      </p:sp>
      <p:pic>
        <p:nvPicPr>
          <p:cNvPr id="23" name="Evasion red flags icon" descr="preencoded.png">    </p:cNvPr>
          <p:cNvPicPr>
            <a:picLocks noChangeAspect="1"/>
          </p:cNvPicPr>
          <p:nvPr/>
        </p:nvPicPr>
        <p:blipFill>
          <a:blip r:embed="rId4"/>
          <a:stretch>
            <a:fillRect/>
          </a:stretch>
        </p:blipFill>
        <p:spPr>
          <a:xfrm>
            <a:off x="6592824" y="3941064"/>
            <a:ext cx="438912" cy="438912"/>
          </a:xfrm>
          <a:prstGeom prst="rect">
            <a:avLst/>
          </a:prstGeom>
        </p:spPr>
      </p:pic>
      <p:sp>
        <p:nvSpPr>
          <p:cNvPr id="24" name="Text 18"/>
          <p:cNvSpPr txBox="1"/>
          <p:nvPr/>
        </p:nvSpPr>
        <p:spPr>
          <a:xfrm>
            <a:off x="7360920" y="3794760"/>
            <a:ext cx="4023360" cy="457200"/>
          </a:xfrm>
          <a:prstGeom prst="rect">
            <a:avLst/>
          </a:prstGeom>
          <a:noFill/>
          <a:ln/>
        </p:spPr>
        <p:txBody>
          <a:bodyPr wrap="square" lIns="0" tIns="0" rIns="0" bIns="0" rtlCol="0" anchor="t"/>
          <a:lstStyle/>
          <a:p>
            <a:pPr indent="0" marL="0">
              <a:buNone/>
            </a:pPr>
            <a:r>
              <a:rPr lang="en-US" sz="2000" b="1" dirty="0">
                <a:solidFill>
                  <a:schemeClr val="tx1"/>
                </a:solidFill>
              </a:rPr>
              <a:t>Evasion red flags</a:t>
            </a:r>
            <a:endParaRPr lang="en-US" sz="2000" dirty="0"/>
          </a:p>
        </p:txBody>
      </p:sp>
      <p:sp>
        <p:nvSpPr>
          <p:cNvPr id="25" name="Text 19"/>
          <p:cNvSpPr txBox="1"/>
          <p:nvPr/>
        </p:nvSpPr>
        <p:spPr>
          <a:xfrm>
            <a:off x="7360920" y="4270248"/>
            <a:ext cx="4023360" cy="594360"/>
          </a:xfrm>
          <a:prstGeom prst="rect">
            <a:avLst/>
          </a:prstGeom>
          <a:noFill/>
          <a:ln/>
        </p:spPr>
        <p:txBody>
          <a:bodyPr wrap="square" lIns="0" tIns="0" rIns="0" bIns="0" rtlCol="0" anchor="t"/>
          <a:lstStyle/>
          <a:p>
            <a:pPr indent="0" marL="0">
              <a:buNone/>
            </a:pPr>
            <a:r>
              <a:rPr lang="en-US" sz="1500" dirty="0">
                <a:solidFill>
                  <a:schemeClr val="tx1"/>
                </a:solidFill>
              </a:rPr>
              <a:t>Something looks built to get around the check.</a:t>
            </a:r>
            <a:endParaRPr lang="en-US" sz="1500" dirty="0"/>
          </a:p>
        </p:txBody>
      </p:sp>
      <p:sp>
        <p:nvSpPr>
          <p:cNvPr id="26" name="Text 20"/>
          <p:cNvSpPr txBox="1"/>
          <p:nvPr/>
        </p:nvSpPr>
        <p:spPr>
          <a:xfrm>
            <a:off x="7360920" y="4892040"/>
            <a:ext cx="4023360" cy="548640"/>
          </a:xfrm>
          <a:prstGeom prst="rect">
            <a:avLst/>
          </a:prstGeom>
          <a:noFill/>
          <a:ln/>
        </p:spPr>
        <p:txBody>
          <a:bodyPr wrap="square" lIns="0" tIns="0" rIns="0" bIns="0" rtlCol="0" anchor="t"/>
          <a:lstStyle/>
          <a:p>
            <a:pPr indent="0" marL="0">
              <a:buNone/>
            </a:pPr>
            <a:r>
              <a:rPr lang="en-US" sz="1400" i="1" dirty="0">
                <a:solidFill>
                  <a:schemeClr val="accent6"/>
                </a:solidFill>
              </a:rPr>
              <a:t>e.g. Payments split across new intermediaries with vague descriptions.</a:t>
            </a:r>
            <a:endParaRPr lang="en-US" sz="1400" dirty="0"/>
          </a:p>
        </p:txBody>
      </p:sp>
      <p:sp>
        <p:nvSpPr>
          <p:cNvPr id="27" name="Text 21"/>
          <p:cNvSpPr txBox="1"/>
          <p:nvPr/>
        </p:nvSpPr>
        <p:spPr>
          <a:xfrm>
            <a:off x="548640" y="5760720"/>
            <a:ext cx="11064240" cy="320040"/>
          </a:xfrm>
          <a:prstGeom prst="rect">
            <a:avLst/>
          </a:prstGeom>
          <a:noFill/>
          <a:ln/>
        </p:spPr>
        <p:txBody>
          <a:bodyPr wrap="square" lIns="0" tIns="0" rIns="0" bIns="0" rtlCol="0" anchor="t"/>
          <a:lstStyle/>
          <a:p>
            <a:pPr indent="0" marL="0">
              <a:buNone/>
            </a:pPr>
            <a:r>
              <a:rPr lang="en-US" sz="1600" b="1" dirty="0">
                <a:solidFill>
                  <a:schemeClr val="accent1"/>
                </a:solidFill>
              </a:rPr>
              <a:t>Any one is enough to stop and check. In real cases they usually arrive together.</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Which rules apply? Every one the payment touches</a:t>
            </a:r>
            <a:endParaRPr lang="en-US" sz="3200" dirty="0"/>
          </a:p>
        </p:txBody>
      </p:sp>
      <p:sp>
        <p:nvSpPr>
          <p:cNvPr id="3" name="Text 1"/>
          <p:cNvSpPr txBox="1"/>
          <p:nvPr/>
        </p:nvSpPr>
        <p:spPr>
          <a:xfrm>
            <a:off x="548640" y="1234440"/>
            <a:ext cx="51206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APPLY EVERY LAYER</a:t>
            </a:r>
            <a:endParaRPr lang="en-US" sz="1200" dirty="0"/>
          </a:p>
        </p:txBody>
      </p:sp>
      <p:sp>
        <p:nvSpPr>
          <p:cNvPr id="4" name="layer 1"/>
          <p:cNvSpPr/>
          <p:nvPr/>
        </p:nvSpPr>
        <p:spPr>
          <a:xfrm>
            <a:off x="548640" y="1600200"/>
            <a:ext cx="5120640" cy="896112"/>
          </a:xfrm>
          <a:prstGeom prst="roundRect">
            <a:avLst>
              <a:gd name="adj" fmla="val 12245"/>
            </a:avLst>
          </a:prstGeom>
          <a:solidFill>
            <a:schemeClr val="tx1"/>
          </a:solidFill>
          <a:ln w="12700">
            <a:solidFill>
              <a:schemeClr val="tx1"/>
            </a:solidFill>
            <a:prstDash val="solid"/>
          </a:ln>
        </p:spPr>
      </p:sp>
      <p:sp>
        <p:nvSpPr>
          <p:cNvPr id="5" name="Shape 3"/>
          <p:cNvSpPr/>
          <p:nvPr/>
        </p:nvSpPr>
        <p:spPr>
          <a:xfrm>
            <a:off x="731520" y="1773936"/>
            <a:ext cx="548640" cy="548640"/>
          </a:xfrm>
          <a:prstGeom prst="ellipse">
            <a:avLst/>
          </a:prstGeom>
          <a:solidFill>
            <a:schemeClr val="accent1"/>
          </a:solidFill>
          <a:ln w="12700">
            <a:solidFill>
              <a:schemeClr val="accent1"/>
            </a:solidFill>
            <a:prstDash val="solid"/>
          </a:ln>
        </p:spPr>
      </p:sp>
      <p:sp>
        <p:nvSpPr>
          <p:cNvPr id="6" name="Text 4"/>
          <p:cNvSpPr txBox="1"/>
          <p:nvPr/>
        </p:nvSpPr>
        <p:spPr>
          <a:xfrm>
            <a:off x="731520" y="1773936"/>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5"/>
          <p:cNvSpPr txBox="1"/>
          <p:nvPr/>
        </p:nvSpPr>
        <p:spPr>
          <a:xfrm>
            <a:off x="1463040" y="1691640"/>
            <a:ext cx="4023360" cy="365760"/>
          </a:xfrm>
          <a:prstGeom prst="rect">
            <a:avLst/>
          </a:prstGeom>
          <a:noFill/>
          <a:ln/>
        </p:spPr>
        <p:txBody>
          <a:bodyPr wrap="square" lIns="0" tIns="0" rIns="0" bIns="0" rtlCol="0" anchor="t"/>
          <a:lstStyle/>
          <a:p>
            <a:pPr indent="0" marL="0">
              <a:buNone/>
            </a:pPr>
            <a:r>
              <a:rPr lang="en-US" sz="1800" b="1" dirty="0">
                <a:solidFill>
                  <a:schemeClr val="bg1"/>
                </a:solidFill>
              </a:rPr>
              <a:t>Local law</a:t>
            </a:r>
            <a:endParaRPr lang="en-US" sz="1800" dirty="0"/>
          </a:p>
        </p:txBody>
      </p:sp>
      <p:sp>
        <p:nvSpPr>
          <p:cNvPr id="8" name="Text 6"/>
          <p:cNvSpPr txBox="1"/>
          <p:nvPr/>
        </p:nvSpPr>
        <p:spPr>
          <a:xfrm>
            <a:off x="1463040" y="2057400"/>
            <a:ext cx="4023360" cy="365760"/>
          </a:xfrm>
          <a:prstGeom prst="rect">
            <a:avLst/>
          </a:prstGeom>
          <a:noFill/>
          <a:ln/>
        </p:spPr>
        <p:txBody>
          <a:bodyPr wrap="square" lIns="0" tIns="0" rIns="0" bIns="0" rtlCol="0" anchor="t"/>
          <a:lstStyle/>
          <a:p>
            <a:pPr indent="0" marL="0">
              <a:buNone/>
            </a:pPr>
            <a:r>
              <a:rPr lang="en-US" sz="1400" dirty="0">
                <a:solidFill>
                  <a:schemeClr val="accent5"/>
                </a:solidFill>
              </a:rPr>
              <a:t>of the Checkout entity processing the payment</a:t>
            </a:r>
            <a:endParaRPr lang="en-US" sz="1400" dirty="0"/>
          </a:p>
        </p:txBody>
      </p:sp>
      <p:sp>
        <p:nvSpPr>
          <p:cNvPr id="9" name="layer 2"/>
          <p:cNvSpPr/>
          <p:nvPr/>
        </p:nvSpPr>
        <p:spPr>
          <a:xfrm>
            <a:off x="548640" y="2624328"/>
            <a:ext cx="5120640" cy="896112"/>
          </a:xfrm>
          <a:prstGeom prst="roundRect">
            <a:avLst>
              <a:gd name="adj" fmla="val 12245"/>
            </a:avLst>
          </a:prstGeom>
          <a:solidFill>
            <a:schemeClr val="bg2"/>
          </a:solidFill>
          <a:ln w="12700">
            <a:solidFill>
              <a:schemeClr val="bg2"/>
            </a:solidFill>
            <a:prstDash val="solid"/>
          </a:ln>
        </p:spPr>
      </p:sp>
      <p:sp>
        <p:nvSpPr>
          <p:cNvPr id="10" name="Shape 8"/>
          <p:cNvSpPr/>
          <p:nvPr/>
        </p:nvSpPr>
        <p:spPr>
          <a:xfrm>
            <a:off x="731520" y="2798064"/>
            <a:ext cx="548640" cy="548640"/>
          </a:xfrm>
          <a:prstGeom prst="ellipse">
            <a:avLst/>
          </a:prstGeom>
          <a:solidFill>
            <a:schemeClr val="tx1"/>
          </a:solidFill>
          <a:ln w="12700">
            <a:solidFill>
              <a:schemeClr val="tx1"/>
            </a:solidFill>
            <a:prstDash val="solid"/>
          </a:ln>
        </p:spPr>
      </p:sp>
      <p:sp>
        <p:nvSpPr>
          <p:cNvPr id="11" name="Text 9"/>
          <p:cNvSpPr txBox="1"/>
          <p:nvPr/>
        </p:nvSpPr>
        <p:spPr>
          <a:xfrm>
            <a:off x="731520" y="2798064"/>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2" name="Text 10"/>
          <p:cNvSpPr txBox="1"/>
          <p:nvPr/>
        </p:nvSpPr>
        <p:spPr>
          <a:xfrm>
            <a:off x="1463040" y="2715768"/>
            <a:ext cx="4023360" cy="365760"/>
          </a:xfrm>
          <a:prstGeom prst="rect">
            <a:avLst/>
          </a:prstGeom>
          <a:noFill/>
          <a:ln/>
        </p:spPr>
        <p:txBody>
          <a:bodyPr wrap="square" lIns="0" tIns="0" rIns="0" bIns="0" rtlCol="0" anchor="t"/>
          <a:lstStyle/>
          <a:p>
            <a:pPr indent="0" marL="0">
              <a:buNone/>
            </a:pPr>
            <a:r>
              <a:rPr lang="en-US" sz="1800" b="1" dirty="0">
                <a:solidFill>
                  <a:schemeClr val="tx1"/>
                </a:solidFill>
              </a:rPr>
              <a:t>Group policy</a:t>
            </a:r>
            <a:endParaRPr lang="en-US" sz="1800" dirty="0"/>
          </a:p>
        </p:txBody>
      </p:sp>
      <p:sp>
        <p:nvSpPr>
          <p:cNvPr id="13" name="Text 11"/>
          <p:cNvSpPr txBox="1"/>
          <p:nvPr/>
        </p:nvSpPr>
        <p:spPr>
          <a:xfrm>
            <a:off x="1463040" y="3081528"/>
            <a:ext cx="4023360" cy="365760"/>
          </a:xfrm>
          <a:prstGeom prst="rect">
            <a:avLst/>
          </a:prstGeom>
          <a:noFill/>
          <a:ln/>
        </p:spPr>
        <p:txBody>
          <a:bodyPr wrap="square" lIns="0" tIns="0" rIns="0" bIns="0" rtlCol="0" anchor="t"/>
          <a:lstStyle/>
          <a:p>
            <a:pPr indent="0" marL="0">
              <a:buNone/>
            </a:pPr>
            <a:r>
              <a:rPr lang="en-US" sz="1400" dirty="0">
                <a:solidFill>
                  <a:schemeClr val="accent6"/>
                </a:solidFill>
              </a:rPr>
              <a:t>Global Sanctions Reporting Procedure — applies everywhere</a:t>
            </a:r>
            <a:endParaRPr lang="en-US" sz="1400" dirty="0"/>
          </a:p>
        </p:txBody>
      </p:sp>
      <p:sp>
        <p:nvSpPr>
          <p:cNvPr id="14" name="layer 3"/>
          <p:cNvSpPr/>
          <p:nvPr/>
        </p:nvSpPr>
        <p:spPr>
          <a:xfrm>
            <a:off x="548640" y="3648456"/>
            <a:ext cx="5120640" cy="896112"/>
          </a:xfrm>
          <a:prstGeom prst="roundRect">
            <a:avLst>
              <a:gd name="adj" fmla="val 12245"/>
            </a:avLst>
          </a:prstGeom>
          <a:solidFill>
            <a:schemeClr val="bg2"/>
          </a:solidFill>
          <a:ln w="12700">
            <a:solidFill>
              <a:schemeClr val="bg2"/>
            </a:solidFill>
            <a:prstDash val="solid"/>
          </a:ln>
        </p:spPr>
      </p:sp>
      <p:sp>
        <p:nvSpPr>
          <p:cNvPr id="15" name="Shape 13"/>
          <p:cNvSpPr/>
          <p:nvPr/>
        </p:nvSpPr>
        <p:spPr>
          <a:xfrm>
            <a:off x="731520" y="3822192"/>
            <a:ext cx="548640" cy="548640"/>
          </a:xfrm>
          <a:prstGeom prst="ellipse">
            <a:avLst/>
          </a:prstGeom>
          <a:solidFill>
            <a:schemeClr val="tx1"/>
          </a:solidFill>
          <a:ln w="12700">
            <a:solidFill>
              <a:schemeClr val="tx1"/>
            </a:solidFill>
            <a:prstDash val="solid"/>
          </a:ln>
        </p:spPr>
      </p:sp>
      <p:sp>
        <p:nvSpPr>
          <p:cNvPr id="16" name="Text 14"/>
          <p:cNvSpPr txBox="1"/>
          <p:nvPr/>
        </p:nvSpPr>
        <p:spPr>
          <a:xfrm>
            <a:off x="731520" y="3822192"/>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7" name="Text 15"/>
          <p:cNvSpPr txBox="1"/>
          <p:nvPr/>
        </p:nvSpPr>
        <p:spPr>
          <a:xfrm>
            <a:off x="1463040" y="3739896"/>
            <a:ext cx="4023360" cy="365760"/>
          </a:xfrm>
          <a:prstGeom prst="rect">
            <a:avLst/>
          </a:prstGeom>
          <a:noFill/>
          <a:ln/>
        </p:spPr>
        <p:txBody>
          <a:bodyPr wrap="square" lIns="0" tIns="0" rIns="0" bIns="0" rtlCol="0" anchor="t"/>
          <a:lstStyle/>
          <a:p>
            <a:pPr indent="0" marL="0">
              <a:buNone/>
            </a:pPr>
            <a:r>
              <a:rPr lang="en-US" sz="1800" b="1" dirty="0">
                <a:solidFill>
                  <a:schemeClr val="tx1"/>
                </a:solidFill>
              </a:rPr>
              <a:t>Partner rules</a:t>
            </a:r>
            <a:endParaRPr lang="en-US" sz="1800" dirty="0"/>
          </a:p>
        </p:txBody>
      </p:sp>
      <p:sp>
        <p:nvSpPr>
          <p:cNvPr id="18" name="Text 16"/>
          <p:cNvSpPr txBox="1"/>
          <p:nvPr/>
        </p:nvSpPr>
        <p:spPr>
          <a:xfrm>
            <a:off x="1463040" y="4105656"/>
            <a:ext cx="4023360" cy="365760"/>
          </a:xfrm>
          <a:prstGeom prst="rect">
            <a:avLst/>
          </a:prstGeom>
          <a:noFill/>
          <a:ln/>
        </p:spPr>
        <p:txBody>
          <a:bodyPr wrap="square" lIns="0" tIns="0" rIns="0" bIns="0" rtlCol="0" anchor="t"/>
          <a:lstStyle/>
          <a:p>
            <a:pPr indent="0" marL="0">
              <a:buNone/>
            </a:pPr>
            <a:r>
              <a:rPr lang="en-US" sz="1400" dirty="0">
                <a:solidFill>
                  <a:schemeClr val="accent6"/>
                </a:solidFill>
              </a:rPr>
              <a:t>banks, card schemes and correspondents bind us by contract</a:t>
            </a:r>
            <a:endParaRPr lang="en-US" sz="1400" dirty="0"/>
          </a:p>
        </p:txBody>
      </p:sp>
      <p:sp>
        <p:nvSpPr>
          <p:cNvPr id="19" name="layer 4"/>
          <p:cNvSpPr/>
          <p:nvPr/>
        </p:nvSpPr>
        <p:spPr>
          <a:xfrm>
            <a:off x="548640" y="4672584"/>
            <a:ext cx="5120640" cy="896112"/>
          </a:xfrm>
          <a:prstGeom prst="roundRect">
            <a:avLst>
              <a:gd name="adj" fmla="val 12245"/>
            </a:avLst>
          </a:prstGeom>
          <a:solidFill>
            <a:schemeClr val="bg2"/>
          </a:solidFill>
          <a:ln w="12700">
            <a:solidFill>
              <a:schemeClr val="bg2"/>
            </a:solidFill>
            <a:prstDash val="solid"/>
          </a:ln>
        </p:spPr>
      </p:sp>
      <p:sp>
        <p:nvSpPr>
          <p:cNvPr id="20" name="Shape 18"/>
          <p:cNvSpPr/>
          <p:nvPr/>
        </p:nvSpPr>
        <p:spPr>
          <a:xfrm>
            <a:off x="731520" y="4846320"/>
            <a:ext cx="548640" cy="548640"/>
          </a:xfrm>
          <a:prstGeom prst="ellipse">
            <a:avLst/>
          </a:prstGeom>
          <a:solidFill>
            <a:schemeClr val="tx1"/>
          </a:solidFill>
          <a:ln w="12700">
            <a:solidFill>
              <a:schemeClr val="tx1"/>
            </a:solidFill>
            <a:prstDash val="solid"/>
          </a:ln>
        </p:spPr>
      </p:sp>
      <p:sp>
        <p:nvSpPr>
          <p:cNvPr id="21" name="Text 19"/>
          <p:cNvSpPr txBox="1"/>
          <p:nvPr/>
        </p:nvSpPr>
        <p:spPr>
          <a:xfrm>
            <a:off x="731520" y="48463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2" name="Text 20"/>
          <p:cNvSpPr txBox="1"/>
          <p:nvPr/>
        </p:nvSpPr>
        <p:spPr>
          <a:xfrm>
            <a:off x="1463040" y="4764024"/>
            <a:ext cx="4023360" cy="365760"/>
          </a:xfrm>
          <a:prstGeom prst="rect">
            <a:avLst/>
          </a:prstGeom>
          <a:noFill/>
          <a:ln/>
        </p:spPr>
        <p:txBody>
          <a:bodyPr wrap="square" lIns="0" tIns="0" rIns="0" bIns="0" rtlCol="0" anchor="t"/>
          <a:lstStyle/>
          <a:p>
            <a:pPr indent="0" marL="0">
              <a:buNone/>
            </a:pPr>
            <a:r>
              <a:rPr lang="en-US" sz="1800" b="1" dirty="0">
                <a:solidFill>
                  <a:schemeClr val="tx1"/>
                </a:solidFill>
              </a:rPr>
              <a:t>Product rules</a:t>
            </a:r>
            <a:endParaRPr lang="en-US" sz="1800" dirty="0"/>
          </a:p>
        </p:txBody>
      </p:sp>
      <p:sp>
        <p:nvSpPr>
          <p:cNvPr id="23" name="Text 21"/>
          <p:cNvSpPr txBox="1"/>
          <p:nvPr/>
        </p:nvSpPr>
        <p:spPr>
          <a:xfrm>
            <a:off x="1463040" y="5129784"/>
            <a:ext cx="4023360" cy="365760"/>
          </a:xfrm>
          <a:prstGeom prst="rect">
            <a:avLst/>
          </a:prstGeom>
          <a:noFill/>
          <a:ln/>
        </p:spPr>
        <p:txBody>
          <a:bodyPr wrap="square" lIns="0" tIns="0" rIns="0" bIns="0" rtlCol="0" anchor="t"/>
          <a:lstStyle/>
          <a:p>
            <a:pPr indent="0" marL="0">
              <a:buNone/>
            </a:pPr>
            <a:r>
              <a:rPr lang="en-US" sz="1400" dirty="0">
                <a:solidFill>
                  <a:schemeClr val="accent6"/>
                </a:solidFill>
              </a:rPr>
              <a:t>what this product is allowed to do</a:t>
            </a:r>
            <a:endParaRPr lang="en-US" sz="1400" dirty="0"/>
          </a:p>
        </p:txBody>
      </p:sp>
      <p:sp>
        <p:nvSpPr>
          <p:cNvPr id="24" name="Text 22"/>
          <p:cNvSpPr txBox="1"/>
          <p:nvPr/>
        </p:nvSpPr>
        <p:spPr>
          <a:xfrm>
            <a:off x="6035040" y="1234440"/>
            <a:ext cx="55778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THEN ASK THREE QUESTIONS</a:t>
            </a:r>
            <a:endParaRPr lang="en-US" sz="1200" dirty="0"/>
          </a:p>
        </p:txBody>
      </p:sp>
      <p:sp>
        <p:nvSpPr>
          <p:cNvPr id="25" name="Any UK touch?"/>
          <p:cNvSpPr/>
          <p:nvPr/>
        </p:nvSpPr>
        <p:spPr>
          <a:xfrm>
            <a:off x="6035040" y="1600200"/>
            <a:ext cx="5577840" cy="1234440"/>
          </a:xfrm>
          <a:prstGeom prst="roundRect">
            <a:avLst>
              <a:gd name="adj" fmla="val 8889"/>
            </a:avLst>
          </a:prstGeom>
          <a:solidFill>
            <a:schemeClr val="bg2"/>
          </a:solidFill>
          <a:ln w="12700">
            <a:solidFill>
              <a:schemeClr val="bg2"/>
            </a:solidFill>
            <a:prstDash val="solid"/>
          </a:ln>
        </p:spPr>
      </p:sp>
      <p:sp>
        <p:nvSpPr>
          <p:cNvPr id="26" name="Text 24"/>
          <p:cNvSpPr txBox="1"/>
          <p:nvPr/>
        </p:nvSpPr>
        <p:spPr>
          <a:xfrm>
            <a:off x="6263640" y="1709928"/>
            <a:ext cx="2743200" cy="365760"/>
          </a:xfrm>
          <a:prstGeom prst="rect">
            <a:avLst/>
          </a:prstGeom>
          <a:noFill/>
          <a:ln/>
        </p:spPr>
        <p:txBody>
          <a:bodyPr wrap="square" lIns="0" tIns="0" rIns="0" bIns="0" rtlCol="0" anchor="t"/>
          <a:lstStyle/>
          <a:p>
            <a:pPr indent="0" marL="0">
              <a:buNone/>
            </a:pPr>
            <a:r>
              <a:rPr lang="en-US" sz="1800" b="1" dirty="0">
                <a:solidFill>
                  <a:schemeClr val="tx1"/>
                </a:solidFill>
              </a:rPr>
              <a:t>Any UK touch?</a:t>
            </a:r>
            <a:endParaRPr lang="en-US" sz="1800" dirty="0"/>
          </a:p>
        </p:txBody>
      </p:sp>
      <p:sp>
        <p:nvSpPr>
          <p:cNvPr id="27" name="Text 25"/>
          <p:cNvSpPr txBox="1"/>
          <p:nvPr/>
        </p:nvSpPr>
        <p:spPr>
          <a:xfrm>
            <a:off x="8686800" y="1709928"/>
            <a:ext cx="2788920" cy="365760"/>
          </a:xfrm>
          <a:prstGeom prst="rect">
            <a:avLst/>
          </a:prstGeom>
          <a:noFill/>
          <a:ln/>
        </p:spPr>
        <p:txBody>
          <a:bodyPr wrap="square" lIns="0" tIns="0" rIns="0" bIns="0" rtlCol="0" anchor="t"/>
          <a:lstStyle/>
          <a:p>
            <a:pPr algn="r" indent="0" marL="0">
              <a:buNone/>
            </a:pPr>
            <a:r>
              <a:rPr lang="en-US" sz="1400" b="1" dirty="0">
                <a:solidFill>
                  <a:schemeClr val="accent1"/>
                </a:solidFill>
              </a:rPr>
              <a:t>→ UK rules apply</a:t>
            </a:r>
            <a:endParaRPr lang="en-US" sz="1400" dirty="0"/>
          </a:p>
        </p:txBody>
      </p:sp>
      <p:sp>
        <p:nvSpPr>
          <p:cNvPr id="28" name="Text 26"/>
          <p:cNvSpPr txBox="1"/>
          <p:nvPr/>
        </p:nvSpPr>
        <p:spPr>
          <a:xfrm>
            <a:off x="6263640" y="2103120"/>
            <a:ext cx="5120640" cy="685800"/>
          </a:xfrm>
          <a:prstGeom prst="rect">
            <a:avLst/>
          </a:prstGeom>
          <a:noFill/>
          <a:ln/>
        </p:spPr>
        <p:txBody>
          <a:bodyPr wrap="square" lIns="0" tIns="0" rIns="0" bIns="0" rtlCol="0" anchor="t"/>
          <a:lstStyle/>
          <a:p>
            <a:pPr indent="0" marL="0">
              <a:buNone/>
            </a:pPr>
            <a:r>
              <a:rPr lang="en-US" sz="1400" dirty="0">
                <a:solidFill>
                  <a:schemeClr val="tx1"/>
                </a:solidFill>
              </a:rPr>
              <a:t>UK entity or UK person anywhere, or the payment is routed through the UK (e.g. GBP clearing)</a:t>
            </a:r>
            <a:endParaRPr lang="en-US" sz="1400" dirty="0"/>
          </a:p>
        </p:txBody>
      </p:sp>
      <p:sp>
        <p:nvSpPr>
          <p:cNvPr id="29" name="Any EU touch?"/>
          <p:cNvSpPr/>
          <p:nvPr/>
        </p:nvSpPr>
        <p:spPr>
          <a:xfrm>
            <a:off x="6035040" y="2971800"/>
            <a:ext cx="5577840" cy="1234440"/>
          </a:xfrm>
          <a:prstGeom prst="roundRect">
            <a:avLst>
              <a:gd name="adj" fmla="val 8889"/>
            </a:avLst>
          </a:prstGeom>
          <a:solidFill>
            <a:schemeClr val="bg2"/>
          </a:solidFill>
          <a:ln w="12700">
            <a:solidFill>
              <a:schemeClr val="bg2"/>
            </a:solidFill>
            <a:prstDash val="solid"/>
          </a:ln>
        </p:spPr>
      </p:sp>
      <p:sp>
        <p:nvSpPr>
          <p:cNvPr id="30" name="Text 28"/>
          <p:cNvSpPr txBox="1"/>
          <p:nvPr/>
        </p:nvSpPr>
        <p:spPr>
          <a:xfrm>
            <a:off x="6263640" y="3081528"/>
            <a:ext cx="2743200" cy="365760"/>
          </a:xfrm>
          <a:prstGeom prst="rect">
            <a:avLst/>
          </a:prstGeom>
          <a:noFill/>
          <a:ln/>
        </p:spPr>
        <p:txBody>
          <a:bodyPr wrap="square" lIns="0" tIns="0" rIns="0" bIns="0" rtlCol="0" anchor="t"/>
          <a:lstStyle/>
          <a:p>
            <a:pPr indent="0" marL="0">
              <a:buNone/>
            </a:pPr>
            <a:r>
              <a:rPr lang="en-US" sz="1800" b="1" dirty="0">
                <a:solidFill>
                  <a:schemeClr val="tx1"/>
                </a:solidFill>
              </a:rPr>
              <a:t>Any EU touch?</a:t>
            </a:r>
            <a:endParaRPr lang="en-US" sz="1800" dirty="0"/>
          </a:p>
        </p:txBody>
      </p:sp>
      <p:sp>
        <p:nvSpPr>
          <p:cNvPr id="31" name="Text 29"/>
          <p:cNvSpPr txBox="1"/>
          <p:nvPr/>
        </p:nvSpPr>
        <p:spPr>
          <a:xfrm>
            <a:off x="8686800" y="3081528"/>
            <a:ext cx="2788920" cy="365760"/>
          </a:xfrm>
          <a:prstGeom prst="rect">
            <a:avLst/>
          </a:prstGeom>
          <a:noFill/>
          <a:ln/>
        </p:spPr>
        <p:txBody>
          <a:bodyPr wrap="square" lIns="0" tIns="0" rIns="0" bIns="0" rtlCol="0" anchor="t"/>
          <a:lstStyle/>
          <a:p>
            <a:pPr algn="r" indent="0" marL="0">
              <a:buNone/>
            </a:pPr>
            <a:r>
              <a:rPr lang="en-US" sz="1400" b="1" dirty="0">
                <a:solidFill>
                  <a:schemeClr val="accent1"/>
                </a:solidFill>
              </a:rPr>
              <a:t>→ EU rules apply</a:t>
            </a:r>
            <a:endParaRPr lang="en-US" sz="1400" dirty="0"/>
          </a:p>
        </p:txBody>
      </p:sp>
      <p:sp>
        <p:nvSpPr>
          <p:cNvPr id="32" name="Text 30"/>
          <p:cNvSpPr txBox="1"/>
          <p:nvPr/>
        </p:nvSpPr>
        <p:spPr>
          <a:xfrm>
            <a:off x="6263640" y="3474720"/>
            <a:ext cx="5120640" cy="685800"/>
          </a:xfrm>
          <a:prstGeom prst="rect">
            <a:avLst/>
          </a:prstGeom>
          <a:noFill/>
          <a:ln/>
        </p:spPr>
        <p:txBody>
          <a:bodyPr wrap="square" lIns="0" tIns="0" rIns="0" bIns="0" rtlCol="0" anchor="t"/>
          <a:lstStyle/>
          <a:p>
            <a:pPr indent="0" marL="0">
              <a:buNone/>
            </a:pPr>
            <a:r>
              <a:rPr lang="en-US" sz="1400" dirty="0">
                <a:solidFill>
                  <a:schemeClr val="tx1"/>
                </a:solidFill>
              </a:rPr>
              <a:t>EU entity or EU national anywhere, or business done in the EU. For France, also check the French national freeze register</a:t>
            </a:r>
            <a:endParaRPr lang="en-US" sz="1400" dirty="0"/>
          </a:p>
        </p:txBody>
      </p:sp>
      <p:sp>
        <p:nvSpPr>
          <p:cNvPr id="33" name="Any US touch?"/>
          <p:cNvSpPr/>
          <p:nvPr/>
        </p:nvSpPr>
        <p:spPr>
          <a:xfrm>
            <a:off x="6035040" y="4343400"/>
            <a:ext cx="5577840" cy="1234440"/>
          </a:xfrm>
          <a:prstGeom prst="roundRect">
            <a:avLst>
              <a:gd name="adj" fmla="val 8889"/>
            </a:avLst>
          </a:prstGeom>
          <a:solidFill>
            <a:schemeClr val="bg2"/>
          </a:solidFill>
          <a:ln w="12700">
            <a:solidFill>
              <a:schemeClr val="bg2"/>
            </a:solidFill>
            <a:prstDash val="solid"/>
          </a:ln>
        </p:spPr>
      </p:sp>
      <p:sp>
        <p:nvSpPr>
          <p:cNvPr id="34" name="Text 32"/>
          <p:cNvSpPr txBox="1"/>
          <p:nvPr/>
        </p:nvSpPr>
        <p:spPr>
          <a:xfrm>
            <a:off x="6263640" y="4453128"/>
            <a:ext cx="2743200" cy="365760"/>
          </a:xfrm>
          <a:prstGeom prst="rect">
            <a:avLst/>
          </a:prstGeom>
          <a:noFill/>
          <a:ln/>
        </p:spPr>
        <p:txBody>
          <a:bodyPr wrap="square" lIns="0" tIns="0" rIns="0" bIns="0" rtlCol="0" anchor="t"/>
          <a:lstStyle/>
          <a:p>
            <a:pPr indent="0" marL="0">
              <a:buNone/>
            </a:pPr>
            <a:r>
              <a:rPr lang="en-US" sz="1800" b="1" dirty="0">
                <a:solidFill>
                  <a:schemeClr val="tx1"/>
                </a:solidFill>
              </a:rPr>
              <a:t>Any US touch?</a:t>
            </a:r>
            <a:endParaRPr lang="en-US" sz="1800" dirty="0"/>
          </a:p>
        </p:txBody>
      </p:sp>
      <p:sp>
        <p:nvSpPr>
          <p:cNvPr id="35" name="Text 33"/>
          <p:cNvSpPr txBox="1"/>
          <p:nvPr/>
        </p:nvSpPr>
        <p:spPr>
          <a:xfrm>
            <a:off x="8686800" y="4453128"/>
            <a:ext cx="2788920" cy="365760"/>
          </a:xfrm>
          <a:prstGeom prst="rect">
            <a:avLst/>
          </a:prstGeom>
          <a:noFill/>
          <a:ln/>
        </p:spPr>
        <p:txBody>
          <a:bodyPr wrap="square" lIns="0" tIns="0" rIns="0" bIns="0" rtlCol="0" anchor="t"/>
          <a:lstStyle/>
          <a:p>
            <a:pPr algn="r" indent="0" marL="0">
              <a:buNone/>
            </a:pPr>
            <a:r>
              <a:rPr lang="en-US" sz="1400" b="1" dirty="0">
                <a:solidFill>
                  <a:schemeClr val="accent1"/>
                </a:solidFill>
              </a:rPr>
              <a:t>→ OFAC applies</a:t>
            </a:r>
            <a:endParaRPr lang="en-US" sz="1400" dirty="0"/>
          </a:p>
        </p:txBody>
      </p:sp>
      <p:sp>
        <p:nvSpPr>
          <p:cNvPr id="36" name="Text 34"/>
          <p:cNvSpPr txBox="1"/>
          <p:nvPr/>
        </p:nvSpPr>
        <p:spPr>
          <a:xfrm>
            <a:off x="6263640" y="4846320"/>
            <a:ext cx="5120640" cy="685800"/>
          </a:xfrm>
          <a:prstGeom prst="rect">
            <a:avLst/>
          </a:prstGeom>
          <a:noFill/>
          <a:ln/>
        </p:spPr>
        <p:txBody>
          <a:bodyPr wrap="square" lIns="0" tIns="0" rIns="0" bIns="0" rtlCol="0" anchor="t"/>
          <a:lstStyle/>
          <a:p>
            <a:pPr indent="0" marL="0">
              <a:buNone/>
            </a:pPr>
            <a:r>
              <a:rPr lang="en-US" sz="1400" dirty="0">
                <a:solidFill>
                  <a:schemeClr val="tx1"/>
                </a:solidFill>
              </a:rPr>
              <a:t>USD clearing, a US bank in the chain, a US person, or US-origin goods</a:t>
            </a:r>
            <a:endParaRPr lang="en-US" sz="1400" dirty="0"/>
          </a:p>
        </p:txBody>
      </p:sp>
      <p:sp>
        <p:nvSpPr>
          <p:cNvPr id="37" name="Text 35"/>
          <p:cNvSpPr txBox="1"/>
          <p:nvPr/>
        </p:nvSpPr>
        <p:spPr>
          <a:xfrm>
            <a:off x="548640" y="5760720"/>
            <a:ext cx="11064240" cy="320040"/>
          </a:xfrm>
          <a:prstGeom prst="rect">
            <a:avLst/>
          </a:prstGeom>
          <a:noFill/>
          <a:ln/>
        </p:spPr>
        <p:txBody>
          <a:bodyPr wrap="square" lIns="0" tIns="0" rIns="0" bIns="0" rtlCol="0" anchor="t"/>
          <a:lstStyle/>
          <a:p>
            <a:pPr indent="0" marL="0">
              <a:buNone/>
            </a:pPr>
            <a:r>
              <a:rPr lang="en-US" sz="1600" b="1" i="1" dirty="0">
                <a:solidFill>
                  <a:schemeClr val="accent1"/>
                </a:solidFill>
              </a:rPr>
              <a:t>Local law is the floor, not the ceiling.</a:t>
            </a:r>
            <a:endParaRPr lang="en-US" sz="1600" dirty="0"/>
          </a:p>
        </p:txBody>
      </p:sp>
      <p:sp>
        <p:nvSpPr>
          <p:cNvPr id="38" name="Text 36"/>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OFSI General Guidance — UK nexus; EU Council Best Practices on restrictive measures — jurisdiction; OFAC Basic Information on Sanctions; Checkout Global Sanctions Reporting Procedure (cite section).</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Cheat sheet 1: UK · EU / France · US</a:t>
            </a:r>
            <a:endParaRPr lang="en-US" sz="3200" dirty="0"/>
          </a:p>
        </p:txBody>
      </p:sp>
      <p:sp>
        <p:nvSpPr>
          <p:cNvPr id="3" name="United Kingdom card"/>
          <p:cNvSpPr/>
          <p:nvPr/>
        </p:nvSpPr>
        <p:spPr>
          <a:xfrm>
            <a:off x="548640" y="1280160"/>
            <a:ext cx="3566160" cy="4572000"/>
          </a:xfrm>
          <a:prstGeom prst="roundRect">
            <a:avLst>
              <a:gd name="adj" fmla="val 3077"/>
            </a:avLst>
          </a:prstGeom>
          <a:solidFill>
            <a:schemeClr val="bg2"/>
          </a:solidFill>
          <a:ln w="12700">
            <a:solidFill>
              <a:schemeClr val="bg2"/>
            </a:solidFill>
            <a:prstDash val="solid"/>
          </a:ln>
        </p:spPr>
      </p:sp>
      <p:sp>
        <p:nvSpPr>
          <p:cNvPr id="4" name="United Kingdom header"/>
          <p:cNvSpPr/>
          <p:nvPr/>
        </p:nvSpPr>
        <p:spPr>
          <a:xfrm>
            <a:off x="548640" y="1280160"/>
            <a:ext cx="3566160" cy="731520"/>
          </a:xfrm>
          <a:prstGeom prst="roundRect">
            <a:avLst>
              <a:gd name="adj" fmla="val 15000"/>
            </a:avLst>
          </a:prstGeom>
          <a:solidFill>
            <a:schemeClr val="tx1"/>
          </a:solidFill>
          <a:ln w="12700">
            <a:solidFill>
              <a:schemeClr val="tx1"/>
            </a:solidFill>
            <a:prstDash val="solid"/>
          </a:ln>
        </p:spPr>
      </p:sp>
      <p:sp>
        <p:nvSpPr>
          <p:cNvPr id="5" name="Text 3"/>
          <p:cNvSpPr txBox="1"/>
          <p:nvPr/>
        </p:nvSpPr>
        <p:spPr>
          <a:xfrm>
            <a:off x="777240" y="1280160"/>
            <a:ext cx="3108960" cy="731520"/>
          </a:xfrm>
          <a:prstGeom prst="rect">
            <a:avLst/>
          </a:prstGeom>
          <a:noFill/>
          <a:ln/>
        </p:spPr>
        <p:txBody>
          <a:bodyPr wrap="square" lIns="0" tIns="0" rIns="0" bIns="0" rtlCol="0" anchor="ctr"/>
          <a:lstStyle/>
          <a:p>
            <a:pPr indent="0" marL="0">
              <a:buNone/>
            </a:pPr>
            <a:r>
              <a:rPr lang="en-US" sz="2000" b="1" dirty="0">
                <a:solidFill>
                  <a:schemeClr val="bg1"/>
                </a:solidFill>
              </a:rPr>
              <a:t>United Kingdom</a:t>
            </a:r>
            <a:pPr indent="0" marL="0">
              <a:buNone/>
            </a:pPr>
            <a:r>
              <a:rPr lang="en-US" sz="1400" dirty="0">
                <a:solidFill>
                  <a:schemeClr val="bg1"/>
                </a:solidFill>
              </a:rPr>
              <a:t>   OFSI</a:t>
            </a:r>
            <a:endParaRPr lang="en-US" sz="1400" dirty="0"/>
          </a:p>
        </p:txBody>
      </p:sp>
      <p:sp>
        <p:nvSpPr>
          <p:cNvPr id="6" name="Text 4"/>
          <p:cNvSpPr txBox="1"/>
          <p:nvPr/>
        </p:nvSpPr>
        <p:spPr>
          <a:xfrm>
            <a:off x="777240" y="2148840"/>
            <a:ext cx="31089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LISTS</a:t>
            </a:r>
            <a:endParaRPr lang="en-US" sz="1000" dirty="0"/>
          </a:p>
        </p:txBody>
      </p:sp>
      <p:sp>
        <p:nvSpPr>
          <p:cNvPr id="7" name="Text 5"/>
          <p:cNvSpPr txBox="1"/>
          <p:nvPr/>
        </p:nvSpPr>
        <p:spPr>
          <a:xfrm>
            <a:off x="777240" y="2395728"/>
            <a:ext cx="3108960" cy="658368"/>
          </a:xfrm>
          <a:prstGeom prst="rect">
            <a:avLst/>
          </a:prstGeom>
          <a:noFill/>
          <a:ln/>
        </p:spPr>
        <p:txBody>
          <a:bodyPr wrap="square" lIns="0" tIns="0" rIns="0" bIns="0" rtlCol="0" anchor="t"/>
          <a:lstStyle/>
          <a:p>
            <a:pPr indent="0" marL="0">
              <a:buNone/>
            </a:pPr>
            <a:r>
              <a:rPr lang="en-US" sz="1400" dirty="0">
                <a:solidFill>
                  <a:schemeClr val="tx1"/>
                </a:solidFill>
              </a:rPr>
              <a:t>UK Sanctions List — the only UK source since 28 Jan 2026</a:t>
            </a:r>
            <a:endParaRPr lang="en-US" sz="1400" dirty="0"/>
          </a:p>
        </p:txBody>
      </p:sp>
      <p:sp>
        <p:nvSpPr>
          <p:cNvPr id="8" name="Text 6"/>
          <p:cNvSpPr txBox="1"/>
          <p:nvPr/>
        </p:nvSpPr>
        <p:spPr>
          <a:xfrm>
            <a:off x="777240" y="3063240"/>
            <a:ext cx="31089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OWNED WHEN</a:t>
            </a:r>
            <a:endParaRPr lang="en-US" sz="1000" dirty="0"/>
          </a:p>
        </p:txBody>
      </p:sp>
      <p:sp>
        <p:nvSpPr>
          <p:cNvPr id="9" name="Text 7"/>
          <p:cNvSpPr txBox="1"/>
          <p:nvPr/>
        </p:nvSpPr>
        <p:spPr>
          <a:xfrm>
            <a:off x="777240" y="3310128"/>
            <a:ext cx="3108960" cy="658368"/>
          </a:xfrm>
          <a:prstGeom prst="rect">
            <a:avLst/>
          </a:prstGeom>
          <a:noFill/>
          <a:ln/>
        </p:spPr>
        <p:txBody>
          <a:bodyPr wrap="square" lIns="0" tIns="0" rIns="0" bIns="0" rtlCol="0" anchor="t"/>
          <a:lstStyle/>
          <a:p>
            <a:pPr indent="0" marL="0">
              <a:buNone/>
            </a:pPr>
            <a:r>
              <a:rPr lang="en-US" sz="1400" dirty="0">
                <a:solidFill>
                  <a:schemeClr val="tx1"/>
                </a:solidFill>
              </a:rPr>
              <a:t>MORE than 50% — different owners' stakes NOT added up. Or control</a:t>
            </a:r>
            <a:endParaRPr lang="en-US" sz="1400" dirty="0"/>
          </a:p>
        </p:txBody>
      </p:sp>
      <p:sp>
        <p:nvSpPr>
          <p:cNvPr id="10" name="Text 8"/>
          <p:cNvSpPr txBox="1"/>
          <p:nvPr/>
        </p:nvSpPr>
        <p:spPr>
          <a:xfrm>
            <a:off x="777240" y="3977640"/>
            <a:ext cx="31089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WHO'S TOLD (L2 FILES)</a:t>
            </a:r>
            <a:endParaRPr lang="en-US" sz="1000" dirty="0"/>
          </a:p>
        </p:txBody>
      </p:sp>
      <p:sp>
        <p:nvSpPr>
          <p:cNvPr id="11" name="Text 9"/>
          <p:cNvSpPr txBox="1"/>
          <p:nvPr/>
        </p:nvSpPr>
        <p:spPr>
          <a:xfrm>
            <a:off x="777240" y="4224528"/>
            <a:ext cx="3108960" cy="658368"/>
          </a:xfrm>
          <a:prstGeom prst="rect">
            <a:avLst/>
          </a:prstGeom>
          <a:noFill/>
          <a:ln/>
        </p:spPr>
        <p:txBody>
          <a:bodyPr wrap="square" lIns="0" tIns="0" rIns="0" bIns="0" rtlCol="0" anchor="t"/>
          <a:lstStyle/>
          <a:p>
            <a:pPr indent="0" marL="0">
              <a:buNone/>
            </a:pPr>
            <a:r>
              <a:rPr lang="en-US" sz="1400" dirty="0">
                <a:solidFill>
                  <a:schemeClr val="tx1"/>
                </a:solidFill>
              </a:rPr>
              <a:t>OFSI, as soon as practicable</a:t>
            </a:r>
            <a:endParaRPr lang="en-US" sz="1400" dirty="0"/>
          </a:p>
        </p:txBody>
      </p:sp>
      <p:sp>
        <p:nvSpPr>
          <p:cNvPr id="12" name="Text 10"/>
          <p:cNvSpPr txBox="1"/>
          <p:nvPr/>
        </p:nvSpPr>
        <p:spPr>
          <a:xfrm>
            <a:off x="777240" y="4892040"/>
            <a:ext cx="310896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REMEMBER</a:t>
            </a:r>
            <a:endParaRPr lang="en-US" sz="1000" dirty="0"/>
          </a:p>
        </p:txBody>
      </p:sp>
      <p:sp>
        <p:nvSpPr>
          <p:cNvPr id="13" name="Text 11"/>
          <p:cNvSpPr txBox="1"/>
          <p:nvPr/>
        </p:nvSpPr>
        <p:spPr>
          <a:xfrm>
            <a:off x="777240" y="5138928"/>
            <a:ext cx="3108960" cy="658368"/>
          </a:xfrm>
          <a:prstGeom prst="rect">
            <a:avLst/>
          </a:prstGeom>
          <a:noFill/>
          <a:ln/>
        </p:spPr>
        <p:txBody>
          <a:bodyPr wrap="square" lIns="0" tIns="0" rIns="0" bIns="0" rtlCol="0" anchor="t"/>
          <a:lstStyle/>
          <a:p>
            <a:pPr indent="0" marL="0">
              <a:buNone/>
            </a:pPr>
            <a:r>
              <a:rPr lang="en-US" sz="1400" b="1" dirty="0">
                <a:solidFill>
                  <a:schemeClr val="tx1"/>
                </a:solidFill>
              </a:rPr>
              <a:t>Strict liability: "we didn't know" is no defence to an OFSI fine</a:t>
            </a:r>
            <a:endParaRPr lang="en-US" sz="1400" dirty="0"/>
          </a:p>
        </p:txBody>
      </p:sp>
      <p:sp>
        <p:nvSpPr>
          <p:cNvPr id="14" name="EU / France card"/>
          <p:cNvSpPr/>
          <p:nvPr/>
        </p:nvSpPr>
        <p:spPr>
          <a:xfrm>
            <a:off x="4297680" y="1280160"/>
            <a:ext cx="3566160" cy="4572000"/>
          </a:xfrm>
          <a:prstGeom prst="roundRect">
            <a:avLst>
              <a:gd name="adj" fmla="val 3077"/>
            </a:avLst>
          </a:prstGeom>
          <a:solidFill>
            <a:schemeClr val="bg2"/>
          </a:solidFill>
          <a:ln w="12700">
            <a:solidFill>
              <a:schemeClr val="bg2"/>
            </a:solidFill>
            <a:prstDash val="solid"/>
          </a:ln>
        </p:spPr>
      </p:sp>
      <p:sp>
        <p:nvSpPr>
          <p:cNvPr id="15" name="EU / France header"/>
          <p:cNvSpPr/>
          <p:nvPr/>
        </p:nvSpPr>
        <p:spPr>
          <a:xfrm>
            <a:off x="4297680" y="1280160"/>
            <a:ext cx="3566160" cy="731520"/>
          </a:xfrm>
          <a:prstGeom prst="roundRect">
            <a:avLst>
              <a:gd name="adj" fmla="val 15000"/>
            </a:avLst>
          </a:prstGeom>
          <a:solidFill>
            <a:schemeClr val="accent4"/>
          </a:solidFill>
          <a:ln w="12700">
            <a:solidFill>
              <a:schemeClr val="accent4"/>
            </a:solidFill>
            <a:prstDash val="solid"/>
          </a:ln>
        </p:spPr>
      </p:sp>
      <p:sp>
        <p:nvSpPr>
          <p:cNvPr id="16" name="Text 14"/>
          <p:cNvSpPr txBox="1"/>
          <p:nvPr/>
        </p:nvSpPr>
        <p:spPr>
          <a:xfrm>
            <a:off x="4526280" y="1280160"/>
            <a:ext cx="3108960" cy="731520"/>
          </a:xfrm>
          <a:prstGeom prst="rect">
            <a:avLst/>
          </a:prstGeom>
          <a:noFill/>
          <a:ln/>
        </p:spPr>
        <p:txBody>
          <a:bodyPr wrap="square" lIns="0" tIns="0" rIns="0" bIns="0" rtlCol="0" anchor="ctr"/>
          <a:lstStyle/>
          <a:p>
            <a:pPr indent="0" marL="0">
              <a:buNone/>
            </a:pPr>
            <a:r>
              <a:rPr lang="en-US" sz="2000" b="1" dirty="0">
                <a:solidFill>
                  <a:schemeClr val="bg1"/>
                </a:solidFill>
              </a:rPr>
              <a:t>EU / France</a:t>
            </a:r>
            <a:pPr indent="0" marL="0">
              <a:buNone/>
            </a:pPr>
            <a:r>
              <a:rPr lang="en-US" sz="1400" dirty="0">
                <a:solidFill>
                  <a:schemeClr val="bg1"/>
                </a:solidFill>
              </a:rPr>
              <a:t>   DG Trésor</a:t>
            </a:r>
            <a:endParaRPr lang="en-US" sz="1400" dirty="0"/>
          </a:p>
        </p:txBody>
      </p:sp>
      <p:sp>
        <p:nvSpPr>
          <p:cNvPr id="17" name="Text 15"/>
          <p:cNvSpPr txBox="1"/>
          <p:nvPr/>
        </p:nvSpPr>
        <p:spPr>
          <a:xfrm>
            <a:off x="4526280" y="2148840"/>
            <a:ext cx="31089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LISTS</a:t>
            </a:r>
            <a:endParaRPr lang="en-US" sz="1000" dirty="0"/>
          </a:p>
        </p:txBody>
      </p:sp>
      <p:sp>
        <p:nvSpPr>
          <p:cNvPr id="18" name="Text 16"/>
          <p:cNvSpPr txBox="1"/>
          <p:nvPr/>
        </p:nvSpPr>
        <p:spPr>
          <a:xfrm>
            <a:off x="4526280" y="2395728"/>
            <a:ext cx="3108960" cy="658368"/>
          </a:xfrm>
          <a:prstGeom prst="rect">
            <a:avLst/>
          </a:prstGeom>
          <a:noFill/>
          <a:ln/>
        </p:spPr>
        <p:txBody>
          <a:bodyPr wrap="square" lIns="0" tIns="0" rIns="0" bIns="0" rtlCol="0" anchor="t"/>
          <a:lstStyle/>
          <a:p>
            <a:pPr indent="0" marL="0">
              <a:buNone/>
            </a:pPr>
            <a:r>
              <a:rPr lang="en-US" sz="1400" dirty="0">
                <a:solidFill>
                  <a:schemeClr val="tx1"/>
                </a:solidFill>
              </a:rPr>
              <a:t>EU list + French national freeze register (has extra names)</a:t>
            </a:r>
            <a:endParaRPr lang="en-US" sz="1400" dirty="0"/>
          </a:p>
        </p:txBody>
      </p:sp>
      <p:sp>
        <p:nvSpPr>
          <p:cNvPr id="19" name="Text 17"/>
          <p:cNvSpPr txBox="1"/>
          <p:nvPr/>
        </p:nvSpPr>
        <p:spPr>
          <a:xfrm>
            <a:off x="4526280" y="3063240"/>
            <a:ext cx="31089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OWNED WHEN</a:t>
            </a:r>
            <a:endParaRPr lang="en-US" sz="1000" dirty="0"/>
          </a:p>
        </p:txBody>
      </p:sp>
      <p:sp>
        <p:nvSpPr>
          <p:cNvPr id="20" name="Text 18"/>
          <p:cNvSpPr txBox="1"/>
          <p:nvPr/>
        </p:nvSpPr>
        <p:spPr>
          <a:xfrm>
            <a:off x="4526280" y="3310128"/>
            <a:ext cx="3108960" cy="658368"/>
          </a:xfrm>
          <a:prstGeom prst="rect">
            <a:avLst/>
          </a:prstGeom>
          <a:noFill/>
          <a:ln/>
        </p:spPr>
        <p:txBody>
          <a:bodyPr wrap="square" lIns="0" tIns="0" rIns="0" bIns="0" rtlCol="0" anchor="t"/>
          <a:lstStyle/>
          <a:p>
            <a:pPr indent="0" marL="0">
              <a:buNone/>
            </a:pPr>
            <a:r>
              <a:rPr lang="en-US" sz="1400" dirty="0">
                <a:solidFill>
                  <a:schemeClr val="tx1"/>
                </a:solidFill>
              </a:rPr>
              <a:t>50% or more — listed owners' stakes ARE added up. Or control</a:t>
            </a:r>
            <a:endParaRPr lang="en-US" sz="1400" dirty="0"/>
          </a:p>
        </p:txBody>
      </p:sp>
      <p:sp>
        <p:nvSpPr>
          <p:cNvPr id="21" name="Text 19"/>
          <p:cNvSpPr txBox="1"/>
          <p:nvPr/>
        </p:nvSpPr>
        <p:spPr>
          <a:xfrm>
            <a:off x="4526280" y="3977640"/>
            <a:ext cx="31089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WHO'S TOLD (L2 FILES)</a:t>
            </a:r>
            <a:endParaRPr lang="en-US" sz="1000" dirty="0"/>
          </a:p>
        </p:txBody>
      </p:sp>
      <p:sp>
        <p:nvSpPr>
          <p:cNvPr id="22" name="Text 20"/>
          <p:cNvSpPr txBox="1"/>
          <p:nvPr/>
        </p:nvSpPr>
        <p:spPr>
          <a:xfrm>
            <a:off x="4526280" y="4224528"/>
            <a:ext cx="3108960" cy="658368"/>
          </a:xfrm>
          <a:prstGeom prst="rect">
            <a:avLst/>
          </a:prstGeom>
          <a:noFill/>
          <a:ln/>
        </p:spPr>
        <p:txBody>
          <a:bodyPr wrap="square" lIns="0" tIns="0" rIns="0" bIns="0" rtlCol="0" anchor="t"/>
          <a:lstStyle/>
          <a:p>
            <a:pPr indent="0" marL="0">
              <a:buNone/>
            </a:pPr>
            <a:r>
              <a:rPr lang="en-US" sz="1400" dirty="0">
                <a:solidFill>
                  <a:schemeClr val="tx1"/>
                </a:solidFill>
              </a:rPr>
              <a:t>DG Trésor for freezes · TRACFIN for suspicion</a:t>
            </a:r>
            <a:endParaRPr lang="en-US" sz="1400" dirty="0"/>
          </a:p>
        </p:txBody>
      </p:sp>
      <p:sp>
        <p:nvSpPr>
          <p:cNvPr id="23" name="Text 21"/>
          <p:cNvSpPr txBox="1"/>
          <p:nvPr/>
        </p:nvSpPr>
        <p:spPr>
          <a:xfrm>
            <a:off x="4526280" y="4892040"/>
            <a:ext cx="310896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REMEMBER</a:t>
            </a:r>
            <a:endParaRPr lang="en-US" sz="1000" dirty="0"/>
          </a:p>
        </p:txBody>
      </p:sp>
      <p:sp>
        <p:nvSpPr>
          <p:cNvPr id="24" name="Text 22"/>
          <p:cNvSpPr txBox="1"/>
          <p:nvPr/>
        </p:nvSpPr>
        <p:spPr>
          <a:xfrm>
            <a:off x="4526280" y="5138928"/>
            <a:ext cx="3108960" cy="658368"/>
          </a:xfrm>
          <a:prstGeom prst="rect">
            <a:avLst/>
          </a:prstGeom>
          <a:noFill/>
          <a:ln/>
        </p:spPr>
        <p:txBody>
          <a:bodyPr wrap="square" lIns="0" tIns="0" rIns="0" bIns="0" rtlCol="0" anchor="t"/>
          <a:lstStyle/>
          <a:p>
            <a:pPr indent="0" marL="0">
              <a:buNone/>
            </a:pPr>
            <a:r>
              <a:rPr lang="en-US" sz="1400" b="1" dirty="0">
                <a:solidFill>
                  <a:schemeClr val="tx1"/>
                </a:solidFill>
              </a:rPr>
              <a:t>Two different reports for two different things — never swap them</a:t>
            </a:r>
            <a:endParaRPr lang="en-US" sz="1400" dirty="0"/>
          </a:p>
        </p:txBody>
      </p:sp>
      <p:sp>
        <p:nvSpPr>
          <p:cNvPr id="25" name="United States card"/>
          <p:cNvSpPr/>
          <p:nvPr/>
        </p:nvSpPr>
        <p:spPr>
          <a:xfrm>
            <a:off x="8046720" y="1280160"/>
            <a:ext cx="3566160" cy="4572000"/>
          </a:xfrm>
          <a:prstGeom prst="roundRect">
            <a:avLst>
              <a:gd name="adj" fmla="val 3077"/>
            </a:avLst>
          </a:prstGeom>
          <a:solidFill>
            <a:schemeClr val="bg2"/>
          </a:solidFill>
          <a:ln w="12700">
            <a:solidFill>
              <a:schemeClr val="bg2"/>
            </a:solidFill>
            <a:prstDash val="solid"/>
          </a:ln>
        </p:spPr>
      </p:sp>
      <p:sp>
        <p:nvSpPr>
          <p:cNvPr id="26" name="United States header"/>
          <p:cNvSpPr/>
          <p:nvPr/>
        </p:nvSpPr>
        <p:spPr>
          <a:xfrm>
            <a:off x="8046720" y="1280160"/>
            <a:ext cx="3566160" cy="731520"/>
          </a:xfrm>
          <a:prstGeom prst="roundRect">
            <a:avLst>
              <a:gd name="adj" fmla="val 15000"/>
            </a:avLst>
          </a:prstGeom>
          <a:solidFill>
            <a:schemeClr val="accent1"/>
          </a:solidFill>
          <a:ln w="12700">
            <a:solidFill>
              <a:schemeClr val="accent1"/>
            </a:solidFill>
            <a:prstDash val="solid"/>
          </a:ln>
        </p:spPr>
      </p:sp>
      <p:sp>
        <p:nvSpPr>
          <p:cNvPr id="27" name="Text 25"/>
          <p:cNvSpPr txBox="1"/>
          <p:nvPr/>
        </p:nvSpPr>
        <p:spPr>
          <a:xfrm>
            <a:off x="8275320" y="1280160"/>
            <a:ext cx="3108960" cy="731520"/>
          </a:xfrm>
          <a:prstGeom prst="rect">
            <a:avLst/>
          </a:prstGeom>
          <a:noFill/>
          <a:ln/>
        </p:spPr>
        <p:txBody>
          <a:bodyPr wrap="square" lIns="0" tIns="0" rIns="0" bIns="0" rtlCol="0" anchor="ctr"/>
          <a:lstStyle/>
          <a:p>
            <a:pPr indent="0" marL="0">
              <a:buNone/>
            </a:pPr>
            <a:r>
              <a:rPr lang="en-US" sz="2000" b="1" dirty="0">
                <a:solidFill>
                  <a:schemeClr val="bg1"/>
                </a:solidFill>
              </a:rPr>
              <a:t>United States</a:t>
            </a:r>
            <a:pPr indent="0" marL="0">
              <a:buNone/>
            </a:pPr>
            <a:r>
              <a:rPr lang="en-US" sz="1400" dirty="0">
                <a:solidFill>
                  <a:schemeClr val="bg1"/>
                </a:solidFill>
              </a:rPr>
              <a:t>   OFAC</a:t>
            </a:r>
            <a:endParaRPr lang="en-US" sz="1400" dirty="0"/>
          </a:p>
        </p:txBody>
      </p:sp>
      <p:sp>
        <p:nvSpPr>
          <p:cNvPr id="28" name="Text 26"/>
          <p:cNvSpPr txBox="1"/>
          <p:nvPr/>
        </p:nvSpPr>
        <p:spPr>
          <a:xfrm>
            <a:off x="8275320" y="2148840"/>
            <a:ext cx="31089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LISTS</a:t>
            </a:r>
            <a:endParaRPr lang="en-US" sz="1000" dirty="0"/>
          </a:p>
        </p:txBody>
      </p:sp>
      <p:sp>
        <p:nvSpPr>
          <p:cNvPr id="29" name="Text 27"/>
          <p:cNvSpPr txBox="1"/>
          <p:nvPr/>
        </p:nvSpPr>
        <p:spPr>
          <a:xfrm>
            <a:off x="8275320" y="2395728"/>
            <a:ext cx="3108960" cy="658368"/>
          </a:xfrm>
          <a:prstGeom prst="rect">
            <a:avLst/>
          </a:prstGeom>
          <a:noFill/>
          <a:ln/>
        </p:spPr>
        <p:txBody>
          <a:bodyPr wrap="square" lIns="0" tIns="0" rIns="0" bIns="0" rtlCol="0" anchor="t"/>
          <a:lstStyle/>
          <a:p>
            <a:pPr indent="0" marL="0">
              <a:buNone/>
            </a:pPr>
            <a:r>
              <a:rPr lang="en-US" sz="1400" dirty="0">
                <a:solidFill>
                  <a:schemeClr val="tx1"/>
                </a:solidFill>
              </a:rPr>
              <a:t>OFAC SDN List + other OFAC lists</a:t>
            </a:r>
            <a:endParaRPr lang="en-US" sz="1400" dirty="0"/>
          </a:p>
        </p:txBody>
      </p:sp>
      <p:sp>
        <p:nvSpPr>
          <p:cNvPr id="30" name="Text 28"/>
          <p:cNvSpPr txBox="1"/>
          <p:nvPr/>
        </p:nvSpPr>
        <p:spPr>
          <a:xfrm>
            <a:off x="8275320" y="3063240"/>
            <a:ext cx="31089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OWNED WHEN</a:t>
            </a:r>
            <a:endParaRPr lang="en-US" sz="1000" dirty="0"/>
          </a:p>
        </p:txBody>
      </p:sp>
      <p:sp>
        <p:nvSpPr>
          <p:cNvPr id="31" name="Text 29"/>
          <p:cNvSpPr txBox="1"/>
          <p:nvPr/>
        </p:nvSpPr>
        <p:spPr>
          <a:xfrm>
            <a:off x="8275320" y="3310128"/>
            <a:ext cx="3108960" cy="658368"/>
          </a:xfrm>
          <a:prstGeom prst="rect">
            <a:avLst/>
          </a:prstGeom>
          <a:noFill/>
          <a:ln/>
        </p:spPr>
        <p:txBody>
          <a:bodyPr wrap="square" lIns="0" tIns="0" rIns="0" bIns="0" rtlCol="0" anchor="t"/>
          <a:lstStyle/>
          <a:p>
            <a:pPr indent="0" marL="0">
              <a:buNone/>
            </a:pPr>
            <a:r>
              <a:rPr lang="en-US" sz="1400" dirty="0">
                <a:solidFill>
                  <a:schemeClr val="tx1"/>
                </a:solidFill>
              </a:rPr>
              <a:t>50% or more — blocked owners' stakes ARE added up</a:t>
            </a:r>
            <a:endParaRPr lang="en-US" sz="1400" dirty="0"/>
          </a:p>
        </p:txBody>
      </p:sp>
      <p:sp>
        <p:nvSpPr>
          <p:cNvPr id="32" name="Text 30"/>
          <p:cNvSpPr txBox="1"/>
          <p:nvPr/>
        </p:nvSpPr>
        <p:spPr>
          <a:xfrm>
            <a:off x="8275320" y="3977640"/>
            <a:ext cx="31089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WHO'S TOLD (L2 FILES)</a:t>
            </a:r>
            <a:endParaRPr lang="en-US" sz="1000" dirty="0"/>
          </a:p>
        </p:txBody>
      </p:sp>
      <p:sp>
        <p:nvSpPr>
          <p:cNvPr id="33" name="Text 31"/>
          <p:cNvSpPr txBox="1"/>
          <p:nvPr/>
        </p:nvSpPr>
        <p:spPr>
          <a:xfrm>
            <a:off x="8275320" y="4224528"/>
            <a:ext cx="3108960" cy="658368"/>
          </a:xfrm>
          <a:prstGeom prst="rect">
            <a:avLst/>
          </a:prstGeom>
          <a:noFill/>
          <a:ln/>
        </p:spPr>
        <p:txBody>
          <a:bodyPr wrap="square" lIns="0" tIns="0" rIns="0" bIns="0" rtlCol="0" anchor="t"/>
          <a:lstStyle/>
          <a:p>
            <a:pPr indent="0" marL="0">
              <a:buNone/>
            </a:pPr>
            <a:r>
              <a:rPr lang="en-US" sz="1400" dirty="0">
                <a:solidFill>
                  <a:schemeClr val="tx1"/>
                </a:solidFill>
              </a:rPr>
              <a:t>OFAC within 10 business days — blocked or rejected</a:t>
            </a:r>
            <a:endParaRPr lang="en-US" sz="1400" dirty="0"/>
          </a:p>
        </p:txBody>
      </p:sp>
      <p:sp>
        <p:nvSpPr>
          <p:cNvPr id="34" name="Text 32"/>
          <p:cNvSpPr txBox="1"/>
          <p:nvPr/>
        </p:nvSpPr>
        <p:spPr>
          <a:xfrm>
            <a:off x="8275320" y="4892040"/>
            <a:ext cx="310896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REMEMBER</a:t>
            </a:r>
            <a:endParaRPr lang="en-US" sz="1000" dirty="0"/>
          </a:p>
        </p:txBody>
      </p:sp>
      <p:sp>
        <p:nvSpPr>
          <p:cNvPr id="35" name="Text 33"/>
          <p:cNvSpPr txBox="1"/>
          <p:nvPr/>
        </p:nvSpPr>
        <p:spPr>
          <a:xfrm>
            <a:off x="8275320" y="5138928"/>
            <a:ext cx="3108960" cy="658368"/>
          </a:xfrm>
          <a:prstGeom prst="rect">
            <a:avLst/>
          </a:prstGeom>
          <a:noFill/>
          <a:ln/>
        </p:spPr>
        <p:txBody>
          <a:bodyPr wrap="square" lIns="0" tIns="0" rIns="0" bIns="0" rtlCol="0" anchor="t"/>
          <a:lstStyle/>
          <a:p>
            <a:pPr indent="0" marL="0">
              <a:buNone/>
            </a:pPr>
            <a:r>
              <a:rPr lang="en-US" sz="1400" b="1" dirty="0">
                <a:solidFill>
                  <a:schemeClr val="tx1"/>
                </a:solidFill>
              </a:rPr>
              <a:t>Block ≠ reject. USD is a common trigger, not the only one</a:t>
            </a:r>
            <a:endParaRPr lang="en-US" sz="1400" dirty="0"/>
          </a:p>
        </p:txBody>
      </p:sp>
      <p:sp>
        <p:nvSpPr>
          <p:cNvPr id="36" name="Text 34"/>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Russia (Sanctions) (EU Exit) Regs 2019 regs 7, 70; OFSI General Guidance (ownership &amp; control); EU Council Best Practices ST 11623/24 (Jul 2024) + Commission asset-freeze FAQ; CMF L562-1 ff.; OFAC 50 Percent Rule guidance (2014); 31 CFR 501.603–604.</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Cheat sheet 2: UAE · Singapore · Hong Kong</a:t>
            </a:r>
            <a:endParaRPr lang="en-US" sz="3200" dirty="0"/>
          </a:p>
        </p:txBody>
      </p:sp>
      <p:sp>
        <p:nvSpPr>
          <p:cNvPr id="3" name="UAE card"/>
          <p:cNvSpPr/>
          <p:nvPr/>
        </p:nvSpPr>
        <p:spPr>
          <a:xfrm>
            <a:off x="548640" y="1280160"/>
            <a:ext cx="3566160" cy="4572000"/>
          </a:xfrm>
          <a:prstGeom prst="roundRect">
            <a:avLst>
              <a:gd name="adj" fmla="val 3077"/>
            </a:avLst>
          </a:prstGeom>
          <a:solidFill>
            <a:schemeClr val="bg2"/>
          </a:solidFill>
          <a:ln w="12700">
            <a:solidFill>
              <a:schemeClr val="bg2"/>
            </a:solidFill>
            <a:prstDash val="solid"/>
          </a:ln>
        </p:spPr>
      </p:sp>
      <p:sp>
        <p:nvSpPr>
          <p:cNvPr id="4" name="UAE header"/>
          <p:cNvSpPr/>
          <p:nvPr/>
        </p:nvSpPr>
        <p:spPr>
          <a:xfrm>
            <a:off x="548640" y="1280160"/>
            <a:ext cx="3566160" cy="731520"/>
          </a:xfrm>
          <a:prstGeom prst="roundRect">
            <a:avLst>
              <a:gd name="adj" fmla="val 15000"/>
            </a:avLst>
          </a:prstGeom>
          <a:solidFill>
            <a:schemeClr val="accent3"/>
          </a:solidFill>
          <a:ln w="12700">
            <a:solidFill>
              <a:schemeClr val="accent3"/>
            </a:solidFill>
            <a:prstDash val="solid"/>
          </a:ln>
        </p:spPr>
      </p:sp>
      <p:sp>
        <p:nvSpPr>
          <p:cNvPr id="5" name="Text 3"/>
          <p:cNvSpPr txBox="1"/>
          <p:nvPr/>
        </p:nvSpPr>
        <p:spPr>
          <a:xfrm>
            <a:off x="777240" y="1280160"/>
            <a:ext cx="3108960" cy="731520"/>
          </a:xfrm>
          <a:prstGeom prst="rect">
            <a:avLst/>
          </a:prstGeom>
          <a:noFill/>
          <a:ln/>
        </p:spPr>
        <p:txBody>
          <a:bodyPr wrap="square" lIns="0" tIns="0" rIns="0" bIns="0" rtlCol="0" anchor="ctr"/>
          <a:lstStyle/>
          <a:p>
            <a:pPr indent="0" marL="0">
              <a:buNone/>
            </a:pPr>
            <a:r>
              <a:rPr lang="en-US" sz="2000" b="1" dirty="0">
                <a:solidFill>
                  <a:schemeClr val="bg1"/>
                </a:solidFill>
              </a:rPr>
              <a:t>UAE</a:t>
            </a:r>
            <a:pPr indent="0" marL="0">
              <a:buNone/>
            </a:pPr>
            <a:r>
              <a:rPr lang="en-US" sz="1400" dirty="0">
                <a:solidFill>
                  <a:schemeClr val="bg1"/>
                </a:solidFill>
              </a:rPr>
              <a:t>   EOCN</a:t>
            </a:r>
            <a:endParaRPr lang="en-US" sz="1400" dirty="0"/>
          </a:p>
        </p:txBody>
      </p:sp>
      <p:sp>
        <p:nvSpPr>
          <p:cNvPr id="6" name="Text 4"/>
          <p:cNvSpPr txBox="1"/>
          <p:nvPr/>
        </p:nvSpPr>
        <p:spPr>
          <a:xfrm>
            <a:off x="777240" y="2148840"/>
            <a:ext cx="31089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LISTS</a:t>
            </a:r>
            <a:endParaRPr lang="en-US" sz="1000" dirty="0"/>
          </a:p>
        </p:txBody>
      </p:sp>
      <p:sp>
        <p:nvSpPr>
          <p:cNvPr id="7" name="Text 5"/>
          <p:cNvSpPr txBox="1"/>
          <p:nvPr/>
        </p:nvSpPr>
        <p:spPr>
          <a:xfrm>
            <a:off x="777240" y="2395728"/>
            <a:ext cx="3108960" cy="658368"/>
          </a:xfrm>
          <a:prstGeom prst="rect">
            <a:avLst/>
          </a:prstGeom>
          <a:noFill/>
          <a:ln/>
        </p:spPr>
        <p:txBody>
          <a:bodyPr wrap="square" lIns="0" tIns="0" rIns="0" bIns="0" rtlCol="0" anchor="t"/>
          <a:lstStyle/>
          <a:p>
            <a:pPr indent="0" marL="0">
              <a:buNone/>
            </a:pPr>
            <a:r>
              <a:rPr lang="en-US" sz="1400" dirty="0">
                <a:solidFill>
                  <a:schemeClr val="tx1"/>
                </a:solidFill>
              </a:rPr>
              <a:t>UN Consolidated List + UAE Local Terrorist List</a:t>
            </a:r>
            <a:endParaRPr lang="en-US" sz="1400" dirty="0"/>
          </a:p>
        </p:txBody>
      </p:sp>
      <p:sp>
        <p:nvSpPr>
          <p:cNvPr id="8" name="Text 6"/>
          <p:cNvSpPr txBox="1"/>
          <p:nvPr/>
        </p:nvSpPr>
        <p:spPr>
          <a:xfrm>
            <a:off x="777240" y="3063240"/>
            <a:ext cx="31089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ACT</a:t>
            </a:r>
            <a:endParaRPr lang="en-US" sz="1000" dirty="0"/>
          </a:p>
        </p:txBody>
      </p:sp>
      <p:sp>
        <p:nvSpPr>
          <p:cNvPr id="9" name="Text 7"/>
          <p:cNvSpPr txBox="1"/>
          <p:nvPr/>
        </p:nvSpPr>
        <p:spPr>
          <a:xfrm>
            <a:off x="777240" y="3310128"/>
            <a:ext cx="3108960" cy="658368"/>
          </a:xfrm>
          <a:prstGeom prst="rect">
            <a:avLst/>
          </a:prstGeom>
          <a:noFill/>
          <a:ln/>
        </p:spPr>
        <p:txBody>
          <a:bodyPr wrap="square" lIns="0" tIns="0" rIns="0" bIns="0" rtlCol="0" anchor="t"/>
          <a:lstStyle/>
          <a:p>
            <a:pPr indent="0" marL="0">
              <a:buNone/>
            </a:pPr>
            <a:r>
              <a:rPr lang="en-US" sz="1400" dirty="0">
                <a:solidFill>
                  <a:schemeClr val="tx1"/>
                </a:solidFill>
              </a:rPr>
              <a:t>Freeze without delay — within 24 hours of a listing</a:t>
            </a:r>
            <a:endParaRPr lang="en-US" sz="1400" dirty="0"/>
          </a:p>
        </p:txBody>
      </p:sp>
      <p:sp>
        <p:nvSpPr>
          <p:cNvPr id="10" name="Text 8"/>
          <p:cNvSpPr txBox="1"/>
          <p:nvPr/>
        </p:nvSpPr>
        <p:spPr>
          <a:xfrm>
            <a:off x="777240" y="3977640"/>
            <a:ext cx="31089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WHO'S TOLD (L2 FILES)</a:t>
            </a:r>
            <a:endParaRPr lang="en-US" sz="1000" dirty="0"/>
          </a:p>
        </p:txBody>
      </p:sp>
      <p:sp>
        <p:nvSpPr>
          <p:cNvPr id="11" name="Text 9"/>
          <p:cNvSpPr txBox="1"/>
          <p:nvPr/>
        </p:nvSpPr>
        <p:spPr>
          <a:xfrm>
            <a:off x="777240" y="4224528"/>
            <a:ext cx="3108960" cy="658368"/>
          </a:xfrm>
          <a:prstGeom prst="rect">
            <a:avLst/>
          </a:prstGeom>
          <a:noFill/>
          <a:ln/>
        </p:spPr>
        <p:txBody>
          <a:bodyPr wrap="square" lIns="0" tIns="0" rIns="0" bIns="0" rtlCol="0" anchor="t"/>
          <a:lstStyle/>
          <a:p>
            <a:pPr indent="0" marL="0">
              <a:buNone/>
            </a:pPr>
            <a:r>
              <a:rPr lang="en-US" sz="1400" dirty="0">
                <a:solidFill>
                  <a:schemeClr val="tx1"/>
                </a:solidFill>
              </a:rPr>
              <a:t>EOCN via goAML in 5 business days: CNMR or PNMR</a:t>
            </a:r>
            <a:endParaRPr lang="en-US" sz="1400" dirty="0"/>
          </a:p>
        </p:txBody>
      </p:sp>
      <p:sp>
        <p:nvSpPr>
          <p:cNvPr id="12" name="Text 10"/>
          <p:cNvSpPr txBox="1"/>
          <p:nvPr/>
        </p:nvSpPr>
        <p:spPr>
          <a:xfrm>
            <a:off x="777240" y="4892040"/>
            <a:ext cx="310896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REMEMBER</a:t>
            </a:r>
            <a:endParaRPr lang="en-US" sz="1000" dirty="0"/>
          </a:p>
        </p:txBody>
      </p:sp>
      <p:sp>
        <p:nvSpPr>
          <p:cNvPr id="13" name="Text 11"/>
          <p:cNvSpPr txBox="1"/>
          <p:nvPr/>
        </p:nvSpPr>
        <p:spPr>
          <a:xfrm>
            <a:off x="777240" y="5138928"/>
            <a:ext cx="3108960" cy="658368"/>
          </a:xfrm>
          <a:prstGeom prst="rect">
            <a:avLst/>
          </a:prstGeom>
          <a:noFill/>
          <a:ln/>
        </p:spPr>
        <p:txBody>
          <a:bodyPr wrap="square" lIns="0" tIns="0" rIns="0" bIns="0" rtlCol="0" anchor="t"/>
          <a:lstStyle/>
          <a:p>
            <a:pPr indent="0" marL="0">
              <a:buNone/>
            </a:pPr>
            <a:r>
              <a:rPr lang="en-US" sz="1400" b="1" dirty="0">
                <a:solidFill>
                  <a:schemeClr val="tx1"/>
                </a:solidFill>
              </a:rPr>
              <a:t>Unresolved partial match: suspend until EOCN says otherwise</a:t>
            </a:r>
            <a:endParaRPr lang="en-US" sz="1400" dirty="0"/>
          </a:p>
        </p:txBody>
      </p:sp>
      <p:sp>
        <p:nvSpPr>
          <p:cNvPr id="14" name="Singapore card"/>
          <p:cNvSpPr/>
          <p:nvPr/>
        </p:nvSpPr>
        <p:spPr>
          <a:xfrm>
            <a:off x="4297680" y="1280160"/>
            <a:ext cx="3566160" cy="4572000"/>
          </a:xfrm>
          <a:prstGeom prst="roundRect">
            <a:avLst>
              <a:gd name="adj" fmla="val 3077"/>
            </a:avLst>
          </a:prstGeom>
          <a:solidFill>
            <a:schemeClr val="bg2"/>
          </a:solidFill>
          <a:ln w="12700">
            <a:solidFill>
              <a:schemeClr val="bg2"/>
            </a:solidFill>
            <a:prstDash val="solid"/>
          </a:ln>
        </p:spPr>
      </p:sp>
      <p:sp>
        <p:nvSpPr>
          <p:cNvPr id="15" name="Singapore header"/>
          <p:cNvSpPr/>
          <p:nvPr/>
        </p:nvSpPr>
        <p:spPr>
          <a:xfrm>
            <a:off x="4297680" y="1280160"/>
            <a:ext cx="3566160" cy="731520"/>
          </a:xfrm>
          <a:prstGeom prst="roundRect">
            <a:avLst>
              <a:gd name="adj" fmla="val 15000"/>
            </a:avLst>
          </a:prstGeom>
          <a:solidFill>
            <a:schemeClr val="accent2"/>
          </a:solidFill>
          <a:ln w="12700">
            <a:solidFill>
              <a:schemeClr val="accent2"/>
            </a:solidFill>
            <a:prstDash val="solid"/>
          </a:ln>
        </p:spPr>
      </p:sp>
      <p:sp>
        <p:nvSpPr>
          <p:cNvPr id="16" name="Text 14"/>
          <p:cNvSpPr txBox="1"/>
          <p:nvPr/>
        </p:nvSpPr>
        <p:spPr>
          <a:xfrm>
            <a:off x="4526280" y="1280160"/>
            <a:ext cx="3108960" cy="731520"/>
          </a:xfrm>
          <a:prstGeom prst="rect">
            <a:avLst/>
          </a:prstGeom>
          <a:noFill/>
          <a:ln/>
        </p:spPr>
        <p:txBody>
          <a:bodyPr wrap="square" lIns="0" tIns="0" rIns="0" bIns="0" rtlCol="0" anchor="ctr"/>
          <a:lstStyle/>
          <a:p>
            <a:pPr indent="0" marL="0">
              <a:buNone/>
            </a:pPr>
            <a:r>
              <a:rPr lang="en-US" sz="2000" b="1" dirty="0">
                <a:solidFill>
                  <a:schemeClr val="bg1"/>
                </a:solidFill>
              </a:rPr>
              <a:t>Singapore</a:t>
            </a:r>
            <a:pPr indent="0" marL="0">
              <a:buNone/>
            </a:pPr>
            <a:r>
              <a:rPr lang="en-US" sz="1400" dirty="0">
                <a:solidFill>
                  <a:schemeClr val="bg1"/>
                </a:solidFill>
              </a:rPr>
              <a:t>   MAS</a:t>
            </a:r>
            <a:endParaRPr lang="en-US" sz="1400" dirty="0"/>
          </a:p>
        </p:txBody>
      </p:sp>
      <p:sp>
        <p:nvSpPr>
          <p:cNvPr id="17" name="Text 15"/>
          <p:cNvSpPr txBox="1"/>
          <p:nvPr/>
        </p:nvSpPr>
        <p:spPr>
          <a:xfrm>
            <a:off x="4526280" y="2148840"/>
            <a:ext cx="31089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LISTS</a:t>
            </a:r>
            <a:endParaRPr lang="en-US" sz="1000" dirty="0"/>
          </a:p>
        </p:txBody>
      </p:sp>
      <p:sp>
        <p:nvSpPr>
          <p:cNvPr id="18" name="Text 16"/>
          <p:cNvSpPr txBox="1"/>
          <p:nvPr/>
        </p:nvSpPr>
        <p:spPr>
          <a:xfrm>
            <a:off x="4526280" y="2395728"/>
            <a:ext cx="3108960" cy="658368"/>
          </a:xfrm>
          <a:prstGeom prst="rect">
            <a:avLst/>
          </a:prstGeom>
          <a:noFill/>
          <a:ln/>
        </p:spPr>
        <p:txBody>
          <a:bodyPr wrap="square" lIns="0" tIns="0" rIns="0" bIns="0" rtlCol="0" anchor="t"/>
          <a:lstStyle/>
          <a:p>
            <a:pPr indent="0" marL="0">
              <a:buNone/>
            </a:pPr>
            <a:r>
              <a:rPr lang="en-US" sz="1400" dirty="0">
                <a:solidFill>
                  <a:schemeClr val="tx1"/>
                </a:solidFill>
              </a:rPr>
              <a:t>UN lists + Singapore terrorist list + MAS Russia notice</a:t>
            </a:r>
            <a:endParaRPr lang="en-US" sz="1400" dirty="0"/>
          </a:p>
        </p:txBody>
      </p:sp>
      <p:sp>
        <p:nvSpPr>
          <p:cNvPr id="19" name="Text 17"/>
          <p:cNvSpPr txBox="1"/>
          <p:nvPr/>
        </p:nvSpPr>
        <p:spPr>
          <a:xfrm>
            <a:off x="4526280" y="3063240"/>
            <a:ext cx="31089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ACT</a:t>
            </a:r>
            <a:endParaRPr lang="en-US" sz="1000" dirty="0"/>
          </a:p>
        </p:txBody>
      </p:sp>
      <p:sp>
        <p:nvSpPr>
          <p:cNvPr id="20" name="Text 18"/>
          <p:cNvSpPr txBox="1"/>
          <p:nvPr/>
        </p:nvSpPr>
        <p:spPr>
          <a:xfrm>
            <a:off x="4526280" y="3310128"/>
            <a:ext cx="3108960" cy="658368"/>
          </a:xfrm>
          <a:prstGeom prst="rect">
            <a:avLst/>
          </a:prstGeom>
          <a:noFill/>
          <a:ln/>
        </p:spPr>
        <p:txBody>
          <a:bodyPr wrap="square" lIns="0" tIns="0" rIns="0" bIns="0" rtlCol="0" anchor="t"/>
          <a:lstStyle/>
          <a:p>
            <a:pPr indent="0" marL="0">
              <a:buNone/>
            </a:pPr>
            <a:r>
              <a:rPr lang="en-US" sz="1400" dirty="0">
                <a:solidFill>
                  <a:schemeClr val="tx1"/>
                </a:solidFill>
              </a:rPr>
              <a:t>Freeze; no dealings with listed parties</a:t>
            </a:r>
            <a:endParaRPr lang="en-US" sz="1400" dirty="0"/>
          </a:p>
        </p:txBody>
      </p:sp>
      <p:sp>
        <p:nvSpPr>
          <p:cNvPr id="21" name="Text 19"/>
          <p:cNvSpPr txBox="1"/>
          <p:nvPr/>
        </p:nvSpPr>
        <p:spPr>
          <a:xfrm>
            <a:off x="4526280" y="3977640"/>
            <a:ext cx="31089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WHO'S TOLD (L2 FILES)</a:t>
            </a:r>
            <a:endParaRPr lang="en-US" sz="1000" dirty="0"/>
          </a:p>
        </p:txBody>
      </p:sp>
      <p:sp>
        <p:nvSpPr>
          <p:cNvPr id="22" name="Text 20"/>
          <p:cNvSpPr txBox="1"/>
          <p:nvPr/>
        </p:nvSpPr>
        <p:spPr>
          <a:xfrm>
            <a:off x="4526280" y="4224528"/>
            <a:ext cx="3108960" cy="658368"/>
          </a:xfrm>
          <a:prstGeom prst="rect">
            <a:avLst/>
          </a:prstGeom>
          <a:noFill/>
          <a:ln/>
        </p:spPr>
        <p:txBody>
          <a:bodyPr wrap="square" lIns="0" tIns="0" rIns="0" bIns="0" rtlCol="0" anchor="t"/>
          <a:lstStyle/>
          <a:p>
            <a:pPr indent="0" marL="0">
              <a:buNone/>
            </a:pPr>
            <a:r>
              <a:rPr lang="en-US" sz="1400" dirty="0">
                <a:solidFill>
                  <a:schemeClr val="tx1"/>
                </a:solidFill>
              </a:rPr>
              <a:t>MAS immediately · STR to STRO</a:t>
            </a:r>
            <a:endParaRPr lang="en-US" sz="1400" dirty="0"/>
          </a:p>
        </p:txBody>
      </p:sp>
      <p:sp>
        <p:nvSpPr>
          <p:cNvPr id="23" name="Text 21"/>
          <p:cNvSpPr txBox="1"/>
          <p:nvPr/>
        </p:nvSpPr>
        <p:spPr>
          <a:xfrm>
            <a:off x="4526280" y="4892040"/>
            <a:ext cx="310896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REMEMBER</a:t>
            </a:r>
            <a:endParaRPr lang="en-US" sz="1000" dirty="0"/>
          </a:p>
        </p:txBody>
      </p:sp>
      <p:sp>
        <p:nvSpPr>
          <p:cNvPr id="24" name="Text 22"/>
          <p:cNvSpPr txBox="1"/>
          <p:nvPr/>
        </p:nvSpPr>
        <p:spPr>
          <a:xfrm>
            <a:off x="4526280" y="5138928"/>
            <a:ext cx="3108960" cy="658368"/>
          </a:xfrm>
          <a:prstGeom prst="rect">
            <a:avLst/>
          </a:prstGeom>
          <a:noFill/>
          <a:ln/>
        </p:spPr>
        <p:txBody>
          <a:bodyPr wrap="square" lIns="0" tIns="0" rIns="0" bIns="0" rtlCol="0" anchor="t"/>
          <a:lstStyle/>
          <a:p>
            <a:pPr indent="0" marL="0">
              <a:buNone/>
            </a:pPr>
            <a:r>
              <a:rPr lang="en-US" sz="1400" b="1" dirty="0">
                <a:solidFill>
                  <a:schemeClr val="tx1"/>
                </a:solidFill>
              </a:rPr>
              <a:t>Own Russia rules: 4 named banks + what they own or control</a:t>
            </a:r>
            <a:endParaRPr lang="en-US" sz="1400" dirty="0"/>
          </a:p>
        </p:txBody>
      </p:sp>
      <p:sp>
        <p:nvSpPr>
          <p:cNvPr id="25" name="Hong Kong card"/>
          <p:cNvSpPr/>
          <p:nvPr/>
        </p:nvSpPr>
        <p:spPr>
          <a:xfrm>
            <a:off x="8046720" y="1280160"/>
            <a:ext cx="3566160" cy="4572000"/>
          </a:xfrm>
          <a:prstGeom prst="roundRect">
            <a:avLst>
              <a:gd name="adj" fmla="val 3077"/>
            </a:avLst>
          </a:prstGeom>
          <a:solidFill>
            <a:schemeClr val="bg2"/>
          </a:solidFill>
          <a:ln w="12700">
            <a:solidFill>
              <a:schemeClr val="bg2"/>
            </a:solidFill>
            <a:prstDash val="solid"/>
          </a:ln>
        </p:spPr>
      </p:sp>
      <p:sp>
        <p:nvSpPr>
          <p:cNvPr id="26" name="Hong Kong header"/>
          <p:cNvSpPr/>
          <p:nvPr/>
        </p:nvSpPr>
        <p:spPr>
          <a:xfrm>
            <a:off x="8046720" y="1280160"/>
            <a:ext cx="3566160" cy="731520"/>
          </a:xfrm>
          <a:prstGeom prst="roundRect">
            <a:avLst>
              <a:gd name="adj" fmla="val 15000"/>
            </a:avLst>
          </a:prstGeom>
          <a:solidFill>
            <a:schemeClr val="accent6"/>
          </a:solidFill>
          <a:ln w="12700">
            <a:solidFill>
              <a:schemeClr val="accent6"/>
            </a:solidFill>
            <a:prstDash val="solid"/>
          </a:ln>
        </p:spPr>
      </p:sp>
      <p:sp>
        <p:nvSpPr>
          <p:cNvPr id="27" name="Text 25"/>
          <p:cNvSpPr txBox="1"/>
          <p:nvPr/>
        </p:nvSpPr>
        <p:spPr>
          <a:xfrm>
            <a:off x="8275320" y="1280160"/>
            <a:ext cx="3108960" cy="731520"/>
          </a:xfrm>
          <a:prstGeom prst="rect">
            <a:avLst/>
          </a:prstGeom>
          <a:noFill/>
          <a:ln/>
        </p:spPr>
        <p:txBody>
          <a:bodyPr wrap="square" lIns="0" tIns="0" rIns="0" bIns="0" rtlCol="0" anchor="ctr"/>
          <a:lstStyle/>
          <a:p>
            <a:pPr indent="0" marL="0">
              <a:buNone/>
            </a:pPr>
            <a:r>
              <a:rPr lang="en-US" sz="2000" b="1" dirty="0">
                <a:solidFill>
                  <a:schemeClr val="bg1"/>
                </a:solidFill>
              </a:rPr>
              <a:t>Hong Kong</a:t>
            </a:r>
            <a:pPr indent="0" marL="0">
              <a:buNone/>
            </a:pPr>
            <a:r>
              <a:rPr lang="en-US" sz="1400" dirty="0">
                <a:solidFill>
                  <a:schemeClr val="bg1"/>
                </a:solidFill>
              </a:rPr>
              <a:t>   UN only</a:t>
            </a:r>
            <a:endParaRPr lang="en-US" sz="1400" dirty="0"/>
          </a:p>
        </p:txBody>
      </p:sp>
      <p:sp>
        <p:nvSpPr>
          <p:cNvPr id="28" name="Text 26"/>
          <p:cNvSpPr txBox="1"/>
          <p:nvPr/>
        </p:nvSpPr>
        <p:spPr>
          <a:xfrm>
            <a:off x="8275320" y="2148840"/>
            <a:ext cx="31089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LISTS</a:t>
            </a:r>
            <a:endParaRPr lang="en-US" sz="1000" dirty="0"/>
          </a:p>
        </p:txBody>
      </p:sp>
      <p:sp>
        <p:nvSpPr>
          <p:cNvPr id="29" name="Text 27"/>
          <p:cNvSpPr txBox="1"/>
          <p:nvPr/>
        </p:nvSpPr>
        <p:spPr>
          <a:xfrm>
            <a:off x="8275320" y="2395728"/>
            <a:ext cx="3108960" cy="658368"/>
          </a:xfrm>
          <a:prstGeom prst="rect">
            <a:avLst/>
          </a:prstGeom>
          <a:noFill/>
          <a:ln/>
        </p:spPr>
        <p:txBody>
          <a:bodyPr wrap="square" lIns="0" tIns="0" rIns="0" bIns="0" rtlCol="0" anchor="t"/>
          <a:lstStyle/>
          <a:p>
            <a:pPr indent="0" marL="0">
              <a:buNone/>
            </a:pPr>
            <a:r>
              <a:rPr lang="en-US" sz="1400" dirty="0">
                <a:solidFill>
                  <a:schemeClr val="tx1"/>
                </a:solidFill>
              </a:rPr>
              <a:t>UN sanctions (Cap. 537) + UN terrorist designations (Cap. 575)</a:t>
            </a:r>
            <a:endParaRPr lang="en-US" sz="1400" dirty="0"/>
          </a:p>
        </p:txBody>
      </p:sp>
      <p:sp>
        <p:nvSpPr>
          <p:cNvPr id="30" name="Text 28"/>
          <p:cNvSpPr txBox="1"/>
          <p:nvPr/>
        </p:nvSpPr>
        <p:spPr>
          <a:xfrm>
            <a:off x="8275320" y="3063240"/>
            <a:ext cx="31089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ACT</a:t>
            </a:r>
            <a:endParaRPr lang="en-US" sz="1000" dirty="0"/>
          </a:p>
        </p:txBody>
      </p:sp>
      <p:sp>
        <p:nvSpPr>
          <p:cNvPr id="31" name="Text 29"/>
          <p:cNvSpPr txBox="1"/>
          <p:nvPr/>
        </p:nvSpPr>
        <p:spPr>
          <a:xfrm>
            <a:off x="8275320" y="3310128"/>
            <a:ext cx="3108960" cy="658368"/>
          </a:xfrm>
          <a:prstGeom prst="rect">
            <a:avLst/>
          </a:prstGeom>
          <a:noFill/>
          <a:ln/>
        </p:spPr>
        <p:txBody>
          <a:bodyPr wrap="square" lIns="0" tIns="0" rIns="0" bIns="0" rtlCol="0" anchor="t"/>
          <a:lstStyle/>
          <a:p>
            <a:pPr indent="0" marL="0">
              <a:buNone/>
            </a:pPr>
            <a:r>
              <a:rPr lang="en-US" sz="1400" dirty="0">
                <a:solidFill>
                  <a:schemeClr val="tx1"/>
                </a:solidFill>
              </a:rPr>
              <a:t>Freeze where a UN measure applies</a:t>
            </a:r>
            <a:endParaRPr lang="en-US" sz="1400" dirty="0"/>
          </a:p>
        </p:txBody>
      </p:sp>
      <p:sp>
        <p:nvSpPr>
          <p:cNvPr id="32" name="Text 30"/>
          <p:cNvSpPr txBox="1"/>
          <p:nvPr/>
        </p:nvSpPr>
        <p:spPr>
          <a:xfrm>
            <a:off x="8275320" y="3977640"/>
            <a:ext cx="31089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WHO'S TOLD (L2 FILES)</a:t>
            </a:r>
            <a:endParaRPr lang="en-US" sz="1000" dirty="0"/>
          </a:p>
        </p:txBody>
      </p:sp>
      <p:sp>
        <p:nvSpPr>
          <p:cNvPr id="33" name="Text 31"/>
          <p:cNvSpPr txBox="1"/>
          <p:nvPr/>
        </p:nvSpPr>
        <p:spPr>
          <a:xfrm>
            <a:off x="8275320" y="4224528"/>
            <a:ext cx="3108960" cy="658368"/>
          </a:xfrm>
          <a:prstGeom prst="rect">
            <a:avLst/>
          </a:prstGeom>
          <a:noFill/>
          <a:ln/>
        </p:spPr>
        <p:txBody>
          <a:bodyPr wrap="square" lIns="0" tIns="0" rIns="0" bIns="0" rtlCol="0" anchor="t"/>
          <a:lstStyle/>
          <a:p>
            <a:pPr indent="0" marL="0">
              <a:buNone/>
            </a:pPr>
            <a:r>
              <a:rPr lang="en-US" sz="1400" dirty="0">
                <a:solidFill>
                  <a:schemeClr val="tx1"/>
                </a:solidFill>
              </a:rPr>
              <a:t>JFIU — L2 confirms the route</a:t>
            </a:r>
            <a:endParaRPr lang="en-US" sz="1400" dirty="0"/>
          </a:p>
        </p:txBody>
      </p:sp>
      <p:sp>
        <p:nvSpPr>
          <p:cNvPr id="34" name="Text 32"/>
          <p:cNvSpPr txBox="1"/>
          <p:nvPr/>
        </p:nvSpPr>
        <p:spPr>
          <a:xfrm>
            <a:off x="8275320" y="4892040"/>
            <a:ext cx="310896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REMEMBER</a:t>
            </a:r>
            <a:endParaRPr lang="en-US" sz="1000" dirty="0"/>
          </a:p>
        </p:txBody>
      </p:sp>
      <p:sp>
        <p:nvSpPr>
          <p:cNvPr id="35" name="Text 33"/>
          <p:cNvSpPr txBox="1"/>
          <p:nvPr/>
        </p:nvSpPr>
        <p:spPr>
          <a:xfrm>
            <a:off x="8275320" y="5138928"/>
            <a:ext cx="3108960" cy="658368"/>
          </a:xfrm>
          <a:prstGeom prst="rect">
            <a:avLst/>
          </a:prstGeom>
          <a:noFill/>
          <a:ln/>
        </p:spPr>
        <p:txBody>
          <a:bodyPr wrap="square" lIns="0" tIns="0" rIns="0" bIns="0" rtlCol="0" anchor="t"/>
          <a:lstStyle/>
          <a:p>
            <a:pPr indent="0" marL="0">
              <a:buNone/>
            </a:pPr>
            <a:r>
              <a:rPr lang="en-US" sz="1400" b="1" dirty="0">
                <a:solidFill>
                  <a:schemeClr val="tx1"/>
                </a:solidFill>
              </a:rPr>
              <a:t>UN only. Group policy and UK / EU / US rules still sit on top</a:t>
            </a:r>
            <a:endParaRPr lang="en-US" sz="1400" dirty="0"/>
          </a:p>
        </p:txBody>
      </p:sp>
      <p:sp>
        <p:nvSpPr>
          <p:cNvPr id="36" name="Text 34"/>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UAE Cabinet Decision No. 74 of 2020, EOCN TFS guidance, CBUAE Rulebook; Singapore FSM (Sanctions and Freezing of Assets of Persons) Regs 2023, MAS Notice SNR-N01 (30 Jun 2025, amended Feb 2026), TSOFA; HK Cap. 537, Cap. 575 s.12.</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Ownership and control: same facts, different answers</a:t>
            </a:r>
            <a:endParaRPr lang="en-US" sz="3200" dirty="0"/>
          </a:p>
        </p:txBody>
      </p:sp>
      <p:sp>
        <p:nvSpPr>
          <p:cNvPr id="3" name="diagram"/>
          <p:cNvSpPr/>
          <p:nvPr/>
        </p:nvSpPr>
        <p:spPr>
          <a:xfrm>
            <a:off x="548640" y="1280160"/>
            <a:ext cx="5760720" cy="4343400"/>
          </a:xfrm>
          <a:prstGeom prst="roundRect">
            <a:avLst>
              <a:gd name="adj" fmla="val 2526"/>
            </a:avLst>
          </a:prstGeom>
          <a:solidFill>
            <a:schemeClr val="bg2"/>
          </a:solidFill>
          <a:ln w="12700">
            <a:solidFill>
              <a:schemeClr val="bg2"/>
            </a:solidFill>
            <a:prstDash val="solid"/>
          </a:ln>
        </p:spPr>
      </p:sp>
      <p:sp>
        <p:nvSpPr>
          <p:cNvPr id="4" name="Shape 2"/>
          <p:cNvSpPr/>
          <p:nvPr/>
        </p:nvSpPr>
        <p:spPr>
          <a:xfrm>
            <a:off x="822960" y="1554480"/>
            <a:ext cx="1600200" cy="960120"/>
          </a:xfrm>
          <a:prstGeom prst="roundRect">
            <a:avLst>
              <a:gd name="adj" fmla="val 9524"/>
            </a:avLst>
          </a:prstGeom>
          <a:solidFill>
            <a:schemeClr val="accent1"/>
          </a:solidFill>
          <a:ln w="12700">
            <a:solidFill>
              <a:schemeClr val="accent1"/>
            </a:solidFill>
            <a:prstDash val="solid"/>
          </a:ln>
        </p:spPr>
      </p:sp>
      <p:sp>
        <p:nvSpPr>
          <p:cNvPr id="5" name="Text 3"/>
          <p:cNvSpPr txBox="1"/>
          <p:nvPr/>
        </p:nvSpPr>
        <p:spPr>
          <a:xfrm>
            <a:off x="896112" y="1554480"/>
            <a:ext cx="1453896" cy="960120"/>
          </a:xfrm>
          <a:prstGeom prst="rect">
            <a:avLst/>
          </a:prstGeom>
          <a:noFill/>
          <a:ln/>
        </p:spPr>
        <p:txBody>
          <a:bodyPr wrap="square" lIns="0" tIns="0" rIns="0" bIns="0" rtlCol="0" anchor="ctr"/>
          <a:lstStyle/>
          <a:p>
            <a:pPr algn="ctr" indent="0" marL="0">
              <a:buNone/>
            </a:pPr>
            <a:r>
              <a:rPr lang="en-US" sz="1400" b="1" dirty="0">
                <a:solidFill>
                  <a:schemeClr val="bg1"/>
                </a:solidFill>
              </a:rPr>
              <a:t>Designated A</a:t>
            </a:r>
            <a:endParaRPr lang="en-US" sz="1400" dirty="0"/>
          </a:p>
          <a:p>
            <a:pPr algn="ctr" indent="0" marL="0">
              <a:buNone/>
            </a:pPr>
            <a:r>
              <a:rPr lang="en-US" sz="1200" dirty="0">
                <a:solidFill>
                  <a:schemeClr val="bg1"/>
                </a:solidFill>
              </a:rPr>
              <a:t>owns 30%</a:t>
            </a:r>
            <a:endParaRPr lang="en-US" sz="1400" dirty="0"/>
          </a:p>
        </p:txBody>
      </p:sp>
      <p:sp>
        <p:nvSpPr>
          <p:cNvPr id="6" name="Shape 4"/>
          <p:cNvSpPr/>
          <p:nvPr/>
        </p:nvSpPr>
        <p:spPr>
          <a:xfrm>
            <a:off x="1623060" y="2514600"/>
            <a:ext cx="1805940" cy="1143000"/>
          </a:xfrm>
          <a:prstGeom prst="line">
            <a:avLst/>
          </a:prstGeom>
          <a:noFill/>
          <a:ln w="25400">
            <a:solidFill>
              <a:srgbClr val="5B6472"/>
            </a:solidFill>
            <a:prstDash val="solid"/>
            <a:tailEnd type="triangle"/>
          </a:ln>
        </p:spPr>
      </p:sp>
      <p:sp>
        <p:nvSpPr>
          <p:cNvPr id="7" name="Shape 5"/>
          <p:cNvSpPr/>
          <p:nvPr/>
        </p:nvSpPr>
        <p:spPr>
          <a:xfrm>
            <a:off x="2514600" y="1554480"/>
            <a:ext cx="1600200" cy="960120"/>
          </a:xfrm>
          <a:prstGeom prst="roundRect">
            <a:avLst>
              <a:gd name="adj" fmla="val 9524"/>
            </a:avLst>
          </a:prstGeom>
          <a:solidFill>
            <a:schemeClr val="accent1"/>
          </a:solidFill>
          <a:ln w="12700">
            <a:solidFill>
              <a:schemeClr val="accent1"/>
            </a:solidFill>
            <a:prstDash val="solid"/>
          </a:ln>
        </p:spPr>
      </p:sp>
      <p:sp>
        <p:nvSpPr>
          <p:cNvPr id="8" name="Text 6"/>
          <p:cNvSpPr txBox="1"/>
          <p:nvPr/>
        </p:nvSpPr>
        <p:spPr>
          <a:xfrm>
            <a:off x="2587752" y="1554480"/>
            <a:ext cx="1453896" cy="960120"/>
          </a:xfrm>
          <a:prstGeom prst="rect">
            <a:avLst/>
          </a:prstGeom>
          <a:noFill/>
          <a:ln/>
        </p:spPr>
        <p:txBody>
          <a:bodyPr wrap="square" lIns="0" tIns="0" rIns="0" bIns="0" rtlCol="0" anchor="ctr"/>
          <a:lstStyle/>
          <a:p>
            <a:pPr algn="ctr" indent="0" marL="0">
              <a:buNone/>
            </a:pPr>
            <a:r>
              <a:rPr lang="en-US" sz="1400" b="1" dirty="0">
                <a:solidFill>
                  <a:schemeClr val="bg1"/>
                </a:solidFill>
              </a:rPr>
              <a:t>Designated B</a:t>
            </a:r>
            <a:endParaRPr lang="en-US" sz="1400" dirty="0"/>
          </a:p>
          <a:p>
            <a:pPr algn="ctr" indent="0" marL="0">
              <a:buNone/>
            </a:pPr>
            <a:r>
              <a:rPr lang="en-US" sz="1200" dirty="0">
                <a:solidFill>
                  <a:schemeClr val="bg1"/>
                </a:solidFill>
              </a:rPr>
              <a:t>owns 25%</a:t>
            </a:r>
            <a:endParaRPr lang="en-US" sz="1400" dirty="0"/>
          </a:p>
        </p:txBody>
      </p:sp>
      <p:sp>
        <p:nvSpPr>
          <p:cNvPr id="9" name="Shape 7"/>
          <p:cNvSpPr/>
          <p:nvPr/>
        </p:nvSpPr>
        <p:spPr>
          <a:xfrm>
            <a:off x="3314700" y="2514600"/>
            <a:ext cx="114300" cy="1143000"/>
          </a:xfrm>
          <a:prstGeom prst="line">
            <a:avLst/>
          </a:prstGeom>
          <a:noFill/>
          <a:ln w="25400">
            <a:solidFill>
              <a:srgbClr val="5B6472"/>
            </a:solidFill>
            <a:prstDash val="solid"/>
            <a:tailEnd type="triangle"/>
          </a:ln>
        </p:spPr>
      </p:sp>
      <p:sp>
        <p:nvSpPr>
          <p:cNvPr id="10" name="Shape 8"/>
          <p:cNvSpPr/>
          <p:nvPr/>
        </p:nvSpPr>
        <p:spPr>
          <a:xfrm>
            <a:off x="4206240" y="1554480"/>
            <a:ext cx="1600200" cy="960120"/>
          </a:xfrm>
          <a:prstGeom prst="roundRect">
            <a:avLst>
              <a:gd name="adj" fmla="val 9524"/>
            </a:avLst>
          </a:prstGeom>
          <a:solidFill>
            <a:schemeClr val="accent2"/>
          </a:solidFill>
          <a:ln w="12700">
            <a:solidFill>
              <a:schemeClr val="accent2"/>
            </a:solidFill>
            <a:prstDash val="solid"/>
          </a:ln>
        </p:spPr>
      </p:sp>
      <p:sp>
        <p:nvSpPr>
          <p:cNvPr id="11" name="Text 9"/>
          <p:cNvSpPr txBox="1"/>
          <p:nvPr/>
        </p:nvSpPr>
        <p:spPr>
          <a:xfrm>
            <a:off x="4279392" y="1554480"/>
            <a:ext cx="1453896" cy="960120"/>
          </a:xfrm>
          <a:prstGeom prst="rect">
            <a:avLst/>
          </a:prstGeom>
          <a:noFill/>
          <a:ln/>
        </p:spPr>
        <p:txBody>
          <a:bodyPr wrap="square" lIns="0" tIns="0" rIns="0" bIns="0" rtlCol="0" anchor="ctr"/>
          <a:lstStyle/>
          <a:p>
            <a:pPr algn="ctr" indent="0" marL="0">
              <a:buNone/>
            </a:pPr>
            <a:r>
              <a:rPr lang="en-US" sz="1400" b="1" dirty="0">
                <a:solidFill>
                  <a:schemeClr val="bg1"/>
                </a:solidFill>
              </a:rPr>
              <a:t>Designated C</a:t>
            </a:r>
            <a:endParaRPr lang="en-US" sz="1400" dirty="0"/>
          </a:p>
          <a:p>
            <a:pPr algn="ctr" indent="0" marL="0">
              <a:buNone/>
            </a:pPr>
            <a:r>
              <a:rPr lang="en-US" sz="1200" dirty="0">
                <a:solidFill>
                  <a:schemeClr val="bg1"/>
                </a:solidFill>
              </a:rPr>
              <a:t>director · signs payouts</a:t>
            </a:r>
            <a:endParaRPr lang="en-US" sz="1400" dirty="0"/>
          </a:p>
        </p:txBody>
      </p:sp>
      <p:sp>
        <p:nvSpPr>
          <p:cNvPr id="12" name="Shape 10"/>
          <p:cNvSpPr/>
          <p:nvPr/>
        </p:nvSpPr>
        <p:spPr>
          <a:xfrm flipH="1">
            <a:off x="3429000" y="2514600"/>
            <a:ext cx="1577340" cy="1143000"/>
          </a:xfrm>
          <a:prstGeom prst="line">
            <a:avLst/>
          </a:prstGeom>
          <a:noFill/>
          <a:ln w="25400">
            <a:solidFill>
              <a:srgbClr val="5B6472"/>
            </a:solidFill>
            <a:prstDash val="dash"/>
            <a:tailEnd type="triangle"/>
          </a:ln>
        </p:spPr>
      </p:sp>
      <p:sp>
        <p:nvSpPr>
          <p:cNvPr id="13" name="Shape 11"/>
          <p:cNvSpPr/>
          <p:nvPr/>
        </p:nvSpPr>
        <p:spPr>
          <a:xfrm>
            <a:off x="2423160" y="3657600"/>
            <a:ext cx="2011680" cy="914400"/>
          </a:xfrm>
          <a:prstGeom prst="roundRect">
            <a:avLst>
              <a:gd name="adj" fmla="val 10000"/>
            </a:avLst>
          </a:prstGeom>
          <a:solidFill>
            <a:schemeClr val="tx1"/>
          </a:solidFill>
          <a:ln w="12700">
            <a:solidFill>
              <a:schemeClr val="tx1"/>
            </a:solidFill>
            <a:prstDash val="solid"/>
          </a:ln>
        </p:spPr>
      </p:sp>
      <p:sp>
        <p:nvSpPr>
          <p:cNvPr id="14" name="Text 12"/>
          <p:cNvSpPr txBox="1"/>
          <p:nvPr/>
        </p:nvSpPr>
        <p:spPr>
          <a:xfrm>
            <a:off x="2423160" y="365760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Company X</a:t>
            </a:r>
            <a:endParaRPr lang="en-US" sz="1600" dirty="0"/>
          </a:p>
          <a:p>
            <a:pPr algn="ctr" indent="0" marL="0">
              <a:buNone/>
            </a:pPr>
            <a:r>
              <a:rPr lang="en-US" sz="1200" dirty="0">
                <a:solidFill>
                  <a:schemeClr val="bg1"/>
                </a:solidFill>
              </a:rPr>
              <a:t>not on any list</a:t>
            </a:r>
            <a:endParaRPr lang="en-US" sz="1600" dirty="0"/>
          </a:p>
        </p:txBody>
      </p:sp>
      <p:sp>
        <p:nvSpPr>
          <p:cNvPr id="15" name="Text 13"/>
          <p:cNvSpPr txBox="1"/>
          <p:nvPr/>
        </p:nvSpPr>
        <p:spPr>
          <a:xfrm>
            <a:off x="822960" y="4937760"/>
            <a:ext cx="5212080" cy="457200"/>
          </a:xfrm>
          <a:prstGeom prst="rect">
            <a:avLst/>
          </a:prstGeom>
          <a:noFill/>
          <a:ln/>
        </p:spPr>
        <p:txBody>
          <a:bodyPr wrap="square" lIns="0" tIns="0" rIns="0" bIns="0" rtlCol="0" anchor="t"/>
          <a:lstStyle/>
          <a:p>
            <a:pPr indent="0" marL="0">
              <a:buNone/>
            </a:pPr>
            <a:r>
              <a:rPr lang="en-US" sz="1200" i="1" dirty="0">
                <a:solidFill>
                  <a:schemeClr val="accent6"/>
                </a:solidFill>
              </a:rPr>
              <a:t>Solid line = ownership · dashed line = control</a:t>
            </a:r>
            <a:endParaRPr lang="en-US" sz="1200" dirty="0"/>
          </a:p>
        </p:txBody>
      </p:sp>
      <p:sp>
        <p:nvSpPr>
          <p:cNvPr id="16" name="Shape 14"/>
          <p:cNvSpPr/>
          <p:nvPr/>
        </p:nvSpPr>
        <p:spPr>
          <a:xfrm>
            <a:off x="6583680" y="1389888"/>
            <a:ext cx="685800" cy="685800"/>
          </a:xfrm>
          <a:prstGeom prst="ellipse">
            <a:avLst/>
          </a:prstGeom>
          <a:solidFill>
            <a:schemeClr val="accent1"/>
          </a:solidFill>
          <a:ln w="12700">
            <a:solidFill>
              <a:schemeClr val="accent1"/>
            </a:solidFill>
            <a:prstDash val="solid"/>
          </a:ln>
        </p:spPr>
      </p:sp>
      <p:sp>
        <p:nvSpPr>
          <p:cNvPr id="17" name="Text 15"/>
          <p:cNvSpPr txBox="1"/>
          <p:nvPr/>
        </p:nvSpPr>
        <p:spPr>
          <a:xfrm>
            <a:off x="6583680" y="1389888"/>
            <a:ext cx="685800" cy="685800"/>
          </a:xfrm>
          <a:prstGeom prst="rect">
            <a:avLst/>
          </a:prstGeom>
          <a:noFill/>
          <a:ln/>
        </p:spPr>
        <p:txBody>
          <a:bodyPr wrap="square" lIns="0" tIns="0" rIns="0" bIns="0" rtlCol="0" anchor="ctr"/>
          <a:lstStyle/>
          <a:p>
            <a:pPr algn="ctr" indent="0" marL="0">
              <a:buNone/>
            </a:pPr>
            <a:r>
              <a:rPr lang="en-US" sz="1600" b="1" dirty="0">
                <a:solidFill>
                  <a:schemeClr val="bg1"/>
                </a:solidFill>
              </a:rPr>
              <a:t>US</a:t>
            </a:r>
            <a:endParaRPr lang="en-US" sz="1600" dirty="0"/>
          </a:p>
        </p:txBody>
      </p:sp>
      <p:sp>
        <p:nvSpPr>
          <p:cNvPr id="18" name="Text 16"/>
          <p:cNvSpPr txBox="1"/>
          <p:nvPr/>
        </p:nvSpPr>
        <p:spPr>
          <a:xfrm>
            <a:off x="7452360" y="1280160"/>
            <a:ext cx="4160520" cy="960120"/>
          </a:xfrm>
          <a:prstGeom prst="rect">
            <a:avLst/>
          </a:prstGeom>
          <a:noFill/>
          <a:ln/>
        </p:spPr>
        <p:txBody>
          <a:bodyPr wrap="square" lIns="0" tIns="0" rIns="0" bIns="0" rtlCol="0" anchor="ctr"/>
          <a:lstStyle/>
          <a:p>
            <a:pPr indent="0" marL="0">
              <a:buNone/>
            </a:pPr>
            <a:r>
              <a:rPr lang="en-US" sz="1500" dirty="0">
                <a:solidFill>
                  <a:schemeClr val="tx1"/>
                </a:solidFill>
              </a:rPr>
              <a:t>30% + 25% = 55% → Company X is blocked. OFAC adds up blocked owners (50% or more).</a:t>
            </a:r>
            <a:endParaRPr lang="en-US" sz="1500" dirty="0"/>
          </a:p>
        </p:txBody>
      </p:sp>
      <p:sp>
        <p:nvSpPr>
          <p:cNvPr id="19" name="Shape 17"/>
          <p:cNvSpPr/>
          <p:nvPr/>
        </p:nvSpPr>
        <p:spPr>
          <a:xfrm>
            <a:off x="6583680" y="2468880"/>
            <a:ext cx="685800" cy="685800"/>
          </a:xfrm>
          <a:prstGeom prst="ellipse">
            <a:avLst/>
          </a:prstGeom>
          <a:solidFill>
            <a:schemeClr val="accent4"/>
          </a:solidFill>
          <a:ln w="12700">
            <a:solidFill>
              <a:schemeClr val="accent4"/>
            </a:solidFill>
            <a:prstDash val="solid"/>
          </a:ln>
        </p:spPr>
      </p:sp>
      <p:sp>
        <p:nvSpPr>
          <p:cNvPr id="20" name="Text 18"/>
          <p:cNvSpPr txBox="1"/>
          <p:nvPr/>
        </p:nvSpPr>
        <p:spPr>
          <a:xfrm>
            <a:off x="6583680" y="2468880"/>
            <a:ext cx="685800" cy="685800"/>
          </a:xfrm>
          <a:prstGeom prst="rect">
            <a:avLst/>
          </a:prstGeom>
          <a:noFill/>
          <a:ln/>
        </p:spPr>
        <p:txBody>
          <a:bodyPr wrap="square" lIns="0" tIns="0" rIns="0" bIns="0" rtlCol="0" anchor="ctr"/>
          <a:lstStyle/>
          <a:p>
            <a:pPr algn="ctr" indent="0" marL="0">
              <a:buNone/>
            </a:pPr>
            <a:r>
              <a:rPr lang="en-US" sz="1600" b="1" dirty="0">
                <a:solidFill>
                  <a:schemeClr val="bg1"/>
                </a:solidFill>
              </a:rPr>
              <a:t>EU</a:t>
            </a:r>
            <a:endParaRPr lang="en-US" sz="1600" dirty="0"/>
          </a:p>
        </p:txBody>
      </p:sp>
      <p:sp>
        <p:nvSpPr>
          <p:cNvPr id="21" name="Text 19"/>
          <p:cNvSpPr txBox="1"/>
          <p:nvPr/>
        </p:nvSpPr>
        <p:spPr>
          <a:xfrm>
            <a:off x="7452360" y="2359152"/>
            <a:ext cx="4160520" cy="960120"/>
          </a:xfrm>
          <a:prstGeom prst="rect">
            <a:avLst/>
          </a:prstGeom>
          <a:noFill/>
          <a:ln/>
        </p:spPr>
        <p:txBody>
          <a:bodyPr wrap="square" lIns="0" tIns="0" rIns="0" bIns="0" rtlCol="0" anchor="ctr"/>
          <a:lstStyle/>
          <a:p>
            <a:pPr indent="0" marL="0">
              <a:buNone/>
            </a:pPr>
            <a:r>
              <a:rPr lang="en-US" sz="1500" dirty="0">
                <a:solidFill>
                  <a:schemeClr val="tx1"/>
                </a:solidFill>
              </a:rPr>
              <a:t>Same answer: the EU adds up listed owners' stakes (50% or more) → owned.</a:t>
            </a:r>
            <a:endParaRPr lang="en-US" sz="1500" dirty="0"/>
          </a:p>
        </p:txBody>
      </p:sp>
      <p:sp>
        <p:nvSpPr>
          <p:cNvPr id="22" name="Shape 20"/>
          <p:cNvSpPr/>
          <p:nvPr/>
        </p:nvSpPr>
        <p:spPr>
          <a:xfrm>
            <a:off x="6583680" y="3547872"/>
            <a:ext cx="685800" cy="685800"/>
          </a:xfrm>
          <a:prstGeom prst="ellipse">
            <a:avLst/>
          </a:prstGeom>
          <a:solidFill>
            <a:schemeClr val="tx1"/>
          </a:solidFill>
          <a:ln w="12700">
            <a:solidFill>
              <a:schemeClr val="tx1"/>
            </a:solidFill>
            <a:prstDash val="solid"/>
          </a:ln>
        </p:spPr>
      </p:sp>
      <p:sp>
        <p:nvSpPr>
          <p:cNvPr id="23" name="Text 21"/>
          <p:cNvSpPr txBox="1"/>
          <p:nvPr/>
        </p:nvSpPr>
        <p:spPr>
          <a:xfrm>
            <a:off x="6583680" y="3547872"/>
            <a:ext cx="685800" cy="685800"/>
          </a:xfrm>
          <a:prstGeom prst="rect">
            <a:avLst/>
          </a:prstGeom>
          <a:noFill/>
          <a:ln/>
        </p:spPr>
        <p:txBody>
          <a:bodyPr wrap="square" lIns="0" tIns="0" rIns="0" bIns="0" rtlCol="0" anchor="ctr"/>
          <a:lstStyle/>
          <a:p>
            <a:pPr algn="ctr" indent="0" marL="0">
              <a:buNone/>
            </a:pPr>
            <a:r>
              <a:rPr lang="en-US" sz="1600" b="1" dirty="0">
                <a:solidFill>
                  <a:schemeClr val="bg1"/>
                </a:solidFill>
              </a:rPr>
              <a:t>UK</a:t>
            </a:r>
            <a:endParaRPr lang="en-US" sz="1600" dirty="0"/>
          </a:p>
        </p:txBody>
      </p:sp>
      <p:sp>
        <p:nvSpPr>
          <p:cNvPr id="24" name="Text 22"/>
          <p:cNvSpPr txBox="1"/>
          <p:nvPr/>
        </p:nvSpPr>
        <p:spPr>
          <a:xfrm>
            <a:off x="7452360" y="3438144"/>
            <a:ext cx="4160520" cy="960120"/>
          </a:xfrm>
          <a:prstGeom prst="rect">
            <a:avLst/>
          </a:prstGeom>
          <a:noFill/>
          <a:ln/>
        </p:spPr>
        <p:txBody>
          <a:bodyPr wrap="square" lIns="0" tIns="0" rIns="0" bIns="0" rtlCol="0" anchor="ctr"/>
          <a:lstStyle/>
          <a:p>
            <a:pPr indent="0" marL="0">
              <a:buNone/>
            </a:pPr>
            <a:r>
              <a:rPr lang="en-US" sz="1500" dirty="0">
                <a:solidFill>
                  <a:schemeClr val="tx1"/>
                </a:solidFill>
              </a:rPr>
              <a:t>Not added up (unless held jointly) → not automatically owned. But C signs the payouts — so control is the question.</a:t>
            </a:r>
            <a:endParaRPr lang="en-US" sz="1500" dirty="0"/>
          </a:p>
        </p:txBody>
      </p:sp>
      <p:sp>
        <p:nvSpPr>
          <p:cNvPr id="25" name="rule"/>
          <p:cNvSpPr/>
          <p:nvPr/>
        </p:nvSpPr>
        <p:spPr>
          <a:xfrm>
            <a:off x="6583680" y="4572000"/>
            <a:ext cx="5029200" cy="1051560"/>
          </a:xfrm>
          <a:prstGeom prst="roundRect">
            <a:avLst>
              <a:gd name="adj" fmla="val 10435"/>
            </a:avLst>
          </a:prstGeom>
          <a:solidFill>
            <a:schemeClr val="accent1"/>
          </a:solidFill>
          <a:ln w="12700">
            <a:solidFill>
              <a:schemeClr val="accent1"/>
            </a:solidFill>
            <a:prstDash val="solid"/>
          </a:ln>
        </p:spPr>
      </p:sp>
      <p:sp>
        <p:nvSpPr>
          <p:cNvPr id="26" name="Text 24"/>
          <p:cNvSpPr txBox="1"/>
          <p:nvPr/>
        </p:nvSpPr>
        <p:spPr>
          <a:xfrm>
            <a:off x="6766560" y="4617720"/>
            <a:ext cx="4663440" cy="960120"/>
          </a:xfrm>
          <a:prstGeom prst="rect">
            <a:avLst/>
          </a:prstGeom>
          <a:noFill/>
          <a:ln/>
        </p:spPr>
        <p:txBody>
          <a:bodyPr wrap="square" lIns="0" tIns="0" rIns="0" bIns="0" rtlCol="0" anchor="ctr"/>
          <a:lstStyle/>
          <a:p>
            <a:pPr indent="0" marL="0">
              <a:buNone/>
            </a:pPr>
            <a:r>
              <a:rPr lang="en-US" sz="1600" b="1" dirty="0">
                <a:solidFill>
                  <a:schemeClr val="bg1"/>
                </a:solidFill>
              </a:rPr>
              <a:t>UK is the odd one out — so you don't do the maths. Designated person anywhere in the ownership or control picture → hold and escalate.</a:t>
            </a:r>
            <a:endParaRPr lang="en-US" sz="1600" dirty="0"/>
          </a:p>
        </p:txBody>
      </p:sp>
      <p:sp>
        <p:nvSpPr>
          <p:cNvPr id="27" name="Text 25"/>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OFAC 50 Percent Rule guidance (2014); Russia Regs 2019 reg 7 + OFSI General Guidance; EU Best Practices ST 11623/24 paras 63–64, Commission asset-freeze FAQ, CJEU C-84/24 (Mar 2026). Missing UBO data or a nominee at the end of the chain is never a clear.</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Freeze, block, reject — what the words mean</a:t>
            </a:r>
            <a:endParaRPr lang="en-US" sz="3200" dirty="0"/>
          </a:p>
        </p:txBody>
      </p:sp>
      <p:sp>
        <p:nvSpPr>
          <p:cNvPr id="3" name="FREEZE"/>
          <p:cNvSpPr/>
          <p:nvPr/>
        </p:nvSpPr>
        <p:spPr>
          <a:xfrm>
            <a:off x="548640" y="1280160"/>
            <a:ext cx="3566160" cy="2468880"/>
          </a:xfrm>
          <a:prstGeom prst="roundRect">
            <a:avLst>
              <a:gd name="adj" fmla="val 4444"/>
            </a:avLst>
          </a:prstGeom>
          <a:solidFill>
            <a:schemeClr val="bg2"/>
          </a:solidFill>
          <a:ln w="12700">
            <a:solidFill>
              <a:schemeClr val="bg2"/>
            </a:solidFill>
            <a:prstDash val="solid"/>
          </a:ln>
        </p:spPr>
      </p:sp>
      <p:sp>
        <p:nvSpPr>
          <p:cNvPr id="4" name="FREEZE circle"/>
          <p:cNvSpPr/>
          <p:nvPr/>
        </p:nvSpPr>
        <p:spPr>
          <a:xfrm>
            <a:off x="822960" y="1508760"/>
            <a:ext cx="731520" cy="731520"/>
          </a:xfrm>
          <a:prstGeom prst="ellipse">
            <a:avLst/>
          </a:prstGeom>
          <a:solidFill>
            <a:schemeClr val="tx1"/>
          </a:solidFill>
          <a:ln w="12700">
            <a:solidFill>
              <a:schemeClr val="tx1"/>
            </a:solidFill>
            <a:prstDash val="solid"/>
          </a:ln>
        </p:spPr>
      </p:sp>
      <p:pic>
        <p:nvPicPr>
          <p:cNvPr id="5" name="FREEZE icon" descr="preencoded.png">    </p:cNvPr>
          <p:cNvPicPr>
            <a:picLocks noChangeAspect="1"/>
          </p:cNvPicPr>
          <p:nvPr/>
        </p:nvPicPr>
        <p:blipFill>
          <a:blip r:embed="rId1"/>
          <a:stretch>
            <a:fillRect/>
          </a:stretch>
        </p:blipFill>
        <p:spPr>
          <a:xfrm>
            <a:off x="969264" y="1655064"/>
            <a:ext cx="438912" cy="438912"/>
          </a:xfrm>
          <a:prstGeom prst="rect">
            <a:avLst/>
          </a:prstGeom>
        </p:spPr>
      </p:pic>
      <p:sp>
        <p:nvSpPr>
          <p:cNvPr id="6" name="Text 3"/>
          <p:cNvSpPr txBox="1"/>
          <p:nvPr/>
        </p:nvSpPr>
        <p:spPr>
          <a:xfrm>
            <a:off x="1737360" y="1508760"/>
            <a:ext cx="2194560" cy="411480"/>
          </a:xfrm>
          <a:prstGeom prst="rect">
            <a:avLst/>
          </a:prstGeom>
          <a:noFill/>
          <a:ln/>
        </p:spPr>
        <p:txBody>
          <a:bodyPr wrap="square" lIns="0" tIns="0" rIns="0" bIns="0" rtlCol="0" anchor="t"/>
          <a:lstStyle/>
          <a:p>
            <a:pPr indent="0" marL="0">
              <a:buNone/>
            </a:pPr>
            <a:r>
              <a:rPr lang="en-US" sz="2200" b="1" dirty="0">
                <a:solidFill>
                  <a:schemeClr val="tx1"/>
                </a:solidFill>
              </a:rPr>
              <a:t>FREEZE</a:t>
            </a:r>
            <a:endParaRPr lang="en-US" sz="2200" dirty="0"/>
          </a:p>
        </p:txBody>
      </p:sp>
      <p:sp>
        <p:nvSpPr>
          <p:cNvPr id="7" name="Text 4"/>
          <p:cNvSpPr txBox="1"/>
          <p:nvPr/>
        </p:nvSpPr>
        <p:spPr>
          <a:xfrm>
            <a:off x="1737360" y="1920240"/>
            <a:ext cx="2194560" cy="320040"/>
          </a:xfrm>
          <a:prstGeom prst="rect">
            <a:avLst/>
          </a:prstGeom>
          <a:noFill/>
          <a:ln/>
        </p:spPr>
        <p:txBody>
          <a:bodyPr wrap="square" lIns="0" tIns="0" rIns="0" bIns="0" rtlCol="0" anchor="t"/>
          <a:lstStyle/>
          <a:p>
            <a:pPr indent="0" marL="0">
              <a:buNone/>
            </a:pPr>
            <a:r>
              <a:rPr lang="en-US" sz="1300" dirty="0">
                <a:solidFill>
                  <a:schemeClr val="accent6"/>
                </a:solidFill>
              </a:rPr>
              <a:t>UK · EU · UN · local</a:t>
            </a:r>
            <a:endParaRPr lang="en-US" sz="1300" dirty="0"/>
          </a:p>
        </p:txBody>
      </p:sp>
      <p:sp>
        <p:nvSpPr>
          <p:cNvPr id="8" name="Text 5"/>
          <p:cNvSpPr txBox="1"/>
          <p:nvPr/>
        </p:nvSpPr>
        <p:spPr>
          <a:xfrm>
            <a:off x="822960" y="2468880"/>
            <a:ext cx="3017520" cy="1463040"/>
          </a:xfrm>
          <a:prstGeom prst="rect">
            <a:avLst/>
          </a:prstGeom>
          <a:noFill/>
          <a:ln/>
        </p:spPr>
        <p:txBody>
          <a:bodyPr wrap="square" lIns="0" tIns="0" rIns="0" bIns="0" rtlCol="0" anchor="t"/>
          <a:lstStyle/>
          <a:p>
            <a:pPr indent="0" marL="0">
              <a:buNone/>
            </a:pPr>
            <a:r>
              <a:rPr lang="en-US" sz="1500" dirty="0">
                <a:solidFill>
                  <a:schemeClr val="tx1"/>
                </a:solidFill>
              </a:rPr>
              <a:t>Hold the funds. Nothing moves in or out. Reported to the authority.</a:t>
            </a:r>
            <a:endParaRPr lang="en-US" sz="1500" dirty="0"/>
          </a:p>
        </p:txBody>
      </p:sp>
      <p:sp>
        <p:nvSpPr>
          <p:cNvPr id="9" name="BLOCK"/>
          <p:cNvSpPr/>
          <p:nvPr/>
        </p:nvSpPr>
        <p:spPr>
          <a:xfrm>
            <a:off x="4297680" y="1280160"/>
            <a:ext cx="3566160" cy="2468880"/>
          </a:xfrm>
          <a:prstGeom prst="roundRect">
            <a:avLst>
              <a:gd name="adj" fmla="val 4444"/>
            </a:avLst>
          </a:prstGeom>
          <a:solidFill>
            <a:schemeClr val="bg2"/>
          </a:solidFill>
          <a:ln w="12700">
            <a:solidFill>
              <a:schemeClr val="bg2"/>
            </a:solidFill>
            <a:prstDash val="solid"/>
          </a:ln>
        </p:spPr>
      </p:sp>
      <p:sp>
        <p:nvSpPr>
          <p:cNvPr id="10" name="BLOCK circle"/>
          <p:cNvSpPr/>
          <p:nvPr/>
        </p:nvSpPr>
        <p:spPr>
          <a:xfrm>
            <a:off x="4572000" y="1508760"/>
            <a:ext cx="731520" cy="731520"/>
          </a:xfrm>
          <a:prstGeom prst="ellipse">
            <a:avLst/>
          </a:prstGeom>
          <a:solidFill>
            <a:schemeClr val="accent1"/>
          </a:solidFill>
          <a:ln w="12700">
            <a:solidFill>
              <a:schemeClr val="accent1"/>
            </a:solidFill>
            <a:prstDash val="solid"/>
          </a:ln>
        </p:spPr>
      </p:sp>
      <p:pic>
        <p:nvPicPr>
          <p:cNvPr id="11" name="BLOCK icon" descr="preencoded.png">    </p:cNvPr>
          <p:cNvPicPr>
            <a:picLocks noChangeAspect="1"/>
          </p:cNvPicPr>
          <p:nvPr/>
        </p:nvPicPr>
        <p:blipFill>
          <a:blip r:embed="rId2"/>
          <a:stretch>
            <a:fillRect/>
          </a:stretch>
        </p:blipFill>
        <p:spPr>
          <a:xfrm>
            <a:off x="4718304" y="1655064"/>
            <a:ext cx="438912" cy="438912"/>
          </a:xfrm>
          <a:prstGeom prst="rect">
            <a:avLst/>
          </a:prstGeom>
        </p:spPr>
      </p:pic>
      <p:sp>
        <p:nvSpPr>
          <p:cNvPr id="12" name="Text 8"/>
          <p:cNvSpPr txBox="1"/>
          <p:nvPr/>
        </p:nvSpPr>
        <p:spPr>
          <a:xfrm>
            <a:off x="5486400" y="1508760"/>
            <a:ext cx="2194560" cy="411480"/>
          </a:xfrm>
          <a:prstGeom prst="rect">
            <a:avLst/>
          </a:prstGeom>
          <a:noFill/>
          <a:ln/>
        </p:spPr>
        <p:txBody>
          <a:bodyPr wrap="square" lIns="0" tIns="0" rIns="0" bIns="0" rtlCol="0" anchor="t"/>
          <a:lstStyle/>
          <a:p>
            <a:pPr indent="0" marL="0">
              <a:buNone/>
            </a:pPr>
            <a:r>
              <a:rPr lang="en-US" sz="2200" b="1" dirty="0">
                <a:solidFill>
                  <a:schemeClr val="accent1"/>
                </a:solidFill>
              </a:rPr>
              <a:t>BLOCK</a:t>
            </a:r>
            <a:endParaRPr lang="en-US" sz="2200" dirty="0"/>
          </a:p>
        </p:txBody>
      </p:sp>
      <p:sp>
        <p:nvSpPr>
          <p:cNvPr id="13" name="Text 9"/>
          <p:cNvSpPr txBox="1"/>
          <p:nvPr/>
        </p:nvSpPr>
        <p:spPr>
          <a:xfrm>
            <a:off x="5486400" y="1920240"/>
            <a:ext cx="2194560" cy="320040"/>
          </a:xfrm>
          <a:prstGeom prst="rect">
            <a:avLst/>
          </a:prstGeom>
          <a:noFill/>
          <a:ln/>
        </p:spPr>
        <p:txBody>
          <a:bodyPr wrap="square" lIns="0" tIns="0" rIns="0" bIns="0" rtlCol="0" anchor="t"/>
          <a:lstStyle/>
          <a:p>
            <a:pPr indent="0" marL="0">
              <a:buNone/>
            </a:pPr>
            <a:r>
              <a:rPr lang="en-US" sz="1300" dirty="0">
                <a:solidFill>
                  <a:schemeClr val="accent6"/>
                </a:solidFill>
              </a:rPr>
              <a:t>US (OFAC)</a:t>
            </a:r>
            <a:endParaRPr lang="en-US" sz="1300" dirty="0"/>
          </a:p>
        </p:txBody>
      </p:sp>
      <p:sp>
        <p:nvSpPr>
          <p:cNvPr id="14" name="Text 10"/>
          <p:cNvSpPr txBox="1"/>
          <p:nvPr/>
        </p:nvSpPr>
        <p:spPr>
          <a:xfrm>
            <a:off x="4572000" y="2468880"/>
            <a:ext cx="3017520" cy="1463040"/>
          </a:xfrm>
          <a:prstGeom prst="rect">
            <a:avLst/>
          </a:prstGeom>
          <a:noFill/>
          <a:ln/>
        </p:spPr>
        <p:txBody>
          <a:bodyPr wrap="square" lIns="0" tIns="0" rIns="0" bIns="0" rtlCol="0" anchor="t"/>
          <a:lstStyle/>
          <a:p>
            <a:pPr indent="0" marL="0">
              <a:buNone/>
            </a:pPr>
            <a:r>
              <a:rPr lang="en-US" sz="1500" dirty="0">
                <a:solidFill>
                  <a:schemeClr val="tx1"/>
                </a:solidFill>
              </a:rPr>
              <a:t>OFAC's word for freeze. A blocked person has an interest — the property stays put and is reported to OFAC.</a:t>
            </a:r>
            <a:endParaRPr lang="en-US" sz="1500" dirty="0"/>
          </a:p>
        </p:txBody>
      </p:sp>
      <p:sp>
        <p:nvSpPr>
          <p:cNvPr id="15" name="REJECT"/>
          <p:cNvSpPr/>
          <p:nvPr/>
        </p:nvSpPr>
        <p:spPr>
          <a:xfrm>
            <a:off x="8046720" y="1280160"/>
            <a:ext cx="3566160" cy="2468880"/>
          </a:xfrm>
          <a:prstGeom prst="roundRect">
            <a:avLst>
              <a:gd name="adj" fmla="val 4444"/>
            </a:avLst>
          </a:prstGeom>
          <a:solidFill>
            <a:schemeClr val="bg2"/>
          </a:solidFill>
          <a:ln w="12700">
            <a:solidFill>
              <a:schemeClr val="bg2"/>
            </a:solidFill>
            <a:prstDash val="solid"/>
          </a:ln>
        </p:spPr>
      </p:sp>
      <p:sp>
        <p:nvSpPr>
          <p:cNvPr id="16" name="REJECT circle"/>
          <p:cNvSpPr/>
          <p:nvPr/>
        </p:nvSpPr>
        <p:spPr>
          <a:xfrm>
            <a:off x="8321040" y="1508760"/>
            <a:ext cx="731520" cy="731520"/>
          </a:xfrm>
          <a:prstGeom prst="ellipse">
            <a:avLst/>
          </a:prstGeom>
          <a:solidFill>
            <a:schemeClr val="accent2"/>
          </a:solidFill>
          <a:ln w="12700">
            <a:solidFill>
              <a:schemeClr val="accent2"/>
            </a:solidFill>
            <a:prstDash val="solid"/>
          </a:ln>
        </p:spPr>
      </p:sp>
      <p:pic>
        <p:nvPicPr>
          <p:cNvPr id="17" name="REJECT icon" descr="preencoded.png">    </p:cNvPr>
          <p:cNvPicPr>
            <a:picLocks noChangeAspect="1"/>
          </p:cNvPicPr>
          <p:nvPr/>
        </p:nvPicPr>
        <p:blipFill>
          <a:blip r:embed="rId3"/>
          <a:stretch>
            <a:fillRect/>
          </a:stretch>
        </p:blipFill>
        <p:spPr>
          <a:xfrm>
            <a:off x="8467344" y="1655064"/>
            <a:ext cx="438912" cy="438912"/>
          </a:xfrm>
          <a:prstGeom prst="rect">
            <a:avLst/>
          </a:prstGeom>
        </p:spPr>
      </p:pic>
      <p:sp>
        <p:nvSpPr>
          <p:cNvPr id="18" name="Text 13"/>
          <p:cNvSpPr txBox="1"/>
          <p:nvPr/>
        </p:nvSpPr>
        <p:spPr>
          <a:xfrm>
            <a:off x="9235440" y="1508760"/>
            <a:ext cx="2194560" cy="411480"/>
          </a:xfrm>
          <a:prstGeom prst="rect">
            <a:avLst/>
          </a:prstGeom>
          <a:noFill/>
          <a:ln/>
        </p:spPr>
        <p:txBody>
          <a:bodyPr wrap="square" lIns="0" tIns="0" rIns="0" bIns="0" rtlCol="0" anchor="t"/>
          <a:lstStyle/>
          <a:p>
            <a:pPr indent="0" marL="0">
              <a:buNone/>
            </a:pPr>
            <a:r>
              <a:rPr lang="en-US" sz="2200" b="1" dirty="0">
                <a:solidFill>
                  <a:schemeClr val="accent2"/>
                </a:solidFill>
              </a:rPr>
              <a:t>REJECT</a:t>
            </a:r>
            <a:endParaRPr lang="en-US" sz="2200" dirty="0"/>
          </a:p>
        </p:txBody>
      </p:sp>
      <p:sp>
        <p:nvSpPr>
          <p:cNvPr id="19" name="Text 14"/>
          <p:cNvSpPr txBox="1"/>
          <p:nvPr/>
        </p:nvSpPr>
        <p:spPr>
          <a:xfrm>
            <a:off x="9235440" y="1920240"/>
            <a:ext cx="2194560" cy="320040"/>
          </a:xfrm>
          <a:prstGeom prst="rect">
            <a:avLst/>
          </a:prstGeom>
          <a:noFill/>
          <a:ln/>
        </p:spPr>
        <p:txBody>
          <a:bodyPr wrap="square" lIns="0" tIns="0" rIns="0" bIns="0" rtlCol="0" anchor="t"/>
          <a:lstStyle/>
          <a:p>
            <a:pPr indent="0" marL="0">
              <a:buNone/>
            </a:pPr>
            <a:r>
              <a:rPr lang="en-US" sz="1300" dirty="0">
                <a:solidFill>
                  <a:schemeClr val="accent6"/>
                </a:solidFill>
              </a:rPr>
              <a:t>US (OFAC)</a:t>
            </a:r>
            <a:endParaRPr lang="en-US" sz="1300" dirty="0"/>
          </a:p>
        </p:txBody>
      </p:sp>
      <p:sp>
        <p:nvSpPr>
          <p:cNvPr id="20" name="Text 15"/>
          <p:cNvSpPr txBox="1"/>
          <p:nvPr/>
        </p:nvSpPr>
        <p:spPr>
          <a:xfrm>
            <a:off x="8321040" y="2468880"/>
            <a:ext cx="3017520" cy="1463040"/>
          </a:xfrm>
          <a:prstGeom prst="rect">
            <a:avLst/>
          </a:prstGeom>
          <a:noFill/>
          <a:ln/>
        </p:spPr>
        <p:txBody>
          <a:bodyPr wrap="square" lIns="0" tIns="0" rIns="0" bIns="0" rtlCol="0" anchor="t"/>
          <a:lstStyle/>
          <a:p>
            <a:pPr indent="0" marL="0">
              <a:buNone/>
            </a:pPr>
            <a:r>
              <a:rPr lang="en-US" sz="1500" dirty="0">
                <a:solidFill>
                  <a:schemeClr val="tx1"/>
                </a:solidFill>
              </a:rPr>
              <a:t>The payment is prohibited but no blocked person has an interest — refuse it. Still reported to OFAC.</a:t>
            </a:r>
            <a:endParaRPr lang="en-US" sz="1500" dirty="0"/>
          </a:p>
        </p:txBody>
      </p:sp>
      <p:sp>
        <p:nvSpPr>
          <p:cNvPr id="21" name="warning"/>
          <p:cNvSpPr/>
          <p:nvPr/>
        </p:nvSpPr>
        <p:spPr>
          <a:xfrm>
            <a:off x="548640" y="3977640"/>
            <a:ext cx="11064240" cy="914400"/>
          </a:xfrm>
          <a:prstGeom prst="roundRect">
            <a:avLst>
              <a:gd name="adj" fmla="val 12000"/>
            </a:avLst>
          </a:prstGeom>
          <a:solidFill>
            <a:schemeClr val="accent1"/>
          </a:solidFill>
          <a:ln w="12700">
            <a:solidFill>
              <a:schemeClr val="accent1"/>
            </a:solidFill>
            <a:prstDash val="solid"/>
          </a:ln>
        </p:spPr>
      </p:sp>
      <p:pic>
        <p:nvPicPr>
          <p:cNvPr id="22" name="Image 3" descr="preencoded.png">    </p:cNvPr>
          <p:cNvPicPr>
            <a:picLocks noChangeAspect="1"/>
          </p:cNvPicPr>
          <p:nvPr/>
        </p:nvPicPr>
        <p:blipFill>
          <a:blip r:embed="rId4"/>
          <a:stretch>
            <a:fillRect/>
          </a:stretch>
        </p:blipFill>
        <p:spPr>
          <a:xfrm>
            <a:off x="777240" y="4160520"/>
            <a:ext cx="548640" cy="548640"/>
          </a:xfrm>
          <a:prstGeom prst="rect">
            <a:avLst/>
          </a:prstGeom>
        </p:spPr>
      </p:pic>
      <p:sp>
        <p:nvSpPr>
          <p:cNvPr id="23" name="Text 17"/>
          <p:cNvSpPr txBox="1"/>
          <p:nvPr/>
        </p:nvSpPr>
        <p:spPr>
          <a:xfrm>
            <a:off x="1508760" y="3977640"/>
            <a:ext cx="9966960" cy="914400"/>
          </a:xfrm>
          <a:prstGeom prst="rect">
            <a:avLst/>
          </a:prstGeom>
          <a:noFill/>
          <a:ln/>
        </p:spPr>
        <p:txBody>
          <a:bodyPr wrap="square" lIns="0" tIns="0" rIns="0" bIns="0" rtlCol="0" anchor="ctr"/>
          <a:lstStyle/>
          <a:p>
            <a:pPr indent="0" marL="0">
              <a:buNone/>
            </a:pPr>
            <a:r>
              <a:rPr lang="en-US" sz="1800" b="1" dirty="0">
                <a:solidFill>
                  <a:schemeClr val="bg1"/>
                </a:solidFill>
              </a:rPr>
              <a:t>Never "just send it back". Returning money to a designated person is itself making funds available to them.</a:t>
            </a:r>
            <a:endParaRPr lang="en-US" sz="1800" dirty="0"/>
          </a:p>
        </p:txBody>
      </p:sp>
      <p:sp>
        <p:nvSpPr>
          <p:cNvPr id="24" name="Text 18"/>
          <p:cNvSpPr txBox="1"/>
          <p:nvPr/>
        </p:nvSpPr>
        <p:spPr>
          <a:xfrm>
            <a:off x="548640" y="5120640"/>
            <a:ext cx="11064240" cy="777240"/>
          </a:xfrm>
          <a:prstGeom prst="rect">
            <a:avLst/>
          </a:prstGeom>
          <a:noFill/>
          <a:ln/>
        </p:spPr>
        <p:txBody>
          <a:bodyPr wrap="square" lIns="0" tIns="0" rIns="0" bIns="0" rtlCol="0" anchor="t"/>
          <a:lstStyle/>
          <a:p>
            <a:pPr indent="0" marL="0">
              <a:buNone/>
            </a:pPr>
            <a:r>
              <a:rPr lang="en-US" sz="1600" b="1" dirty="0">
                <a:solidFill>
                  <a:schemeClr val="tx1"/>
                </a:solidFill>
              </a:rPr>
              <a:t>Your part: </a:t>
            </a:r>
            <a:pPr indent="0" marL="0">
              <a:buNone/>
            </a:pPr>
            <a:r>
              <a:rPr lang="en-US" sz="1600" dirty="0">
                <a:solidFill>
                  <a:schemeClr val="tx1"/>
                </a:solidFill>
              </a:rPr>
              <a:t>hold and escalate. L2 / L3 decide which action applies and file the report. A rejected payment can still need a report — in the UK the trigger is knowing or suspecting, not whether we kept the money.</a:t>
            </a:r>
            <a:endParaRPr lang="en-US" sz="1600" dirty="0"/>
          </a:p>
        </p:txBody>
      </p:sp>
      <p:sp>
        <p:nvSpPr>
          <p:cNvPr id="25" name="Text 19"/>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31 CFR 501.603 (blocked property reports) and 501.604 (rejected transaction reports); Russia (Sanctions) (EU Exit) Regs 2019 regs 11–15 (asset freeze, making funds available) and reg 70 (reporting).</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Asking for information without tipping off</a:t>
            </a:r>
            <a:endParaRPr lang="en-US" sz="3200" dirty="0"/>
          </a:p>
        </p:txBody>
      </p:sp>
      <p:sp>
        <p:nvSpPr>
          <p:cNvPr id="3" name="do"/>
          <p:cNvSpPr/>
          <p:nvPr/>
        </p:nvSpPr>
        <p:spPr>
          <a:xfrm>
            <a:off x="548640" y="1280160"/>
            <a:ext cx="5440680" cy="3931920"/>
          </a:xfrm>
          <a:prstGeom prst="roundRect">
            <a:avLst>
              <a:gd name="adj" fmla="val 2791"/>
            </a:avLst>
          </a:prstGeom>
          <a:solidFill>
            <a:schemeClr val="bg2"/>
          </a:solidFill>
          <a:ln w="12700">
            <a:solidFill>
              <a:schemeClr val="bg2"/>
            </a:solidFill>
            <a:prstDash val="solid"/>
          </a:ln>
        </p:spPr>
      </p:sp>
      <p:sp>
        <p:nvSpPr>
          <p:cNvPr id="4" name="do circle"/>
          <p:cNvSpPr/>
          <p:nvPr/>
        </p:nvSpPr>
        <p:spPr>
          <a:xfrm>
            <a:off x="777240" y="1463040"/>
            <a:ext cx="640080" cy="640080"/>
          </a:xfrm>
          <a:prstGeom prst="ellipse">
            <a:avLst/>
          </a:prstGeom>
          <a:solidFill>
            <a:schemeClr val="accent3"/>
          </a:solidFill>
          <a:ln w="12700">
            <a:solidFill>
              <a:schemeClr val="accent3"/>
            </a:solidFill>
            <a:prstDash val="solid"/>
          </a:ln>
        </p:spPr>
      </p:sp>
      <p:pic>
        <p:nvPicPr>
          <p:cNvPr id="5" name="do icon" descr="preencoded.png">    </p:cNvPr>
          <p:cNvPicPr>
            <a:picLocks noChangeAspect="1"/>
          </p:cNvPicPr>
          <p:nvPr/>
        </p:nvPicPr>
        <p:blipFill>
          <a:blip r:embed="rId1"/>
          <a:stretch>
            <a:fillRect/>
          </a:stretch>
        </p:blipFill>
        <p:spPr>
          <a:xfrm>
            <a:off x="905256" y="1591056"/>
            <a:ext cx="384048" cy="384048"/>
          </a:xfrm>
          <a:prstGeom prst="rect">
            <a:avLst/>
          </a:prstGeom>
        </p:spPr>
      </p:pic>
      <p:sp>
        <p:nvSpPr>
          <p:cNvPr id="6" name="Text 3"/>
          <p:cNvSpPr txBox="1"/>
          <p:nvPr/>
        </p:nvSpPr>
        <p:spPr>
          <a:xfrm>
            <a:off x="1600200" y="1463040"/>
            <a:ext cx="4114800" cy="640080"/>
          </a:xfrm>
          <a:prstGeom prst="rect">
            <a:avLst/>
          </a:prstGeom>
          <a:noFill/>
          <a:ln/>
        </p:spPr>
        <p:txBody>
          <a:bodyPr wrap="square" lIns="0" tIns="0" rIns="0" bIns="0" rtlCol="0" anchor="ctr"/>
          <a:lstStyle/>
          <a:p>
            <a:pPr indent="0" marL="0">
              <a:buNone/>
            </a:pPr>
            <a:r>
              <a:rPr lang="en-US" sz="2400" b="1" dirty="0">
                <a:solidFill>
                  <a:schemeClr val="accent3"/>
                </a:solidFill>
              </a:rPr>
              <a:t>Do</a:t>
            </a:r>
            <a:endParaRPr lang="en-US" sz="2400" dirty="0"/>
          </a:p>
        </p:txBody>
      </p:sp>
      <p:sp>
        <p:nvSpPr>
          <p:cNvPr id="7" name="Text 4"/>
          <p:cNvSpPr txBox="1"/>
          <p:nvPr/>
        </p:nvSpPr>
        <p:spPr>
          <a:xfrm>
            <a:off x="777240" y="2286000"/>
            <a:ext cx="5029200" cy="28346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Use the approved RFI template</a:t>
            </a:r>
            <a:endParaRPr lang="en-US" sz="1500" dirty="0"/>
          </a:p>
          <a:p>
            <a:pPr marL="342900" indent="-342900">
              <a:spcAft>
                <a:spcPts val="800"/>
              </a:spcAft>
              <a:buSzPct val="100000"/>
              <a:buChar char="•"/>
            </a:pPr>
            <a:r>
              <a:rPr lang="en-US" sz="1500" dirty="0">
                <a:solidFill>
                  <a:schemeClr val="tx1"/>
                </a:solidFill>
              </a:rPr>
              <a:t>Ask only for what resolves the alert: full name, date of birth, nationality, address, ID or registration number, purpose of payment</a:t>
            </a:r>
            <a:endParaRPr lang="en-US" sz="1500" dirty="0"/>
          </a:p>
          <a:p>
            <a:pPr marL="342900" indent="-342900">
              <a:spcAft>
                <a:spcPts val="800"/>
              </a:spcAft>
              <a:buSzPct val="100000"/>
              <a:buChar char="•"/>
            </a:pPr>
            <a:r>
              <a:rPr lang="en-US" sz="1500" dirty="0">
                <a:solidFill>
                  <a:schemeClr val="tx1"/>
                </a:solidFill>
              </a:rPr>
              <a:t>Say: "We need some additional information to complete our standard checks."</a:t>
            </a:r>
            <a:endParaRPr lang="en-US" sz="1500" dirty="0"/>
          </a:p>
          <a:p>
            <a:pPr marL="342900" indent="-342900">
              <a:spcAft>
                <a:spcPts val="800"/>
              </a:spcAft>
              <a:buSzPct val="100000"/>
              <a:buChar char="•"/>
            </a:pPr>
            <a:r>
              <a:rPr lang="en-US" sz="1500" dirty="0">
                <a:solidFill>
                  <a:schemeClr val="tx1"/>
                </a:solidFill>
              </a:rPr>
              <a:t>Keep the payment on hold while you wait</a:t>
            </a:r>
            <a:endParaRPr lang="en-US" sz="1500" dirty="0"/>
          </a:p>
        </p:txBody>
      </p:sp>
      <p:sp>
        <p:nvSpPr>
          <p:cNvPr id="8" name="dont"/>
          <p:cNvSpPr/>
          <p:nvPr/>
        </p:nvSpPr>
        <p:spPr>
          <a:xfrm>
            <a:off x="6172200" y="1280160"/>
            <a:ext cx="5440680" cy="3931920"/>
          </a:xfrm>
          <a:prstGeom prst="roundRect">
            <a:avLst>
              <a:gd name="adj" fmla="val 2791"/>
            </a:avLst>
          </a:prstGeom>
          <a:solidFill>
            <a:schemeClr val="bg2"/>
          </a:solidFill>
          <a:ln w="12700">
            <a:solidFill>
              <a:schemeClr val="bg2"/>
            </a:solidFill>
            <a:prstDash val="solid"/>
          </a:ln>
        </p:spPr>
      </p:sp>
      <p:sp>
        <p:nvSpPr>
          <p:cNvPr id="9" name="dont circle"/>
          <p:cNvSpPr/>
          <p:nvPr/>
        </p:nvSpPr>
        <p:spPr>
          <a:xfrm>
            <a:off x="6400800" y="1463040"/>
            <a:ext cx="640080" cy="640080"/>
          </a:xfrm>
          <a:prstGeom prst="ellipse">
            <a:avLst/>
          </a:prstGeom>
          <a:solidFill>
            <a:schemeClr val="accent1"/>
          </a:solidFill>
          <a:ln w="12700">
            <a:solidFill>
              <a:schemeClr val="accent1"/>
            </a:solidFill>
            <a:prstDash val="solid"/>
          </a:ln>
        </p:spPr>
      </p:sp>
      <p:pic>
        <p:nvPicPr>
          <p:cNvPr id="10" name="dont icon" descr="preencoded.png">    </p:cNvPr>
          <p:cNvPicPr>
            <a:picLocks noChangeAspect="1"/>
          </p:cNvPicPr>
          <p:nvPr/>
        </p:nvPicPr>
        <p:blipFill>
          <a:blip r:embed="rId2"/>
          <a:stretch>
            <a:fillRect/>
          </a:stretch>
        </p:blipFill>
        <p:spPr>
          <a:xfrm>
            <a:off x="6528816" y="1591056"/>
            <a:ext cx="384048" cy="384048"/>
          </a:xfrm>
          <a:prstGeom prst="rect">
            <a:avLst/>
          </a:prstGeom>
        </p:spPr>
      </p:pic>
      <p:sp>
        <p:nvSpPr>
          <p:cNvPr id="11" name="Text 7"/>
          <p:cNvSpPr txBox="1"/>
          <p:nvPr/>
        </p:nvSpPr>
        <p:spPr>
          <a:xfrm>
            <a:off x="7223760" y="1463040"/>
            <a:ext cx="4114800" cy="640080"/>
          </a:xfrm>
          <a:prstGeom prst="rect">
            <a:avLst/>
          </a:prstGeom>
          <a:noFill/>
          <a:ln/>
        </p:spPr>
        <p:txBody>
          <a:bodyPr wrap="square" lIns="0" tIns="0" rIns="0" bIns="0" rtlCol="0" anchor="ctr"/>
          <a:lstStyle/>
          <a:p>
            <a:pPr indent="0" marL="0">
              <a:buNone/>
            </a:pPr>
            <a:r>
              <a:rPr lang="en-US" sz="2400" b="1" dirty="0">
                <a:solidFill>
                  <a:schemeClr val="accent1"/>
                </a:solidFill>
              </a:rPr>
              <a:t>Don't</a:t>
            </a:r>
            <a:endParaRPr lang="en-US" sz="2400" dirty="0"/>
          </a:p>
        </p:txBody>
      </p:sp>
      <p:sp>
        <p:nvSpPr>
          <p:cNvPr id="12" name="Text 8"/>
          <p:cNvSpPr txBox="1"/>
          <p:nvPr/>
        </p:nvSpPr>
        <p:spPr>
          <a:xfrm>
            <a:off x="6400800" y="2286000"/>
            <a:ext cx="5029200" cy="28346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Mention "sanctions list", "match", "hit", "investigation" or "suspicious"</a:t>
            </a:r>
            <a:endParaRPr lang="en-US" sz="1500" dirty="0"/>
          </a:p>
          <a:p>
            <a:pPr marL="342900" indent="-342900">
              <a:spcAft>
                <a:spcPts val="800"/>
              </a:spcAft>
              <a:buSzPct val="100000"/>
              <a:buChar char="•"/>
            </a:pPr>
            <a:r>
              <a:rPr lang="en-US" sz="1500" dirty="0">
                <a:solidFill>
                  <a:schemeClr val="tx1"/>
                </a:solidFill>
              </a:rPr>
              <a:t>Say the payment is being reported, or name any authority</a:t>
            </a:r>
            <a:endParaRPr lang="en-US" sz="1500" dirty="0"/>
          </a:p>
          <a:p>
            <a:pPr marL="342900" indent="-342900">
              <a:spcAft>
                <a:spcPts val="800"/>
              </a:spcAft>
              <a:buSzPct val="100000"/>
              <a:buChar char="•"/>
            </a:pPr>
            <a:r>
              <a:rPr lang="en-US" sz="1500" dirty="0">
                <a:solidFill>
                  <a:schemeClr val="tx1"/>
                </a:solidFill>
              </a:rPr>
              <a:t>Hint at what data would make the alert go away</a:t>
            </a:r>
            <a:endParaRPr lang="en-US" sz="1500" dirty="0"/>
          </a:p>
          <a:p>
            <a:pPr marL="342900" indent="-342900">
              <a:spcAft>
                <a:spcPts val="800"/>
              </a:spcAft>
              <a:buSzPct val="100000"/>
              <a:buChar char="•"/>
            </a:pPr>
            <a:r>
              <a:rPr lang="en-US" sz="1500" dirty="0">
                <a:solidFill>
                  <a:schemeClr val="tx1"/>
                </a:solidFill>
              </a:rPr>
              <a:t>Promise a release date</a:t>
            </a:r>
            <a:endParaRPr lang="en-US" sz="1500" dirty="0"/>
          </a:p>
        </p:txBody>
      </p:sp>
      <p:sp>
        <p:nvSpPr>
          <p:cNvPr id="13" name="Text 9"/>
          <p:cNvSpPr txBox="1"/>
          <p:nvPr/>
        </p:nvSpPr>
        <p:spPr>
          <a:xfrm>
            <a:off x="548640" y="5394960"/>
            <a:ext cx="11064240" cy="594360"/>
          </a:xfrm>
          <a:prstGeom prst="rect">
            <a:avLst/>
          </a:prstGeom>
          <a:noFill/>
          <a:ln/>
        </p:spPr>
        <p:txBody>
          <a:bodyPr wrap="square" lIns="0" tIns="0" rIns="0" bIns="0" rtlCol="0" anchor="t"/>
          <a:lstStyle/>
          <a:p>
            <a:pPr indent="0" marL="0">
              <a:buNone/>
            </a:pPr>
            <a:r>
              <a:rPr lang="en-US" sz="1500" b="1" dirty="0">
                <a:solidFill>
                  <a:schemeClr val="tx1"/>
                </a:solidFill>
              </a:rPr>
              <a:t>Tipping off is a criminal offence under anti-money-laundering law. If the customer asks why, don't improvise — only scripts approved by the Sanctions Officer / MLRO are used, and L2 decides what is said.</a:t>
            </a:r>
            <a:endParaRPr lang="en-US" sz="1500" dirty="0"/>
          </a:p>
        </p:txBody>
      </p:sp>
      <p:sp>
        <p:nvSpPr>
          <p:cNvPr id="14" name="Text 10"/>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Proceeds of Crime Act 2002 s.333A and Terrorism Act 2000 s.21D (UK tipping off); local equivalents apply; Checkout RFI templates (cite).</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Spotting a real match</a:t>
            </a:r>
            <a:endParaRPr lang="en-US" sz="3200" dirty="0"/>
          </a:p>
        </p:txBody>
      </p:sp>
      <p:sp>
        <p:nvSpPr>
          <p:cNvPr id="3" name="Legal-form words"/>
          <p:cNvSpPr/>
          <p:nvPr/>
        </p:nvSpPr>
        <p:spPr>
          <a:xfrm>
            <a:off x="548640" y="1280160"/>
            <a:ext cx="6492240" cy="960120"/>
          </a:xfrm>
          <a:prstGeom prst="roundRect">
            <a:avLst>
              <a:gd name="adj" fmla="val 11429"/>
            </a:avLst>
          </a:prstGeom>
          <a:solidFill>
            <a:schemeClr val="bg2"/>
          </a:solidFill>
          <a:ln w="12700">
            <a:solidFill>
              <a:schemeClr val="bg2"/>
            </a:solidFill>
            <a:prstDash val="solid"/>
          </a:ln>
        </p:spPr>
      </p:sp>
      <p:sp>
        <p:nvSpPr>
          <p:cNvPr id="4" name="Text 2"/>
          <p:cNvSpPr txBox="1"/>
          <p:nvPr/>
        </p:nvSpPr>
        <p:spPr>
          <a:xfrm>
            <a:off x="777240" y="1371600"/>
            <a:ext cx="2194560" cy="777240"/>
          </a:xfrm>
          <a:prstGeom prst="rect">
            <a:avLst/>
          </a:prstGeom>
          <a:noFill/>
          <a:ln/>
        </p:spPr>
        <p:txBody>
          <a:bodyPr wrap="square" lIns="0" tIns="0" rIns="0" bIns="0" rtlCol="0" anchor="ctr"/>
          <a:lstStyle/>
          <a:p>
            <a:pPr indent="0" marL="0">
              <a:buNone/>
            </a:pPr>
            <a:r>
              <a:rPr lang="en-US" sz="1700" b="1" dirty="0">
                <a:solidFill>
                  <a:schemeClr val="tx1"/>
                </a:solidFill>
              </a:rPr>
              <a:t>Legal-form words</a:t>
            </a:r>
            <a:endParaRPr lang="en-US" sz="1700" dirty="0"/>
          </a:p>
        </p:txBody>
      </p:sp>
      <p:sp>
        <p:nvSpPr>
          <p:cNvPr id="5" name="Text 3"/>
          <p:cNvSpPr txBox="1"/>
          <p:nvPr/>
        </p:nvSpPr>
        <p:spPr>
          <a:xfrm>
            <a:off x="2971800" y="1371600"/>
            <a:ext cx="3931920" cy="777240"/>
          </a:xfrm>
          <a:prstGeom prst="rect">
            <a:avLst/>
          </a:prstGeom>
          <a:noFill/>
          <a:ln/>
        </p:spPr>
        <p:txBody>
          <a:bodyPr wrap="square" lIns="0" tIns="0" rIns="0" bIns="0" rtlCol="0" anchor="ctr"/>
          <a:lstStyle/>
          <a:p>
            <a:pPr indent="0" marL="0">
              <a:buNone/>
            </a:pPr>
            <a:r>
              <a:rPr lang="en-US" sz="1400" b="1" dirty="0">
                <a:solidFill>
                  <a:schemeClr val="tx1"/>
                </a:solidFill>
              </a:rPr>
              <a:t>PAO · ПАО · PJSC · OAO · AO · OOO · LLC · Ltd</a:t>
            </a:r>
            <a:endParaRPr lang="en-US" sz="1400" dirty="0"/>
          </a:p>
          <a:p>
            <a:pPr indent="0" marL="0">
              <a:buNone/>
            </a:pPr>
            <a:r>
              <a:rPr lang="en-US" sz="1300" dirty="0">
                <a:solidFill>
                  <a:schemeClr val="accent6"/>
                </a:solidFill>
              </a:rPr>
              <a:t>"PAO Sovcomflot" is "Sovcomflot" — Citibank missed it</a:t>
            </a:r>
            <a:endParaRPr lang="en-US" sz="1400" dirty="0"/>
          </a:p>
        </p:txBody>
      </p:sp>
      <p:sp>
        <p:nvSpPr>
          <p:cNvPr id="6" name="Transliteration"/>
          <p:cNvSpPr/>
          <p:nvPr/>
        </p:nvSpPr>
        <p:spPr>
          <a:xfrm>
            <a:off x="548640" y="2377440"/>
            <a:ext cx="6492240" cy="960120"/>
          </a:xfrm>
          <a:prstGeom prst="roundRect">
            <a:avLst>
              <a:gd name="adj" fmla="val 11429"/>
            </a:avLst>
          </a:prstGeom>
          <a:solidFill>
            <a:schemeClr val="bg2"/>
          </a:solidFill>
          <a:ln w="12700">
            <a:solidFill>
              <a:schemeClr val="bg2"/>
            </a:solidFill>
            <a:prstDash val="solid"/>
          </a:ln>
        </p:spPr>
      </p:sp>
      <p:sp>
        <p:nvSpPr>
          <p:cNvPr id="7" name="Text 5"/>
          <p:cNvSpPr txBox="1"/>
          <p:nvPr/>
        </p:nvSpPr>
        <p:spPr>
          <a:xfrm>
            <a:off x="777240" y="2468880"/>
            <a:ext cx="2194560" cy="777240"/>
          </a:xfrm>
          <a:prstGeom prst="rect">
            <a:avLst/>
          </a:prstGeom>
          <a:noFill/>
          <a:ln/>
        </p:spPr>
        <p:txBody>
          <a:bodyPr wrap="square" lIns="0" tIns="0" rIns="0" bIns="0" rtlCol="0" anchor="ctr"/>
          <a:lstStyle/>
          <a:p>
            <a:pPr indent="0" marL="0">
              <a:buNone/>
            </a:pPr>
            <a:r>
              <a:rPr lang="en-US" sz="1700" b="1" dirty="0">
                <a:solidFill>
                  <a:schemeClr val="tx1"/>
                </a:solidFill>
              </a:rPr>
              <a:t>Transliteration</a:t>
            </a:r>
            <a:endParaRPr lang="en-US" sz="1700" dirty="0"/>
          </a:p>
        </p:txBody>
      </p:sp>
      <p:sp>
        <p:nvSpPr>
          <p:cNvPr id="8" name="Text 6"/>
          <p:cNvSpPr txBox="1"/>
          <p:nvPr/>
        </p:nvSpPr>
        <p:spPr>
          <a:xfrm>
            <a:off x="2971800" y="2468880"/>
            <a:ext cx="3931920" cy="777240"/>
          </a:xfrm>
          <a:prstGeom prst="rect">
            <a:avLst/>
          </a:prstGeom>
          <a:noFill/>
          <a:ln/>
        </p:spPr>
        <p:txBody>
          <a:bodyPr wrap="square" lIns="0" tIns="0" rIns="0" bIns="0" rtlCol="0" anchor="ctr"/>
          <a:lstStyle/>
          <a:p>
            <a:pPr indent="0" marL="0">
              <a:buNone/>
            </a:pPr>
            <a:r>
              <a:rPr lang="en-US" sz="1400" b="1" dirty="0">
                <a:solidFill>
                  <a:schemeClr val="tx1"/>
                </a:solidFill>
              </a:rPr>
              <a:t>Mohammed · Muhammad · Mohamed · Aleksandr · Alexander</a:t>
            </a:r>
            <a:endParaRPr lang="en-US" sz="1400" dirty="0"/>
          </a:p>
          <a:p>
            <a:pPr indent="0" marL="0">
              <a:buNone/>
            </a:pPr>
            <a:r>
              <a:rPr lang="en-US" sz="1300" dirty="0">
                <a:solidFill>
                  <a:schemeClr val="accent6"/>
                </a:solidFill>
              </a:rPr>
              <a:t>Bank of Scotland: passport spelling differed from the list</a:t>
            </a:r>
            <a:endParaRPr lang="en-US" sz="1400" dirty="0"/>
          </a:p>
        </p:txBody>
      </p:sp>
      <p:sp>
        <p:nvSpPr>
          <p:cNvPr id="9" name="Order and initials"/>
          <p:cNvSpPr/>
          <p:nvPr/>
        </p:nvSpPr>
        <p:spPr>
          <a:xfrm>
            <a:off x="548640" y="3474720"/>
            <a:ext cx="6492240" cy="960120"/>
          </a:xfrm>
          <a:prstGeom prst="roundRect">
            <a:avLst>
              <a:gd name="adj" fmla="val 11429"/>
            </a:avLst>
          </a:prstGeom>
          <a:solidFill>
            <a:schemeClr val="bg2"/>
          </a:solidFill>
          <a:ln w="12700">
            <a:solidFill>
              <a:schemeClr val="bg2"/>
            </a:solidFill>
            <a:prstDash val="solid"/>
          </a:ln>
        </p:spPr>
      </p:sp>
      <p:sp>
        <p:nvSpPr>
          <p:cNvPr id="10" name="Text 8"/>
          <p:cNvSpPr txBox="1"/>
          <p:nvPr/>
        </p:nvSpPr>
        <p:spPr>
          <a:xfrm>
            <a:off x="777240" y="3566160"/>
            <a:ext cx="2194560" cy="777240"/>
          </a:xfrm>
          <a:prstGeom prst="rect">
            <a:avLst/>
          </a:prstGeom>
          <a:noFill/>
          <a:ln/>
        </p:spPr>
        <p:txBody>
          <a:bodyPr wrap="square" lIns="0" tIns="0" rIns="0" bIns="0" rtlCol="0" anchor="ctr"/>
          <a:lstStyle/>
          <a:p>
            <a:pPr indent="0" marL="0">
              <a:buNone/>
            </a:pPr>
            <a:r>
              <a:rPr lang="en-US" sz="1700" b="1" dirty="0">
                <a:solidFill>
                  <a:schemeClr val="tx1"/>
                </a:solidFill>
              </a:rPr>
              <a:t>Order and initials</a:t>
            </a:r>
            <a:endParaRPr lang="en-US" sz="1700" dirty="0"/>
          </a:p>
        </p:txBody>
      </p:sp>
      <p:sp>
        <p:nvSpPr>
          <p:cNvPr id="11" name="Text 9"/>
          <p:cNvSpPr txBox="1"/>
          <p:nvPr/>
        </p:nvSpPr>
        <p:spPr>
          <a:xfrm>
            <a:off x="2971800" y="3566160"/>
            <a:ext cx="3931920" cy="777240"/>
          </a:xfrm>
          <a:prstGeom prst="rect">
            <a:avLst/>
          </a:prstGeom>
          <a:noFill/>
          <a:ln/>
        </p:spPr>
        <p:txBody>
          <a:bodyPr wrap="square" lIns="0" tIns="0" rIns="0" bIns="0" rtlCol="0" anchor="ctr"/>
          <a:lstStyle/>
          <a:p>
            <a:pPr indent="0" marL="0">
              <a:buNone/>
            </a:pPr>
            <a:r>
              <a:rPr lang="en-US" sz="1400" b="1" dirty="0">
                <a:solidFill>
                  <a:schemeClr val="tx1"/>
                </a:solidFill>
              </a:rPr>
              <a:t>"M. Rahman" · "Rahman, Mohammed" · "Rakhman"</a:t>
            </a:r>
            <a:endParaRPr lang="en-US" sz="1400" dirty="0"/>
          </a:p>
          <a:p>
            <a:pPr indent="0" marL="0">
              <a:buNone/>
            </a:pPr>
            <a:r>
              <a:rPr lang="en-US" sz="1300" dirty="0">
                <a:solidFill>
                  <a:schemeClr val="accent6"/>
                </a:solidFill>
              </a:rPr>
              <a:t>Aliases and old names on the list record count</a:t>
            </a:r>
            <a:endParaRPr lang="en-US" sz="1400" dirty="0"/>
          </a:p>
        </p:txBody>
      </p:sp>
      <p:sp>
        <p:nvSpPr>
          <p:cNvPr id="12" name="identifiers"/>
          <p:cNvSpPr/>
          <p:nvPr/>
        </p:nvSpPr>
        <p:spPr>
          <a:xfrm>
            <a:off x="7269480" y="1280160"/>
            <a:ext cx="4343400" cy="3154680"/>
          </a:xfrm>
          <a:prstGeom prst="roundRect">
            <a:avLst>
              <a:gd name="adj" fmla="val 3478"/>
            </a:avLst>
          </a:prstGeom>
          <a:solidFill>
            <a:schemeClr val="tx1"/>
          </a:solidFill>
          <a:ln w="12700">
            <a:solidFill>
              <a:schemeClr val="tx1"/>
            </a:solidFill>
            <a:prstDash val="solid"/>
          </a:ln>
        </p:spPr>
      </p:sp>
      <p:sp>
        <p:nvSpPr>
          <p:cNvPr id="13" name="Text 11"/>
          <p:cNvSpPr txBox="1"/>
          <p:nvPr/>
        </p:nvSpPr>
        <p:spPr>
          <a:xfrm>
            <a:off x="7498080" y="1417320"/>
            <a:ext cx="3931920" cy="274320"/>
          </a:xfrm>
          <a:prstGeom prst="rect">
            <a:avLst/>
          </a:prstGeom>
          <a:noFill/>
          <a:ln/>
        </p:spPr>
        <p:txBody>
          <a:bodyPr wrap="square" lIns="0" tIns="0" rIns="0" bIns="0" rtlCol="0" anchor="t"/>
          <a:lstStyle/>
          <a:p>
            <a:pPr indent="0" marL="0">
              <a:buNone/>
            </a:pPr>
            <a:r>
              <a:rPr lang="en-US" sz="1200" b="1" spc="100" kern="0" dirty="0">
                <a:solidFill>
                  <a:schemeClr val="accent5"/>
                </a:solidFill>
              </a:rPr>
              <a:t>IDENTIFIERS THAT DECIDE IT</a:t>
            </a:r>
            <a:endParaRPr lang="en-US" sz="1200" dirty="0"/>
          </a:p>
        </p:txBody>
      </p:sp>
      <p:sp>
        <p:nvSpPr>
          <p:cNvPr id="14" name="Text 12"/>
          <p:cNvSpPr txBox="1"/>
          <p:nvPr/>
        </p:nvSpPr>
        <p:spPr>
          <a:xfrm>
            <a:off x="7498080" y="1783080"/>
            <a:ext cx="3931920" cy="2560320"/>
          </a:xfrm>
          <a:prstGeom prst="rect">
            <a:avLst/>
          </a:prstGeom>
          <a:noFill/>
          <a:ln/>
        </p:spPr>
        <p:txBody>
          <a:bodyPr wrap="square" lIns="0" tIns="0" rIns="0" bIns="0" rtlCol="0" anchor="t"/>
          <a:lstStyle/>
          <a:p>
            <a:pPr indent="0" marL="0">
              <a:buNone/>
            </a:pPr>
            <a:r>
              <a:rPr lang="en-US" sz="1500" b="1" dirty="0">
                <a:solidFill>
                  <a:schemeClr val="bg1"/>
                </a:solidFill>
              </a:rPr>
              <a:t>Strong</a:t>
            </a:r>
            <a:endParaRPr lang="en-US" sz="1500" dirty="0"/>
          </a:p>
          <a:p>
            <a:pPr indent="0" marL="0">
              <a:buNone/>
            </a:pPr>
            <a:r>
              <a:rPr lang="en-US" sz="1500" dirty="0">
                <a:solidFill>
                  <a:schemeClr val="bg1"/>
                </a:solidFill>
              </a:rPr>
              <a:t>Date of birth · passport / ID number · company registration number · IMO number (vessels)</a:t>
            </a:r>
            <a:endParaRPr lang="en-US" sz="1500" dirty="0"/>
          </a:p>
          <a:p>
            <a:pPr indent="0" marL="0">
              <a:buNone/>
            </a:pPr>
            <a:r>
              <a:rPr lang="en-US" sz="800" dirty="0">
                <a:solidFill>
                  <a:schemeClr val="tx1"/>
                </a:solidFill>
              </a:rPr>
              <a:t> </a:t>
            </a:r>
            <a:endParaRPr lang="en-US" sz="1500" dirty="0"/>
          </a:p>
          <a:p>
            <a:pPr indent="0" marL="0">
              <a:buNone/>
            </a:pPr>
            <a:r>
              <a:rPr lang="en-US" sz="1500" b="1" dirty="0">
                <a:solidFill>
                  <a:schemeClr val="bg1"/>
                </a:solidFill>
              </a:rPr>
              <a:t>Supporting</a:t>
            </a:r>
            <a:endParaRPr lang="en-US" sz="1500" dirty="0"/>
          </a:p>
          <a:p>
            <a:pPr indent="0" marL="0">
              <a:buNone/>
            </a:pPr>
            <a:r>
              <a:rPr lang="en-US" sz="1500" dirty="0">
                <a:solidFill>
                  <a:schemeClr val="bg1"/>
                </a:solidFill>
              </a:rPr>
              <a:t>Nationality · address · city · year of birth only</a:t>
            </a:r>
            <a:endParaRPr lang="en-US" sz="1500" dirty="0"/>
          </a:p>
        </p:txBody>
      </p:sp>
      <p:sp>
        <p:nvSpPr>
          <p:cNvPr id="15" name="rule"/>
          <p:cNvSpPr/>
          <p:nvPr/>
        </p:nvSpPr>
        <p:spPr>
          <a:xfrm>
            <a:off x="548640" y="4663440"/>
            <a:ext cx="11064240" cy="1188720"/>
          </a:xfrm>
          <a:prstGeom prst="roundRect">
            <a:avLst>
              <a:gd name="adj" fmla="val 9231"/>
            </a:avLst>
          </a:prstGeom>
          <a:solidFill>
            <a:schemeClr val="bg2"/>
          </a:solidFill>
          <a:ln w="12700">
            <a:solidFill>
              <a:schemeClr val="bg2"/>
            </a:solidFill>
            <a:prstDash val="solid"/>
          </a:ln>
        </p:spPr>
      </p:sp>
      <p:sp>
        <p:nvSpPr>
          <p:cNvPr id="16" name="Text 14"/>
          <p:cNvSpPr txBox="1"/>
          <p:nvPr/>
        </p:nvSpPr>
        <p:spPr>
          <a:xfrm>
            <a:off x="777240" y="4663440"/>
            <a:ext cx="10607040" cy="1188720"/>
          </a:xfrm>
          <a:prstGeom prst="rect">
            <a:avLst/>
          </a:prstGeom>
          <a:noFill/>
          <a:ln/>
        </p:spPr>
        <p:txBody>
          <a:bodyPr wrap="square" lIns="0" tIns="0" rIns="0" bIns="0" rtlCol="0" anchor="ctr"/>
          <a:lstStyle/>
          <a:p>
            <a:pPr indent="0" marL="0">
              <a:buNone/>
            </a:pPr>
            <a:r>
              <a:rPr lang="en-US" sz="1700" b="1" dirty="0">
                <a:solidFill>
                  <a:schemeClr val="accent3"/>
                </a:solidFill>
              </a:rPr>
              <a:t>Clear </a:t>
            </a:r>
            <a:pPr indent="0" marL="0">
              <a:buNone/>
            </a:pPr>
            <a:r>
              <a:rPr lang="en-US" sz="1700" dirty="0">
                <a:solidFill>
                  <a:schemeClr val="tx1"/>
                </a:solidFill>
              </a:rPr>
              <a:t>only when reliable identifiers are evidenced as different — the number your procedure requires.  </a:t>
            </a:r>
            <a:pPr indent="0" marL="0">
              <a:buNone/>
            </a:pPr>
            <a:r>
              <a:rPr lang="en-US" sz="1700" b="1" dirty="0">
                <a:solidFill>
                  <a:schemeClr val="accent1"/>
                </a:solidFill>
              </a:rPr>
              <a:t>Never clear </a:t>
            </a:r>
            <a:pPr indent="0" marL="0">
              <a:buNone/>
            </a:pPr>
            <a:r>
              <a:rPr lang="en-US" sz="1700" dirty="0">
                <a:solidFill>
                  <a:schemeClr val="tx1"/>
                </a:solidFill>
              </a:rPr>
              <a:t>because data is missing, the score is low, or the name is common.</a:t>
            </a:r>
            <a:endParaRPr lang="en-US" sz="1700" dirty="0"/>
          </a:p>
        </p:txBody>
      </p:sp>
      <p:sp>
        <p:nvSpPr>
          <p:cNvPr id="17" name="Text 15"/>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OFSI penalty notices — Citibank N.A. London Branch (Aug 2026), Bank of Scotland (Jan 2026); Checkout screening procedure — identifier standard (cite section).</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Practice: identity and control</a:t>
            </a:r>
            <a:endParaRPr lang="en-US" sz="3200" dirty="0"/>
          </a:p>
        </p:txBody>
      </p:sp>
      <p:sp>
        <p:nvSpPr>
          <p:cNvPr id="3" name="Shape 1"/>
          <p:cNvSpPr/>
          <p:nvPr/>
        </p:nvSpPr>
        <p:spPr>
          <a:xfrm>
            <a:off x="548640" y="1280160"/>
            <a:ext cx="548640" cy="548640"/>
          </a:xfrm>
          <a:prstGeom prst="ellipse">
            <a:avLst/>
          </a:prstGeom>
          <a:solidFill>
            <a:schemeClr val="tx1"/>
          </a:solidFill>
          <a:ln w="12700">
            <a:solidFill>
              <a:schemeClr val="tx1"/>
            </a:solidFill>
            <a:prstDash val="solid"/>
          </a:ln>
        </p:spPr>
      </p:sp>
      <p:sp>
        <p:nvSpPr>
          <p:cNvPr id="4" name="Text 2"/>
          <p:cNvSpPr txBox="1"/>
          <p:nvPr/>
        </p:nvSpPr>
        <p:spPr>
          <a:xfrm>
            <a:off x="548640" y="12801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280160" y="1280160"/>
            <a:ext cx="3566160" cy="548640"/>
          </a:xfrm>
          <a:prstGeom prst="rect">
            <a:avLst/>
          </a:prstGeom>
          <a:noFill/>
          <a:ln/>
        </p:spPr>
        <p:txBody>
          <a:bodyPr wrap="square" lIns="0" tIns="0" rIns="0" bIns="0" rtlCol="0" anchor="ctr"/>
          <a:lstStyle/>
          <a:p>
            <a:pPr indent="0" marL="0">
              <a:buNone/>
            </a:pPr>
            <a:r>
              <a:rPr lang="en-US" sz="1900" b="1" dirty="0">
                <a:solidFill>
                  <a:schemeClr val="tx1"/>
                </a:solidFill>
              </a:rPr>
              <a:t>Same name, different person</a:t>
            </a:r>
            <a:endParaRPr lang="en-US" sz="1900" dirty="0"/>
          </a:p>
        </p:txBody>
      </p:sp>
      <p:sp>
        <p:nvSpPr>
          <p:cNvPr id="6" name="Text 4"/>
          <p:cNvSpPr txBox="1"/>
          <p:nvPr/>
        </p:nvSpPr>
        <p:spPr>
          <a:xfrm>
            <a:off x="4754880" y="1280160"/>
            <a:ext cx="1234440" cy="548640"/>
          </a:xfrm>
          <a:prstGeom prst="rect">
            <a:avLst/>
          </a:prstGeom>
          <a:noFill/>
          <a:ln/>
        </p:spPr>
        <p:txBody>
          <a:bodyPr wrap="square" lIns="0" tIns="0" rIns="0" bIns="0" rtlCol="0" anchor="ctr"/>
          <a:lstStyle/>
          <a:p>
            <a:pPr algn="r" indent="0" marL="0">
              <a:buNone/>
            </a:pPr>
            <a:r>
              <a:rPr lang="en-US" sz="1200" b="1" dirty="0">
                <a:solidFill>
                  <a:schemeClr val="accent6"/>
                </a:solidFill>
              </a:rPr>
              <a:t>Rules 2 · 8</a:t>
            </a:r>
            <a:endParaRPr lang="en-US" sz="1200" dirty="0"/>
          </a:p>
        </p:txBody>
      </p:sp>
      <p:sp>
        <p:nvSpPr>
          <p:cNvPr id="7" name="alert 1"/>
          <p:cNvSpPr/>
          <p:nvPr/>
        </p:nvSpPr>
        <p:spPr>
          <a:xfrm>
            <a:off x="548640" y="1965960"/>
            <a:ext cx="5440680" cy="1417320"/>
          </a:xfrm>
          <a:prstGeom prst="roundRect">
            <a:avLst>
              <a:gd name="adj" fmla="val 7742"/>
            </a:avLst>
          </a:prstGeom>
          <a:solidFill>
            <a:schemeClr val="bg2"/>
          </a:solidFill>
          <a:ln w="12700">
            <a:solidFill>
              <a:schemeClr val="bg2"/>
            </a:solidFill>
            <a:prstDash val="solid"/>
          </a:ln>
        </p:spPr>
      </p:sp>
      <p:sp>
        <p:nvSpPr>
          <p:cNvPr id="8" name="Text 6"/>
          <p:cNvSpPr txBox="1"/>
          <p:nvPr/>
        </p:nvSpPr>
        <p:spPr>
          <a:xfrm>
            <a:off x="777240" y="2075688"/>
            <a:ext cx="498348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THE ALERT</a:t>
            </a:r>
            <a:endParaRPr lang="en-US" sz="1100" dirty="0"/>
          </a:p>
        </p:txBody>
      </p:sp>
      <p:sp>
        <p:nvSpPr>
          <p:cNvPr id="9" name="Text 7"/>
          <p:cNvSpPr txBox="1"/>
          <p:nvPr/>
        </p:nvSpPr>
        <p:spPr>
          <a:xfrm>
            <a:off x="777240" y="2331720"/>
            <a:ext cx="4983480" cy="1005840"/>
          </a:xfrm>
          <a:prstGeom prst="rect">
            <a:avLst/>
          </a:prstGeom>
          <a:noFill/>
          <a:ln/>
        </p:spPr>
        <p:txBody>
          <a:bodyPr wrap="square" lIns="0" tIns="0" rIns="0" bIns="0" rtlCol="0" anchor="t"/>
          <a:lstStyle/>
          <a:p>
            <a:pPr indent="0" marL="0">
              <a:buNone/>
            </a:pPr>
            <a:r>
              <a:rPr lang="en-US" sz="1500" dirty="0">
                <a:solidFill>
                  <a:schemeClr val="tx1"/>
                </a:solidFill>
              </a:rPr>
              <a:t>"Mohamed Hassan" matches a list entry. Every other identifier differs: date of birth (1968 vs 1991), nationality, address, document.</a:t>
            </a:r>
            <a:endParaRPr lang="en-US" sz="1500" dirty="0"/>
          </a:p>
        </p:txBody>
      </p:sp>
      <p:sp>
        <p:nvSpPr>
          <p:cNvPr id="10" name="answer 1"/>
          <p:cNvSpPr/>
          <p:nvPr/>
        </p:nvSpPr>
        <p:spPr>
          <a:xfrm>
            <a:off x="548640" y="3520440"/>
            <a:ext cx="5440680" cy="1508760"/>
          </a:xfrm>
          <a:prstGeom prst="roundRect">
            <a:avLst>
              <a:gd name="adj" fmla="val 7273"/>
            </a:avLst>
          </a:prstGeom>
          <a:solidFill>
            <a:schemeClr val="accent3"/>
          </a:solidFill>
          <a:ln w="12700">
            <a:solidFill>
              <a:schemeClr val="accent3"/>
            </a:solidFill>
            <a:prstDash val="solid"/>
          </a:ln>
        </p:spPr>
      </p:sp>
      <p:sp>
        <p:nvSpPr>
          <p:cNvPr id="11" name="Text 9"/>
          <p:cNvSpPr txBox="1"/>
          <p:nvPr/>
        </p:nvSpPr>
        <p:spPr>
          <a:xfrm>
            <a:off x="777240" y="3630168"/>
            <a:ext cx="4983480" cy="228600"/>
          </a:xfrm>
          <a:prstGeom prst="rect">
            <a:avLst/>
          </a:prstGeom>
          <a:noFill/>
          <a:ln/>
        </p:spPr>
        <p:txBody>
          <a:bodyPr wrap="square" lIns="0" tIns="0" rIns="0" bIns="0" rtlCol="0" anchor="t"/>
          <a:lstStyle/>
          <a:p>
            <a:pPr indent="0" marL="0">
              <a:buNone/>
            </a:pPr>
            <a:r>
              <a:rPr lang="en-US" sz="1100" b="1" spc="100" kern="0" dirty="0">
                <a:solidFill>
                  <a:schemeClr val="bg1"/>
                </a:solidFill>
              </a:rPr>
              <a:t>DO THIS</a:t>
            </a:r>
            <a:endParaRPr lang="en-US" sz="1100" dirty="0"/>
          </a:p>
        </p:txBody>
      </p:sp>
      <p:sp>
        <p:nvSpPr>
          <p:cNvPr id="12" name="Text 10"/>
          <p:cNvSpPr txBox="1"/>
          <p:nvPr/>
        </p:nvSpPr>
        <p:spPr>
          <a:xfrm>
            <a:off x="777240" y="3886200"/>
            <a:ext cx="4983480" cy="1097280"/>
          </a:xfrm>
          <a:prstGeom prst="rect">
            <a:avLst/>
          </a:prstGeom>
          <a:noFill/>
          <a:ln/>
        </p:spPr>
        <p:txBody>
          <a:bodyPr wrap="square" lIns="0" tIns="0" rIns="0" bIns="0" rtlCol="0" anchor="t"/>
          <a:lstStyle/>
          <a:p>
            <a:pPr indent="0" marL="0">
              <a:buNone/>
            </a:pPr>
            <a:r>
              <a:rPr lang="en-US" sz="1500" dirty="0">
                <a:solidFill>
                  <a:schemeClr val="bg1"/>
                </a:solidFill>
              </a:rPr>
              <a:t>False positive. Close it with the 4-eye check, recording which identifiers differ and where each one came from.</a:t>
            </a:r>
            <a:endParaRPr lang="en-US" sz="1500" dirty="0"/>
          </a:p>
        </p:txBody>
      </p:sp>
      <p:sp>
        <p:nvSpPr>
          <p:cNvPr id="13" name="trap 1 circle"/>
          <p:cNvSpPr/>
          <p:nvPr/>
        </p:nvSpPr>
        <p:spPr>
          <a:xfrm>
            <a:off x="548640" y="5193792"/>
            <a:ext cx="548640" cy="548640"/>
          </a:xfrm>
          <a:prstGeom prst="ellipse">
            <a:avLst/>
          </a:prstGeom>
          <a:solidFill>
            <a:schemeClr val="accent1"/>
          </a:solidFill>
          <a:ln w="12700">
            <a:solidFill>
              <a:schemeClr val="accent1"/>
            </a:solidFill>
            <a:prstDash val="solid"/>
          </a:ln>
        </p:spPr>
      </p:sp>
      <p:pic>
        <p:nvPicPr>
          <p:cNvPr id="14" name="trap 1 icon" descr="preencoded.png">    </p:cNvPr>
          <p:cNvPicPr>
            <a:picLocks noChangeAspect="1"/>
          </p:cNvPicPr>
          <p:nvPr/>
        </p:nvPicPr>
        <p:blipFill>
          <a:blip r:embed="rId1"/>
          <a:stretch>
            <a:fillRect/>
          </a:stretch>
        </p:blipFill>
        <p:spPr>
          <a:xfrm>
            <a:off x="658368" y="5303520"/>
            <a:ext cx="329184" cy="329184"/>
          </a:xfrm>
          <a:prstGeom prst="rect">
            <a:avLst/>
          </a:prstGeom>
        </p:spPr>
      </p:pic>
      <p:sp>
        <p:nvSpPr>
          <p:cNvPr id="15" name="Text 12"/>
          <p:cNvSpPr txBox="1"/>
          <p:nvPr/>
        </p:nvSpPr>
        <p:spPr>
          <a:xfrm>
            <a:off x="1280160" y="5120640"/>
            <a:ext cx="4709160" cy="731520"/>
          </a:xfrm>
          <a:prstGeom prst="rect">
            <a:avLst/>
          </a:prstGeom>
          <a:noFill/>
          <a:ln/>
        </p:spPr>
        <p:txBody>
          <a:bodyPr wrap="square" lIns="0" tIns="0" rIns="0" bIns="0" rtlCol="0" anchor="ctr"/>
          <a:lstStyle/>
          <a:p>
            <a:pPr indent="0" marL="0">
              <a:buNone/>
            </a:pPr>
            <a:r>
              <a:rPr lang="en-US" sz="1500" b="1" dirty="0">
                <a:solidFill>
                  <a:schemeClr val="accent1"/>
                </a:solidFill>
              </a:rPr>
              <a:t>The trap: </a:t>
            </a:r>
            <a:pPr indent="0" marL="0">
              <a:buNone/>
            </a:pPr>
            <a:r>
              <a:rPr lang="en-US" sz="1500" dirty="0">
                <a:solidFill>
                  <a:schemeClr val="tx1"/>
                </a:solidFill>
              </a:rPr>
              <a:t>closing on the name difference alone — or keeping it open "to be safe".</a:t>
            </a:r>
            <a:endParaRPr lang="en-US" sz="1500" dirty="0"/>
          </a:p>
        </p:txBody>
      </p:sp>
      <p:sp>
        <p:nvSpPr>
          <p:cNvPr id="16" name="Shape 13"/>
          <p:cNvSpPr/>
          <p:nvPr/>
        </p:nvSpPr>
        <p:spPr>
          <a:xfrm>
            <a:off x="6172200" y="1280160"/>
            <a:ext cx="548640" cy="548640"/>
          </a:xfrm>
          <a:prstGeom prst="ellipse">
            <a:avLst/>
          </a:prstGeom>
          <a:solidFill>
            <a:schemeClr val="tx1"/>
          </a:solidFill>
          <a:ln w="12700">
            <a:solidFill>
              <a:schemeClr val="tx1"/>
            </a:solidFill>
            <a:prstDash val="solid"/>
          </a:ln>
        </p:spPr>
      </p:sp>
      <p:sp>
        <p:nvSpPr>
          <p:cNvPr id="17" name="Text 14"/>
          <p:cNvSpPr txBox="1"/>
          <p:nvPr/>
        </p:nvSpPr>
        <p:spPr>
          <a:xfrm>
            <a:off x="6172200" y="12801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8" name="Text 15"/>
          <p:cNvSpPr txBox="1"/>
          <p:nvPr/>
        </p:nvSpPr>
        <p:spPr>
          <a:xfrm>
            <a:off x="6903720" y="1280160"/>
            <a:ext cx="3566160" cy="548640"/>
          </a:xfrm>
          <a:prstGeom prst="rect">
            <a:avLst/>
          </a:prstGeom>
          <a:noFill/>
          <a:ln/>
        </p:spPr>
        <p:txBody>
          <a:bodyPr wrap="square" lIns="0" tIns="0" rIns="0" bIns="0" rtlCol="0" anchor="ctr"/>
          <a:lstStyle/>
          <a:p>
            <a:pPr indent="0" marL="0">
              <a:buNone/>
            </a:pPr>
            <a:r>
              <a:rPr lang="en-US" sz="1900" b="1" dirty="0">
                <a:solidFill>
                  <a:schemeClr val="tx1"/>
                </a:solidFill>
              </a:rPr>
              <a:t>The designated director</a:t>
            </a:r>
            <a:endParaRPr lang="en-US" sz="1900" dirty="0"/>
          </a:p>
        </p:txBody>
      </p:sp>
      <p:sp>
        <p:nvSpPr>
          <p:cNvPr id="19" name="Text 16"/>
          <p:cNvSpPr txBox="1"/>
          <p:nvPr/>
        </p:nvSpPr>
        <p:spPr>
          <a:xfrm>
            <a:off x="10378440" y="1280160"/>
            <a:ext cx="1234440" cy="548640"/>
          </a:xfrm>
          <a:prstGeom prst="rect">
            <a:avLst/>
          </a:prstGeom>
          <a:noFill/>
          <a:ln/>
        </p:spPr>
        <p:txBody>
          <a:bodyPr wrap="square" lIns="0" tIns="0" rIns="0" bIns="0" rtlCol="0" anchor="ctr"/>
          <a:lstStyle/>
          <a:p>
            <a:pPr algn="r" indent="0" marL="0">
              <a:buNone/>
            </a:pPr>
            <a:r>
              <a:rPr lang="en-US" sz="1200" b="1" dirty="0">
                <a:solidFill>
                  <a:schemeClr val="accent6"/>
                </a:solidFill>
              </a:rPr>
              <a:t>Rules 1 · 3</a:t>
            </a:r>
            <a:endParaRPr lang="en-US" sz="1200" dirty="0"/>
          </a:p>
        </p:txBody>
      </p:sp>
      <p:sp>
        <p:nvSpPr>
          <p:cNvPr id="20" name="alert 2"/>
          <p:cNvSpPr/>
          <p:nvPr/>
        </p:nvSpPr>
        <p:spPr>
          <a:xfrm>
            <a:off x="6172200" y="1965960"/>
            <a:ext cx="5440680" cy="1417320"/>
          </a:xfrm>
          <a:prstGeom prst="roundRect">
            <a:avLst>
              <a:gd name="adj" fmla="val 7742"/>
            </a:avLst>
          </a:prstGeom>
          <a:solidFill>
            <a:schemeClr val="bg2"/>
          </a:solidFill>
          <a:ln w="12700">
            <a:solidFill>
              <a:schemeClr val="bg2"/>
            </a:solidFill>
            <a:prstDash val="solid"/>
          </a:ln>
        </p:spPr>
      </p:sp>
      <p:sp>
        <p:nvSpPr>
          <p:cNvPr id="21" name="Text 18"/>
          <p:cNvSpPr txBox="1"/>
          <p:nvPr/>
        </p:nvSpPr>
        <p:spPr>
          <a:xfrm>
            <a:off x="6400800" y="2075688"/>
            <a:ext cx="498348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THE ALERT</a:t>
            </a:r>
            <a:endParaRPr lang="en-US" sz="1100" dirty="0"/>
          </a:p>
        </p:txBody>
      </p:sp>
      <p:sp>
        <p:nvSpPr>
          <p:cNvPr id="22" name="Text 19"/>
          <p:cNvSpPr txBox="1"/>
          <p:nvPr/>
        </p:nvSpPr>
        <p:spPr>
          <a:xfrm>
            <a:off x="6400800" y="2331720"/>
            <a:ext cx="4983480" cy="1005840"/>
          </a:xfrm>
          <a:prstGeom prst="rect">
            <a:avLst/>
          </a:prstGeom>
          <a:noFill/>
          <a:ln/>
        </p:spPr>
        <p:txBody>
          <a:bodyPr wrap="square" lIns="0" tIns="0" rIns="0" bIns="0" rtlCol="0" anchor="t"/>
          <a:lstStyle/>
          <a:p>
            <a:pPr indent="0" marL="0">
              <a:buNone/>
            </a:pPr>
            <a:r>
              <a:rPr lang="en-US" sz="1500" dirty="0">
                <a:solidFill>
                  <a:schemeClr val="tx1"/>
                </a:solidFill>
              </a:rPr>
              <a:t>Merchant is not on any list. A designated person was just added as a director and can sign payment instructions.</a:t>
            </a:r>
            <a:endParaRPr lang="en-US" sz="1500" dirty="0"/>
          </a:p>
        </p:txBody>
      </p:sp>
      <p:sp>
        <p:nvSpPr>
          <p:cNvPr id="23" name="answer 2"/>
          <p:cNvSpPr/>
          <p:nvPr/>
        </p:nvSpPr>
        <p:spPr>
          <a:xfrm>
            <a:off x="6172200" y="3520440"/>
            <a:ext cx="5440680" cy="1508760"/>
          </a:xfrm>
          <a:prstGeom prst="roundRect">
            <a:avLst>
              <a:gd name="adj" fmla="val 7273"/>
            </a:avLst>
          </a:prstGeom>
          <a:solidFill>
            <a:schemeClr val="accent3"/>
          </a:solidFill>
          <a:ln w="12700">
            <a:solidFill>
              <a:schemeClr val="accent3"/>
            </a:solidFill>
            <a:prstDash val="solid"/>
          </a:ln>
        </p:spPr>
      </p:sp>
      <p:sp>
        <p:nvSpPr>
          <p:cNvPr id="24" name="Text 21"/>
          <p:cNvSpPr txBox="1"/>
          <p:nvPr/>
        </p:nvSpPr>
        <p:spPr>
          <a:xfrm>
            <a:off x="6400800" y="3630168"/>
            <a:ext cx="4983480" cy="228600"/>
          </a:xfrm>
          <a:prstGeom prst="rect">
            <a:avLst/>
          </a:prstGeom>
          <a:noFill/>
          <a:ln/>
        </p:spPr>
        <p:txBody>
          <a:bodyPr wrap="square" lIns="0" tIns="0" rIns="0" bIns="0" rtlCol="0" anchor="t"/>
          <a:lstStyle/>
          <a:p>
            <a:pPr indent="0" marL="0">
              <a:buNone/>
            </a:pPr>
            <a:r>
              <a:rPr lang="en-US" sz="1100" b="1" spc="100" kern="0" dirty="0">
                <a:solidFill>
                  <a:schemeClr val="bg1"/>
                </a:solidFill>
              </a:rPr>
              <a:t>DO THIS</a:t>
            </a:r>
            <a:endParaRPr lang="en-US" sz="1100" dirty="0"/>
          </a:p>
        </p:txBody>
      </p:sp>
      <p:sp>
        <p:nvSpPr>
          <p:cNvPr id="25" name="Text 22"/>
          <p:cNvSpPr txBox="1"/>
          <p:nvPr/>
        </p:nvSpPr>
        <p:spPr>
          <a:xfrm>
            <a:off x="6400800" y="3886200"/>
            <a:ext cx="4983480" cy="1097280"/>
          </a:xfrm>
          <a:prstGeom prst="rect">
            <a:avLst/>
          </a:prstGeom>
          <a:noFill/>
          <a:ln/>
        </p:spPr>
        <p:txBody>
          <a:bodyPr wrap="square" lIns="0" tIns="0" rIns="0" bIns="0" rtlCol="0" anchor="t"/>
          <a:lstStyle/>
          <a:p>
            <a:pPr indent="0" marL="0">
              <a:buNone/>
            </a:pPr>
            <a:r>
              <a:rPr lang="en-US" sz="1500" dirty="0">
                <a:solidFill>
                  <a:schemeClr val="bg1"/>
                </a:solidFill>
              </a:rPr>
              <a:t>Hold and escalate to L2. Control (signing power, a board seat) can expose an unlisted company even at 0% ownership.</a:t>
            </a:r>
            <a:endParaRPr lang="en-US" sz="1500" dirty="0"/>
          </a:p>
        </p:txBody>
      </p:sp>
      <p:sp>
        <p:nvSpPr>
          <p:cNvPr id="26" name="trap 2 circle"/>
          <p:cNvSpPr/>
          <p:nvPr/>
        </p:nvSpPr>
        <p:spPr>
          <a:xfrm>
            <a:off x="6172200" y="5193792"/>
            <a:ext cx="548640" cy="548640"/>
          </a:xfrm>
          <a:prstGeom prst="ellipse">
            <a:avLst/>
          </a:prstGeom>
          <a:solidFill>
            <a:schemeClr val="accent1"/>
          </a:solidFill>
          <a:ln w="12700">
            <a:solidFill>
              <a:schemeClr val="accent1"/>
            </a:solidFill>
            <a:prstDash val="solid"/>
          </a:ln>
        </p:spPr>
      </p:sp>
      <p:pic>
        <p:nvPicPr>
          <p:cNvPr id="27" name="trap 2 icon" descr="preencoded.png">    </p:cNvPr>
          <p:cNvPicPr>
            <a:picLocks noChangeAspect="1"/>
          </p:cNvPicPr>
          <p:nvPr/>
        </p:nvPicPr>
        <p:blipFill>
          <a:blip r:embed="rId2"/>
          <a:stretch>
            <a:fillRect/>
          </a:stretch>
        </p:blipFill>
        <p:spPr>
          <a:xfrm>
            <a:off x="6281928" y="5303520"/>
            <a:ext cx="329184" cy="329184"/>
          </a:xfrm>
          <a:prstGeom prst="rect">
            <a:avLst/>
          </a:prstGeom>
        </p:spPr>
      </p:pic>
      <p:sp>
        <p:nvSpPr>
          <p:cNvPr id="28" name="Text 24"/>
          <p:cNvSpPr txBox="1"/>
          <p:nvPr/>
        </p:nvSpPr>
        <p:spPr>
          <a:xfrm>
            <a:off x="6903720" y="5120640"/>
            <a:ext cx="4709160" cy="731520"/>
          </a:xfrm>
          <a:prstGeom prst="rect">
            <a:avLst/>
          </a:prstGeom>
          <a:noFill/>
          <a:ln/>
        </p:spPr>
        <p:txBody>
          <a:bodyPr wrap="square" lIns="0" tIns="0" rIns="0" bIns="0" rtlCol="0" anchor="ctr"/>
          <a:lstStyle/>
          <a:p>
            <a:pPr indent="0" marL="0">
              <a:buNone/>
            </a:pPr>
            <a:r>
              <a:rPr lang="en-US" sz="1500" b="1" dirty="0">
                <a:solidFill>
                  <a:schemeClr val="accent1"/>
                </a:solidFill>
              </a:rPr>
              <a:t>The trap: </a:t>
            </a:r>
            <a:pPr indent="0" marL="0">
              <a:buNone/>
            </a:pPr>
            <a:r>
              <a:rPr lang="en-US" sz="1500" dirty="0">
                <a:solidFill>
                  <a:schemeClr val="tx1"/>
                </a:solidFill>
              </a:rPr>
              <a:t>"They don't own any shares, so it's fine."</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Practice: reach and pressure</a:t>
            </a:r>
            <a:endParaRPr lang="en-US" sz="3200" dirty="0"/>
          </a:p>
        </p:txBody>
      </p:sp>
      <p:sp>
        <p:nvSpPr>
          <p:cNvPr id="3" name="Shape 1"/>
          <p:cNvSpPr/>
          <p:nvPr/>
        </p:nvSpPr>
        <p:spPr>
          <a:xfrm>
            <a:off x="548640" y="1280160"/>
            <a:ext cx="548640" cy="548640"/>
          </a:xfrm>
          <a:prstGeom prst="ellipse">
            <a:avLst/>
          </a:prstGeom>
          <a:solidFill>
            <a:schemeClr val="tx1"/>
          </a:solidFill>
          <a:ln w="12700">
            <a:solidFill>
              <a:schemeClr val="tx1"/>
            </a:solidFill>
            <a:prstDash val="solid"/>
          </a:ln>
        </p:spPr>
      </p:sp>
      <p:sp>
        <p:nvSpPr>
          <p:cNvPr id="4" name="Text 2"/>
          <p:cNvSpPr txBox="1"/>
          <p:nvPr/>
        </p:nvSpPr>
        <p:spPr>
          <a:xfrm>
            <a:off x="548640" y="12801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5" name="Text 3"/>
          <p:cNvSpPr txBox="1"/>
          <p:nvPr/>
        </p:nvSpPr>
        <p:spPr>
          <a:xfrm>
            <a:off x="1280160" y="1280160"/>
            <a:ext cx="3566160" cy="548640"/>
          </a:xfrm>
          <a:prstGeom prst="rect">
            <a:avLst/>
          </a:prstGeom>
          <a:noFill/>
          <a:ln/>
        </p:spPr>
        <p:txBody>
          <a:bodyPr wrap="square" lIns="0" tIns="0" rIns="0" bIns="0" rtlCol="0" anchor="ctr"/>
          <a:lstStyle/>
          <a:p>
            <a:pPr indent="0" marL="0">
              <a:buNone/>
            </a:pPr>
            <a:r>
              <a:rPr lang="en-US" sz="1900" b="1" dirty="0">
                <a:solidFill>
                  <a:schemeClr val="tx1"/>
                </a:solidFill>
              </a:rPr>
              <a:t>"The local list is clear"</a:t>
            </a:r>
            <a:endParaRPr lang="en-US" sz="1900" dirty="0"/>
          </a:p>
        </p:txBody>
      </p:sp>
      <p:sp>
        <p:nvSpPr>
          <p:cNvPr id="6" name="Text 4"/>
          <p:cNvSpPr txBox="1"/>
          <p:nvPr/>
        </p:nvSpPr>
        <p:spPr>
          <a:xfrm>
            <a:off x="4754880" y="1280160"/>
            <a:ext cx="1234440" cy="548640"/>
          </a:xfrm>
          <a:prstGeom prst="rect">
            <a:avLst/>
          </a:prstGeom>
          <a:noFill/>
          <a:ln/>
        </p:spPr>
        <p:txBody>
          <a:bodyPr wrap="square" lIns="0" tIns="0" rIns="0" bIns="0" rtlCol="0" anchor="ctr"/>
          <a:lstStyle/>
          <a:p>
            <a:pPr algn="r" indent="0" marL="0">
              <a:buNone/>
            </a:pPr>
            <a:r>
              <a:rPr lang="en-US" sz="1200" b="1" dirty="0">
                <a:solidFill>
                  <a:schemeClr val="accent6"/>
                </a:solidFill>
              </a:rPr>
              <a:t>Rules 4 · 1</a:t>
            </a:r>
            <a:endParaRPr lang="en-US" sz="1200" dirty="0"/>
          </a:p>
        </p:txBody>
      </p:sp>
      <p:sp>
        <p:nvSpPr>
          <p:cNvPr id="7" name="alert 3"/>
          <p:cNvSpPr/>
          <p:nvPr/>
        </p:nvSpPr>
        <p:spPr>
          <a:xfrm>
            <a:off x="548640" y="1965960"/>
            <a:ext cx="5440680" cy="1417320"/>
          </a:xfrm>
          <a:prstGeom prst="roundRect">
            <a:avLst>
              <a:gd name="adj" fmla="val 7742"/>
            </a:avLst>
          </a:prstGeom>
          <a:solidFill>
            <a:schemeClr val="bg2"/>
          </a:solidFill>
          <a:ln w="12700">
            <a:solidFill>
              <a:schemeClr val="bg2"/>
            </a:solidFill>
            <a:prstDash val="solid"/>
          </a:ln>
        </p:spPr>
      </p:sp>
      <p:sp>
        <p:nvSpPr>
          <p:cNvPr id="8" name="Text 6"/>
          <p:cNvSpPr txBox="1"/>
          <p:nvPr/>
        </p:nvSpPr>
        <p:spPr>
          <a:xfrm>
            <a:off x="777240" y="2075688"/>
            <a:ext cx="498348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THE ALERT</a:t>
            </a:r>
            <a:endParaRPr lang="en-US" sz="1100" dirty="0"/>
          </a:p>
        </p:txBody>
      </p:sp>
      <p:sp>
        <p:nvSpPr>
          <p:cNvPr id="9" name="Text 7"/>
          <p:cNvSpPr txBox="1"/>
          <p:nvPr/>
        </p:nvSpPr>
        <p:spPr>
          <a:xfrm>
            <a:off x="777240" y="2331720"/>
            <a:ext cx="4983480" cy="1005840"/>
          </a:xfrm>
          <a:prstGeom prst="rect">
            <a:avLst/>
          </a:prstGeom>
          <a:noFill/>
          <a:ln/>
        </p:spPr>
        <p:txBody>
          <a:bodyPr wrap="square" lIns="0" tIns="0" rIns="0" bIns="0" rtlCol="0" anchor="t"/>
          <a:lstStyle/>
          <a:p>
            <a:pPr indent="0" marL="0">
              <a:buNone/>
            </a:pPr>
            <a:r>
              <a:rPr lang="en-US" sz="1500" dirty="0">
                <a:solidFill>
                  <a:schemeClr val="tx1"/>
                </a:solidFill>
              </a:rPr>
              <a:t>Hong Kong customer is clear on the HK (UN-based) list. The payment goes to a UK entity through a USD correspondent bank.</a:t>
            </a:r>
            <a:endParaRPr lang="en-US" sz="1500" dirty="0"/>
          </a:p>
        </p:txBody>
      </p:sp>
      <p:sp>
        <p:nvSpPr>
          <p:cNvPr id="10" name="answer 3"/>
          <p:cNvSpPr/>
          <p:nvPr/>
        </p:nvSpPr>
        <p:spPr>
          <a:xfrm>
            <a:off x="548640" y="3520440"/>
            <a:ext cx="5440680" cy="1508760"/>
          </a:xfrm>
          <a:prstGeom prst="roundRect">
            <a:avLst>
              <a:gd name="adj" fmla="val 7273"/>
            </a:avLst>
          </a:prstGeom>
          <a:solidFill>
            <a:schemeClr val="accent3"/>
          </a:solidFill>
          <a:ln w="12700">
            <a:solidFill>
              <a:schemeClr val="accent3"/>
            </a:solidFill>
            <a:prstDash val="solid"/>
          </a:ln>
        </p:spPr>
      </p:sp>
      <p:sp>
        <p:nvSpPr>
          <p:cNvPr id="11" name="Text 9"/>
          <p:cNvSpPr txBox="1"/>
          <p:nvPr/>
        </p:nvSpPr>
        <p:spPr>
          <a:xfrm>
            <a:off x="777240" y="3630168"/>
            <a:ext cx="4983480" cy="228600"/>
          </a:xfrm>
          <a:prstGeom prst="rect">
            <a:avLst/>
          </a:prstGeom>
          <a:noFill/>
          <a:ln/>
        </p:spPr>
        <p:txBody>
          <a:bodyPr wrap="square" lIns="0" tIns="0" rIns="0" bIns="0" rtlCol="0" anchor="t"/>
          <a:lstStyle/>
          <a:p>
            <a:pPr indent="0" marL="0">
              <a:buNone/>
            </a:pPr>
            <a:r>
              <a:rPr lang="en-US" sz="1100" b="1" spc="100" kern="0" dirty="0">
                <a:solidFill>
                  <a:schemeClr val="bg1"/>
                </a:solidFill>
              </a:rPr>
              <a:t>DO THIS</a:t>
            </a:r>
            <a:endParaRPr lang="en-US" sz="1100" dirty="0"/>
          </a:p>
        </p:txBody>
      </p:sp>
      <p:sp>
        <p:nvSpPr>
          <p:cNvPr id="12" name="Text 10"/>
          <p:cNvSpPr txBox="1"/>
          <p:nvPr/>
        </p:nvSpPr>
        <p:spPr>
          <a:xfrm>
            <a:off x="777240" y="3886200"/>
            <a:ext cx="4983480" cy="1097280"/>
          </a:xfrm>
          <a:prstGeom prst="rect">
            <a:avLst/>
          </a:prstGeom>
          <a:noFill/>
          <a:ln/>
        </p:spPr>
        <p:txBody>
          <a:bodyPr wrap="square" lIns="0" tIns="0" rIns="0" bIns="0" rtlCol="0" anchor="t"/>
          <a:lstStyle/>
          <a:p>
            <a:pPr indent="0" marL="0">
              <a:buNone/>
            </a:pPr>
            <a:r>
              <a:rPr lang="en-US" sz="1500" dirty="0">
                <a:solidFill>
                  <a:schemeClr val="bg1"/>
                </a:solidFill>
              </a:rPr>
              <a:t>Not clear yet. Check UK and US exposure too. Anything unresolved → hold and escalate. Record every regime you checked.</a:t>
            </a:r>
            <a:endParaRPr lang="en-US" sz="1500" dirty="0"/>
          </a:p>
        </p:txBody>
      </p:sp>
      <p:sp>
        <p:nvSpPr>
          <p:cNvPr id="13" name="trap 3 circle"/>
          <p:cNvSpPr/>
          <p:nvPr/>
        </p:nvSpPr>
        <p:spPr>
          <a:xfrm>
            <a:off x="548640" y="5193792"/>
            <a:ext cx="548640" cy="548640"/>
          </a:xfrm>
          <a:prstGeom prst="ellipse">
            <a:avLst/>
          </a:prstGeom>
          <a:solidFill>
            <a:schemeClr val="accent1"/>
          </a:solidFill>
          <a:ln w="12700">
            <a:solidFill>
              <a:schemeClr val="accent1"/>
            </a:solidFill>
            <a:prstDash val="solid"/>
          </a:ln>
        </p:spPr>
      </p:sp>
      <p:pic>
        <p:nvPicPr>
          <p:cNvPr id="14" name="trap 3 icon" descr="preencoded.png">    </p:cNvPr>
          <p:cNvPicPr>
            <a:picLocks noChangeAspect="1"/>
          </p:cNvPicPr>
          <p:nvPr/>
        </p:nvPicPr>
        <p:blipFill>
          <a:blip r:embed="rId1"/>
          <a:stretch>
            <a:fillRect/>
          </a:stretch>
        </p:blipFill>
        <p:spPr>
          <a:xfrm>
            <a:off x="658368" y="5303520"/>
            <a:ext cx="329184" cy="329184"/>
          </a:xfrm>
          <a:prstGeom prst="rect">
            <a:avLst/>
          </a:prstGeom>
        </p:spPr>
      </p:pic>
      <p:sp>
        <p:nvSpPr>
          <p:cNvPr id="15" name="Text 12"/>
          <p:cNvSpPr txBox="1"/>
          <p:nvPr/>
        </p:nvSpPr>
        <p:spPr>
          <a:xfrm>
            <a:off x="1280160" y="5120640"/>
            <a:ext cx="4709160" cy="731520"/>
          </a:xfrm>
          <a:prstGeom prst="rect">
            <a:avLst/>
          </a:prstGeom>
          <a:noFill/>
          <a:ln/>
        </p:spPr>
        <p:txBody>
          <a:bodyPr wrap="square" lIns="0" tIns="0" rIns="0" bIns="0" rtlCol="0" anchor="ctr"/>
          <a:lstStyle/>
          <a:p>
            <a:pPr indent="0" marL="0">
              <a:buNone/>
            </a:pPr>
            <a:r>
              <a:rPr lang="en-US" sz="1500" b="1" dirty="0">
                <a:solidFill>
                  <a:schemeClr val="accent1"/>
                </a:solidFill>
              </a:rPr>
              <a:t>The trap: </a:t>
            </a:r>
            <a:pPr indent="0" marL="0">
              <a:buNone/>
            </a:pPr>
            <a:r>
              <a:rPr lang="en-US" sz="1500" dirty="0">
                <a:solidFill>
                  <a:schemeClr val="tx1"/>
                </a:solidFill>
              </a:rPr>
              <a:t>auto-clearing because the customer's own country says clear.</a:t>
            </a:r>
            <a:endParaRPr lang="en-US" sz="1500" dirty="0"/>
          </a:p>
        </p:txBody>
      </p:sp>
      <p:sp>
        <p:nvSpPr>
          <p:cNvPr id="16" name="Shape 13"/>
          <p:cNvSpPr/>
          <p:nvPr/>
        </p:nvSpPr>
        <p:spPr>
          <a:xfrm>
            <a:off x="6172200" y="1280160"/>
            <a:ext cx="548640" cy="548640"/>
          </a:xfrm>
          <a:prstGeom prst="ellipse">
            <a:avLst/>
          </a:prstGeom>
          <a:solidFill>
            <a:schemeClr val="tx1"/>
          </a:solidFill>
          <a:ln w="12700">
            <a:solidFill>
              <a:schemeClr val="tx1"/>
            </a:solidFill>
            <a:prstDash val="solid"/>
          </a:ln>
        </p:spPr>
      </p:sp>
      <p:sp>
        <p:nvSpPr>
          <p:cNvPr id="17" name="Text 14"/>
          <p:cNvSpPr txBox="1"/>
          <p:nvPr/>
        </p:nvSpPr>
        <p:spPr>
          <a:xfrm>
            <a:off x="6172200" y="12801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5"/>
          <p:cNvSpPr txBox="1"/>
          <p:nvPr/>
        </p:nvSpPr>
        <p:spPr>
          <a:xfrm>
            <a:off x="6903720" y="1280160"/>
            <a:ext cx="3566160" cy="548640"/>
          </a:xfrm>
          <a:prstGeom prst="rect">
            <a:avLst/>
          </a:prstGeom>
          <a:noFill/>
          <a:ln/>
        </p:spPr>
        <p:txBody>
          <a:bodyPr wrap="square" lIns="0" tIns="0" rIns="0" bIns="0" rtlCol="0" anchor="ctr"/>
          <a:lstStyle/>
          <a:p>
            <a:pPr indent="0" marL="0">
              <a:buNone/>
            </a:pPr>
            <a:r>
              <a:rPr lang="en-US" sz="1900" b="1" dirty="0">
                <a:solidFill>
                  <a:schemeClr val="tx1"/>
                </a:solidFill>
              </a:rPr>
              <a:t>"The merchant says it's fine"</a:t>
            </a:r>
            <a:endParaRPr lang="en-US" sz="1900" dirty="0"/>
          </a:p>
        </p:txBody>
      </p:sp>
      <p:sp>
        <p:nvSpPr>
          <p:cNvPr id="19" name="Text 16"/>
          <p:cNvSpPr txBox="1"/>
          <p:nvPr/>
        </p:nvSpPr>
        <p:spPr>
          <a:xfrm>
            <a:off x="10378440" y="1280160"/>
            <a:ext cx="1234440" cy="548640"/>
          </a:xfrm>
          <a:prstGeom prst="rect">
            <a:avLst/>
          </a:prstGeom>
          <a:noFill/>
          <a:ln/>
        </p:spPr>
        <p:txBody>
          <a:bodyPr wrap="square" lIns="0" tIns="0" rIns="0" bIns="0" rtlCol="0" anchor="ctr"/>
          <a:lstStyle/>
          <a:p>
            <a:pPr algn="r" indent="0" marL="0">
              <a:buNone/>
            </a:pPr>
            <a:r>
              <a:rPr lang="en-US" sz="1200" b="1" dirty="0">
                <a:solidFill>
                  <a:schemeClr val="accent6"/>
                </a:solidFill>
              </a:rPr>
              <a:t>Rules 6 · 5 · 1</a:t>
            </a:r>
            <a:endParaRPr lang="en-US" sz="1200" dirty="0"/>
          </a:p>
        </p:txBody>
      </p:sp>
      <p:sp>
        <p:nvSpPr>
          <p:cNvPr id="20" name="alert 4"/>
          <p:cNvSpPr/>
          <p:nvPr/>
        </p:nvSpPr>
        <p:spPr>
          <a:xfrm>
            <a:off x="6172200" y="1965960"/>
            <a:ext cx="5440680" cy="1417320"/>
          </a:xfrm>
          <a:prstGeom prst="roundRect">
            <a:avLst>
              <a:gd name="adj" fmla="val 7742"/>
            </a:avLst>
          </a:prstGeom>
          <a:solidFill>
            <a:schemeClr val="bg2"/>
          </a:solidFill>
          <a:ln w="12700">
            <a:solidFill>
              <a:schemeClr val="bg2"/>
            </a:solidFill>
            <a:prstDash val="solid"/>
          </a:ln>
        </p:spPr>
      </p:sp>
      <p:sp>
        <p:nvSpPr>
          <p:cNvPr id="21" name="Text 18"/>
          <p:cNvSpPr txBox="1"/>
          <p:nvPr/>
        </p:nvSpPr>
        <p:spPr>
          <a:xfrm>
            <a:off x="6400800" y="2075688"/>
            <a:ext cx="498348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THE ALERT</a:t>
            </a:r>
            <a:endParaRPr lang="en-US" sz="1100" dirty="0"/>
          </a:p>
        </p:txBody>
      </p:sp>
      <p:sp>
        <p:nvSpPr>
          <p:cNvPr id="22" name="Text 19"/>
          <p:cNvSpPr txBox="1"/>
          <p:nvPr/>
        </p:nvSpPr>
        <p:spPr>
          <a:xfrm>
            <a:off x="6400800" y="2331720"/>
            <a:ext cx="4983480" cy="1005840"/>
          </a:xfrm>
          <a:prstGeom prst="rect">
            <a:avLst/>
          </a:prstGeom>
          <a:noFill/>
          <a:ln/>
        </p:spPr>
        <p:txBody>
          <a:bodyPr wrap="square" lIns="0" tIns="0" rIns="0" bIns="0" rtlCol="0" anchor="t"/>
          <a:lstStyle/>
          <a:p>
            <a:pPr indent="0" marL="0">
              <a:buNone/>
            </a:pPr>
            <a:r>
              <a:rPr lang="en-US" sz="1500" dirty="0">
                <a:solidFill>
                  <a:schemeClr val="tx1"/>
                </a:solidFill>
              </a:rPr>
              <a:t>Insurance payout to "Daniel ABC" matches a sanctioned individual. No DOB, nationality, address or ID. Merchant: "We know them — let it pass."</a:t>
            </a:r>
            <a:endParaRPr lang="en-US" sz="1500" dirty="0"/>
          </a:p>
        </p:txBody>
      </p:sp>
      <p:sp>
        <p:nvSpPr>
          <p:cNvPr id="23" name="answer 4"/>
          <p:cNvSpPr/>
          <p:nvPr/>
        </p:nvSpPr>
        <p:spPr>
          <a:xfrm>
            <a:off x="6172200" y="3520440"/>
            <a:ext cx="5440680" cy="1508760"/>
          </a:xfrm>
          <a:prstGeom prst="roundRect">
            <a:avLst>
              <a:gd name="adj" fmla="val 7273"/>
            </a:avLst>
          </a:prstGeom>
          <a:solidFill>
            <a:schemeClr val="accent3"/>
          </a:solidFill>
          <a:ln w="12700">
            <a:solidFill>
              <a:schemeClr val="accent3"/>
            </a:solidFill>
            <a:prstDash val="solid"/>
          </a:ln>
        </p:spPr>
      </p:sp>
      <p:sp>
        <p:nvSpPr>
          <p:cNvPr id="24" name="Text 21"/>
          <p:cNvSpPr txBox="1"/>
          <p:nvPr/>
        </p:nvSpPr>
        <p:spPr>
          <a:xfrm>
            <a:off x="6400800" y="3630168"/>
            <a:ext cx="4983480" cy="228600"/>
          </a:xfrm>
          <a:prstGeom prst="rect">
            <a:avLst/>
          </a:prstGeom>
          <a:noFill/>
          <a:ln/>
        </p:spPr>
        <p:txBody>
          <a:bodyPr wrap="square" lIns="0" tIns="0" rIns="0" bIns="0" rtlCol="0" anchor="t"/>
          <a:lstStyle/>
          <a:p>
            <a:pPr indent="0" marL="0">
              <a:buNone/>
            </a:pPr>
            <a:r>
              <a:rPr lang="en-US" sz="1100" b="1" spc="100" kern="0" dirty="0">
                <a:solidFill>
                  <a:schemeClr val="bg1"/>
                </a:solidFill>
              </a:rPr>
              <a:t>DO THIS</a:t>
            </a:r>
            <a:endParaRPr lang="en-US" sz="1100" dirty="0"/>
          </a:p>
        </p:txBody>
      </p:sp>
      <p:sp>
        <p:nvSpPr>
          <p:cNvPr id="25" name="Text 22"/>
          <p:cNvSpPr txBox="1"/>
          <p:nvPr/>
        </p:nvSpPr>
        <p:spPr>
          <a:xfrm>
            <a:off x="6400800" y="3886200"/>
            <a:ext cx="4983480" cy="1097280"/>
          </a:xfrm>
          <a:prstGeom prst="rect">
            <a:avLst/>
          </a:prstGeom>
          <a:noFill/>
          <a:ln/>
        </p:spPr>
        <p:txBody>
          <a:bodyPr wrap="square" lIns="0" tIns="0" rIns="0" bIns="0" rtlCol="0" anchor="t"/>
          <a:lstStyle/>
          <a:p>
            <a:pPr indent="0" marL="0">
              <a:buNone/>
            </a:pPr>
            <a:r>
              <a:rPr lang="en-US" sz="1500" dirty="0">
                <a:solidFill>
                  <a:schemeClr val="bg1"/>
                </a:solidFill>
              </a:rPr>
              <a:t>Hold + RFI. Re-screen with the new data. Clear only if shown NOT to be the listed person. Still unresolved → reject per procedure, escalate.</a:t>
            </a:r>
            <a:endParaRPr lang="en-US" sz="1500" dirty="0"/>
          </a:p>
        </p:txBody>
      </p:sp>
      <p:sp>
        <p:nvSpPr>
          <p:cNvPr id="26" name="trap 4 circle"/>
          <p:cNvSpPr/>
          <p:nvPr/>
        </p:nvSpPr>
        <p:spPr>
          <a:xfrm>
            <a:off x="6172200" y="5193792"/>
            <a:ext cx="548640" cy="548640"/>
          </a:xfrm>
          <a:prstGeom prst="ellipse">
            <a:avLst/>
          </a:prstGeom>
          <a:solidFill>
            <a:schemeClr val="accent1"/>
          </a:solidFill>
          <a:ln w="12700">
            <a:solidFill>
              <a:schemeClr val="accent1"/>
            </a:solidFill>
            <a:prstDash val="solid"/>
          </a:ln>
        </p:spPr>
      </p:sp>
      <p:pic>
        <p:nvPicPr>
          <p:cNvPr id="27" name="trap 4 icon" descr="preencoded.png">    </p:cNvPr>
          <p:cNvPicPr>
            <a:picLocks noChangeAspect="1"/>
          </p:cNvPicPr>
          <p:nvPr/>
        </p:nvPicPr>
        <p:blipFill>
          <a:blip r:embed="rId2"/>
          <a:stretch>
            <a:fillRect/>
          </a:stretch>
        </p:blipFill>
        <p:spPr>
          <a:xfrm>
            <a:off x="6281928" y="5303520"/>
            <a:ext cx="329184" cy="329184"/>
          </a:xfrm>
          <a:prstGeom prst="rect">
            <a:avLst/>
          </a:prstGeom>
        </p:spPr>
      </p:pic>
      <p:sp>
        <p:nvSpPr>
          <p:cNvPr id="28" name="Text 24"/>
          <p:cNvSpPr txBox="1"/>
          <p:nvPr/>
        </p:nvSpPr>
        <p:spPr>
          <a:xfrm>
            <a:off x="6903720" y="5120640"/>
            <a:ext cx="4709160" cy="731520"/>
          </a:xfrm>
          <a:prstGeom prst="rect">
            <a:avLst/>
          </a:prstGeom>
          <a:noFill/>
          <a:ln/>
        </p:spPr>
        <p:txBody>
          <a:bodyPr wrap="square" lIns="0" tIns="0" rIns="0" bIns="0" rtlCol="0" anchor="ctr"/>
          <a:lstStyle/>
          <a:p>
            <a:pPr indent="0" marL="0">
              <a:buNone/>
            </a:pPr>
            <a:r>
              <a:rPr lang="en-US" sz="1500" b="1" dirty="0">
                <a:solidFill>
                  <a:schemeClr val="accent1"/>
                </a:solidFill>
              </a:rPr>
              <a:t>The trap: </a:t>
            </a:r>
            <a:pPr indent="0" marL="0">
              <a:buNone/>
            </a:pPr>
            <a:r>
              <a:rPr lang="en-US" sz="1500" dirty="0">
                <a:solidFill>
                  <a:schemeClr val="tx1"/>
                </a:solidFill>
              </a:rPr>
              <a:t>passing it — or passing it "with a note" that the merchant approved.</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Team exercise: three signals, one customer</a:t>
            </a:r>
            <a:endParaRPr lang="en-US" sz="3200" dirty="0"/>
          </a:p>
        </p:txBody>
      </p:sp>
      <p:sp>
        <p:nvSpPr>
          <p:cNvPr id="3" name="Text 1"/>
          <p:cNvSpPr txBox="1"/>
          <p:nvPr/>
        </p:nvSpPr>
        <p:spPr>
          <a:xfrm>
            <a:off x="548640" y="1234440"/>
            <a:ext cx="11064240" cy="685800"/>
          </a:xfrm>
          <a:prstGeom prst="rect">
            <a:avLst/>
          </a:prstGeom>
          <a:noFill/>
          <a:ln/>
        </p:spPr>
        <p:txBody>
          <a:bodyPr wrap="square" lIns="0" tIns="0" rIns="0" bIns="0" rtlCol="0" anchor="t"/>
          <a:lstStyle/>
          <a:p>
            <a:pPr indent="0" marL="0">
              <a:buNone/>
            </a:pPr>
            <a:r>
              <a:rPr lang="en-US" sz="1600" dirty="0">
                <a:solidFill>
                  <a:schemeClr val="tx1"/>
                </a:solidFill>
              </a:rPr>
              <a:t>Atlas Bridge Technologies Pte. Ltd. (fictional) — Singapore B2B software marketplace, 18 months on book, S$1.2–1.8m a month, founders not sanctioned. A payout is pending.</a:t>
            </a:r>
            <a:endParaRPr lang="en-US" sz="1600" dirty="0"/>
          </a:p>
        </p:txBody>
      </p:sp>
      <p:sp>
        <p:nvSpPr>
          <p:cNvPr id="4" name="Screening"/>
          <p:cNvSpPr/>
          <p:nvPr/>
        </p:nvSpPr>
        <p:spPr>
          <a:xfrm>
            <a:off x="548640" y="2057400"/>
            <a:ext cx="3566160" cy="2971800"/>
          </a:xfrm>
          <a:prstGeom prst="roundRect">
            <a:avLst>
              <a:gd name="adj" fmla="val 3692"/>
            </a:avLst>
          </a:prstGeom>
          <a:solidFill>
            <a:schemeClr val="bg2"/>
          </a:solidFill>
          <a:ln w="12700">
            <a:solidFill>
              <a:schemeClr val="bg2"/>
            </a:solidFill>
            <a:prstDash val="solid"/>
          </a:ln>
        </p:spPr>
      </p:sp>
      <p:sp>
        <p:nvSpPr>
          <p:cNvPr id="5" name="Screening circle"/>
          <p:cNvSpPr/>
          <p:nvPr/>
        </p:nvSpPr>
        <p:spPr>
          <a:xfrm>
            <a:off x="777240" y="2240280"/>
            <a:ext cx="640080" cy="640080"/>
          </a:xfrm>
          <a:prstGeom prst="ellipse">
            <a:avLst/>
          </a:prstGeom>
          <a:solidFill>
            <a:schemeClr val="accent1"/>
          </a:solidFill>
          <a:ln w="12700">
            <a:solidFill>
              <a:schemeClr val="accent1"/>
            </a:solidFill>
            <a:prstDash val="solid"/>
          </a:ln>
        </p:spPr>
      </p:sp>
      <p:pic>
        <p:nvPicPr>
          <p:cNvPr id="6" name="Screening icon" descr="preencoded.png">    </p:cNvPr>
          <p:cNvPicPr>
            <a:picLocks noChangeAspect="1"/>
          </p:cNvPicPr>
          <p:nvPr/>
        </p:nvPicPr>
        <p:blipFill>
          <a:blip r:embed="rId1"/>
          <a:stretch>
            <a:fillRect/>
          </a:stretch>
        </p:blipFill>
        <p:spPr>
          <a:xfrm>
            <a:off x="905256" y="2368296"/>
            <a:ext cx="384048" cy="384048"/>
          </a:xfrm>
          <a:prstGeom prst="rect">
            <a:avLst/>
          </a:prstGeom>
        </p:spPr>
      </p:pic>
      <p:sp>
        <p:nvSpPr>
          <p:cNvPr id="7" name="Text 4"/>
          <p:cNvSpPr txBox="1"/>
          <p:nvPr/>
        </p:nvSpPr>
        <p:spPr>
          <a:xfrm>
            <a:off x="1554480" y="2240280"/>
            <a:ext cx="2423160" cy="640080"/>
          </a:xfrm>
          <a:prstGeom prst="rect">
            <a:avLst/>
          </a:prstGeom>
          <a:noFill/>
          <a:ln/>
        </p:spPr>
        <p:txBody>
          <a:bodyPr wrap="square" lIns="0" tIns="0" rIns="0" bIns="0" rtlCol="0" anchor="ctr"/>
          <a:lstStyle/>
          <a:p>
            <a:pPr indent="0" marL="0">
              <a:buNone/>
            </a:pPr>
            <a:r>
              <a:rPr lang="en-US" sz="1700" b="1" dirty="0">
                <a:solidFill>
                  <a:schemeClr val="tx1"/>
                </a:solidFill>
              </a:rPr>
              <a:t>Screening</a:t>
            </a:r>
            <a:endParaRPr lang="en-US" sz="1700" dirty="0"/>
          </a:p>
        </p:txBody>
      </p:sp>
      <p:sp>
        <p:nvSpPr>
          <p:cNvPr id="8" name="Text 5"/>
          <p:cNvSpPr txBox="1"/>
          <p:nvPr/>
        </p:nvSpPr>
        <p:spPr>
          <a:xfrm>
            <a:off x="777240" y="3017520"/>
            <a:ext cx="315468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Alert on new director: "M. Rahman" matches a historical alias on the UK list</a:t>
            </a:r>
            <a:endParaRPr lang="en-US" sz="1400" dirty="0"/>
          </a:p>
          <a:p>
            <a:pPr marL="342900" indent="-342900">
              <a:spcAft>
                <a:spcPts val="600"/>
              </a:spcAft>
              <a:buSzPct val="100000"/>
              <a:buChar char="•"/>
            </a:pPr>
            <a:r>
              <a:rPr lang="en-US" sz="1400" dirty="0">
                <a:solidFill>
                  <a:schemeClr val="tx1"/>
                </a:solidFill>
              </a:rPr>
              <a:t>Nationality matches</a:t>
            </a:r>
            <a:endParaRPr lang="en-US" sz="1400" dirty="0"/>
          </a:p>
          <a:p>
            <a:pPr marL="342900" indent="-342900">
              <a:spcAft>
                <a:spcPts val="600"/>
              </a:spcAft>
              <a:buSzPct val="100000"/>
              <a:buChar char="•"/>
            </a:pPr>
            <a:r>
              <a:rPr lang="en-US" sz="1400" dirty="0">
                <a:solidFill>
                  <a:schemeClr val="tx1"/>
                </a:solidFill>
              </a:rPr>
              <a:t>Date of birth missing from our records</a:t>
            </a:r>
            <a:endParaRPr lang="en-US" sz="1400" dirty="0"/>
          </a:p>
        </p:txBody>
      </p:sp>
      <p:sp>
        <p:nvSpPr>
          <p:cNvPr id="9" name="Transaction monitoring"/>
          <p:cNvSpPr/>
          <p:nvPr/>
        </p:nvSpPr>
        <p:spPr>
          <a:xfrm>
            <a:off x="4297680" y="2057400"/>
            <a:ext cx="3566160" cy="2971800"/>
          </a:xfrm>
          <a:prstGeom prst="roundRect">
            <a:avLst>
              <a:gd name="adj" fmla="val 3692"/>
            </a:avLst>
          </a:prstGeom>
          <a:solidFill>
            <a:schemeClr val="bg2"/>
          </a:solidFill>
          <a:ln w="12700">
            <a:solidFill>
              <a:schemeClr val="bg2"/>
            </a:solidFill>
            <a:prstDash val="solid"/>
          </a:ln>
        </p:spPr>
      </p:sp>
      <p:sp>
        <p:nvSpPr>
          <p:cNvPr id="10" name="Transaction monitoring circle"/>
          <p:cNvSpPr/>
          <p:nvPr/>
        </p:nvSpPr>
        <p:spPr>
          <a:xfrm>
            <a:off x="4526280" y="2240280"/>
            <a:ext cx="640080" cy="640080"/>
          </a:xfrm>
          <a:prstGeom prst="ellipse">
            <a:avLst/>
          </a:prstGeom>
          <a:solidFill>
            <a:schemeClr val="accent2"/>
          </a:solidFill>
          <a:ln w="12700">
            <a:solidFill>
              <a:schemeClr val="accent2"/>
            </a:solidFill>
            <a:prstDash val="solid"/>
          </a:ln>
        </p:spPr>
      </p:sp>
      <p:pic>
        <p:nvPicPr>
          <p:cNvPr id="11" name="Transaction monitoring icon" descr="preencoded.png">    </p:cNvPr>
          <p:cNvPicPr>
            <a:picLocks noChangeAspect="1"/>
          </p:cNvPicPr>
          <p:nvPr/>
        </p:nvPicPr>
        <p:blipFill>
          <a:blip r:embed="rId2"/>
          <a:stretch>
            <a:fillRect/>
          </a:stretch>
        </p:blipFill>
        <p:spPr>
          <a:xfrm>
            <a:off x="4654296" y="2368296"/>
            <a:ext cx="384048" cy="384048"/>
          </a:xfrm>
          <a:prstGeom prst="rect">
            <a:avLst/>
          </a:prstGeom>
        </p:spPr>
      </p:pic>
      <p:sp>
        <p:nvSpPr>
          <p:cNvPr id="12" name="Text 8"/>
          <p:cNvSpPr txBox="1"/>
          <p:nvPr/>
        </p:nvSpPr>
        <p:spPr>
          <a:xfrm>
            <a:off x="5303520" y="2240280"/>
            <a:ext cx="2423160" cy="640080"/>
          </a:xfrm>
          <a:prstGeom prst="rect">
            <a:avLst/>
          </a:prstGeom>
          <a:noFill/>
          <a:ln/>
        </p:spPr>
        <p:txBody>
          <a:bodyPr wrap="square" lIns="0" tIns="0" rIns="0" bIns="0" rtlCol="0" anchor="ctr"/>
          <a:lstStyle/>
          <a:p>
            <a:pPr indent="0" marL="0">
              <a:buNone/>
            </a:pPr>
            <a:r>
              <a:rPr lang="en-US" sz="1700" b="1" dirty="0">
                <a:solidFill>
                  <a:schemeClr val="tx1"/>
                </a:solidFill>
              </a:rPr>
              <a:t>Transaction monitoring</a:t>
            </a:r>
            <a:endParaRPr lang="en-US" sz="1700" dirty="0"/>
          </a:p>
        </p:txBody>
      </p:sp>
      <p:sp>
        <p:nvSpPr>
          <p:cNvPr id="13" name="Text 9"/>
          <p:cNvSpPr txBox="1"/>
          <p:nvPr/>
        </p:nvSpPr>
        <p:spPr>
          <a:xfrm>
            <a:off x="4526280" y="3017520"/>
            <a:ext cx="315468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Volume 4.5× normal in 10 days</a:t>
            </a:r>
            <a:endParaRPr lang="en-US" sz="1400" dirty="0"/>
          </a:p>
          <a:p>
            <a:pPr marL="342900" indent="-342900">
              <a:spcAft>
                <a:spcPts val="600"/>
              </a:spcAft>
              <a:buSzPct val="100000"/>
              <a:buChar char="•"/>
            </a:pPr>
            <a:r>
              <a:rPr lang="en-US" sz="1400" dirty="0">
                <a:solidFill>
                  <a:schemeClr val="tx1"/>
                </a:solidFill>
              </a:rPr>
              <a:t>Split into small transfers via 2 new intermediaries</a:t>
            </a:r>
            <a:endParaRPr lang="en-US" sz="1400" dirty="0"/>
          </a:p>
          <a:p>
            <a:pPr marL="342900" indent="-342900">
              <a:spcAft>
                <a:spcPts val="600"/>
              </a:spcAft>
              <a:buSzPct val="100000"/>
              <a:buChar char="•"/>
            </a:pPr>
            <a:r>
              <a:rPr lang="en-US" sz="1400" dirty="0">
                <a:solidFill>
                  <a:schemeClr val="tx1"/>
                </a:solidFill>
              </a:rPr>
              <a:t>New beneficiaries in a UAE free zone and Hong Kong — "consulting"</a:t>
            </a:r>
            <a:endParaRPr lang="en-US" sz="1400" dirty="0"/>
          </a:p>
        </p:txBody>
      </p:sp>
      <p:sp>
        <p:nvSpPr>
          <p:cNvPr id="14" name="Event-driven review"/>
          <p:cNvSpPr/>
          <p:nvPr/>
        </p:nvSpPr>
        <p:spPr>
          <a:xfrm>
            <a:off x="8046720" y="2057400"/>
            <a:ext cx="3566160" cy="2971800"/>
          </a:xfrm>
          <a:prstGeom prst="roundRect">
            <a:avLst>
              <a:gd name="adj" fmla="val 3692"/>
            </a:avLst>
          </a:prstGeom>
          <a:solidFill>
            <a:schemeClr val="bg2"/>
          </a:solidFill>
          <a:ln w="12700">
            <a:solidFill>
              <a:schemeClr val="bg2"/>
            </a:solidFill>
            <a:prstDash val="solid"/>
          </a:ln>
        </p:spPr>
      </p:sp>
      <p:sp>
        <p:nvSpPr>
          <p:cNvPr id="15" name="Event-driven review circle"/>
          <p:cNvSpPr/>
          <p:nvPr/>
        </p:nvSpPr>
        <p:spPr>
          <a:xfrm>
            <a:off x="8275320" y="2240280"/>
            <a:ext cx="640080" cy="640080"/>
          </a:xfrm>
          <a:prstGeom prst="ellipse">
            <a:avLst/>
          </a:prstGeom>
          <a:solidFill>
            <a:schemeClr val="accent4"/>
          </a:solidFill>
          <a:ln w="12700">
            <a:solidFill>
              <a:schemeClr val="accent4"/>
            </a:solidFill>
            <a:prstDash val="solid"/>
          </a:ln>
        </p:spPr>
      </p:sp>
      <p:pic>
        <p:nvPicPr>
          <p:cNvPr id="16" name="Event-driven review icon" descr="preencoded.png">    </p:cNvPr>
          <p:cNvPicPr>
            <a:picLocks noChangeAspect="1"/>
          </p:cNvPicPr>
          <p:nvPr/>
        </p:nvPicPr>
        <p:blipFill>
          <a:blip r:embed="rId3"/>
          <a:stretch>
            <a:fillRect/>
          </a:stretch>
        </p:blipFill>
        <p:spPr>
          <a:xfrm>
            <a:off x="8403336" y="2368296"/>
            <a:ext cx="384048" cy="384048"/>
          </a:xfrm>
          <a:prstGeom prst="rect">
            <a:avLst/>
          </a:prstGeom>
        </p:spPr>
      </p:pic>
      <p:sp>
        <p:nvSpPr>
          <p:cNvPr id="17" name="Text 12"/>
          <p:cNvSpPr txBox="1"/>
          <p:nvPr/>
        </p:nvSpPr>
        <p:spPr>
          <a:xfrm>
            <a:off x="9052560" y="2240280"/>
            <a:ext cx="2423160" cy="640080"/>
          </a:xfrm>
          <a:prstGeom prst="rect">
            <a:avLst/>
          </a:prstGeom>
          <a:noFill/>
          <a:ln/>
        </p:spPr>
        <p:txBody>
          <a:bodyPr wrap="square" lIns="0" tIns="0" rIns="0" bIns="0" rtlCol="0" anchor="ctr"/>
          <a:lstStyle/>
          <a:p>
            <a:pPr indent="0" marL="0">
              <a:buNone/>
            </a:pPr>
            <a:r>
              <a:rPr lang="en-US" sz="1700" b="1" dirty="0">
                <a:solidFill>
                  <a:schemeClr val="tx1"/>
                </a:solidFill>
              </a:rPr>
              <a:t>Event-driven review</a:t>
            </a:r>
            <a:endParaRPr lang="en-US" sz="1700" dirty="0"/>
          </a:p>
        </p:txBody>
      </p:sp>
      <p:sp>
        <p:nvSpPr>
          <p:cNvPr id="18" name="Text 13"/>
          <p:cNvSpPr txBox="1"/>
          <p:nvPr/>
        </p:nvSpPr>
        <p:spPr>
          <a:xfrm>
            <a:off x="8275320" y="3017520"/>
            <a:ext cx="315468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New director added 2 weeks ago — also 35% shareholder</a:t>
            </a:r>
            <a:endParaRPr lang="en-US" sz="1400" dirty="0"/>
          </a:p>
          <a:p>
            <a:pPr marL="342900" indent="-342900">
              <a:spcAft>
                <a:spcPts val="600"/>
              </a:spcAft>
              <a:buSzPct val="100000"/>
              <a:buChar char="•"/>
            </a:pPr>
            <a:r>
              <a:rPr lang="en-US" sz="1400" dirty="0">
                <a:solidFill>
                  <a:schemeClr val="tx1"/>
                </a:solidFill>
              </a:rPr>
              <a:t>Has signing authority over payouts</a:t>
            </a:r>
            <a:endParaRPr lang="en-US" sz="1400" dirty="0"/>
          </a:p>
          <a:p>
            <a:pPr marL="342900" indent="-342900">
              <a:spcAft>
                <a:spcPts val="600"/>
              </a:spcAft>
              <a:buSzPct val="100000"/>
              <a:buChar char="•"/>
            </a:pPr>
            <a:r>
              <a:rPr lang="en-US" sz="1400" dirty="0">
                <a:solidFill>
                  <a:schemeClr val="tx1"/>
                </a:solidFill>
              </a:rPr>
              <a:t>Ownership chain ends at a nominee company</a:t>
            </a:r>
            <a:endParaRPr lang="en-US" sz="1400" dirty="0"/>
          </a:p>
        </p:txBody>
      </p:sp>
      <p:sp>
        <p:nvSpPr>
          <p:cNvPr id="19" name="vote"/>
          <p:cNvSpPr/>
          <p:nvPr/>
        </p:nvSpPr>
        <p:spPr>
          <a:xfrm>
            <a:off x="548640" y="5212080"/>
            <a:ext cx="11064240" cy="777240"/>
          </a:xfrm>
          <a:prstGeom prst="roundRect">
            <a:avLst>
              <a:gd name="adj" fmla="val 14118"/>
            </a:avLst>
          </a:prstGeom>
          <a:solidFill>
            <a:schemeClr val="tx1"/>
          </a:solidFill>
          <a:ln w="12700">
            <a:solidFill>
              <a:schemeClr val="tx1"/>
            </a:solidFill>
            <a:prstDash val="solid"/>
          </a:ln>
        </p:spPr>
      </p:sp>
      <p:sp>
        <p:nvSpPr>
          <p:cNvPr id="20" name="Text 15"/>
          <p:cNvSpPr txBox="1"/>
          <p:nvPr/>
        </p:nvSpPr>
        <p:spPr>
          <a:xfrm>
            <a:off x="777240" y="5212080"/>
            <a:ext cx="10607040" cy="777240"/>
          </a:xfrm>
          <a:prstGeom prst="rect">
            <a:avLst/>
          </a:prstGeom>
          <a:noFill/>
          <a:ln/>
        </p:spPr>
        <p:txBody>
          <a:bodyPr wrap="square" lIns="0" tIns="0" rIns="0" bIns="0" rtlCol="0" anchor="ctr"/>
          <a:lstStyle/>
          <a:p>
            <a:pPr indent="0" marL="0">
              <a:buNone/>
            </a:pPr>
            <a:r>
              <a:rPr lang="en-US" sz="1600" b="1" dirty="0">
                <a:solidFill>
                  <a:schemeClr val="accent2"/>
                </a:solidFill>
              </a:rPr>
              <a:t>VOTE:  </a:t>
            </a:r>
            <a:pPr indent="0" marL="0">
              <a:buNone/>
            </a:pPr>
            <a:r>
              <a:rPr lang="en-US" sz="1600" dirty="0">
                <a:solidFill>
                  <a:schemeClr val="bg1"/>
                </a:solidFill>
              </a:rPr>
              <a:t>A  Clear and continue     B  Reject this payment, no wider review     C  Hold and escalate across all three teams</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Answer: C — hold and escalate. The signals converge</a:t>
            </a:r>
            <a:endParaRPr lang="en-US" sz="3200" dirty="0"/>
          </a:p>
        </p:txBody>
      </p:sp>
      <p:sp>
        <p:nvSpPr>
          <p:cNvPr id="3" name="Text 1"/>
          <p:cNvSpPr txBox="1"/>
          <p:nvPr/>
        </p:nvSpPr>
        <p:spPr>
          <a:xfrm>
            <a:off x="548640" y="1234440"/>
            <a:ext cx="11064240" cy="457200"/>
          </a:xfrm>
          <a:prstGeom prst="rect">
            <a:avLst/>
          </a:prstGeom>
          <a:noFill/>
          <a:ln/>
        </p:spPr>
        <p:txBody>
          <a:bodyPr wrap="square" lIns="0" tIns="0" rIns="0" bIns="0" rtlCol="0" anchor="t"/>
          <a:lstStyle/>
          <a:p>
            <a:pPr indent="0" marL="0">
              <a:buNone/>
            </a:pPr>
            <a:r>
              <a:rPr lang="en-US" sz="1800" b="1" dirty="0">
                <a:solidFill>
                  <a:schemeClr val="accent1"/>
                </a:solidFill>
              </a:rPr>
              <a:t>No single fact proves a breach. Together they mean nobody can release this payment yet.</a:t>
            </a:r>
            <a:endParaRPr lang="en-US" sz="1800" dirty="0"/>
          </a:p>
        </p:txBody>
      </p:sp>
      <p:sp>
        <p:nvSpPr>
          <p:cNvPr id="4" name="Screening"/>
          <p:cNvSpPr/>
          <p:nvPr/>
        </p:nvSpPr>
        <p:spPr>
          <a:xfrm>
            <a:off x="548640" y="1920240"/>
            <a:ext cx="3566160" cy="2514600"/>
          </a:xfrm>
          <a:prstGeom prst="roundRect">
            <a:avLst>
              <a:gd name="adj" fmla="val 4364"/>
            </a:avLst>
          </a:prstGeom>
          <a:solidFill>
            <a:schemeClr val="bg2"/>
          </a:solidFill>
          <a:ln w="12700">
            <a:solidFill>
              <a:schemeClr val="bg2"/>
            </a:solidFill>
            <a:prstDash val="solid"/>
          </a:ln>
        </p:spPr>
      </p:sp>
      <p:sp>
        <p:nvSpPr>
          <p:cNvPr id="5" name="Text 3"/>
          <p:cNvSpPr txBox="1"/>
          <p:nvPr/>
        </p:nvSpPr>
        <p:spPr>
          <a:xfrm>
            <a:off x="777240" y="2057400"/>
            <a:ext cx="3108960" cy="411480"/>
          </a:xfrm>
          <a:prstGeom prst="rect">
            <a:avLst/>
          </a:prstGeom>
          <a:noFill/>
          <a:ln/>
        </p:spPr>
        <p:txBody>
          <a:bodyPr wrap="square" lIns="0" tIns="0" rIns="0" bIns="0" rtlCol="0" anchor="t"/>
          <a:lstStyle/>
          <a:p>
            <a:pPr indent="0" marL="0">
              <a:buNone/>
            </a:pPr>
            <a:r>
              <a:rPr lang="en-US" sz="1800" b="1" dirty="0">
                <a:solidFill>
                  <a:schemeClr val="accent1"/>
                </a:solidFill>
              </a:rPr>
              <a:t>Screening</a:t>
            </a:r>
            <a:endParaRPr lang="en-US" sz="1800" dirty="0"/>
          </a:p>
        </p:txBody>
      </p:sp>
      <p:sp>
        <p:nvSpPr>
          <p:cNvPr id="6" name="Text 4"/>
          <p:cNvSpPr txBox="1"/>
          <p:nvPr/>
        </p:nvSpPr>
        <p:spPr>
          <a:xfrm>
            <a:off x="777240" y="2514600"/>
            <a:ext cx="3108960" cy="1828800"/>
          </a:xfrm>
          <a:prstGeom prst="rect">
            <a:avLst/>
          </a:prstGeom>
          <a:noFill/>
          <a:ln/>
        </p:spPr>
        <p:txBody>
          <a:bodyPr wrap="square" lIns="0" tIns="0" rIns="0" bIns="0" rtlCol="0" anchor="t"/>
          <a:lstStyle/>
          <a:p>
            <a:pPr indent="0" marL="0">
              <a:buNone/>
            </a:pPr>
            <a:r>
              <a:rPr lang="en-US" sz="1500" dirty="0">
                <a:solidFill>
                  <a:schemeClr val="tx1"/>
                </a:solidFill>
              </a:rPr>
              <a:t>Get the director's date of birth and ID via a neutral RFI. Re-screen. Assess control: 35% + signing authority.</a:t>
            </a:r>
            <a:endParaRPr lang="en-US" sz="1500" dirty="0"/>
          </a:p>
        </p:txBody>
      </p:sp>
      <p:sp>
        <p:nvSpPr>
          <p:cNvPr id="7" name="Transaction monitoring"/>
          <p:cNvSpPr/>
          <p:nvPr/>
        </p:nvSpPr>
        <p:spPr>
          <a:xfrm>
            <a:off x="4297680" y="1920240"/>
            <a:ext cx="3566160" cy="2514600"/>
          </a:xfrm>
          <a:prstGeom prst="roundRect">
            <a:avLst>
              <a:gd name="adj" fmla="val 4364"/>
            </a:avLst>
          </a:prstGeom>
          <a:solidFill>
            <a:schemeClr val="bg2"/>
          </a:solidFill>
          <a:ln w="12700">
            <a:solidFill>
              <a:schemeClr val="bg2"/>
            </a:solidFill>
            <a:prstDash val="solid"/>
          </a:ln>
        </p:spPr>
      </p:sp>
      <p:sp>
        <p:nvSpPr>
          <p:cNvPr id="8" name="Text 6"/>
          <p:cNvSpPr txBox="1"/>
          <p:nvPr/>
        </p:nvSpPr>
        <p:spPr>
          <a:xfrm>
            <a:off x="4526280" y="2057400"/>
            <a:ext cx="3108960" cy="411480"/>
          </a:xfrm>
          <a:prstGeom prst="rect">
            <a:avLst/>
          </a:prstGeom>
          <a:noFill/>
          <a:ln/>
        </p:spPr>
        <p:txBody>
          <a:bodyPr wrap="square" lIns="0" tIns="0" rIns="0" bIns="0" rtlCol="0" anchor="t"/>
          <a:lstStyle/>
          <a:p>
            <a:pPr indent="0" marL="0">
              <a:buNone/>
            </a:pPr>
            <a:r>
              <a:rPr lang="en-US" sz="1800" b="1" dirty="0">
                <a:solidFill>
                  <a:schemeClr val="accent2"/>
                </a:solidFill>
              </a:rPr>
              <a:t>Transaction monitoring</a:t>
            </a:r>
            <a:endParaRPr lang="en-US" sz="1800" dirty="0"/>
          </a:p>
        </p:txBody>
      </p:sp>
      <p:sp>
        <p:nvSpPr>
          <p:cNvPr id="9" name="Text 7"/>
          <p:cNvSpPr txBox="1"/>
          <p:nvPr/>
        </p:nvSpPr>
        <p:spPr>
          <a:xfrm>
            <a:off x="4526280" y="2514600"/>
            <a:ext cx="3108960" cy="1828800"/>
          </a:xfrm>
          <a:prstGeom prst="rect">
            <a:avLst/>
          </a:prstGeom>
          <a:noFill/>
          <a:ln/>
        </p:spPr>
        <p:txBody>
          <a:bodyPr wrap="square" lIns="0" tIns="0" rIns="0" bIns="0" rtlCol="0" anchor="t"/>
          <a:lstStyle/>
          <a:p>
            <a:pPr indent="0" marL="0">
              <a:buNone/>
            </a:pPr>
            <a:r>
              <a:rPr lang="en-US" sz="1500" dirty="0">
                <a:solidFill>
                  <a:schemeClr val="tx1"/>
                </a:solidFill>
              </a:rPr>
              <a:t>Compare against the baseline, map the new intermediaries and corridors, consider an internal UAR / MLRO referral.</a:t>
            </a:r>
            <a:endParaRPr lang="en-US" sz="1500" dirty="0"/>
          </a:p>
        </p:txBody>
      </p:sp>
      <p:sp>
        <p:nvSpPr>
          <p:cNvPr id="10" name="Event-driven review"/>
          <p:cNvSpPr/>
          <p:nvPr/>
        </p:nvSpPr>
        <p:spPr>
          <a:xfrm>
            <a:off x="8046720" y="1920240"/>
            <a:ext cx="3566160" cy="2514600"/>
          </a:xfrm>
          <a:prstGeom prst="roundRect">
            <a:avLst>
              <a:gd name="adj" fmla="val 4364"/>
            </a:avLst>
          </a:prstGeom>
          <a:solidFill>
            <a:schemeClr val="bg2"/>
          </a:solidFill>
          <a:ln w="12700">
            <a:solidFill>
              <a:schemeClr val="bg2"/>
            </a:solidFill>
            <a:prstDash val="solid"/>
          </a:ln>
        </p:spPr>
      </p:sp>
      <p:sp>
        <p:nvSpPr>
          <p:cNvPr id="11" name="Text 9"/>
          <p:cNvSpPr txBox="1"/>
          <p:nvPr/>
        </p:nvSpPr>
        <p:spPr>
          <a:xfrm>
            <a:off x="8275320" y="2057400"/>
            <a:ext cx="3108960" cy="411480"/>
          </a:xfrm>
          <a:prstGeom prst="rect">
            <a:avLst/>
          </a:prstGeom>
          <a:noFill/>
          <a:ln/>
        </p:spPr>
        <p:txBody>
          <a:bodyPr wrap="square" lIns="0" tIns="0" rIns="0" bIns="0" rtlCol="0" anchor="t"/>
          <a:lstStyle/>
          <a:p>
            <a:pPr indent="0" marL="0">
              <a:buNone/>
            </a:pPr>
            <a:r>
              <a:rPr lang="en-US" sz="1800" b="1" dirty="0">
                <a:solidFill>
                  <a:schemeClr val="accent4"/>
                </a:solidFill>
              </a:rPr>
              <a:t>Event-driven review</a:t>
            </a:r>
            <a:endParaRPr lang="en-US" sz="1800" dirty="0"/>
          </a:p>
        </p:txBody>
      </p:sp>
      <p:sp>
        <p:nvSpPr>
          <p:cNvPr id="12" name="Text 10"/>
          <p:cNvSpPr txBox="1"/>
          <p:nvPr/>
        </p:nvSpPr>
        <p:spPr>
          <a:xfrm>
            <a:off x="8275320" y="2514600"/>
            <a:ext cx="3108960" cy="1828800"/>
          </a:xfrm>
          <a:prstGeom prst="rect">
            <a:avLst/>
          </a:prstGeom>
          <a:noFill/>
          <a:ln/>
        </p:spPr>
        <p:txBody>
          <a:bodyPr wrap="square" lIns="0" tIns="0" rIns="0" bIns="0" rtlCol="0" anchor="t"/>
          <a:lstStyle/>
          <a:p>
            <a:pPr indent="0" marL="0">
              <a:buNone/>
            </a:pPr>
            <a:r>
              <a:rPr lang="en-US" sz="1500" dirty="0">
                <a:solidFill>
                  <a:schemeClr val="tx1"/>
                </a:solidFill>
              </a:rPr>
              <a:t>Refresh KYB and UBO through the nominee, re-screen all linked parties, re-rate the customer.</a:t>
            </a:r>
            <a:endParaRPr lang="en-US" sz="1500" dirty="0"/>
          </a:p>
        </p:txBody>
      </p:sp>
      <p:sp>
        <p:nvSpPr>
          <p:cNvPr id="13" name="one case"/>
          <p:cNvSpPr/>
          <p:nvPr/>
        </p:nvSpPr>
        <p:spPr>
          <a:xfrm>
            <a:off x="548640" y="4617720"/>
            <a:ext cx="11064240" cy="1234440"/>
          </a:xfrm>
          <a:prstGeom prst="roundRect">
            <a:avLst>
              <a:gd name="adj" fmla="val 8889"/>
            </a:avLst>
          </a:prstGeom>
          <a:solidFill>
            <a:schemeClr val="bg2"/>
          </a:solidFill>
          <a:ln w="12700">
            <a:solidFill>
              <a:schemeClr val="bg2"/>
            </a:solidFill>
            <a:prstDash val="solid"/>
          </a:ln>
        </p:spPr>
      </p:sp>
      <p:sp>
        <p:nvSpPr>
          <p:cNvPr id="14" name="Text 12"/>
          <p:cNvSpPr txBox="1"/>
          <p:nvPr/>
        </p:nvSpPr>
        <p:spPr>
          <a:xfrm>
            <a:off x="777240" y="4617720"/>
            <a:ext cx="10607040" cy="1234440"/>
          </a:xfrm>
          <a:prstGeom prst="rect">
            <a:avLst/>
          </a:prstGeom>
          <a:noFill/>
          <a:ln/>
        </p:spPr>
        <p:txBody>
          <a:bodyPr wrap="square" lIns="0" tIns="0" rIns="0" bIns="0" rtlCol="0" anchor="ctr"/>
          <a:lstStyle/>
          <a:p>
            <a:pPr indent="0" marL="0">
              <a:buNone/>
            </a:pPr>
            <a:r>
              <a:rPr lang="en-US" sz="1500" b="1" dirty="0">
                <a:solidFill>
                  <a:schemeClr val="tx1"/>
                </a:solidFill>
              </a:rPr>
              <a:t>One shared case ID. </a:t>
            </a:r>
            <a:pPr indent="0" marL="0">
              <a:buNone/>
            </a:pPr>
            <a:r>
              <a:rPr lang="en-US" sz="1500" dirty="0">
                <a:solidFill>
                  <a:schemeClr val="tx1"/>
                </a:solidFill>
              </a:rPr>
              <a:t>Every team links its evidence to the same case so the picture stays joined up. The payment stays pending until L2 / L3 decide: release, reject, freeze and report, or offboard.</a:t>
            </a:r>
            <a:endParaRPr lang="en-US" sz="1500" dirty="0"/>
          </a:p>
          <a:p>
            <a:pPr indent="0" marL="0">
              <a:buNone/>
            </a:pPr>
            <a:r>
              <a:rPr lang="en-US" sz="1300" b="1" dirty="0">
                <a:solidFill>
                  <a:schemeClr val="accent6"/>
                </a:solidFill>
              </a:rPr>
              <a:t>Rules: 1 (hold), 3 (control), 5 (missing data), 2 (alias ≠ identity)</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The case note: six lines a stranger could follow</a:t>
            </a:r>
            <a:endParaRPr lang="en-US" sz="3200" dirty="0"/>
          </a:p>
        </p:txBody>
      </p:sp>
      <p:sp>
        <p:nvSpPr>
          <p:cNvPr id="3" name="Alert"/>
          <p:cNvSpPr/>
          <p:nvPr/>
        </p:nvSpPr>
        <p:spPr>
          <a:xfrm>
            <a:off x="548640" y="1280160"/>
            <a:ext cx="5440680" cy="1280160"/>
          </a:xfrm>
          <a:prstGeom prst="roundRect">
            <a:avLst>
              <a:gd name="adj" fmla="val 8571"/>
            </a:avLst>
          </a:prstGeom>
          <a:solidFill>
            <a:schemeClr val="bg2"/>
          </a:solidFill>
          <a:ln w="12700">
            <a:solidFill>
              <a:schemeClr val="bg2"/>
            </a:solidFill>
            <a:prstDash val="solid"/>
          </a:ln>
        </p:spPr>
      </p:sp>
      <p:sp>
        <p:nvSpPr>
          <p:cNvPr id="4" name="Shape 2"/>
          <p:cNvSpPr/>
          <p:nvPr/>
        </p:nvSpPr>
        <p:spPr>
          <a:xfrm>
            <a:off x="777240" y="1600200"/>
            <a:ext cx="640080" cy="640080"/>
          </a:xfrm>
          <a:prstGeom prst="ellipse">
            <a:avLst/>
          </a:prstGeom>
          <a:solidFill>
            <a:schemeClr val="tx1"/>
          </a:solidFill>
          <a:ln w="12700">
            <a:solidFill>
              <a:schemeClr val="tx1"/>
            </a:solidFill>
            <a:prstDash val="solid"/>
          </a:ln>
        </p:spPr>
      </p:sp>
      <p:sp>
        <p:nvSpPr>
          <p:cNvPr id="5" name="Text 3"/>
          <p:cNvSpPr txBox="1"/>
          <p:nvPr/>
        </p:nvSpPr>
        <p:spPr>
          <a:xfrm>
            <a:off x="777240" y="160020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1600200" y="1417320"/>
            <a:ext cx="4206240" cy="365760"/>
          </a:xfrm>
          <a:prstGeom prst="rect">
            <a:avLst/>
          </a:prstGeom>
          <a:noFill/>
          <a:ln/>
        </p:spPr>
        <p:txBody>
          <a:bodyPr wrap="square" lIns="0" tIns="0" rIns="0" bIns="0" rtlCol="0" anchor="t"/>
          <a:lstStyle/>
          <a:p>
            <a:pPr indent="0" marL="0">
              <a:buNone/>
            </a:pPr>
            <a:r>
              <a:rPr lang="en-US" sz="1800" b="1" dirty="0">
                <a:solidFill>
                  <a:schemeClr val="tx1"/>
                </a:solidFill>
              </a:rPr>
              <a:t>Alert</a:t>
            </a:r>
            <a:endParaRPr lang="en-US" sz="1800" dirty="0"/>
          </a:p>
        </p:txBody>
      </p:sp>
      <p:sp>
        <p:nvSpPr>
          <p:cNvPr id="7" name="Text 5"/>
          <p:cNvSpPr txBox="1"/>
          <p:nvPr/>
        </p:nvSpPr>
        <p:spPr>
          <a:xfrm>
            <a:off x="1600200" y="1783080"/>
            <a:ext cx="4206240" cy="731520"/>
          </a:xfrm>
          <a:prstGeom prst="rect">
            <a:avLst/>
          </a:prstGeom>
          <a:noFill/>
          <a:ln/>
        </p:spPr>
        <p:txBody>
          <a:bodyPr wrap="square" lIns="0" tIns="0" rIns="0" bIns="0" rtlCol="0" anchor="t"/>
          <a:lstStyle/>
          <a:p>
            <a:pPr indent="0" marL="0">
              <a:buNone/>
            </a:pPr>
            <a:r>
              <a:rPr lang="en-US" sz="1400" dirty="0">
                <a:solidFill>
                  <a:schemeClr val="accent6"/>
                </a:solidFill>
              </a:rPr>
              <a:t>Beneficiary "Daniel ABC" matched [list, entry ref, list date]</a:t>
            </a:r>
            <a:endParaRPr lang="en-US" sz="1400" dirty="0"/>
          </a:p>
        </p:txBody>
      </p:sp>
      <p:sp>
        <p:nvSpPr>
          <p:cNvPr id="8" name="Compared"/>
          <p:cNvSpPr/>
          <p:nvPr/>
        </p:nvSpPr>
        <p:spPr>
          <a:xfrm>
            <a:off x="548640" y="2697480"/>
            <a:ext cx="5440680" cy="1280160"/>
          </a:xfrm>
          <a:prstGeom prst="roundRect">
            <a:avLst>
              <a:gd name="adj" fmla="val 8571"/>
            </a:avLst>
          </a:prstGeom>
          <a:solidFill>
            <a:schemeClr val="bg2"/>
          </a:solidFill>
          <a:ln w="12700">
            <a:solidFill>
              <a:schemeClr val="bg2"/>
            </a:solidFill>
            <a:prstDash val="solid"/>
          </a:ln>
        </p:spPr>
      </p:sp>
      <p:sp>
        <p:nvSpPr>
          <p:cNvPr id="9" name="Shape 7"/>
          <p:cNvSpPr/>
          <p:nvPr/>
        </p:nvSpPr>
        <p:spPr>
          <a:xfrm>
            <a:off x="777240" y="3017520"/>
            <a:ext cx="640080" cy="640080"/>
          </a:xfrm>
          <a:prstGeom prst="ellipse">
            <a:avLst/>
          </a:prstGeom>
          <a:solidFill>
            <a:schemeClr val="tx1"/>
          </a:solidFill>
          <a:ln w="12700">
            <a:solidFill>
              <a:schemeClr val="tx1"/>
            </a:solidFill>
            <a:prstDash val="solid"/>
          </a:ln>
        </p:spPr>
      </p:sp>
      <p:sp>
        <p:nvSpPr>
          <p:cNvPr id="10" name="Text 8"/>
          <p:cNvSpPr txBox="1"/>
          <p:nvPr/>
        </p:nvSpPr>
        <p:spPr>
          <a:xfrm>
            <a:off x="777240" y="301752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1600200" y="2834640"/>
            <a:ext cx="4206240" cy="365760"/>
          </a:xfrm>
          <a:prstGeom prst="rect">
            <a:avLst/>
          </a:prstGeom>
          <a:noFill/>
          <a:ln/>
        </p:spPr>
        <p:txBody>
          <a:bodyPr wrap="square" lIns="0" tIns="0" rIns="0" bIns="0" rtlCol="0" anchor="t"/>
          <a:lstStyle/>
          <a:p>
            <a:pPr indent="0" marL="0">
              <a:buNone/>
            </a:pPr>
            <a:r>
              <a:rPr lang="en-US" sz="1800" b="1" dirty="0">
                <a:solidFill>
                  <a:schemeClr val="tx1"/>
                </a:solidFill>
              </a:rPr>
              <a:t>Compared</a:t>
            </a:r>
            <a:endParaRPr lang="en-US" sz="1800" dirty="0"/>
          </a:p>
        </p:txBody>
      </p:sp>
      <p:sp>
        <p:nvSpPr>
          <p:cNvPr id="12" name="Text 10"/>
          <p:cNvSpPr txBox="1"/>
          <p:nvPr/>
        </p:nvSpPr>
        <p:spPr>
          <a:xfrm>
            <a:off x="1600200" y="3200400"/>
            <a:ext cx="4206240" cy="731520"/>
          </a:xfrm>
          <a:prstGeom prst="rect">
            <a:avLst/>
          </a:prstGeom>
          <a:noFill/>
          <a:ln/>
        </p:spPr>
        <p:txBody>
          <a:bodyPr wrap="square" lIns="0" tIns="0" rIns="0" bIns="0" rtlCol="0" anchor="t"/>
          <a:lstStyle/>
          <a:p>
            <a:pPr indent="0" marL="0">
              <a:buNone/>
            </a:pPr>
            <a:r>
              <a:rPr lang="en-US" sz="1400" dirty="0">
                <a:solidFill>
                  <a:schemeClr val="accent6"/>
                </a:solidFill>
              </a:rPr>
              <a:t>Name, aliases; DOB, nationality, address, ID: none on file → RFI sent [date]</a:t>
            </a:r>
            <a:endParaRPr lang="en-US" sz="1400" dirty="0"/>
          </a:p>
        </p:txBody>
      </p:sp>
      <p:sp>
        <p:nvSpPr>
          <p:cNvPr id="13" name="Found"/>
          <p:cNvSpPr/>
          <p:nvPr/>
        </p:nvSpPr>
        <p:spPr>
          <a:xfrm>
            <a:off x="548640" y="4114800"/>
            <a:ext cx="5440680" cy="1280160"/>
          </a:xfrm>
          <a:prstGeom prst="roundRect">
            <a:avLst>
              <a:gd name="adj" fmla="val 8571"/>
            </a:avLst>
          </a:prstGeom>
          <a:solidFill>
            <a:schemeClr val="bg2"/>
          </a:solidFill>
          <a:ln w="12700">
            <a:solidFill>
              <a:schemeClr val="bg2"/>
            </a:solidFill>
            <a:prstDash val="solid"/>
          </a:ln>
        </p:spPr>
      </p:sp>
      <p:sp>
        <p:nvSpPr>
          <p:cNvPr id="14" name="Shape 12"/>
          <p:cNvSpPr/>
          <p:nvPr/>
        </p:nvSpPr>
        <p:spPr>
          <a:xfrm>
            <a:off x="777240" y="4434840"/>
            <a:ext cx="640080" cy="640080"/>
          </a:xfrm>
          <a:prstGeom prst="ellipse">
            <a:avLst/>
          </a:prstGeom>
          <a:solidFill>
            <a:schemeClr val="tx1"/>
          </a:solidFill>
          <a:ln w="12700">
            <a:solidFill>
              <a:schemeClr val="tx1"/>
            </a:solidFill>
            <a:prstDash val="solid"/>
          </a:ln>
        </p:spPr>
      </p:sp>
      <p:sp>
        <p:nvSpPr>
          <p:cNvPr id="15" name="Text 13"/>
          <p:cNvSpPr txBox="1"/>
          <p:nvPr/>
        </p:nvSpPr>
        <p:spPr>
          <a:xfrm>
            <a:off x="777240" y="443484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6" name="Text 14"/>
          <p:cNvSpPr txBox="1"/>
          <p:nvPr/>
        </p:nvSpPr>
        <p:spPr>
          <a:xfrm>
            <a:off x="1600200" y="4251960"/>
            <a:ext cx="4206240" cy="365760"/>
          </a:xfrm>
          <a:prstGeom prst="rect">
            <a:avLst/>
          </a:prstGeom>
          <a:noFill/>
          <a:ln/>
        </p:spPr>
        <p:txBody>
          <a:bodyPr wrap="square" lIns="0" tIns="0" rIns="0" bIns="0" rtlCol="0" anchor="t"/>
          <a:lstStyle/>
          <a:p>
            <a:pPr indent="0" marL="0">
              <a:buNone/>
            </a:pPr>
            <a:r>
              <a:rPr lang="en-US" sz="1800" b="1" dirty="0">
                <a:solidFill>
                  <a:schemeClr val="tx1"/>
                </a:solidFill>
              </a:rPr>
              <a:t>Found</a:t>
            </a:r>
            <a:endParaRPr lang="en-US" sz="1800" dirty="0"/>
          </a:p>
        </p:txBody>
      </p:sp>
      <p:sp>
        <p:nvSpPr>
          <p:cNvPr id="17" name="Text 15"/>
          <p:cNvSpPr txBox="1"/>
          <p:nvPr/>
        </p:nvSpPr>
        <p:spPr>
          <a:xfrm>
            <a:off x="1600200" y="4617720"/>
            <a:ext cx="4206240" cy="731520"/>
          </a:xfrm>
          <a:prstGeom prst="rect">
            <a:avLst/>
          </a:prstGeom>
          <a:noFill/>
          <a:ln/>
        </p:spPr>
        <p:txBody>
          <a:bodyPr wrap="square" lIns="0" tIns="0" rIns="0" bIns="0" rtlCol="0" anchor="t"/>
          <a:lstStyle/>
          <a:p>
            <a:pPr indent="0" marL="0">
              <a:buNone/>
            </a:pPr>
            <a:r>
              <a:rPr lang="en-US" sz="1400" dirty="0">
                <a:solidFill>
                  <a:schemeClr val="accent6"/>
                </a:solidFill>
              </a:rPr>
              <a:t>RFI response [received / not received]; re-screened; match unresolved</a:t>
            </a:r>
            <a:endParaRPr lang="en-US" sz="1400" dirty="0"/>
          </a:p>
        </p:txBody>
      </p:sp>
      <p:sp>
        <p:nvSpPr>
          <p:cNvPr id="18" name="Decision"/>
          <p:cNvSpPr/>
          <p:nvPr/>
        </p:nvSpPr>
        <p:spPr>
          <a:xfrm>
            <a:off x="6172200" y="1280160"/>
            <a:ext cx="5440680" cy="1280160"/>
          </a:xfrm>
          <a:prstGeom prst="roundRect">
            <a:avLst>
              <a:gd name="adj" fmla="val 8571"/>
            </a:avLst>
          </a:prstGeom>
          <a:solidFill>
            <a:schemeClr val="bg2"/>
          </a:solidFill>
          <a:ln w="12700">
            <a:solidFill>
              <a:schemeClr val="bg2"/>
            </a:solidFill>
            <a:prstDash val="solid"/>
          </a:ln>
        </p:spPr>
      </p:sp>
      <p:sp>
        <p:nvSpPr>
          <p:cNvPr id="19" name="Shape 17"/>
          <p:cNvSpPr/>
          <p:nvPr/>
        </p:nvSpPr>
        <p:spPr>
          <a:xfrm>
            <a:off x="6400800" y="1600200"/>
            <a:ext cx="640080" cy="640080"/>
          </a:xfrm>
          <a:prstGeom prst="ellipse">
            <a:avLst/>
          </a:prstGeom>
          <a:solidFill>
            <a:schemeClr val="tx1"/>
          </a:solidFill>
          <a:ln w="12700">
            <a:solidFill>
              <a:schemeClr val="tx1"/>
            </a:solidFill>
            <a:prstDash val="solid"/>
          </a:ln>
        </p:spPr>
      </p:sp>
      <p:sp>
        <p:nvSpPr>
          <p:cNvPr id="20" name="Text 18"/>
          <p:cNvSpPr txBox="1"/>
          <p:nvPr/>
        </p:nvSpPr>
        <p:spPr>
          <a:xfrm>
            <a:off x="6400800" y="160020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1" name="Text 19"/>
          <p:cNvSpPr txBox="1"/>
          <p:nvPr/>
        </p:nvSpPr>
        <p:spPr>
          <a:xfrm>
            <a:off x="7223760" y="1417320"/>
            <a:ext cx="4206240" cy="365760"/>
          </a:xfrm>
          <a:prstGeom prst="rect">
            <a:avLst/>
          </a:prstGeom>
          <a:noFill/>
          <a:ln/>
        </p:spPr>
        <p:txBody>
          <a:bodyPr wrap="square" lIns="0" tIns="0" rIns="0" bIns="0" rtlCol="0" anchor="t"/>
          <a:lstStyle/>
          <a:p>
            <a:pPr indent="0" marL="0">
              <a:buNone/>
            </a:pPr>
            <a:r>
              <a:rPr lang="en-US" sz="1800" b="1" dirty="0">
                <a:solidFill>
                  <a:schemeClr val="tx1"/>
                </a:solidFill>
              </a:rPr>
              <a:t>Decision</a:t>
            </a:r>
            <a:endParaRPr lang="en-US" sz="1800" dirty="0"/>
          </a:p>
        </p:txBody>
      </p:sp>
      <p:sp>
        <p:nvSpPr>
          <p:cNvPr id="22" name="Text 20"/>
          <p:cNvSpPr txBox="1"/>
          <p:nvPr/>
        </p:nvSpPr>
        <p:spPr>
          <a:xfrm>
            <a:off x="7223760" y="1783080"/>
            <a:ext cx="4206240" cy="731520"/>
          </a:xfrm>
          <a:prstGeom prst="rect">
            <a:avLst/>
          </a:prstGeom>
          <a:noFill/>
          <a:ln/>
        </p:spPr>
        <p:txBody>
          <a:bodyPr wrap="square" lIns="0" tIns="0" rIns="0" bIns="0" rtlCol="0" anchor="t"/>
          <a:lstStyle/>
          <a:p>
            <a:pPr indent="0" marL="0">
              <a:buNone/>
            </a:pPr>
            <a:r>
              <a:rPr lang="en-US" sz="1400" dirty="0">
                <a:solidFill>
                  <a:schemeClr val="accent6"/>
                </a:solidFill>
              </a:rPr>
              <a:t>Not cleared on merchant assurance. Held, then rejected per procedure [section]</a:t>
            </a:r>
            <a:endParaRPr lang="en-US" sz="1400" dirty="0"/>
          </a:p>
        </p:txBody>
      </p:sp>
      <p:sp>
        <p:nvSpPr>
          <p:cNvPr id="23" name="Why"/>
          <p:cNvSpPr/>
          <p:nvPr/>
        </p:nvSpPr>
        <p:spPr>
          <a:xfrm>
            <a:off x="6172200" y="2697480"/>
            <a:ext cx="5440680" cy="1280160"/>
          </a:xfrm>
          <a:prstGeom prst="roundRect">
            <a:avLst>
              <a:gd name="adj" fmla="val 8571"/>
            </a:avLst>
          </a:prstGeom>
          <a:solidFill>
            <a:schemeClr val="bg2"/>
          </a:solidFill>
          <a:ln w="12700">
            <a:solidFill>
              <a:schemeClr val="bg2"/>
            </a:solidFill>
            <a:prstDash val="solid"/>
          </a:ln>
        </p:spPr>
      </p:sp>
      <p:sp>
        <p:nvSpPr>
          <p:cNvPr id="24" name="Shape 22"/>
          <p:cNvSpPr/>
          <p:nvPr/>
        </p:nvSpPr>
        <p:spPr>
          <a:xfrm>
            <a:off x="6400800" y="3017520"/>
            <a:ext cx="640080" cy="640080"/>
          </a:xfrm>
          <a:prstGeom prst="ellipse">
            <a:avLst/>
          </a:prstGeom>
          <a:solidFill>
            <a:schemeClr val="tx1"/>
          </a:solidFill>
          <a:ln w="12700">
            <a:solidFill>
              <a:schemeClr val="tx1"/>
            </a:solidFill>
            <a:prstDash val="solid"/>
          </a:ln>
        </p:spPr>
      </p:sp>
      <p:sp>
        <p:nvSpPr>
          <p:cNvPr id="25" name="Text 23"/>
          <p:cNvSpPr txBox="1"/>
          <p:nvPr/>
        </p:nvSpPr>
        <p:spPr>
          <a:xfrm>
            <a:off x="6400800" y="301752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7223760" y="2834640"/>
            <a:ext cx="4206240" cy="365760"/>
          </a:xfrm>
          <a:prstGeom prst="rect">
            <a:avLst/>
          </a:prstGeom>
          <a:noFill/>
          <a:ln/>
        </p:spPr>
        <p:txBody>
          <a:bodyPr wrap="square" lIns="0" tIns="0" rIns="0" bIns="0" rtlCol="0" anchor="t"/>
          <a:lstStyle/>
          <a:p>
            <a:pPr indent="0" marL="0">
              <a:buNone/>
            </a:pPr>
            <a:r>
              <a:rPr lang="en-US" sz="1800" b="1" dirty="0">
                <a:solidFill>
                  <a:schemeClr val="tx1"/>
                </a:solidFill>
              </a:rPr>
              <a:t>Why</a:t>
            </a:r>
            <a:endParaRPr lang="en-US" sz="1800" dirty="0"/>
          </a:p>
        </p:txBody>
      </p:sp>
      <p:sp>
        <p:nvSpPr>
          <p:cNvPr id="27" name="Text 25"/>
          <p:cNvSpPr txBox="1"/>
          <p:nvPr/>
        </p:nvSpPr>
        <p:spPr>
          <a:xfrm>
            <a:off x="7223760" y="3200400"/>
            <a:ext cx="4206240" cy="731520"/>
          </a:xfrm>
          <a:prstGeom prst="rect">
            <a:avLst/>
          </a:prstGeom>
          <a:noFill/>
          <a:ln/>
        </p:spPr>
        <p:txBody>
          <a:bodyPr wrap="square" lIns="0" tIns="0" rIns="0" bIns="0" rtlCol="0" anchor="t"/>
          <a:lstStyle/>
          <a:p>
            <a:pPr indent="0" marL="0">
              <a:buNone/>
            </a:pPr>
            <a:r>
              <a:rPr lang="en-US" sz="1400" dirty="0">
                <a:solidFill>
                  <a:schemeClr val="accent6"/>
                </a:solidFill>
              </a:rPr>
              <a:t>Insufficient evidence to show this is not the listed person</a:t>
            </a:r>
            <a:endParaRPr lang="en-US" sz="1400" dirty="0"/>
          </a:p>
        </p:txBody>
      </p:sp>
      <p:sp>
        <p:nvSpPr>
          <p:cNvPr id="28" name="Who / when"/>
          <p:cNvSpPr/>
          <p:nvPr/>
        </p:nvSpPr>
        <p:spPr>
          <a:xfrm>
            <a:off x="6172200" y="4114800"/>
            <a:ext cx="5440680" cy="1280160"/>
          </a:xfrm>
          <a:prstGeom prst="roundRect">
            <a:avLst>
              <a:gd name="adj" fmla="val 8571"/>
            </a:avLst>
          </a:prstGeom>
          <a:solidFill>
            <a:schemeClr val="bg2"/>
          </a:solidFill>
          <a:ln w="12700">
            <a:solidFill>
              <a:schemeClr val="bg2"/>
            </a:solidFill>
            <a:prstDash val="solid"/>
          </a:ln>
        </p:spPr>
      </p:sp>
      <p:sp>
        <p:nvSpPr>
          <p:cNvPr id="29" name="Shape 27"/>
          <p:cNvSpPr/>
          <p:nvPr/>
        </p:nvSpPr>
        <p:spPr>
          <a:xfrm>
            <a:off x="6400800" y="4434840"/>
            <a:ext cx="640080" cy="640080"/>
          </a:xfrm>
          <a:prstGeom prst="ellipse">
            <a:avLst/>
          </a:prstGeom>
          <a:solidFill>
            <a:schemeClr val="tx1"/>
          </a:solidFill>
          <a:ln w="12700">
            <a:solidFill>
              <a:schemeClr val="tx1"/>
            </a:solidFill>
            <a:prstDash val="solid"/>
          </a:ln>
        </p:spPr>
      </p:sp>
      <p:sp>
        <p:nvSpPr>
          <p:cNvPr id="30" name="Text 28"/>
          <p:cNvSpPr txBox="1"/>
          <p:nvPr/>
        </p:nvSpPr>
        <p:spPr>
          <a:xfrm>
            <a:off x="6400800" y="443484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1" name="Text 29"/>
          <p:cNvSpPr txBox="1"/>
          <p:nvPr/>
        </p:nvSpPr>
        <p:spPr>
          <a:xfrm>
            <a:off x="7223760" y="4251960"/>
            <a:ext cx="4206240" cy="365760"/>
          </a:xfrm>
          <a:prstGeom prst="rect">
            <a:avLst/>
          </a:prstGeom>
          <a:noFill/>
          <a:ln/>
        </p:spPr>
        <p:txBody>
          <a:bodyPr wrap="square" lIns="0" tIns="0" rIns="0" bIns="0" rtlCol="0" anchor="t"/>
          <a:lstStyle/>
          <a:p>
            <a:pPr indent="0" marL="0">
              <a:buNone/>
            </a:pPr>
            <a:r>
              <a:rPr lang="en-US" sz="1800" b="1" dirty="0">
                <a:solidFill>
                  <a:schemeClr val="tx1"/>
                </a:solidFill>
              </a:rPr>
              <a:t>Who / when</a:t>
            </a:r>
            <a:endParaRPr lang="en-US" sz="1800" dirty="0"/>
          </a:p>
        </p:txBody>
      </p:sp>
      <p:sp>
        <p:nvSpPr>
          <p:cNvPr id="32" name="Text 30"/>
          <p:cNvSpPr txBox="1"/>
          <p:nvPr/>
        </p:nvSpPr>
        <p:spPr>
          <a:xfrm>
            <a:off x="7223760" y="4617720"/>
            <a:ext cx="4206240" cy="731520"/>
          </a:xfrm>
          <a:prstGeom prst="rect">
            <a:avLst/>
          </a:prstGeom>
          <a:noFill/>
          <a:ln/>
        </p:spPr>
        <p:txBody>
          <a:bodyPr wrap="square" lIns="0" tIns="0" rIns="0" bIns="0" rtlCol="0" anchor="t"/>
          <a:lstStyle/>
          <a:p>
            <a:pPr indent="0" marL="0">
              <a:buNone/>
            </a:pPr>
            <a:r>
              <a:rPr lang="en-US" sz="1400" dirty="0">
                <a:solidFill>
                  <a:schemeClr val="accent6"/>
                </a:solidFill>
              </a:rPr>
              <a:t>Analyst, 4-eye reviewer, escalated to L2 [names, timestamps]</a:t>
            </a:r>
            <a:endParaRPr lang="en-US" sz="1400" dirty="0"/>
          </a:p>
        </p:txBody>
      </p:sp>
      <p:sp>
        <p:nvSpPr>
          <p:cNvPr id="33" name="Text 31"/>
          <p:cNvSpPr txBox="1"/>
          <p:nvPr/>
        </p:nvSpPr>
        <p:spPr>
          <a:xfrm>
            <a:off x="548640" y="5623560"/>
            <a:ext cx="11064240" cy="365760"/>
          </a:xfrm>
          <a:prstGeom prst="rect">
            <a:avLst/>
          </a:prstGeom>
          <a:noFill/>
          <a:ln/>
        </p:spPr>
        <p:txBody>
          <a:bodyPr wrap="square" lIns="0" tIns="0" rIns="0" bIns="0" rtlCol="0" anchor="t"/>
          <a:lstStyle/>
          <a:p>
            <a:pPr indent="0" marL="0">
              <a:buNone/>
            </a:pPr>
            <a:r>
              <a:rPr lang="en-US" sz="1600" b="1" i="1" dirty="0">
                <a:solidFill>
                  <a:schemeClr val="accent1"/>
                </a:solidFill>
              </a:rPr>
              <a:t>Test: if you were off sick tomorrow, could someone else defend this decision from the note alone?</a:t>
            </a:r>
            <a:endParaRPr lang="en-US" sz="1600" dirty="0"/>
          </a:p>
        </p:txBody>
      </p:sp>
      <p:sp>
        <p:nvSpPr>
          <p:cNvPr id="34" name="Text 32"/>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Checkout PEP &amp; Sanctions Screening Checks; Global Sanctions Reporting Procedure (cite sections); Global Screening alert-rationale house format.</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bg1"/>
                </a:solidFill>
              </a:rPr>
              <a:t>If you remember nothing else</a:t>
            </a:r>
            <a:endParaRPr lang="en-US" sz="3200" dirty="0"/>
          </a:p>
        </p:txBody>
      </p:sp>
      <p:sp>
        <p:nvSpPr>
          <p:cNvPr id="3" name="HOLD circle"/>
          <p:cNvSpPr/>
          <p:nvPr/>
        </p:nvSpPr>
        <p:spPr>
          <a:xfrm>
            <a:off x="1417320" y="1645920"/>
            <a:ext cx="1005840" cy="1005840"/>
          </a:xfrm>
          <a:prstGeom prst="ellipse">
            <a:avLst/>
          </a:prstGeom>
          <a:solidFill>
            <a:schemeClr val="accent1"/>
          </a:solidFill>
          <a:ln w="12700">
            <a:solidFill>
              <a:schemeClr val="accent1"/>
            </a:solidFill>
            <a:prstDash val="solid"/>
          </a:ln>
        </p:spPr>
      </p:sp>
      <p:pic>
        <p:nvPicPr>
          <p:cNvPr id="4" name="HOLD icon" descr="preencoded.png">    </p:cNvPr>
          <p:cNvPicPr>
            <a:picLocks noChangeAspect="1"/>
          </p:cNvPicPr>
          <p:nvPr/>
        </p:nvPicPr>
        <p:blipFill>
          <a:blip r:embed="rId1"/>
          <a:stretch>
            <a:fillRect/>
          </a:stretch>
        </p:blipFill>
        <p:spPr>
          <a:xfrm>
            <a:off x="1618488" y="1847088"/>
            <a:ext cx="603504" cy="603504"/>
          </a:xfrm>
          <a:prstGeom prst="rect">
            <a:avLst/>
          </a:prstGeom>
        </p:spPr>
      </p:pic>
      <p:sp>
        <p:nvSpPr>
          <p:cNvPr id="5" name="Text 2"/>
          <p:cNvSpPr txBox="1"/>
          <p:nvPr/>
        </p:nvSpPr>
        <p:spPr>
          <a:xfrm>
            <a:off x="548640" y="2834640"/>
            <a:ext cx="2651760" cy="457200"/>
          </a:xfrm>
          <a:prstGeom prst="rect">
            <a:avLst/>
          </a:prstGeom>
          <a:noFill/>
          <a:ln/>
        </p:spPr>
        <p:txBody>
          <a:bodyPr wrap="square" lIns="0" tIns="0" rIns="0" bIns="0" rtlCol="0" anchor="t"/>
          <a:lstStyle/>
          <a:p>
            <a:pPr algn="ctr" indent="0" marL="0">
              <a:buNone/>
            </a:pPr>
            <a:r>
              <a:rPr lang="en-US" sz="2200" b="1" dirty="0">
                <a:solidFill>
                  <a:schemeClr val="bg1"/>
                </a:solidFill>
              </a:rPr>
              <a:t>HOLD</a:t>
            </a:r>
            <a:endParaRPr lang="en-US" sz="2200" dirty="0"/>
          </a:p>
        </p:txBody>
      </p:sp>
      <p:sp>
        <p:nvSpPr>
          <p:cNvPr id="6" name="Text 3"/>
          <p:cNvSpPr txBox="1"/>
          <p:nvPr/>
        </p:nvSpPr>
        <p:spPr>
          <a:xfrm>
            <a:off x="731520" y="3337560"/>
            <a:ext cx="2286000" cy="914400"/>
          </a:xfrm>
          <a:prstGeom prst="rect">
            <a:avLst/>
          </a:prstGeom>
          <a:noFill/>
          <a:ln/>
        </p:spPr>
        <p:txBody>
          <a:bodyPr wrap="square" lIns="0" tIns="0" rIns="0" bIns="0" rtlCol="0" anchor="t"/>
          <a:lstStyle/>
          <a:p>
            <a:pPr algn="ctr" indent="0" marL="0">
              <a:buNone/>
            </a:pPr>
            <a:r>
              <a:rPr lang="en-US" sz="1600" dirty="0">
                <a:solidFill>
                  <a:schemeClr val="accent5"/>
                </a:solidFill>
              </a:rPr>
              <a:t>Nothing moves while there's doubt</a:t>
            </a:r>
            <a:endParaRPr lang="en-US" sz="1600" dirty="0"/>
          </a:p>
        </p:txBody>
      </p:sp>
      <p:sp>
        <p:nvSpPr>
          <p:cNvPr id="7" name="CHECK circle"/>
          <p:cNvSpPr/>
          <p:nvPr/>
        </p:nvSpPr>
        <p:spPr>
          <a:xfrm>
            <a:off x="4251960" y="1645920"/>
            <a:ext cx="1005840" cy="1005840"/>
          </a:xfrm>
          <a:prstGeom prst="ellipse">
            <a:avLst/>
          </a:prstGeom>
          <a:solidFill>
            <a:schemeClr val="accent2"/>
          </a:solidFill>
          <a:ln w="12700">
            <a:solidFill>
              <a:schemeClr val="accent2"/>
            </a:solidFill>
            <a:prstDash val="solid"/>
          </a:ln>
        </p:spPr>
      </p:sp>
      <p:pic>
        <p:nvPicPr>
          <p:cNvPr id="8" name="CHECK icon" descr="preencoded.png">    </p:cNvPr>
          <p:cNvPicPr>
            <a:picLocks noChangeAspect="1"/>
          </p:cNvPicPr>
          <p:nvPr/>
        </p:nvPicPr>
        <p:blipFill>
          <a:blip r:embed="rId2"/>
          <a:stretch>
            <a:fillRect/>
          </a:stretch>
        </p:blipFill>
        <p:spPr>
          <a:xfrm>
            <a:off x="4453128" y="1847088"/>
            <a:ext cx="603504" cy="603504"/>
          </a:xfrm>
          <a:prstGeom prst="rect">
            <a:avLst/>
          </a:prstGeom>
        </p:spPr>
      </p:pic>
      <p:sp>
        <p:nvSpPr>
          <p:cNvPr id="9" name="Text 5"/>
          <p:cNvSpPr txBox="1"/>
          <p:nvPr/>
        </p:nvSpPr>
        <p:spPr>
          <a:xfrm>
            <a:off x="3383280" y="2834640"/>
            <a:ext cx="2651760" cy="457200"/>
          </a:xfrm>
          <a:prstGeom prst="rect">
            <a:avLst/>
          </a:prstGeom>
          <a:noFill/>
          <a:ln/>
        </p:spPr>
        <p:txBody>
          <a:bodyPr wrap="square" lIns="0" tIns="0" rIns="0" bIns="0" rtlCol="0" anchor="t"/>
          <a:lstStyle/>
          <a:p>
            <a:pPr algn="ctr" indent="0" marL="0">
              <a:buNone/>
            </a:pPr>
            <a:r>
              <a:rPr lang="en-US" sz="2200" b="1" dirty="0">
                <a:solidFill>
                  <a:schemeClr val="bg1"/>
                </a:solidFill>
              </a:rPr>
              <a:t>CHECK</a:t>
            </a:r>
            <a:endParaRPr lang="en-US" sz="2200" dirty="0"/>
          </a:p>
        </p:txBody>
      </p:sp>
      <p:sp>
        <p:nvSpPr>
          <p:cNvPr id="10" name="Text 6"/>
          <p:cNvSpPr txBox="1"/>
          <p:nvPr/>
        </p:nvSpPr>
        <p:spPr>
          <a:xfrm>
            <a:off x="3566160" y="3337560"/>
            <a:ext cx="2286000" cy="914400"/>
          </a:xfrm>
          <a:prstGeom prst="rect">
            <a:avLst/>
          </a:prstGeom>
          <a:noFill/>
          <a:ln/>
        </p:spPr>
        <p:txBody>
          <a:bodyPr wrap="square" lIns="0" tIns="0" rIns="0" bIns="0" rtlCol="0" anchor="t"/>
          <a:lstStyle/>
          <a:p>
            <a:pPr algn="ctr" indent="0" marL="0">
              <a:buNone/>
            </a:pPr>
            <a:r>
              <a:rPr lang="en-US" sz="1600" dirty="0">
                <a:solidFill>
                  <a:schemeClr val="accent5"/>
                </a:solidFill>
              </a:rPr>
              <a:t>Identifiers, owners, every country it touches</a:t>
            </a:r>
            <a:endParaRPr lang="en-US" sz="1600" dirty="0"/>
          </a:p>
        </p:txBody>
      </p:sp>
      <p:sp>
        <p:nvSpPr>
          <p:cNvPr id="11" name="ESCALATE circle"/>
          <p:cNvSpPr/>
          <p:nvPr/>
        </p:nvSpPr>
        <p:spPr>
          <a:xfrm>
            <a:off x="7086600" y="1645920"/>
            <a:ext cx="1005840" cy="1005840"/>
          </a:xfrm>
          <a:prstGeom prst="ellipse">
            <a:avLst/>
          </a:prstGeom>
          <a:solidFill>
            <a:schemeClr val="accent4"/>
          </a:solidFill>
          <a:ln w="12700">
            <a:solidFill>
              <a:schemeClr val="accent4"/>
            </a:solidFill>
            <a:prstDash val="solid"/>
          </a:ln>
        </p:spPr>
      </p:sp>
      <p:pic>
        <p:nvPicPr>
          <p:cNvPr id="12" name="ESCALATE icon" descr="preencoded.png">    </p:cNvPr>
          <p:cNvPicPr>
            <a:picLocks noChangeAspect="1"/>
          </p:cNvPicPr>
          <p:nvPr/>
        </p:nvPicPr>
        <p:blipFill>
          <a:blip r:embed="rId3"/>
          <a:stretch>
            <a:fillRect/>
          </a:stretch>
        </p:blipFill>
        <p:spPr>
          <a:xfrm>
            <a:off x="7287768" y="1847088"/>
            <a:ext cx="603504" cy="603504"/>
          </a:xfrm>
          <a:prstGeom prst="rect">
            <a:avLst/>
          </a:prstGeom>
        </p:spPr>
      </p:pic>
      <p:sp>
        <p:nvSpPr>
          <p:cNvPr id="13" name="Text 8"/>
          <p:cNvSpPr txBox="1"/>
          <p:nvPr/>
        </p:nvSpPr>
        <p:spPr>
          <a:xfrm>
            <a:off x="6217920" y="2834640"/>
            <a:ext cx="2651760" cy="457200"/>
          </a:xfrm>
          <a:prstGeom prst="rect">
            <a:avLst/>
          </a:prstGeom>
          <a:noFill/>
          <a:ln/>
        </p:spPr>
        <p:txBody>
          <a:bodyPr wrap="square" lIns="0" tIns="0" rIns="0" bIns="0" rtlCol="0" anchor="t"/>
          <a:lstStyle/>
          <a:p>
            <a:pPr algn="ctr" indent="0" marL="0">
              <a:buNone/>
            </a:pPr>
            <a:r>
              <a:rPr lang="en-US" sz="2200" b="1" dirty="0">
                <a:solidFill>
                  <a:schemeClr val="bg1"/>
                </a:solidFill>
              </a:rPr>
              <a:t>ESCALATE</a:t>
            </a:r>
            <a:endParaRPr lang="en-US" sz="2200" dirty="0"/>
          </a:p>
        </p:txBody>
      </p:sp>
      <p:sp>
        <p:nvSpPr>
          <p:cNvPr id="14" name="Text 9"/>
          <p:cNvSpPr txBox="1"/>
          <p:nvPr/>
        </p:nvSpPr>
        <p:spPr>
          <a:xfrm>
            <a:off x="6400800" y="3337560"/>
            <a:ext cx="2286000" cy="914400"/>
          </a:xfrm>
          <a:prstGeom prst="rect">
            <a:avLst/>
          </a:prstGeom>
          <a:noFill/>
          <a:ln/>
        </p:spPr>
        <p:txBody>
          <a:bodyPr wrap="square" lIns="0" tIns="0" rIns="0" bIns="0" rtlCol="0" anchor="t"/>
          <a:lstStyle/>
          <a:p>
            <a:pPr algn="ctr" indent="0" marL="0">
              <a:buNone/>
            </a:pPr>
            <a:r>
              <a:rPr lang="en-US" sz="1600" dirty="0">
                <a:solidFill>
                  <a:schemeClr val="accent5"/>
                </a:solidFill>
              </a:rPr>
              <a:t>True or unresolved → L2. Never tip off</a:t>
            </a:r>
            <a:endParaRPr lang="en-US" sz="1600" dirty="0"/>
          </a:p>
        </p:txBody>
      </p:sp>
      <p:sp>
        <p:nvSpPr>
          <p:cNvPr id="15" name="WRITE IT DOWN circle"/>
          <p:cNvSpPr/>
          <p:nvPr/>
        </p:nvSpPr>
        <p:spPr>
          <a:xfrm>
            <a:off x="9921240" y="1645920"/>
            <a:ext cx="1005840" cy="1005840"/>
          </a:xfrm>
          <a:prstGeom prst="ellipse">
            <a:avLst/>
          </a:prstGeom>
          <a:solidFill>
            <a:schemeClr val="accent3"/>
          </a:solidFill>
          <a:ln w="12700">
            <a:solidFill>
              <a:schemeClr val="accent3"/>
            </a:solidFill>
            <a:prstDash val="solid"/>
          </a:ln>
        </p:spPr>
      </p:sp>
      <p:pic>
        <p:nvPicPr>
          <p:cNvPr id="16" name="WRITE IT DOWN icon" descr="preencoded.png">    </p:cNvPr>
          <p:cNvPicPr>
            <a:picLocks noChangeAspect="1"/>
          </p:cNvPicPr>
          <p:nvPr/>
        </p:nvPicPr>
        <p:blipFill>
          <a:blip r:embed="rId4"/>
          <a:stretch>
            <a:fillRect/>
          </a:stretch>
        </p:blipFill>
        <p:spPr>
          <a:xfrm>
            <a:off x="10122408" y="1847088"/>
            <a:ext cx="603504" cy="603504"/>
          </a:xfrm>
          <a:prstGeom prst="rect">
            <a:avLst/>
          </a:prstGeom>
        </p:spPr>
      </p:pic>
      <p:sp>
        <p:nvSpPr>
          <p:cNvPr id="17" name="Text 11"/>
          <p:cNvSpPr txBox="1"/>
          <p:nvPr/>
        </p:nvSpPr>
        <p:spPr>
          <a:xfrm>
            <a:off x="9052560" y="2834640"/>
            <a:ext cx="2651760" cy="457200"/>
          </a:xfrm>
          <a:prstGeom prst="rect">
            <a:avLst/>
          </a:prstGeom>
          <a:noFill/>
          <a:ln/>
        </p:spPr>
        <p:txBody>
          <a:bodyPr wrap="square" lIns="0" tIns="0" rIns="0" bIns="0" rtlCol="0" anchor="t"/>
          <a:lstStyle/>
          <a:p>
            <a:pPr algn="ctr" indent="0" marL="0">
              <a:buNone/>
            </a:pPr>
            <a:r>
              <a:rPr lang="en-US" sz="2200" b="1" dirty="0">
                <a:solidFill>
                  <a:schemeClr val="bg1"/>
                </a:solidFill>
              </a:rPr>
              <a:t>WRITE IT DOWN</a:t>
            </a:r>
            <a:endParaRPr lang="en-US" sz="2200" dirty="0"/>
          </a:p>
        </p:txBody>
      </p:sp>
      <p:sp>
        <p:nvSpPr>
          <p:cNvPr id="18" name="Text 12"/>
          <p:cNvSpPr txBox="1"/>
          <p:nvPr/>
        </p:nvSpPr>
        <p:spPr>
          <a:xfrm>
            <a:off x="9235440" y="3337560"/>
            <a:ext cx="2286000" cy="914400"/>
          </a:xfrm>
          <a:prstGeom prst="rect">
            <a:avLst/>
          </a:prstGeom>
          <a:noFill/>
          <a:ln/>
        </p:spPr>
        <p:txBody>
          <a:bodyPr wrap="square" lIns="0" tIns="0" rIns="0" bIns="0" rtlCol="0" anchor="t"/>
          <a:lstStyle/>
          <a:p>
            <a:pPr algn="ctr" indent="0" marL="0">
              <a:buNone/>
            </a:pPr>
            <a:r>
              <a:rPr lang="en-US" sz="1600" dirty="0">
                <a:solidFill>
                  <a:schemeClr val="accent5"/>
                </a:solidFill>
              </a:rPr>
              <a:t>Six lines a stranger could follow</a:t>
            </a:r>
            <a:endParaRPr lang="en-US" sz="1600" dirty="0"/>
          </a:p>
        </p:txBody>
      </p:sp>
      <p:sp>
        <p:nvSpPr>
          <p:cNvPr id="19" name="Text 13"/>
          <p:cNvSpPr txBox="1"/>
          <p:nvPr/>
        </p:nvSpPr>
        <p:spPr>
          <a:xfrm>
            <a:off x="548640" y="4937760"/>
            <a:ext cx="11064240" cy="457200"/>
          </a:xfrm>
          <a:prstGeom prst="rect">
            <a:avLst/>
          </a:prstGeom>
          <a:noFill/>
          <a:ln/>
        </p:spPr>
        <p:txBody>
          <a:bodyPr wrap="square" lIns="0" tIns="0" rIns="0" bIns="0" rtlCol="0" anchor="t"/>
          <a:lstStyle/>
          <a:p>
            <a:pPr algn="ctr" indent="0" marL="0">
              <a:buNone/>
            </a:pPr>
            <a:r>
              <a:rPr lang="en-US" sz="1800" i="1" dirty="0">
                <a:solidFill>
                  <a:schemeClr val="bg1"/>
                </a:solidFill>
              </a:rPr>
              <a:t>Questions or an edge case? Ask the Sanctions team before you act — never after.</a:t>
            </a:r>
            <a:endParaRPr lang="en-US" sz="18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Appendix A — Acronyms</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440680" cy="914400"/>
        </p:xfrm>
        <a:graphic>
          <a:graphicData uri="http://schemas.openxmlformats.org/drawingml/2006/table">
            <a:tbl>
              <a:tblPr/>
              <a:tblGrid>
                <a:gridCol w="1463040"/>
                <a:gridCol w="3977640"/>
              </a:tblGrid>
              <a:tr h="548640">
                <a:tc>
                  <a:txBody>
                    <a:bodyPr/>
                    <a:lstStyle/>
                    <a:p>
                      <a:pPr indent="0" marL="0">
                        <a:buNone/>
                      </a:pPr>
                      <a:r>
                        <a:rPr lang="en-US" sz="1400" b="1" dirty="0">
                          <a:solidFill>
                            <a:schemeClr val="tx1"/>
                          </a:solidFill>
                        </a:rPr>
                        <a:t>DP</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Designated person (on a sanctions list)</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OFSI</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Office of Financial Sanctions Implementation (UK)</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OFAC</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Office of Foreign Assets Control (US)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SDN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Specially Designated Nationals list (OFAC)</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DG Trésor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French competent authority for financial sanctions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TRACFIN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French financial intelligence unit (suspicion reports)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EOCN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UAE Executive Office for Control &amp; Non-Proliferation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goAML</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UAE reporting system (CNMR / PNMR)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172200" y="1325880"/>
          <a:ext cx="5440680" cy="914400"/>
        </p:xfrm>
        <a:graphic>
          <a:graphicData uri="http://schemas.openxmlformats.org/drawingml/2006/table">
            <a:tbl>
              <a:tblPr/>
              <a:tblGrid>
                <a:gridCol w="1463040"/>
                <a:gridCol w="3977640"/>
              </a:tblGrid>
              <a:tr h="548640">
                <a:tc>
                  <a:txBody>
                    <a:bodyPr/>
                    <a:lstStyle/>
                    <a:p>
                      <a:pPr indent="0" marL="0">
                        <a:buNone/>
                      </a:pPr>
                      <a:r>
                        <a:rPr lang="en-US" sz="1400" b="1" dirty="0">
                          <a:solidFill>
                            <a:schemeClr val="tx1"/>
                          </a:solidFill>
                        </a:rPr>
                        <a:t>CNMR / PNMR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Confirmed / Partial Name Match Report (UAE)</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MAS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Monetary Authority of Singapore</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STRO</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Suspicious Transaction Reporting Office (Singapore)</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JFIU</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Joint Financial Intelligence Unit (Hong Kong)</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UBO</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Ultimate beneficial owner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RFI</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Request for information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EDR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Event-driven review</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UAR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Unusual activity report (internal)</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Appendix B — Real cases for facilitators</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743200"/>
                <a:gridCol w="2194560"/>
                <a:gridCol w="4389120"/>
                <a:gridCol w="1737360"/>
              </a:tblGrid>
              <a:tr h="411480">
                <a:tc>
                  <a:txBody>
                    <a:bodyPr/>
                    <a:lstStyle/>
                    <a:p>
                      <a:pPr indent="0" marL="0">
                        <a:buNone/>
                      </a:pPr>
                      <a:r>
                        <a:rPr lang="en-US" sz="1300" b="1" dirty="0">
                          <a:solidFill>
                            <a:schemeClr val="bg1"/>
                          </a:solidFill>
                        </a:rPr>
                        <a:t>Case</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Type</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What went wrong</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Use it for</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r>
              <a:tr h="777240">
                <a:tc>
                  <a:txBody>
                    <a:bodyPr/>
                    <a:lstStyle/>
                    <a:p>
                      <a:pPr indent="0" marL="0">
                        <a:buNone/>
                      </a:pPr>
                      <a:r>
                        <a:rPr lang="en-US" sz="1300" dirty="0">
                          <a:solidFill>
                            <a:schemeClr val="tx1"/>
                          </a:solidFill>
                        </a:rPr>
                        <a:t>Citibank N.A. London (OFSI, £4.73m, Aug 2026)</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UK sanctions penalty</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"PAO" prefix beat the screening; no restriction without proof of &gt;50% ownership; review backlog; frozen-asset reports up to 518 days late</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Rules 1, 2, 5</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640080">
                <a:tc>
                  <a:txBody>
                    <a:bodyPr/>
                    <a:lstStyle/>
                    <a:p>
                      <a:pPr indent="0" marL="0">
                        <a:buNone/>
                      </a:pPr>
                      <a:r>
                        <a:rPr lang="en-US" sz="1300" dirty="0">
                          <a:solidFill>
                            <a:schemeClr val="tx1"/>
                          </a:solidFill>
                        </a:rPr>
                        <a:t>Bank of Scotland (OFSI, £160k, imposed Nov 2025)</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UK sanctions penalty</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Alert fired but was wrongly discounted (person believed delisted); passport spelling differed from the list; no PEP-to-sanctions escalation route</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Rules 2, 1</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640080">
                <a:tc>
                  <a:txBody>
                    <a:bodyPr/>
                    <a:lstStyle/>
                    <a:p>
                      <a:pPr indent="0" marL="0">
                        <a:buNone/>
                      </a:pPr>
                      <a:r>
                        <a:rPr lang="en-US" sz="1300" dirty="0">
                          <a:solidFill>
                            <a:schemeClr val="tx1"/>
                          </a:solidFill>
                        </a:rPr>
                        <a:t>Bittrex (OFAC, $24.3m, Oct 2022)</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US sanctions settlement</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IP and address data collected but not screened for sanctioned regions</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Exposure: restricted place</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777240">
                <a:tc>
                  <a:txBody>
                    <a:bodyPr/>
                    <a:lstStyle/>
                    <a:p>
                      <a:pPr indent="0" marL="0">
                        <a:buNone/>
                      </a:pPr>
                      <a:r>
                        <a:rPr lang="en-US" sz="1300" dirty="0">
                          <a:solidFill>
                            <a:schemeClr val="tx1"/>
                          </a:solidFill>
                        </a:rPr>
                        <a:t>Banque Misr UAE (FinCEN, Aug 2026)</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US AML — proposed s.311 rule</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Front companies and USD correspondent access. UAE branches only; proposed, not final. Won't appear in SDN screening</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Rule 4</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777240">
                <a:tc>
                  <a:txBody>
                    <a:bodyPr/>
                    <a:lstStyle/>
                    <a:p>
                      <a:pPr indent="0" marL="0">
                        <a:buNone/>
                      </a:pPr>
                      <a:r>
                        <a:rPr lang="en-US" sz="1300" dirty="0">
                          <a:solidFill>
                            <a:schemeClr val="tx1"/>
                          </a:solidFill>
                        </a:rPr>
                        <a:t>Nine FIs (MAS, Jul 2025)</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Singapore AML penalties</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UBO, source of wealth, TM and post-STR follow-up gaps. AML, not sanctions</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Rule 3</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532120"/>
            <a:ext cx="11064240" cy="457200"/>
          </a:xfrm>
          <a:prstGeom prst="rect">
            <a:avLst/>
          </a:prstGeom>
          <a:noFill/>
          <a:ln/>
        </p:spPr>
        <p:txBody>
          <a:bodyPr wrap="square" lIns="0" tIns="0" rIns="0" bIns="0" rtlCol="0" anchor="t"/>
          <a:lstStyle/>
          <a:p>
            <a:pPr indent="0" marL="0">
              <a:buNone/>
            </a:pPr>
            <a:r>
              <a:rPr lang="en-US" sz="1400" i="1" dirty="0">
                <a:solidFill>
                  <a:schemeClr val="accent1"/>
                </a:solidFill>
              </a:rPr>
              <a:t>Only the first three are sanctions enforcement. Use the AML cases as context, not as sanctions examples. Verify every figure against the primary notice before delivery.</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Screening Signal">
  <a:themeElements>
    <a:clrScheme name="Screening Signal">
      <a:dk1>
        <a:srgbClr val="14213D"/>
      </a:dk1>
      <a:lt1>
        <a:srgbClr val="FFFFFF"/>
      </a:lt1>
      <a:dk2>
        <a:srgbClr val="0B1426"/>
      </a:dk2>
      <a:lt2>
        <a:srgbClr val="EEF2F7"/>
      </a:lt2>
      <a:accent1>
        <a:srgbClr val="C8102E"/>
      </a:accent1>
      <a:accent2>
        <a:srgbClr val="D98A1C"/>
      </a:accent2>
      <a:accent3>
        <a:srgbClr val="1F7A63"/>
      </a:accent3>
      <a:accent4>
        <a:srgbClr val="3D5A80"/>
      </a:accent4>
      <a:accent5>
        <a:srgbClr val="C9D8EA"/>
      </a:accent5>
      <a:accent6>
        <a:srgbClr val="5B6472"/>
      </a:accent6>
      <a:hlink>
        <a:srgbClr val="3D5A80"/>
      </a:hlink>
      <a:folHlink>
        <a:srgbClr val="5B6472"/>
      </a:folHlink>
    </a:clrScheme>
    <a:fontScheme name="Screening Sig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Checkout.com Global Screening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Sanctions in Practice — Analyst Edition</dc:title>
  <dc:subject>Sanctions training for operations analysts</dc:subject>
  <dc:creator>PptxGenJS</dc:creator>
  <cp:lastModifiedBy>PptxGenJS</cp:lastModifiedBy>
  <cp:revision>1</cp:revision>
  <dcterms:created xsi:type="dcterms:W3CDTF">2026-10-12T18:39:33Z</dcterms:created>
  <dcterms:modified xsi:type="dcterms:W3CDTF">2026-10-12T18:39:33Z</dcterms:modified>
</cp:coreProperties>
</file>