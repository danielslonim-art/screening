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d67e602-4b27-ad5d-0eed-e13e15d4f052}">
          <p14:sldIdLst>
            <p14:sldId id="256"/>
            <p14:sldId id="257"/>
            <p14:sldId id="258"/>
          </p14:sldIdLst>
        </p14:section>
        <p14:section name="Part 1 — Understand the model" id="{799285b4-53c8-5439-c1e0-f84442a91165}">
          <p14:sldIdLst>
            <p14:sldId id="259"/>
            <p14:sldId id="260"/>
            <p14:sldId id="261"/>
            <p14:sldId id="262"/>
          </p14:sldIdLst>
        </p14:section>
        <p14:section name="Part 2 — Compare the regions" id="{f9f97743-c567-906a-0188-62a8754e6043}">
          <p14:sldIdLst>
            <p14:sldId id="263"/>
            <p14:sldId id="264"/>
            <p14:sldId id="265"/>
            <p14:sldId id="266"/>
            <p14:sldId id="267"/>
            <p14:sldId id="268"/>
          </p14:sldIdLst>
        </p14:section>
        <p14:section name="Part 3 — Apply the indicators" id="{b9b7c03f-e9ed-389e-8f0c-894751ec380c}">
          <p14:sldIdLst>
            <p14:sldId id="269"/>
            <p14:sldId id="270"/>
            <p14:sldId id="271"/>
            <p14:sldId id="272"/>
            <p14:sldId id="273"/>
          </p14:sldIdLst>
        </p14:section>
        <p14:section name="Part 4 — Record the decision" id="{47affdcf-a4d0-80f3-a3c7-d415afe049c1}">
          <p14:sldIdLst>
            <p14:sldId id="274"/>
            <p14:sldId id="275"/>
            <p14:sldId id="276"/>
            <p14:sldId id="277"/>
          </p14:sldIdLst>
        </p14:section>
        <p14:section name="Close" id="{12c7886c-d0e3-06f2-3413-f90419a71830}">
          <p14:sldIdLst>
            <p14:sldId id="278"/>
          </p14:sldIdLst>
        </p14:section>
        <p14:section name="Appendix" id="{fc1d6766-337e-36f4-2acf-0b04cd194a0a}">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edition of 'Sanctions in Practice October 2026 — Regional Rules, Common Controls &amp; Escalation'. Every content slide answers three questions for the analyst: in short, what are we telling you; why it matters; and what it means for you in our process. The whole session in one sentence: If in doubt, don't let it go: stop the payment, check who is really behind it and every country it touches, pass anything unclear to L2 — and write down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strict liability — the most important UK nuance; it applies to civil penalties only, while criminal offences still require knowledge or reasonable cause to suspect. Both cases are operational failures rather than missing systems. Citibank: a legal-form prefix defeated the screening, a backlog built at third-level review, ownership assessments missed subsidiaries, and temporary guidance meant accounts were not restricted without evidence of more than 50% ownership. Bank of Scotland: an alert did fire and was wrongly discounted, and there was no route to escalate possible sanctions links from PEP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session analysts will be able to work through four connected capabilities. Each part opens with its theme, why it matters, what it means in our process, and a question to keep in mind. The 'In short' line on every slide is the plain-English message; the band at the foot of every slide answers 'why should I care?' and 'what do I do with this in our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regional detail, analysts need one model they apply identically to every alert. Anchor it in the current process — the Firco queue, the L1 review, the 4-eye check and the L2 escalation path — so the principles feel like a description of their own job rather than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principles carry the whole session; each case later maps back to them. Principle 1 is highlighted because under UK strict liability unresolved doubt produces a hold, not a release. Principle 5 is the Citibank lesson: guidance that required affirmative evidence of ownership before restricting turned missing data into processed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from the original with an example on each card. The geography example is the Bittrex lesson (OFAC, October 2022): IP and address data was collected at onboarding but never screened for sanctioned jurisdictions.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together the original triage slide, the common control model and the operating model. The boundary between what an L1 analyst decides and what is reserved for L2/L3 is now explicit. Stress 'no refund or return to the sender' — returning funds to a designated person is itself making funds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1: the same model applies everywhere, but the answer can change with the regime. The aim is recognition, not memorisation. Point analysts to the information they already have in the case record — legal entity, route, currency — and to the Country Risk Rating and legal-entity HRTC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every layer, in order' sat on the MENA slide of the original; it is the organising idea for every region, so it now comes first. The three nexus tests replace six separate regional lenses. Key principle from the original: a local nexus does not remove UK, US, EU or correspondent-bank exposure. Warn against 'USD = automatic OFAC'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answers the same four questions as the original comparison table. Reporting is always done by L2/L3, never by the analyst. Facilitator notes: the former OFSI Consolidated List remains online but receives no new names. EU Art 8 reporting is now 'within two weeks', but the French freeze report (CMF L562-4) remains immediate. Do not reduce US analysis to 'USD = automatic OFAC'.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UAE: CNMR and PNMR cover the UN and UAE Local Terrorist lists only, not OFAC, EU or UK hits. Singapore is unusual among Asian centres in having its own Russia financial measures (Notice SNR-N01, re-issued 30 June 2025, amended February 2026). Hong Kong applies UN sanctions only. Saudi Arabia (SAMA TFS Rules, 7 December 2025) appeared in the original MENA slide; add a card only if a Checkout entity or product is SAMA-supervised.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UK is the outlier: more than 50%, and different designated persons' holdings are not added together (unless held jointly or one controls the other's rights). The EU and US both use 50% or more and aggregate. Decision principle: do not rely on a single percentage threshold. Missing UBO data, or a chain that ends at a nominee, is never a reason to clear — the Citibank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UK slide said 'a rejected payment is not treated like frozen assets', which an analyst can read as 'a rejection needs no report'. The UK reporting duty is triggered by knowledge or reasonable cause to suspect, whether or not the funds were retained; in the US both blocked and rejected transactions are reported to OFAC within 10 business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2: knowing the rules is only useful if the evidence is gathered properly. Every slide in this part ends in an action the analyst can take with today's tools. In the case studies, ask analysts to name the tool or process step they would use at each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UK penalties in this session involved name variants, so analysts need to recognise them when reviewing a near-match. Legal-form prefixes are the most common miss for entities; transliteration for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'How to avoid tipping off?' slide had a title but no content. Tipping off is an AML/CTF offence (UK: POCA s.333A and TA 2000 s.21D), not an offence under the sanctions regulations. What a customer is told about frozen funds is a separate question for L2; customer scripts must be approved by the Sanctions Officer or MLRO.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vote on each case before revealing the decision. Common pitfalls: in case 01, closing on the name difference alone, or keeping an evidenced false positive open 'to be safe'; in case 02, 'they hold no shares, so it's fine'. The control test is legally nuanced, which is why it is an L2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03: Hong Kong applies UN sanctions only, so a local clear is common while UK, EU or US exposure remains. Case 04: merchant comfort is a commercial view, not evidence — just because the merchant says yes does not mean we have to say yes. The original answer slide read 'Clear only if truly matched'; that wording was inverted and has been corrected. If the payment is rejected, L2 still considers whether a report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3: the evidence only protects the firm if it is recorded. The cross-team exercise then shows how sanctions screening, transaction monitoring and event-driven review feed one joined-up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Combines the original 'joined case note' and 'defensible case note' into one template, using the insurance case as the worked example. Evidence standard from the original: every decision must be reproducible from the case record alone. Merchant comfort must never be converted into a false-positive rationale.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original nine-slide sequence. Reveal one evidence drop at a time if you want to keep the original pacing, and ask for a vote after each. Before the reveal, require each group to name the specific evidence that supports its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A: the alias match is unresolved and the ownership chain is incomplete. Why not B: rejecting one payment leaves the customer, the control question and the transaction pattern unaddressed. Debrief: what information would change the outcome to 'clear', 'reject' or 'freeze and report'? (The director's date of birth and ID resolving the alias, and the UBO behind the nominee.)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walking back through the four parts in one sentence each, then point to the Global Sanctions Reporting Procedure and the Sanctions &amp; Compliance team for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uses these acronyms without defining them; this page can be handed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analyst audience each case becomes a sentence of narration linked to a principle. The internal anonymised merchant case from the original has deliberately not been reproduced — see the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3429000"/>
            <a:ext cx="6035040" cy="146304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nvSpPr>
        <p:spPr>
          <a:xfrm>
            <a:off x="731520" y="6263640"/>
            <a:ext cx="10698480" cy="320040"/>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rtlCol="0"/>
          <a:lstStyle>
            <a:lvl1pPr algn="l" indent="0" marL="0">
              <a:buNone/>
              <a:defRPr lang="en-US" sz="1200" b="1" spc="1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nvSpPr>
        <p:spPr>
          <a:xfrm>
            <a:off x="548640" y="6437376"/>
            <a:ext cx="9601200" cy="256032"/>
          </a:xfrm>
          <a:prstGeom prst="rect">
            <a:avLst/>
          </a:prstGeom>
          <a:noFill/>
          <a:ln/>
        </p:spPr>
        <p:txBody>
          <a:bodyPr wrap="square" lIns="0" tIns="0" rIns="0" bIns="0" rtlCol="0" anchor="ctr"/>
          <a:lstStyle/>
          <a:p>
            <a:pPr indent="0" marL="0">
              <a:buNone/>
            </a:pPr>
            <a:r>
              <a:rPr lang="en-US" sz="1000" dirty="0">
                <a:solidFill>
                  <a:schemeClr val="accent6"/>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rtlCol="0"/>
          <a:lstStyle>
            <a:lvl1pPr algn="l" indent="0" marL="0">
              <a:buNone/>
              <a:defRPr lang="en-US" sz="1200" b="1" spc="100" kern="0"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4" name="Text 0"/>
          <p:cNvSpPr/>
          <p:nvPr/>
        </p:nvSpPr>
        <p:spPr>
          <a:xfrm>
            <a:off x="548640" y="6437376"/>
            <a:ext cx="9601200" cy="256032"/>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691640"/>
            <a:ext cx="60350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SANCTIONS TRAINING · OCTOBER 2026</a:t>
            </a:r>
            <a:endParaRPr lang="en-US" sz="1300" dirty="0"/>
          </a:p>
        </p:txBody>
      </p:sp>
      <p:sp>
        <p:nvSpPr>
          <p:cNvPr id="3" name="Text 0"/>
          <p:cNvSpPr/>
          <p:nvPr>
            <p:ph idx="100" type="title" hasCustomPrompt="1"/>
          </p:nvPr>
        </p:nvSpPr>
        <p:spPr>
          <a:xfrm>
            <a:off x="731520" y="2103120"/>
            <a:ext cx="6035040" cy="1188720"/>
          </a:xfrm>
          <a:prstGeom prst="rect">
            <a:avLst/>
          </a:prstGeom>
          <a:noFill/>
          <a:ln/>
        </p:spPr>
        <p:txBody>
          <a:bodyPr wrap="square" lIns="0" tIns="0" rIns="0" bIns="0" rtlCol="0" anchor="b"/>
          <a:lstStyle/>
          <a:p>
            <a:pPr algn="l" indent="0" marL="0">
              <a:buNone/>
            </a:pPr>
            <a:r>
              <a:rPr lang="en-US" sz="4600" b="1" dirty="0">
                <a:solidFill>
                  <a:schemeClr val="bg1"/>
                </a:solidFill>
              </a:rPr>
              <a:t>Sanctions in Practice</a:t>
            </a:r>
            <a:endParaRPr lang="en-US" sz="4600" dirty="0"/>
          </a:p>
        </p:txBody>
      </p:sp>
      <p:sp>
        <p:nvSpPr>
          <p:cNvPr id="4" name="Text 0"/>
          <p:cNvSpPr/>
          <p:nvPr>
            <p:ph idx="101" type="body" hasCustomPrompt="1"/>
          </p:nvPr>
        </p:nvSpPr>
        <p:spPr>
          <a:xfrm>
            <a:off x="731520" y="3429000"/>
            <a:ext cx="6035040" cy="1463040"/>
          </a:xfrm>
          <a:prstGeom prst="rect">
            <a:avLst/>
          </a:prstGeom>
          <a:noFill/>
          <a:ln/>
        </p:spPr>
        <p:txBody>
          <a:bodyPr wrap="square" lIns="0" tIns="0" rIns="0" bIns="0" rtlCol="0" anchor="t"/>
          <a:lstStyle/>
          <a:p>
            <a:pPr algn="l" indent="0" marL="0">
              <a:buNone/>
            </a:pPr>
            <a:r>
              <a:rPr lang="en-US" sz="2200" dirty="0">
                <a:solidFill>
                  <a:schemeClr val="accent5"/>
                </a:solidFill>
              </a:rPr>
              <a:t>A decision discipline, not a list-check</a:t>
            </a:r>
            <a:endParaRPr lang="en-US" sz="2200" dirty="0"/>
          </a:p>
          <a:p>
            <a:pPr algn="l" indent="0" marL="0">
              <a:buNone/>
            </a:pPr>
            <a:r>
              <a:rPr lang="en-US" sz="1600" dirty="0">
                <a:solidFill>
                  <a:schemeClr val="accent5"/>
                </a:solidFill>
              </a:rPr>
              <a:t>Regional rules, common controls &amp; escalation — analyst edition</a:t>
            </a:r>
            <a:endParaRPr lang="en-US" sz="2200" dirty="0"/>
          </a:p>
        </p:txBody>
      </p:sp>
      <p:sp>
        <p:nvSpPr>
          <p:cNvPr id="5" name="Text 3"/>
          <p:cNvSpPr txBox="1"/>
          <p:nvPr/>
        </p:nvSpPr>
        <p:spPr>
          <a:xfrm>
            <a:off x="731520" y="5074920"/>
            <a:ext cx="6035040" cy="320040"/>
          </a:xfrm>
          <a:prstGeom prst="rect">
            <a:avLst/>
          </a:prstGeom>
          <a:noFill/>
          <a:ln/>
        </p:spPr>
        <p:txBody>
          <a:bodyPr wrap="square" lIns="0" tIns="0" rIns="0" bIns="0" rtlCol="0" anchor="t"/>
          <a:lstStyle/>
          <a:p>
            <a:pPr indent="0" marL="0">
              <a:buNone/>
            </a:pPr>
            <a:r>
              <a:rPr lang="en-US" sz="1300" i="1" dirty="0">
                <a:solidFill>
                  <a:schemeClr val="accent5"/>
                </a:solidFill>
              </a:rPr>
              <a:t>Draft for Sanctions Officer review</a:t>
            </a:r>
            <a:endParaRPr lang="en-US" sz="1300" dirty="0"/>
          </a:p>
        </p:txBody>
      </p:sp>
      <p:sp>
        <p:nvSpPr>
          <p:cNvPr id="6" name="one payment"/>
          <p:cNvSpPr/>
          <p:nvPr/>
        </p:nvSpPr>
        <p:spPr>
          <a:xfrm>
            <a:off x="8503920" y="2514600"/>
            <a:ext cx="1554480" cy="1554480"/>
          </a:xfrm>
          <a:prstGeom prst="ellipse">
            <a:avLst/>
          </a:prstGeom>
          <a:solidFill>
            <a:schemeClr val="accent1"/>
          </a:solidFill>
          <a:ln w="12700">
            <a:solidFill>
              <a:schemeClr val="accent1"/>
            </a:solidFill>
            <a:prstDash val="solid"/>
          </a:ln>
        </p:spPr>
      </p:sp>
      <p:sp>
        <p:nvSpPr>
          <p:cNvPr id="7" name="Text 5"/>
          <p:cNvSpPr txBox="1"/>
          <p:nvPr/>
        </p:nvSpPr>
        <p:spPr>
          <a:xfrm>
            <a:off x="8503920" y="2514600"/>
            <a:ext cx="1554480" cy="1554480"/>
          </a:xfrm>
          <a:prstGeom prst="rect">
            <a:avLst/>
          </a:prstGeom>
          <a:noFill/>
          <a:ln/>
        </p:spPr>
        <p:txBody>
          <a:bodyPr wrap="square" lIns="0" tIns="0" rIns="0" bIns="0" rtlCol="0" anchor="ctr"/>
          <a:lstStyle/>
          <a:p>
            <a:pPr algn="ctr" indent="0" marL="0">
              <a:buNone/>
            </a:pPr>
            <a:r>
              <a:rPr lang="en-US" sz="1600" b="1" dirty="0">
                <a:solidFill>
                  <a:schemeClr val="bg1"/>
                </a:solidFill>
              </a:rPr>
              <a:t>ONE</a:t>
            </a:r>
            <a:endParaRPr lang="en-US" sz="1600" dirty="0"/>
          </a:p>
          <a:p>
            <a:pPr algn="ctr" indent="0" marL="0">
              <a:buNone/>
            </a:pPr>
            <a:r>
              <a:rPr lang="en-US" sz="1600" b="1" dirty="0">
                <a:solidFill>
                  <a:schemeClr val="bg1"/>
                </a:solidFill>
              </a:rPr>
              <a:t>PAYMENT</a:t>
            </a:r>
            <a:endParaRPr lang="en-US" sz="1600" dirty="0"/>
          </a:p>
        </p:txBody>
      </p:sp>
      <p:sp>
        <p:nvSpPr>
          <p:cNvPr id="8" name="UK rulebook"/>
          <p:cNvSpPr/>
          <p:nvPr/>
        </p:nvSpPr>
        <p:spPr>
          <a:xfrm>
            <a:off x="8549640" y="1143000"/>
            <a:ext cx="1463040" cy="548640"/>
          </a:xfrm>
          <a:prstGeom prst="roundRect">
            <a:avLst>
              <a:gd name="adj" fmla="val 16667"/>
            </a:avLst>
          </a:prstGeom>
          <a:solidFill>
            <a:schemeClr val="tx1"/>
          </a:solidFill>
          <a:ln w="12700">
            <a:solidFill>
              <a:schemeClr val="accent4"/>
            </a:solidFill>
            <a:prstDash val="solid"/>
          </a:ln>
        </p:spPr>
      </p:sp>
      <p:sp>
        <p:nvSpPr>
          <p:cNvPr id="9" name="Text 7"/>
          <p:cNvSpPr txBox="1"/>
          <p:nvPr/>
        </p:nvSpPr>
        <p:spPr>
          <a:xfrm>
            <a:off x="8549640" y="114300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UK</a:t>
            </a:r>
            <a:endParaRPr lang="en-US" sz="1300" dirty="0"/>
          </a:p>
          <a:p>
            <a:pPr algn="ctr" indent="0" marL="0">
              <a:buNone/>
            </a:pPr>
            <a:r>
              <a:rPr lang="en-US" sz="1000" dirty="0">
                <a:solidFill>
                  <a:schemeClr val="accent5"/>
                </a:solidFill>
              </a:rPr>
              <a:t>rulebook</a:t>
            </a:r>
            <a:endParaRPr lang="en-US" sz="1300" dirty="0"/>
          </a:p>
        </p:txBody>
      </p:sp>
      <p:sp>
        <p:nvSpPr>
          <p:cNvPr id="10" name="France rulebook"/>
          <p:cNvSpPr/>
          <p:nvPr/>
        </p:nvSpPr>
        <p:spPr>
          <a:xfrm>
            <a:off x="10173022" y="2080260"/>
            <a:ext cx="1463040" cy="548640"/>
          </a:xfrm>
          <a:prstGeom prst="roundRect">
            <a:avLst>
              <a:gd name="adj" fmla="val 16667"/>
            </a:avLst>
          </a:prstGeom>
          <a:solidFill>
            <a:schemeClr val="tx1"/>
          </a:solidFill>
          <a:ln w="12700">
            <a:solidFill>
              <a:schemeClr val="accent4"/>
            </a:solidFill>
            <a:prstDash val="solid"/>
          </a:ln>
        </p:spPr>
      </p:sp>
      <p:sp>
        <p:nvSpPr>
          <p:cNvPr id="11" name="Text 9"/>
          <p:cNvSpPr txBox="1"/>
          <p:nvPr/>
        </p:nvSpPr>
        <p:spPr>
          <a:xfrm>
            <a:off x="10173022"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France</a:t>
            </a:r>
            <a:endParaRPr lang="en-US" sz="1300" dirty="0"/>
          </a:p>
          <a:p>
            <a:pPr algn="ctr" indent="0" marL="0">
              <a:buNone/>
            </a:pPr>
            <a:r>
              <a:rPr lang="en-US" sz="1000" dirty="0">
                <a:solidFill>
                  <a:schemeClr val="accent5"/>
                </a:solidFill>
              </a:rPr>
              <a:t>rulebook</a:t>
            </a:r>
            <a:endParaRPr lang="en-US" sz="1300" dirty="0"/>
          </a:p>
        </p:txBody>
      </p:sp>
      <p:sp>
        <p:nvSpPr>
          <p:cNvPr id="12" name="US rulebook"/>
          <p:cNvSpPr/>
          <p:nvPr/>
        </p:nvSpPr>
        <p:spPr>
          <a:xfrm>
            <a:off x="10173022" y="3954780"/>
            <a:ext cx="1463040" cy="548640"/>
          </a:xfrm>
          <a:prstGeom prst="roundRect">
            <a:avLst>
              <a:gd name="adj" fmla="val 16667"/>
            </a:avLst>
          </a:prstGeom>
          <a:solidFill>
            <a:schemeClr val="tx1"/>
          </a:solidFill>
          <a:ln w="12700">
            <a:solidFill>
              <a:schemeClr val="accent4"/>
            </a:solidFill>
            <a:prstDash val="solid"/>
          </a:ln>
        </p:spPr>
      </p:sp>
      <p:sp>
        <p:nvSpPr>
          <p:cNvPr id="13" name="Text 11"/>
          <p:cNvSpPr txBox="1"/>
          <p:nvPr/>
        </p:nvSpPr>
        <p:spPr>
          <a:xfrm>
            <a:off x="10173022"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US</a:t>
            </a:r>
            <a:endParaRPr lang="en-US" sz="1300" dirty="0"/>
          </a:p>
          <a:p>
            <a:pPr algn="ctr" indent="0" marL="0">
              <a:buNone/>
            </a:pPr>
            <a:r>
              <a:rPr lang="en-US" sz="1000" dirty="0">
                <a:solidFill>
                  <a:schemeClr val="accent5"/>
                </a:solidFill>
              </a:rPr>
              <a:t>rulebook</a:t>
            </a:r>
            <a:endParaRPr lang="en-US" sz="1300" dirty="0"/>
          </a:p>
        </p:txBody>
      </p:sp>
      <p:sp>
        <p:nvSpPr>
          <p:cNvPr id="14" name="Hong Kong rulebook"/>
          <p:cNvSpPr/>
          <p:nvPr/>
        </p:nvSpPr>
        <p:spPr>
          <a:xfrm>
            <a:off x="8549640" y="4892040"/>
            <a:ext cx="1463040" cy="548640"/>
          </a:xfrm>
          <a:prstGeom prst="roundRect">
            <a:avLst>
              <a:gd name="adj" fmla="val 16667"/>
            </a:avLst>
          </a:prstGeom>
          <a:solidFill>
            <a:schemeClr val="tx1"/>
          </a:solidFill>
          <a:ln w="12700">
            <a:solidFill>
              <a:schemeClr val="accent4"/>
            </a:solidFill>
            <a:prstDash val="solid"/>
          </a:ln>
        </p:spPr>
      </p:sp>
      <p:sp>
        <p:nvSpPr>
          <p:cNvPr id="15" name="Text 13"/>
          <p:cNvSpPr txBox="1"/>
          <p:nvPr/>
        </p:nvSpPr>
        <p:spPr>
          <a:xfrm>
            <a:off x="8549640" y="489204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Hong Kong</a:t>
            </a:r>
            <a:endParaRPr lang="en-US" sz="1300" dirty="0"/>
          </a:p>
          <a:p>
            <a:pPr algn="ctr" indent="0" marL="0">
              <a:buNone/>
            </a:pPr>
            <a:r>
              <a:rPr lang="en-US" sz="1000" dirty="0">
                <a:solidFill>
                  <a:schemeClr val="accent5"/>
                </a:solidFill>
              </a:rPr>
              <a:t>rulebook</a:t>
            </a:r>
            <a:endParaRPr lang="en-US" sz="1300" dirty="0"/>
          </a:p>
        </p:txBody>
      </p:sp>
      <p:sp>
        <p:nvSpPr>
          <p:cNvPr id="16" name="Singapore rulebook"/>
          <p:cNvSpPr/>
          <p:nvPr/>
        </p:nvSpPr>
        <p:spPr>
          <a:xfrm>
            <a:off x="6926258" y="3954780"/>
            <a:ext cx="1463040" cy="548640"/>
          </a:xfrm>
          <a:prstGeom prst="roundRect">
            <a:avLst>
              <a:gd name="adj" fmla="val 16667"/>
            </a:avLst>
          </a:prstGeom>
          <a:solidFill>
            <a:schemeClr val="tx1"/>
          </a:solidFill>
          <a:ln w="12700">
            <a:solidFill>
              <a:schemeClr val="accent4"/>
            </a:solidFill>
            <a:prstDash val="solid"/>
          </a:ln>
        </p:spPr>
      </p:sp>
      <p:sp>
        <p:nvSpPr>
          <p:cNvPr id="17" name="Text 15"/>
          <p:cNvSpPr txBox="1"/>
          <p:nvPr/>
        </p:nvSpPr>
        <p:spPr>
          <a:xfrm>
            <a:off x="6926258"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Singapore</a:t>
            </a:r>
            <a:endParaRPr lang="en-US" sz="1300" dirty="0"/>
          </a:p>
          <a:p>
            <a:pPr algn="ctr" indent="0" marL="0">
              <a:buNone/>
            </a:pPr>
            <a:r>
              <a:rPr lang="en-US" sz="1000" dirty="0">
                <a:solidFill>
                  <a:schemeClr val="accent5"/>
                </a:solidFill>
              </a:rPr>
              <a:t>rulebook</a:t>
            </a:r>
            <a:endParaRPr lang="en-US" sz="1300" dirty="0"/>
          </a:p>
        </p:txBody>
      </p:sp>
      <p:sp>
        <p:nvSpPr>
          <p:cNvPr id="18" name="UAE rulebook"/>
          <p:cNvSpPr/>
          <p:nvPr/>
        </p:nvSpPr>
        <p:spPr>
          <a:xfrm>
            <a:off x="6926258" y="2080260"/>
            <a:ext cx="1463040" cy="548640"/>
          </a:xfrm>
          <a:prstGeom prst="roundRect">
            <a:avLst>
              <a:gd name="adj" fmla="val 16667"/>
            </a:avLst>
          </a:prstGeom>
          <a:solidFill>
            <a:schemeClr val="tx1"/>
          </a:solidFill>
          <a:ln w="12700">
            <a:solidFill>
              <a:schemeClr val="accent4"/>
            </a:solidFill>
            <a:prstDash val="solid"/>
          </a:ln>
        </p:spPr>
      </p:sp>
      <p:sp>
        <p:nvSpPr>
          <p:cNvPr id="19" name="Text 17"/>
          <p:cNvSpPr txBox="1"/>
          <p:nvPr/>
        </p:nvSpPr>
        <p:spPr>
          <a:xfrm>
            <a:off x="6926258"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UAE</a:t>
            </a:r>
            <a:endParaRPr lang="en-US" sz="1300" dirty="0"/>
          </a:p>
          <a:p>
            <a:pPr algn="ctr" indent="0" marL="0">
              <a:buNone/>
            </a:pPr>
            <a:r>
              <a:rPr lang="en-US" sz="1000" dirty="0">
                <a:solidFill>
                  <a:schemeClr val="accent5"/>
                </a:solidFill>
              </a:rPr>
              <a:t>rulebook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WHY DO WE CARE?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Recent penalties came from everyday alert decisions</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Big fines come from ordinary alert decisions — the same kind you make every day.</a:t>
            </a:r>
            <a:endParaRPr lang="en-US" sz="1700" dirty="0"/>
          </a:p>
        </p:txBody>
      </p:sp>
      <p:sp>
        <p:nvSpPr>
          <p:cNvPr id="5" name="stat Strict liability"/>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Text 4"/>
          <p:cNvSpPr txBox="1"/>
          <p:nvPr/>
        </p:nvSpPr>
        <p:spPr>
          <a:xfrm>
            <a:off x="822960" y="1691640"/>
            <a:ext cx="3017520" cy="7772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Strict liability</a:t>
            </a:r>
            <a:endParaRPr lang="en-US" sz="2800" dirty="0"/>
          </a:p>
        </p:txBody>
      </p:sp>
      <p:sp>
        <p:nvSpPr>
          <p:cNvPr id="7" name="Text 5"/>
          <p:cNvSpPr txBox="1"/>
          <p:nvPr/>
        </p:nvSpPr>
        <p:spPr>
          <a:xfrm>
            <a:off x="82296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In the UK, OFSI can impose a civil penalty without proving that anyone knew or suspected a breach. This applies to breaches from 15 June 2022.</a:t>
            </a:r>
            <a:endParaRPr lang="en-US" sz="1500" dirty="0"/>
          </a:p>
        </p:txBody>
      </p:sp>
      <p:sp>
        <p:nvSpPr>
          <p:cNvPr id="8" name="stat £4.7m"/>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9" name="Text 7"/>
          <p:cNvSpPr txBox="1"/>
          <p:nvPr/>
        </p:nvSpPr>
        <p:spPr>
          <a:xfrm>
            <a:off x="4572000" y="1691640"/>
            <a:ext cx="3017520" cy="777240"/>
          </a:xfrm>
          <a:prstGeom prst="rect">
            <a:avLst/>
          </a:prstGeom>
          <a:noFill/>
          <a:ln/>
        </p:spPr>
        <p:txBody>
          <a:bodyPr wrap="square" lIns="0" tIns="0" rIns="0" bIns="0" rtlCol="0" anchor="ctr"/>
          <a:lstStyle/>
          <a:p>
            <a:pPr indent="0" marL="0">
              <a:buNone/>
            </a:pPr>
            <a:r>
              <a:rPr lang="en-US" sz="4600" b="1" dirty="0">
                <a:solidFill>
                  <a:schemeClr val="tx1"/>
                </a:solidFill>
                <a:latin typeface="Arial" pitchFamily="34" charset="0"/>
                <a:ea typeface="Arial" pitchFamily="34" charset="-122"/>
                <a:cs typeface="Arial" pitchFamily="34" charset="-120"/>
              </a:rPr>
              <a:t>£4.7m</a:t>
            </a:r>
            <a:endParaRPr lang="en-US" sz="4600" dirty="0"/>
          </a:p>
        </p:txBody>
      </p:sp>
      <p:sp>
        <p:nvSpPr>
          <p:cNvPr id="10" name="Text 8"/>
          <p:cNvSpPr txBox="1"/>
          <p:nvPr/>
        </p:nvSpPr>
        <p:spPr>
          <a:xfrm>
            <a:off x="457200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Citibank, London branch (OFSI, August 2026). “PAO Sovcomflot” was not matched to “Sovcomflot”, so no alert was generated. Alerts sat in a backlog, and accounts were not restricted without proof of majority ownership.</a:t>
            </a:r>
            <a:endParaRPr lang="en-US" sz="1500" dirty="0"/>
          </a:p>
        </p:txBody>
      </p:sp>
      <p:sp>
        <p:nvSpPr>
          <p:cNvPr id="11" name="stat £160k"/>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12" name="Text 10"/>
          <p:cNvSpPr txBox="1"/>
          <p:nvPr/>
        </p:nvSpPr>
        <p:spPr>
          <a:xfrm>
            <a:off x="8321040" y="1691640"/>
            <a:ext cx="3017520" cy="777240"/>
          </a:xfrm>
          <a:prstGeom prst="rect">
            <a:avLst/>
          </a:prstGeom>
          <a:noFill/>
          <a:ln/>
        </p:spPr>
        <p:txBody>
          <a:bodyPr wrap="square" lIns="0" tIns="0" rIns="0" bIns="0" rtlCol="0" anchor="ctr"/>
          <a:lstStyle/>
          <a:p>
            <a:pPr indent="0" marL="0">
              <a:buNone/>
            </a:pPr>
            <a:r>
              <a:rPr lang="en-US" sz="4600" b="1" dirty="0">
                <a:solidFill>
                  <a:schemeClr val="accent4"/>
                </a:solidFill>
                <a:latin typeface="Arial" pitchFamily="34" charset="0"/>
                <a:ea typeface="Arial" pitchFamily="34" charset="-122"/>
                <a:cs typeface="Arial" pitchFamily="34" charset="-120"/>
              </a:rPr>
              <a:t>£160k</a:t>
            </a:r>
            <a:endParaRPr lang="en-US" sz="4600" dirty="0"/>
          </a:p>
        </p:txBody>
      </p:sp>
      <p:sp>
        <p:nvSpPr>
          <p:cNvPr id="13" name="Text 11"/>
          <p:cNvSpPr txBox="1"/>
          <p:nvPr/>
        </p:nvSpPr>
        <p:spPr>
          <a:xfrm>
            <a:off x="8321040" y="2560320"/>
            <a:ext cx="3017520" cy="2423160"/>
          </a:xfrm>
          <a:prstGeom prst="rect">
            <a:avLst/>
          </a:prstGeom>
          <a:noFill/>
          <a:ln/>
        </p:spPr>
        <p:txBody>
          <a:bodyPr wrap="square" lIns="0" tIns="0" rIns="0" bIns="0" rtlCol="0" anchor="t"/>
          <a:lstStyle/>
          <a:p>
            <a:pPr indent="0" marL="0">
              <a:buNone/>
            </a:pPr>
            <a:r>
              <a:rPr lang="en-US" sz="1500" dirty="0">
                <a:solidFill>
                  <a:schemeClr val="tx1"/>
                </a:solidFill>
              </a:rPr>
              <a:t>Bank of Scotland (OFSI, published January 2026). An alert was generated, but staff wrongly concluded the person had been delisted. The passport spelling differed from the list entry, and 24 payments were processed.</a:t>
            </a:r>
            <a:endParaRPr lang="en-US" sz="1500" dirty="0"/>
          </a:p>
        </p:txBody>
      </p:sp>
      <p:sp>
        <p:nvSpPr>
          <p:cNvPr id="14"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5" name="Text 13"/>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6" name="Text 14"/>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Under strict liability, the firm is exposed even if no one intended a breach. These fines came from ordinary alert decisions.</a:t>
            </a:r>
            <a:endParaRPr lang="en-US" sz="1400" dirty="0"/>
          </a:p>
        </p:txBody>
      </p:sp>
      <p:sp>
        <p:nvSpPr>
          <p:cNvPr id="17"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8" name="Text 16"/>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9" name="Text 17"/>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Your L1 review is the control: separate noise from exposure — identify, stop, escalate, document — and record why.</a:t>
            </a:r>
            <a:endParaRPr lang="en-US" sz="1400" dirty="0"/>
          </a:p>
        </p:txBody>
      </p:sp>
      <p:sp>
        <p:nvSpPr>
          <p:cNvPr id="20" name="Text 18"/>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PCA 2017 s.146 as amended by ECTEA 2022 s.54 (civil penalties); OFSI penalty notices — Citibank N.A. London Branch (11 Aug 2026), Bank of Scotland plc (imposed 10 Nov 2025, published 26 Jan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SESSION OVERVIEW</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Learning objectives</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in doubt, don't let it go — stop it, check it, escalate it, and write down why.</a:t>
            </a:r>
            <a:endParaRPr lang="en-US" sz="1700" dirty="0"/>
          </a:p>
        </p:txBody>
      </p:sp>
      <p:sp>
        <p:nvSpPr>
          <p:cNvPr id="5" name="objective 1"/>
          <p:cNvSpPr/>
          <p:nvPr/>
        </p:nvSpPr>
        <p:spPr>
          <a:xfrm>
            <a:off x="548640" y="1554480"/>
            <a:ext cx="2651760" cy="3520440"/>
          </a:xfrm>
          <a:prstGeom prst="roundRect">
            <a:avLst>
              <a:gd name="adj" fmla="val 4138"/>
            </a:avLst>
          </a:prstGeom>
          <a:solidFill>
            <a:schemeClr val="bg2"/>
          </a:solidFill>
          <a:ln w="12700">
            <a:solidFill>
              <a:schemeClr val="bg2"/>
            </a:solidFill>
            <a:prstDash val="solid"/>
          </a:ln>
        </p:spPr>
      </p:sp>
      <p:sp>
        <p:nvSpPr>
          <p:cNvPr id="6" name="objective 1 circle"/>
          <p:cNvSpPr/>
          <p:nvPr/>
        </p:nvSpPr>
        <p:spPr>
          <a:xfrm>
            <a:off x="777240" y="1719072"/>
            <a:ext cx="594360" cy="594360"/>
          </a:xfrm>
          <a:prstGeom prst="ellipse">
            <a:avLst/>
          </a:prstGeom>
          <a:solidFill>
            <a:schemeClr val="accent1"/>
          </a:solidFill>
          <a:ln w="12700">
            <a:solidFill>
              <a:schemeClr val="accent1"/>
            </a:solidFill>
            <a:prstDash val="solid"/>
          </a:ln>
        </p:spPr>
      </p:sp>
      <p:pic>
        <p:nvPicPr>
          <p:cNvPr id="7" name="objective 1 icon" descr="preencoded.png">    </p:cNvPr>
          <p:cNvPicPr>
            <a:picLocks noChangeAspect="1"/>
          </p:cNvPicPr>
          <p:nvPr/>
        </p:nvPicPr>
        <p:blipFill>
          <a:blip r:embed="rId1"/>
          <a:stretch>
            <a:fillRect/>
          </a:stretch>
        </p:blipFill>
        <p:spPr>
          <a:xfrm>
            <a:off x="896112" y="1837944"/>
            <a:ext cx="356616" cy="356616"/>
          </a:xfrm>
          <a:prstGeom prst="rect">
            <a:avLst/>
          </a:prstGeom>
        </p:spPr>
      </p:pic>
      <p:sp>
        <p:nvSpPr>
          <p:cNvPr id="8" name="Text 5"/>
          <p:cNvSpPr txBox="1"/>
          <p:nvPr/>
        </p:nvSpPr>
        <p:spPr>
          <a:xfrm>
            <a:off x="2377440" y="1719072"/>
            <a:ext cx="594360" cy="594360"/>
          </a:xfrm>
          <a:prstGeom prst="rect">
            <a:avLst/>
          </a:prstGeom>
          <a:noFill/>
          <a:ln/>
        </p:spPr>
        <p:txBody>
          <a:bodyPr wrap="square" lIns="0" tIns="0" rIns="0" bIns="0" rtlCol="0" anchor="ctr"/>
          <a:lstStyle/>
          <a:p>
            <a:pPr algn="r" indent="0" marL="0">
              <a:buNone/>
            </a:pPr>
            <a:r>
              <a:rPr lang="en-US" sz="2800" b="1" dirty="0">
                <a:solidFill>
                  <a:schemeClr val="accent1"/>
                </a:solidFill>
              </a:rPr>
              <a:t>1</a:t>
            </a:r>
            <a:endParaRPr lang="en-US" sz="2800" dirty="0"/>
          </a:p>
        </p:txBody>
      </p:sp>
      <p:sp>
        <p:nvSpPr>
          <p:cNvPr id="9" name="Text 6"/>
          <p:cNvSpPr txBox="1"/>
          <p:nvPr/>
        </p:nvSpPr>
        <p:spPr>
          <a:xfrm>
            <a:off x="777240"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Understand the model</a:t>
            </a:r>
            <a:endParaRPr lang="en-US" sz="1700" dirty="0"/>
          </a:p>
        </p:txBody>
      </p:sp>
      <p:sp>
        <p:nvSpPr>
          <p:cNvPr id="10" name="Text 7"/>
          <p:cNvSpPr txBox="1"/>
          <p:nvPr/>
        </p:nvSpPr>
        <p:spPr>
          <a:xfrm>
            <a:off x="777240"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Explain the common control model across onboarding, monitoring and payments, and the first response to a potential match.</a:t>
            </a:r>
            <a:endParaRPr lang="en-US" sz="1400" dirty="0"/>
          </a:p>
        </p:txBody>
      </p:sp>
      <p:sp>
        <p:nvSpPr>
          <p:cNvPr id="11" name="Text 8"/>
          <p:cNvSpPr txBox="1"/>
          <p:nvPr/>
        </p:nvSpPr>
        <p:spPr>
          <a:xfrm>
            <a:off x="777240" y="4526280"/>
            <a:ext cx="2240280" cy="457200"/>
          </a:xfrm>
          <a:prstGeom prst="rect">
            <a:avLst/>
          </a:prstGeom>
          <a:noFill/>
          <a:ln/>
        </p:spPr>
        <p:txBody>
          <a:bodyPr wrap="square" lIns="0" tIns="0" rIns="0" bIns="0" rtlCol="0" anchor="t"/>
          <a:lstStyle/>
          <a:p>
            <a:pPr indent="0" marL="0">
              <a:buNone/>
            </a:pPr>
            <a:r>
              <a:rPr lang="en-US" sz="1400" b="1" i="1" dirty="0">
                <a:solidFill>
                  <a:schemeClr val="accent1"/>
                </a:solidFill>
              </a:rPr>
              <a:t>The control objective is constant.</a:t>
            </a:r>
            <a:endParaRPr lang="en-US" sz="1400" dirty="0"/>
          </a:p>
        </p:txBody>
      </p:sp>
      <p:pic>
        <p:nvPicPr>
          <p:cNvPr id="12" name="Image 1" descr="preencoded.png">    </p:cNvPr>
          <p:cNvPicPr>
            <a:picLocks noChangeAspect="1"/>
          </p:cNvPicPr>
          <p:nvPr/>
        </p:nvPicPr>
        <p:blipFill>
          <a:blip r:embed="rId2"/>
          <a:stretch>
            <a:fillRect/>
          </a:stretch>
        </p:blipFill>
        <p:spPr>
          <a:xfrm>
            <a:off x="3182112" y="3200400"/>
            <a:ext cx="182880" cy="182880"/>
          </a:xfrm>
          <a:prstGeom prst="rect">
            <a:avLst/>
          </a:prstGeom>
        </p:spPr>
      </p:pic>
      <p:sp>
        <p:nvSpPr>
          <p:cNvPr id="13" name="objective 2"/>
          <p:cNvSpPr/>
          <p:nvPr/>
        </p:nvSpPr>
        <p:spPr>
          <a:xfrm>
            <a:off x="3346704" y="1554480"/>
            <a:ext cx="2651760" cy="3520440"/>
          </a:xfrm>
          <a:prstGeom prst="roundRect">
            <a:avLst>
              <a:gd name="adj" fmla="val 4138"/>
            </a:avLst>
          </a:prstGeom>
          <a:solidFill>
            <a:schemeClr val="bg2"/>
          </a:solidFill>
          <a:ln w="12700">
            <a:solidFill>
              <a:schemeClr val="bg2"/>
            </a:solidFill>
            <a:prstDash val="solid"/>
          </a:ln>
        </p:spPr>
      </p:sp>
      <p:sp>
        <p:nvSpPr>
          <p:cNvPr id="14" name="objective 2 circle"/>
          <p:cNvSpPr/>
          <p:nvPr/>
        </p:nvSpPr>
        <p:spPr>
          <a:xfrm>
            <a:off x="3575304" y="1719072"/>
            <a:ext cx="594360" cy="594360"/>
          </a:xfrm>
          <a:prstGeom prst="ellipse">
            <a:avLst/>
          </a:prstGeom>
          <a:solidFill>
            <a:schemeClr val="accent4"/>
          </a:solidFill>
          <a:ln w="12700">
            <a:solidFill>
              <a:schemeClr val="accent4"/>
            </a:solidFill>
            <a:prstDash val="solid"/>
          </a:ln>
        </p:spPr>
      </p:sp>
      <p:pic>
        <p:nvPicPr>
          <p:cNvPr id="15" name="objective 2 icon" descr="preencoded.png">    </p:cNvPr>
          <p:cNvPicPr>
            <a:picLocks noChangeAspect="1"/>
          </p:cNvPicPr>
          <p:nvPr/>
        </p:nvPicPr>
        <p:blipFill>
          <a:blip r:embed="rId3"/>
          <a:stretch>
            <a:fillRect/>
          </a:stretch>
        </p:blipFill>
        <p:spPr>
          <a:xfrm>
            <a:off x="3694176" y="1837944"/>
            <a:ext cx="356616" cy="356616"/>
          </a:xfrm>
          <a:prstGeom prst="rect">
            <a:avLst/>
          </a:prstGeom>
        </p:spPr>
      </p:pic>
      <p:sp>
        <p:nvSpPr>
          <p:cNvPr id="16" name="Text 11"/>
          <p:cNvSpPr txBox="1"/>
          <p:nvPr/>
        </p:nvSpPr>
        <p:spPr>
          <a:xfrm>
            <a:off x="5175504" y="1719072"/>
            <a:ext cx="594360" cy="594360"/>
          </a:xfrm>
          <a:prstGeom prst="rect">
            <a:avLst/>
          </a:prstGeom>
          <a:noFill/>
          <a:ln/>
        </p:spPr>
        <p:txBody>
          <a:bodyPr wrap="square" lIns="0" tIns="0" rIns="0" bIns="0" rtlCol="0" anchor="ctr"/>
          <a:lstStyle/>
          <a:p>
            <a:pPr algn="r" indent="0" marL="0">
              <a:buNone/>
            </a:pPr>
            <a:r>
              <a:rPr lang="en-US" sz="2800" b="1" dirty="0">
                <a:solidFill>
                  <a:schemeClr val="accent4"/>
                </a:solidFill>
              </a:rPr>
              <a:t>2</a:t>
            </a:r>
            <a:endParaRPr lang="en-US" sz="2800" dirty="0"/>
          </a:p>
        </p:txBody>
      </p:sp>
      <p:sp>
        <p:nvSpPr>
          <p:cNvPr id="17" name="Text 12"/>
          <p:cNvSpPr txBox="1"/>
          <p:nvPr/>
        </p:nvSpPr>
        <p:spPr>
          <a:xfrm>
            <a:off x="3575304"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Compare the regions</a:t>
            </a:r>
            <a:endParaRPr lang="en-US" sz="1700" dirty="0"/>
          </a:p>
        </p:txBody>
      </p:sp>
      <p:sp>
        <p:nvSpPr>
          <p:cNvPr id="18" name="Text 13"/>
          <p:cNvSpPr txBox="1"/>
          <p:nvPr/>
        </p:nvSpPr>
        <p:spPr>
          <a:xfrm>
            <a:off x="3575304"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Recognise which regimes a payment touches — UK, EU / France, US, UAE, Singapore, Hong Kong — and what changes when they do.</a:t>
            </a:r>
            <a:endParaRPr lang="en-US" sz="1400" dirty="0"/>
          </a:p>
        </p:txBody>
      </p:sp>
      <p:sp>
        <p:nvSpPr>
          <p:cNvPr id="19" name="Text 14"/>
          <p:cNvSpPr txBox="1"/>
          <p:nvPr/>
        </p:nvSpPr>
        <p:spPr>
          <a:xfrm>
            <a:off x="3575304" y="4526280"/>
            <a:ext cx="2240280" cy="457200"/>
          </a:xfrm>
          <a:prstGeom prst="rect">
            <a:avLst/>
          </a:prstGeom>
          <a:noFill/>
          <a:ln/>
        </p:spPr>
        <p:txBody>
          <a:bodyPr wrap="square" lIns="0" tIns="0" rIns="0" bIns="0" rtlCol="0" anchor="t"/>
          <a:lstStyle/>
          <a:p>
            <a:pPr indent="0" marL="0">
              <a:buNone/>
            </a:pPr>
            <a:r>
              <a:rPr lang="en-US" sz="1400" b="1" i="1" dirty="0">
                <a:solidFill>
                  <a:schemeClr val="accent4"/>
                </a:solidFill>
              </a:rPr>
              <a:t>Regional rules differ.</a:t>
            </a:r>
            <a:endParaRPr lang="en-US" sz="1400" dirty="0"/>
          </a:p>
        </p:txBody>
      </p:sp>
      <p:pic>
        <p:nvPicPr>
          <p:cNvPr id="20" name="Image 3" descr="preencoded.png">    </p:cNvPr>
          <p:cNvPicPr>
            <a:picLocks noChangeAspect="1"/>
          </p:cNvPicPr>
          <p:nvPr/>
        </p:nvPicPr>
        <p:blipFill>
          <a:blip r:embed="rId4"/>
          <a:stretch>
            <a:fillRect/>
          </a:stretch>
        </p:blipFill>
        <p:spPr>
          <a:xfrm>
            <a:off x="5980176" y="3200400"/>
            <a:ext cx="182880" cy="182880"/>
          </a:xfrm>
          <a:prstGeom prst="rect">
            <a:avLst/>
          </a:prstGeom>
        </p:spPr>
      </p:pic>
      <p:sp>
        <p:nvSpPr>
          <p:cNvPr id="21" name="objective 3"/>
          <p:cNvSpPr/>
          <p:nvPr/>
        </p:nvSpPr>
        <p:spPr>
          <a:xfrm>
            <a:off x="6144768" y="1554480"/>
            <a:ext cx="2651760" cy="3520440"/>
          </a:xfrm>
          <a:prstGeom prst="roundRect">
            <a:avLst>
              <a:gd name="adj" fmla="val 4138"/>
            </a:avLst>
          </a:prstGeom>
          <a:solidFill>
            <a:schemeClr val="bg2"/>
          </a:solidFill>
          <a:ln w="12700">
            <a:solidFill>
              <a:schemeClr val="bg2"/>
            </a:solidFill>
            <a:prstDash val="solid"/>
          </a:ln>
        </p:spPr>
      </p:sp>
      <p:sp>
        <p:nvSpPr>
          <p:cNvPr id="22" name="objective 3 circle"/>
          <p:cNvSpPr/>
          <p:nvPr/>
        </p:nvSpPr>
        <p:spPr>
          <a:xfrm>
            <a:off x="6373368" y="1719072"/>
            <a:ext cx="594360" cy="594360"/>
          </a:xfrm>
          <a:prstGeom prst="ellipse">
            <a:avLst/>
          </a:prstGeom>
          <a:solidFill>
            <a:schemeClr val="accent2"/>
          </a:solidFill>
          <a:ln w="12700">
            <a:solidFill>
              <a:schemeClr val="accent2"/>
            </a:solidFill>
            <a:prstDash val="solid"/>
          </a:ln>
        </p:spPr>
      </p:sp>
      <p:pic>
        <p:nvPicPr>
          <p:cNvPr id="23" name="objective 3 icon" descr="preencoded.png">    </p:cNvPr>
          <p:cNvPicPr>
            <a:picLocks noChangeAspect="1"/>
          </p:cNvPicPr>
          <p:nvPr/>
        </p:nvPicPr>
        <p:blipFill>
          <a:blip r:embed="rId5"/>
          <a:stretch>
            <a:fillRect/>
          </a:stretch>
        </p:blipFill>
        <p:spPr>
          <a:xfrm>
            <a:off x="6492240" y="1837944"/>
            <a:ext cx="356616" cy="356616"/>
          </a:xfrm>
          <a:prstGeom prst="rect">
            <a:avLst/>
          </a:prstGeom>
        </p:spPr>
      </p:pic>
      <p:sp>
        <p:nvSpPr>
          <p:cNvPr id="24" name="Text 17"/>
          <p:cNvSpPr txBox="1"/>
          <p:nvPr/>
        </p:nvSpPr>
        <p:spPr>
          <a:xfrm>
            <a:off x="7973568" y="1719072"/>
            <a:ext cx="594360" cy="594360"/>
          </a:xfrm>
          <a:prstGeom prst="rect">
            <a:avLst/>
          </a:prstGeom>
          <a:noFill/>
          <a:ln/>
        </p:spPr>
        <p:txBody>
          <a:bodyPr wrap="square" lIns="0" tIns="0" rIns="0" bIns="0" rtlCol="0" anchor="ctr"/>
          <a:lstStyle/>
          <a:p>
            <a:pPr algn="r" indent="0" marL="0">
              <a:buNone/>
            </a:pPr>
            <a:r>
              <a:rPr lang="en-US" sz="2800" b="1" dirty="0">
                <a:solidFill>
                  <a:schemeClr val="accent2"/>
                </a:solidFill>
              </a:rPr>
              <a:t>3</a:t>
            </a:r>
            <a:endParaRPr lang="en-US" sz="2800" dirty="0"/>
          </a:p>
        </p:txBody>
      </p:sp>
      <p:sp>
        <p:nvSpPr>
          <p:cNvPr id="25" name="Text 18"/>
          <p:cNvSpPr txBox="1"/>
          <p:nvPr/>
        </p:nvSpPr>
        <p:spPr>
          <a:xfrm>
            <a:off x="6373368"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Apply the indicators</a:t>
            </a:r>
            <a:endParaRPr lang="en-US" sz="1700" dirty="0"/>
          </a:p>
        </p:txBody>
      </p:sp>
      <p:sp>
        <p:nvSpPr>
          <p:cNvPr id="26" name="Text 19"/>
          <p:cNvSpPr txBox="1"/>
          <p:nvPr/>
        </p:nvSpPr>
        <p:spPr>
          <a:xfrm>
            <a:off x="6373368"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Apply ownership and control, aliases, geography and evasion indicators, using the tools you already have.</a:t>
            </a:r>
            <a:endParaRPr lang="en-US" sz="1400" dirty="0"/>
          </a:p>
        </p:txBody>
      </p:sp>
      <p:sp>
        <p:nvSpPr>
          <p:cNvPr id="27" name="Text 20"/>
          <p:cNvSpPr txBox="1"/>
          <p:nvPr/>
        </p:nvSpPr>
        <p:spPr>
          <a:xfrm>
            <a:off x="6373368" y="4526280"/>
            <a:ext cx="2240280" cy="457200"/>
          </a:xfrm>
          <a:prstGeom prst="rect">
            <a:avLst/>
          </a:prstGeom>
          <a:noFill/>
          <a:ln/>
        </p:spPr>
        <p:txBody>
          <a:bodyPr wrap="square" lIns="0" tIns="0" rIns="0" bIns="0" rtlCol="0" anchor="t"/>
          <a:lstStyle/>
          <a:p>
            <a:pPr indent="0" marL="0">
              <a:buNone/>
            </a:pPr>
            <a:r>
              <a:rPr lang="en-US" sz="1400" b="1" i="1" dirty="0">
                <a:solidFill>
                  <a:schemeClr val="accent2"/>
                </a:solidFill>
              </a:rPr>
              <a:t>From alert to evidence.</a:t>
            </a:r>
            <a:endParaRPr lang="en-US" sz="1400" dirty="0"/>
          </a:p>
        </p:txBody>
      </p:sp>
      <p:pic>
        <p:nvPicPr>
          <p:cNvPr id="28" name="Image 5" descr="preencoded.png">    </p:cNvPr>
          <p:cNvPicPr>
            <a:picLocks noChangeAspect="1"/>
          </p:cNvPicPr>
          <p:nvPr/>
        </p:nvPicPr>
        <p:blipFill>
          <a:blip r:embed="rId6"/>
          <a:stretch>
            <a:fillRect/>
          </a:stretch>
        </p:blipFill>
        <p:spPr>
          <a:xfrm>
            <a:off x="8778240" y="3200400"/>
            <a:ext cx="182880" cy="182880"/>
          </a:xfrm>
          <a:prstGeom prst="rect">
            <a:avLst/>
          </a:prstGeom>
        </p:spPr>
      </p:pic>
      <p:sp>
        <p:nvSpPr>
          <p:cNvPr id="29" name="objective 4"/>
          <p:cNvSpPr/>
          <p:nvPr/>
        </p:nvSpPr>
        <p:spPr>
          <a:xfrm>
            <a:off x="8942832" y="1554480"/>
            <a:ext cx="2651760" cy="3520440"/>
          </a:xfrm>
          <a:prstGeom prst="roundRect">
            <a:avLst>
              <a:gd name="adj" fmla="val 4138"/>
            </a:avLst>
          </a:prstGeom>
          <a:solidFill>
            <a:schemeClr val="bg2"/>
          </a:solidFill>
          <a:ln w="12700">
            <a:solidFill>
              <a:schemeClr val="bg2"/>
            </a:solidFill>
            <a:prstDash val="solid"/>
          </a:ln>
        </p:spPr>
      </p:sp>
      <p:sp>
        <p:nvSpPr>
          <p:cNvPr id="30" name="objective 4 circle"/>
          <p:cNvSpPr/>
          <p:nvPr/>
        </p:nvSpPr>
        <p:spPr>
          <a:xfrm>
            <a:off x="9171432" y="1719072"/>
            <a:ext cx="594360" cy="594360"/>
          </a:xfrm>
          <a:prstGeom prst="ellipse">
            <a:avLst/>
          </a:prstGeom>
          <a:solidFill>
            <a:schemeClr val="accent3"/>
          </a:solidFill>
          <a:ln w="12700">
            <a:solidFill>
              <a:schemeClr val="accent3"/>
            </a:solidFill>
            <a:prstDash val="solid"/>
          </a:ln>
        </p:spPr>
      </p:sp>
      <p:pic>
        <p:nvPicPr>
          <p:cNvPr id="31" name="objective 4 icon" descr="preencoded.png">    </p:cNvPr>
          <p:cNvPicPr>
            <a:picLocks noChangeAspect="1"/>
          </p:cNvPicPr>
          <p:nvPr/>
        </p:nvPicPr>
        <p:blipFill>
          <a:blip r:embed="rId7"/>
          <a:stretch>
            <a:fillRect/>
          </a:stretch>
        </p:blipFill>
        <p:spPr>
          <a:xfrm>
            <a:off x="9290304" y="1837944"/>
            <a:ext cx="356616" cy="356616"/>
          </a:xfrm>
          <a:prstGeom prst="rect">
            <a:avLst/>
          </a:prstGeom>
        </p:spPr>
      </p:pic>
      <p:sp>
        <p:nvSpPr>
          <p:cNvPr id="32" name="Text 23"/>
          <p:cNvSpPr txBox="1"/>
          <p:nvPr/>
        </p:nvSpPr>
        <p:spPr>
          <a:xfrm>
            <a:off x="10771632" y="1719072"/>
            <a:ext cx="594360" cy="594360"/>
          </a:xfrm>
          <a:prstGeom prst="rect">
            <a:avLst/>
          </a:prstGeom>
          <a:noFill/>
          <a:ln/>
        </p:spPr>
        <p:txBody>
          <a:bodyPr wrap="square" lIns="0" tIns="0" rIns="0" bIns="0" rtlCol="0" anchor="ctr"/>
          <a:lstStyle/>
          <a:p>
            <a:pPr algn="r" indent="0" marL="0">
              <a:buNone/>
            </a:pPr>
            <a:r>
              <a:rPr lang="en-US" sz="2800" b="1" dirty="0">
                <a:solidFill>
                  <a:schemeClr val="accent3"/>
                </a:solidFill>
              </a:rPr>
              <a:t>4</a:t>
            </a:r>
            <a:endParaRPr lang="en-US" sz="2800" dirty="0"/>
          </a:p>
        </p:txBody>
      </p:sp>
      <p:sp>
        <p:nvSpPr>
          <p:cNvPr id="33" name="Text 24"/>
          <p:cNvSpPr txBox="1"/>
          <p:nvPr/>
        </p:nvSpPr>
        <p:spPr>
          <a:xfrm>
            <a:off x="9171432" y="2423160"/>
            <a:ext cx="2240280" cy="384048"/>
          </a:xfrm>
          <a:prstGeom prst="rect">
            <a:avLst/>
          </a:prstGeom>
          <a:noFill/>
          <a:ln/>
        </p:spPr>
        <p:txBody>
          <a:bodyPr wrap="square" lIns="0" tIns="0" rIns="0" bIns="0" rtlCol="0" anchor="t"/>
          <a:lstStyle/>
          <a:p>
            <a:pPr indent="0" marL="0">
              <a:buNone/>
            </a:pPr>
            <a:r>
              <a:rPr lang="en-US" sz="1700" b="1" dirty="0">
                <a:solidFill>
                  <a:schemeClr val="tx1"/>
                </a:solidFill>
              </a:rPr>
              <a:t>Record the decision</a:t>
            </a:r>
            <a:endParaRPr lang="en-US" sz="1700" dirty="0"/>
          </a:p>
        </p:txBody>
      </p:sp>
      <p:sp>
        <p:nvSpPr>
          <p:cNvPr id="34" name="Text 25"/>
          <p:cNvSpPr txBox="1"/>
          <p:nvPr/>
        </p:nvSpPr>
        <p:spPr>
          <a:xfrm>
            <a:off x="9171432" y="2852928"/>
            <a:ext cx="2240280" cy="1600200"/>
          </a:xfrm>
          <a:prstGeom prst="rect">
            <a:avLst/>
          </a:prstGeom>
          <a:noFill/>
          <a:ln/>
        </p:spPr>
        <p:txBody>
          <a:bodyPr wrap="square" lIns="0" tIns="0" rIns="0" bIns="0" rtlCol="0" anchor="t"/>
          <a:lstStyle/>
          <a:p>
            <a:pPr indent="0" marL="0">
              <a:buNone/>
            </a:pPr>
            <a:r>
              <a:rPr lang="en-US" sz="1400" dirty="0">
                <a:solidFill>
                  <a:schemeClr val="accent6"/>
                </a:solidFill>
              </a:rPr>
              <a:t>Produce a defensible escalation record — facts, sources, decision, next action — and join it up across teams.</a:t>
            </a:r>
            <a:endParaRPr lang="en-US" sz="1400" dirty="0"/>
          </a:p>
        </p:txBody>
      </p:sp>
      <p:sp>
        <p:nvSpPr>
          <p:cNvPr id="35" name="Text 26"/>
          <p:cNvSpPr txBox="1"/>
          <p:nvPr/>
        </p:nvSpPr>
        <p:spPr>
          <a:xfrm>
            <a:off x="9171432" y="4526280"/>
            <a:ext cx="2240280" cy="457200"/>
          </a:xfrm>
          <a:prstGeom prst="rect">
            <a:avLst/>
          </a:prstGeom>
          <a:noFill/>
          <a:ln/>
        </p:spPr>
        <p:txBody>
          <a:bodyPr wrap="square" lIns="0" tIns="0" rIns="0" bIns="0" rtlCol="0" anchor="t"/>
          <a:lstStyle/>
          <a:p>
            <a:pPr indent="0" marL="0">
              <a:buNone/>
            </a:pPr>
            <a:r>
              <a:rPr lang="en-US" sz="1400" b="1" i="1" dirty="0">
                <a:solidFill>
                  <a:schemeClr val="accent3"/>
                </a:solidFill>
              </a:rPr>
              <a:t>Defensible and reproducible.</a:t>
            </a:r>
            <a:endParaRPr lang="en-US" sz="1400" dirty="0"/>
          </a:p>
        </p:txBody>
      </p:sp>
      <p:sp>
        <p:nvSpPr>
          <p:cNvPr id="3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7" name="Text 28"/>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8" name="Text 29"/>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Regional rules differ, but the control objective is constant. Knowing both lets you act with confidence on any alert.</a:t>
            </a:r>
            <a:endParaRPr lang="en-US" sz="1400" dirty="0"/>
          </a:p>
        </p:txBody>
      </p:sp>
      <p:sp>
        <p:nvSpPr>
          <p:cNvPr id="3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0" name="Text 31"/>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1" name="Text 32"/>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part ends in something you use in your queue: a first response, a regime check, an evidence step and a case note.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Understand the model</a:t>
            </a:r>
            <a:endParaRPr lang="en-US" sz="3000" dirty="0"/>
          </a:p>
        </p:txBody>
      </p:sp>
      <p:sp>
        <p:nvSpPr>
          <p:cNvPr id="4" name="part 1 circle"/>
          <p:cNvSpPr/>
          <p:nvPr/>
        </p:nvSpPr>
        <p:spPr>
          <a:xfrm>
            <a:off x="10561320" y="320040"/>
            <a:ext cx="1005840" cy="1005840"/>
          </a:xfrm>
          <a:prstGeom prst="ellipse">
            <a:avLst/>
          </a:prstGeom>
          <a:solidFill>
            <a:schemeClr val="accent1"/>
          </a:solidFill>
          <a:ln w="12700">
            <a:solidFill>
              <a:schemeClr val="accent1"/>
            </a:solidFill>
            <a:prstDash val="solid"/>
          </a:ln>
        </p:spPr>
      </p:sp>
      <p:pic>
        <p:nvPicPr>
          <p:cNvPr id="5" name="part 1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3"/>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The control objective is constant.</a:t>
            </a:r>
            <a:endParaRPr lang="en-US" sz="2200" dirty="0"/>
          </a:p>
        </p:txBody>
      </p:sp>
      <p:sp>
        <p:nvSpPr>
          <p:cNvPr id="7" name="Text 4"/>
          <p:cNvSpPr txBox="1"/>
          <p:nvPr/>
        </p:nvSpPr>
        <p:spPr>
          <a:xfrm>
            <a:off x="548640" y="1783080"/>
            <a:ext cx="10789920" cy="731520"/>
          </a:xfrm>
          <a:prstGeom prst="rect">
            <a:avLst/>
          </a:prstGeom>
          <a:noFill/>
          <a:ln/>
        </p:spPr>
        <p:txBody>
          <a:bodyPr wrap="square" lIns="0" tIns="0" rIns="0" bIns="0" rtlCol="0" anchor="t"/>
          <a:lstStyle/>
          <a:p>
            <a:pPr indent="0" marL="0">
              <a:buNone/>
            </a:pPr>
            <a:r>
              <a:rPr lang="en-US" sz="1700" dirty="0">
                <a:solidFill>
                  <a:schemeClr val="bg1"/>
                </a:solidFill>
              </a:rPr>
              <a:t>Every region runs the same control model: screen, validate, decide, evidence. In plain terms: know what counts as exposure, and respond the same way every time.</a:t>
            </a:r>
            <a:endParaRPr lang="en-US" sz="1700" dirty="0"/>
          </a:p>
        </p:txBody>
      </p:sp>
      <p:sp>
        <p:nvSpPr>
          <p:cNvPr id="8"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9" name="Text 6"/>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0" name="Text 7"/>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Eight principles that hold in every region</a:t>
            </a:r>
            <a:endParaRPr lang="en-US" sz="1400" dirty="0"/>
          </a:p>
          <a:p>
            <a:pPr marL="342900" indent="-342900">
              <a:spcAft>
                <a:spcPts val="400"/>
              </a:spcAft>
              <a:buSzPct val="100000"/>
              <a:buChar char="•"/>
            </a:pPr>
            <a:r>
              <a:rPr lang="en-US" sz="1400" dirty="0">
                <a:solidFill>
                  <a:schemeClr val="bg1"/>
                </a:solidFill>
              </a:rPr>
              <a:t>What counts as a sanctions exposure</a:t>
            </a:r>
            <a:endParaRPr lang="en-US" sz="1400" dirty="0"/>
          </a:p>
          <a:p>
            <a:pPr marL="342900" indent="-342900">
              <a:spcAft>
                <a:spcPts val="400"/>
              </a:spcAft>
              <a:buSzPct val="100000"/>
              <a:buChar char="•"/>
            </a:pPr>
            <a:r>
              <a:rPr lang="en-US" sz="1400" dirty="0">
                <a:solidFill>
                  <a:schemeClr val="bg1"/>
                </a:solidFill>
              </a:rPr>
              <a:t>First response to a potential true match</a:t>
            </a:r>
            <a:endParaRPr lang="en-US" sz="1400" dirty="0"/>
          </a:p>
        </p:txBody>
      </p:sp>
      <p:sp>
        <p:nvSpPr>
          <p:cNvPr id="11"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2" name="Text 9"/>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3" name="Text 10"/>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Every region uses this model. Running it the same way every time means nothing is released on a guess.</a:t>
            </a:r>
            <a:endParaRPr lang="en-US" sz="1400" dirty="0"/>
          </a:p>
        </p:txBody>
      </p:sp>
      <p:sp>
        <p:nvSpPr>
          <p:cNvPr id="14"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5" name="Text 12"/>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6" name="Text 13"/>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A Firco alert lands in your L1 queue. You review it, a 4-eye check confirms it, and anything confirmed or unresolved goes to L2 Sanctions Compliance.</a:t>
            </a:r>
            <a:endParaRPr lang="en-US" sz="1400" dirty="0"/>
          </a:p>
        </p:txBody>
      </p:sp>
      <p:sp>
        <p:nvSpPr>
          <p:cNvPr id="17"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8" name="Text 15"/>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19" name="Text 16"/>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would make me stop this payment — and what would I need to see before releasing it?</a:t>
            </a:r>
            <a:endParaRPr lang="en-US" sz="1600" dirty="0"/>
          </a:p>
        </p:txBody>
      </p:sp>
      <p:sp>
        <p:nvSpPr>
          <p:cNvPr id="20" name="progress 1"/>
          <p:cNvSpPr/>
          <p:nvPr/>
        </p:nvSpPr>
        <p:spPr>
          <a:xfrm>
            <a:off x="548640" y="5833872"/>
            <a:ext cx="2651760" cy="384048"/>
          </a:xfrm>
          <a:prstGeom prst="roundRect">
            <a:avLst>
              <a:gd name="adj" fmla="val 50000"/>
            </a:avLst>
          </a:prstGeom>
          <a:solidFill>
            <a:schemeClr val="accent1"/>
          </a:solidFill>
          <a:ln w="12700">
            <a:solidFill>
              <a:schemeClr val="accent1"/>
            </a:solidFill>
            <a:prstDash val="solid"/>
          </a:ln>
        </p:spPr>
      </p:sp>
      <p:sp>
        <p:nvSpPr>
          <p:cNvPr id="21" name="Text 18"/>
          <p:cNvSpPr txBox="1"/>
          <p:nvPr/>
        </p:nvSpPr>
        <p:spPr>
          <a:xfrm>
            <a:off x="548640" y="5833872"/>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1  Understand the model</a:t>
            </a:r>
            <a:endParaRPr lang="en-US" sz="1300" dirty="0"/>
          </a:p>
        </p:txBody>
      </p:sp>
      <p:sp>
        <p:nvSpPr>
          <p:cNvPr id="22" name="progress 2"/>
          <p:cNvSpPr/>
          <p:nvPr/>
        </p:nvSpPr>
        <p:spPr>
          <a:xfrm>
            <a:off x="3346704" y="5833872"/>
            <a:ext cx="2651760" cy="384048"/>
          </a:xfrm>
          <a:prstGeom prst="roundRect">
            <a:avLst>
              <a:gd name="adj" fmla="val 50000"/>
            </a:avLst>
          </a:prstGeom>
          <a:solidFill>
            <a:schemeClr val="tx2"/>
          </a:solidFill>
          <a:ln w="12700">
            <a:solidFill>
              <a:schemeClr val="accent4"/>
            </a:solidFill>
            <a:prstDash val="solid"/>
          </a:ln>
        </p:spPr>
      </p:sp>
      <p:sp>
        <p:nvSpPr>
          <p:cNvPr id="23" name="Text 20"/>
          <p:cNvSpPr txBox="1"/>
          <p:nvPr/>
        </p:nvSpPr>
        <p:spPr>
          <a:xfrm>
            <a:off x="3346704"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4" name="progress 3"/>
          <p:cNvSpPr/>
          <p:nvPr/>
        </p:nvSpPr>
        <p:spPr>
          <a:xfrm>
            <a:off x="6144768" y="5833872"/>
            <a:ext cx="2651760" cy="384048"/>
          </a:xfrm>
          <a:prstGeom prst="roundRect">
            <a:avLst>
              <a:gd name="adj" fmla="val 50000"/>
            </a:avLst>
          </a:prstGeom>
          <a:solidFill>
            <a:schemeClr val="tx2"/>
          </a:solidFill>
          <a:ln w="12700">
            <a:solidFill>
              <a:schemeClr val="accent4"/>
            </a:solidFill>
            <a:prstDash val="solid"/>
          </a:ln>
        </p:spPr>
      </p:sp>
      <p:sp>
        <p:nvSpPr>
          <p:cNvPr id="25" name="Text 22"/>
          <p:cNvSpPr txBox="1"/>
          <p:nvPr/>
        </p:nvSpPr>
        <p:spPr>
          <a:xfrm>
            <a:off x="6144768"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6" name="progress 4"/>
          <p:cNvSpPr/>
          <p:nvPr/>
        </p:nvSpPr>
        <p:spPr>
          <a:xfrm>
            <a:off x="8942832" y="5833872"/>
            <a:ext cx="2651760" cy="384048"/>
          </a:xfrm>
          <a:prstGeom prst="roundRect">
            <a:avLst>
              <a:gd name="adj" fmla="val 50000"/>
            </a:avLst>
          </a:prstGeom>
          <a:solidFill>
            <a:schemeClr val="tx2"/>
          </a:solidFill>
          <a:ln w="12700">
            <a:solidFill>
              <a:schemeClr val="accent4"/>
            </a:solidFill>
            <a:prstDash val="solid"/>
          </a:ln>
        </p:spPr>
      </p:sp>
      <p:sp>
        <p:nvSpPr>
          <p:cNvPr id="27" name="Text 24"/>
          <p:cNvSpPr txBox="1"/>
          <p:nvPr/>
        </p:nvSpPr>
        <p:spPr>
          <a:xfrm>
            <a:off x="8942832"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Eight principles hold in every region</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Eight habits that keep you — and the firm — safe on every alert, in every country.</a:t>
            </a:r>
            <a:endParaRPr lang="en-US" sz="1700" dirty="0"/>
          </a:p>
        </p:txBody>
      </p:sp>
      <p:sp>
        <p:nvSpPr>
          <p:cNvPr id="5" name="Shape 3"/>
          <p:cNvSpPr/>
          <p:nvPr/>
        </p:nvSpPr>
        <p:spPr>
          <a:xfrm>
            <a:off x="548640" y="1627632"/>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548640" y="1627632"/>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5"/>
          <p:cNvSpPr txBox="1"/>
          <p:nvPr/>
        </p:nvSpPr>
        <p:spPr>
          <a:xfrm>
            <a:off x="1234440" y="1572768"/>
            <a:ext cx="4709160" cy="292608"/>
          </a:xfrm>
          <a:prstGeom prst="rect">
            <a:avLst/>
          </a:prstGeom>
          <a:noFill/>
          <a:ln/>
        </p:spPr>
        <p:txBody>
          <a:bodyPr wrap="square" lIns="0" tIns="0" rIns="0" bIns="0" rtlCol="0" anchor="t"/>
          <a:lstStyle/>
          <a:p>
            <a:pPr indent="0" marL="0">
              <a:buNone/>
            </a:pPr>
            <a:r>
              <a:rPr lang="en-US" sz="1600" b="1" dirty="0">
                <a:solidFill>
                  <a:schemeClr val="accent1"/>
                </a:solidFill>
              </a:rPr>
              <a:t>Hold under uncertainty</a:t>
            </a:r>
            <a:endParaRPr lang="en-US" sz="1600" dirty="0"/>
          </a:p>
        </p:txBody>
      </p:sp>
      <p:sp>
        <p:nvSpPr>
          <p:cNvPr id="8" name="Text 6"/>
          <p:cNvSpPr txBox="1"/>
          <p:nvPr/>
        </p:nvSpPr>
        <p:spPr>
          <a:xfrm>
            <a:off x="1234440" y="1883664"/>
            <a:ext cx="4709160" cy="475488"/>
          </a:xfrm>
          <a:prstGeom prst="rect">
            <a:avLst/>
          </a:prstGeom>
          <a:noFill/>
          <a:ln/>
        </p:spPr>
        <p:txBody>
          <a:bodyPr wrap="square" lIns="0" tIns="0" rIns="0" bIns="0" rtlCol="0" anchor="t"/>
          <a:lstStyle/>
          <a:p>
            <a:pPr indent="0" marL="0">
              <a:buNone/>
            </a:pPr>
            <a:r>
              <a:rPr lang="en-US" sz="1400" dirty="0">
                <a:solidFill>
                  <a:schemeClr val="accent6"/>
                </a:solidFill>
              </a:rPr>
              <a:t>Do not release, complete or bypass a payment while material uncertainty remains.</a:t>
            </a:r>
            <a:endParaRPr lang="en-US" sz="1400" dirty="0"/>
          </a:p>
        </p:txBody>
      </p:sp>
      <p:sp>
        <p:nvSpPr>
          <p:cNvPr id="9" name="Shape 7"/>
          <p:cNvSpPr/>
          <p:nvPr/>
        </p:nvSpPr>
        <p:spPr>
          <a:xfrm>
            <a:off x="548640" y="2514600"/>
            <a:ext cx="502920" cy="502920"/>
          </a:xfrm>
          <a:prstGeom prst="ellipse">
            <a:avLst/>
          </a:prstGeom>
          <a:solidFill>
            <a:schemeClr val="tx1"/>
          </a:solidFill>
          <a:ln w="12700">
            <a:solidFill>
              <a:schemeClr val="tx1"/>
            </a:solidFill>
            <a:prstDash val="solid"/>
          </a:ln>
        </p:spPr>
      </p:sp>
      <p:sp>
        <p:nvSpPr>
          <p:cNvPr id="10" name="Text 8"/>
          <p:cNvSpPr txBox="1"/>
          <p:nvPr/>
        </p:nvSpPr>
        <p:spPr>
          <a:xfrm>
            <a:off x="548640" y="25146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1" name="Text 9"/>
          <p:cNvSpPr txBox="1"/>
          <p:nvPr/>
        </p:nvSpPr>
        <p:spPr>
          <a:xfrm>
            <a:off x="1234440" y="2459736"/>
            <a:ext cx="4709160" cy="292608"/>
          </a:xfrm>
          <a:prstGeom prst="rect">
            <a:avLst/>
          </a:prstGeom>
          <a:noFill/>
          <a:ln/>
        </p:spPr>
        <p:txBody>
          <a:bodyPr wrap="square" lIns="0" tIns="0" rIns="0" bIns="0" rtlCol="0" anchor="t"/>
          <a:lstStyle/>
          <a:p>
            <a:pPr indent="0" marL="0">
              <a:buNone/>
            </a:pPr>
            <a:r>
              <a:rPr lang="en-US" sz="1600" b="1" dirty="0">
                <a:solidFill>
                  <a:schemeClr val="tx1"/>
                </a:solidFill>
              </a:rPr>
              <a:t>Identity, not just name</a:t>
            </a:r>
            <a:endParaRPr lang="en-US" sz="1600" dirty="0"/>
          </a:p>
        </p:txBody>
      </p:sp>
      <p:sp>
        <p:nvSpPr>
          <p:cNvPr id="12" name="Text 10"/>
          <p:cNvSpPr txBox="1"/>
          <p:nvPr/>
        </p:nvSpPr>
        <p:spPr>
          <a:xfrm>
            <a:off x="1234440" y="2770632"/>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name match starts the analysis. Compare date of birth, nationality, address and ID.</a:t>
            </a:r>
            <a:endParaRPr lang="en-US" sz="1400" dirty="0"/>
          </a:p>
        </p:txBody>
      </p:sp>
      <p:sp>
        <p:nvSpPr>
          <p:cNvPr id="13" name="Shape 11"/>
          <p:cNvSpPr/>
          <p:nvPr/>
        </p:nvSpPr>
        <p:spPr>
          <a:xfrm>
            <a:off x="548640" y="3401568"/>
            <a:ext cx="502920" cy="502920"/>
          </a:xfrm>
          <a:prstGeom prst="ellipse">
            <a:avLst/>
          </a:prstGeom>
          <a:solidFill>
            <a:schemeClr val="tx1"/>
          </a:solidFill>
          <a:ln w="12700">
            <a:solidFill>
              <a:schemeClr val="tx1"/>
            </a:solidFill>
            <a:prstDash val="solid"/>
          </a:ln>
        </p:spPr>
      </p:sp>
      <p:sp>
        <p:nvSpPr>
          <p:cNvPr id="14" name="Text 12"/>
          <p:cNvSpPr txBox="1"/>
          <p:nvPr/>
        </p:nvSpPr>
        <p:spPr>
          <a:xfrm>
            <a:off x="548640" y="3401568"/>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5" name="Text 13"/>
          <p:cNvSpPr txBox="1"/>
          <p:nvPr/>
        </p:nvSpPr>
        <p:spPr>
          <a:xfrm>
            <a:off x="1234440" y="3346704"/>
            <a:ext cx="4709160" cy="292608"/>
          </a:xfrm>
          <a:prstGeom prst="rect">
            <a:avLst/>
          </a:prstGeom>
          <a:noFill/>
          <a:ln/>
        </p:spPr>
        <p:txBody>
          <a:bodyPr wrap="square" lIns="0" tIns="0" rIns="0" bIns="0" rtlCol="0" anchor="t"/>
          <a:lstStyle/>
          <a:p>
            <a:pPr indent="0" marL="0">
              <a:buNone/>
            </a:pPr>
            <a:r>
              <a:rPr lang="en-US" sz="1600" b="1" dirty="0">
                <a:solidFill>
                  <a:schemeClr val="tx1"/>
                </a:solidFill>
              </a:rPr>
              <a:t>Ownership and control</a:t>
            </a:r>
            <a:endParaRPr lang="en-US" sz="1600" dirty="0"/>
          </a:p>
        </p:txBody>
      </p:sp>
      <p:sp>
        <p:nvSpPr>
          <p:cNvPr id="16" name="Text 14"/>
          <p:cNvSpPr txBox="1"/>
          <p:nvPr/>
        </p:nvSpPr>
        <p:spPr>
          <a:xfrm>
            <a:off x="1234440" y="3657600"/>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party that is not listed can still carry exposure through a designated owner or controller.</a:t>
            </a:r>
            <a:endParaRPr lang="en-US" sz="1400" dirty="0"/>
          </a:p>
        </p:txBody>
      </p:sp>
      <p:sp>
        <p:nvSpPr>
          <p:cNvPr id="17" name="Shape 15"/>
          <p:cNvSpPr/>
          <p:nvPr/>
        </p:nvSpPr>
        <p:spPr>
          <a:xfrm>
            <a:off x="548640" y="4288536"/>
            <a:ext cx="502920" cy="502920"/>
          </a:xfrm>
          <a:prstGeom prst="ellipse">
            <a:avLst/>
          </a:prstGeom>
          <a:solidFill>
            <a:schemeClr val="tx1"/>
          </a:solidFill>
          <a:ln w="12700">
            <a:solidFill>
              <a:schemeClr val="tx1"/>
            </a:solidFill>
            <a:prstDash val="solid"/>
          </a:ln>
        </p:spPr>
      </p:sp>
      <p:sp>
        <p:nvSpPr>
          <p:cNvPr id="18" name="Text 16"/>
          <p:cNvSpPr txBox="1"/>
          <p:nvPr/>
        </p:nvSpPr>
        <p:spPr>
          <a:xfrm>
            <a:off x="548640" y="4288536"/>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9" name="Text 17"/>
          <p:cNvSpPr txBox="1"/>
          <p:nvPr/>
        </p:nvSpPr>
        <p:spPr>
          <a:xfrm>
            <a:off x="1234440" y="4233672"/>
            <a:ext cx="4709160" cy="292608"/>
          </a:xfrm>
          <a:prstGeom prst="rect">
            <a:avLst/>
          </a:prstGeom>
          <a:noFill/>
          <a:ln/>
        </p:spPr>
        <p:txBody>
          <a:bodyPr wrap="square" lIns="0" tIns="0" rIns="0" bIns="0" rtlCol="0" anchor="t"/>
          <a:lstStyle/>
          <a:p>
            <a:pPr indent="0" marL="0">
              <a:buNone/>
            </a:pPr>
            <a:r>
              <a:rPr lang="en-US" sz="1600" b="1" dirty="0">
                <a:solidFill>
                  <a:schemeClr val="tx1"/>
                </a:solidFill>
              </a:rPr>
              <a:t>Every applicable regime</a:t>
            </a:r>
            <a:endParaRPr lang="en-US" sz="1600" dirty="0"/>
          </a:p>
        </p:txBody>
      </p:sp>
      <p:sp>
        <p:nvSpPr>
          <p:cNvPr id="20" name="Text 18"/>
          <p:cNvSpPr txBox="1"/>
          <p:nvPr/>
        </p:nvSpPr>
        <p:spPr>
          <a:xfrm>
            <a:off x="1234440" y="4544568"/>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clear result on the local list does not clear the payment. Every jurisdiction it touches applies.</a:t>
            </a:r>
            <a:endParaRPr lang="en-US" sz="1400" dirty="0"/>
          </a:p>
        </p:txBody>
      </p:sp>
      <p:sp>
        <p:nvSpPr>
          <p:cNvPr id="21" name="Shape 19"/>
          <p:cNvSpPr/>
          <p:nvPr/>
        </p:nvSpPr>
        <p:spPr>
          <a:xfrm>
            <a:off x="6217920" y="1627632"/>
            <a:ext cx="502920" cy="502920"/>
          </a:xfrm>
          <a:prstGeom prst="ellipse">
            <a:avLst/>
          </a:prstGeom>
          <a:solidFill>
            <a:schemeClr val="tx1"/>
          </a:solidFill>
          <a:ln w="12700">
            <a:solidFill>
              <a:schemeClr val="tx1"/>
            </a:solidFill>
            <a:prstDash val="solid"/>
          </a:ln>
        </p:spPr>
      </p:sp>
      <p:sp>
        <p:nvSpPr>
          <p:cNvPr id="22" name="Text 20"/>
          <p:cNvSpPr txBox="1"/>
          <p:nvPr/>
        </p:nvSpPr>
        <p:spPr>
          <a:xfrm>
            <a:off x="6217920" y="1627632"/>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3" name="Text 21"/>
          <p:cNvSpPr txBox="1"/>
          <p:nvPr/>
        </p:nvSpPr>
        <p:spPr>
          <a:xfrm>
            <a:off x="6903720" y="1572768"/>
            <a:ext cx="4709160" cy="292608"/>
          </a:xfrm>
          <a:prstGeom prst="rect">
            <a:avLst/>
          </a:prstGeom>
          <a:noFill/>
          <a:ln/>
        </p:spPr>
        <p:txBody>
          <a:bodyPr wrap="square" lIns="0" tIns="0" rIns="0" bIns="0" rtlCol="0" anchor="t"/>
          <a:lstStyle/>
          <a:p>
            <a:pPr indent="0" marL="0">
              <a:buNone/>
            </a:pPr>
            <a:r>
              <a:rPr lang="en-US" sz="1600" b="1" dirty="0">
                <a:solidFill>
                  <a:schemeClr val="tx1"/>
                </a:solidFill>
              </a:rPr>
              <a:t>Missing data is not a clear</a:t>
            </a:r>
            <a:endParaRPr lang="en-US" sz="1600" dirty="0"/>
          </a:p>
        </p:txBody>
      </p:sp>
      <p:sp>
        <p:nvSpPr>
          <p:cNvPr id="24" name="Text 22"/>
          <p:cNvSpPr txBox="1"/>
          <p:nvPr/>
        </p:nvSpPr>
        <p:spPr>
          <a:xfrm>
            <a:off x="6903720" y="1883664"/>
            <a:ext cx="4709160" cy="475488"/>
          </a:xfrm>
          <a:prstGeom prst="rect">
            <a:avLst/>
          </a:prstGeom>
          <a:noFill/>
          <a:ln/>
        </p:spPr>
        <p:txBody>
          <a:bodyPr wrap="square" lIns="0" tIns="0" rIns="0" bIns="0" rtlCol="0" anchor="t"/>
          <a:lstStyle/>
          <a:p>
            <a:pPr indent="0" marL="0">
              <a:buNone/>
            </a:pPr>
            <a:r>
              <a:rPr lang="en-US" sz="1400" dirty="0">
                <a:solidFill>
                  <a:schemeClr val="accent6"/>
                </a:solidFill>
              </a:rPr>
              <a:t>Where identifiers are missing, request them. If they cannot be obtained, escalate.</a:t>
            </a:r>
            <a:endParaRPr lang="en-US" sz="1400" dirty="0"/>
          </a:p>
        </p:txBody>
      </p:sp>
      <p:sp>
        <p:nvSpPr>
          <p:cNvPr id="25" name="Shape 23"/>
          <p:cNvSpPr/>
          <p:nvPr/>
        </p:nvSpPr>
        <p:spPr>
          <a:xfrm>
            <a:off x="6217920" y="2514600"/>
            <a:ext cx="502920" cy="502920"/>
          </a:xfrm>
          <a:prstGeom prst="ellipse">
            <a:avLst/>
          </a:prstGeom>
          <a:solidFill>
            <a:schemeClr val="tx1"/>
          </a:solidFill>
          <a:ln w="12700">
            <a:solidFill>
              <a:schemeClr val="tx1"/>
            </a:solidFill>
            <a:prstDash val="solid"/>
          </a:ln>
        </p:spPr>
      </p:sp>
      <p:sp>
        <p:nvSpPr>
          <p:cNvPr id="26" name="Text 24"/>
          <p:cNvSpPr txBox="1"/>
          <p:nvPr/>
        </p:nvSpPr>
        <p:spPr>
          <a:xfrm>
            <a:off x="6217920" y="25146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7" name="Text 25"/>
          <p:cNvSpPr txBox="1"/>
          <p:nvPr/>
        </p:nvSpPr>
        <p:spPr>
          <a:xfrm>
            <a:off x="6903720" y="2459736"/>
            <a:ext cx="4709160" cy="292608"/>
          </a:xfrm>
          <a:prstGeom prst="rect">
            <a:avLst/>
          </a:prstGeom>
          <a:noFill/>
          <a:ln/>
        </p:spPr>
        <p:txBody>
          <a:bodyPr wrap="square" lIns="0" tIns="0" rIns="0" bIns="0" rtlCol="0" anchor="t"/>
          <a:lstStyle/>
          <a:p>
            <a:pPr indent="0" marL="0">
              <a:buNone/>
            </a:pPr>
            <a:r>
              <a:rPr lang="en-US" sz="1600" b="1" dirty="0">
                <a:solidFill>
                  <a:schemeClr val="tx1"/>
                </a:solidFill>
              </a:rPr>
              <a:t>Merchant comfort is not evidence</a:t>
            </a:r>
            <a:endParaRPr lang="en-US" sz="1600" dirty="0"/>
          </a:p>
        </p:txBody>
      </p:sp>
      <p:sp>
        <p:nvSpPr>
          <p:cNvPr id="28" name="Text 26"/>
          <p:cNvSpPr txBox="1"/>
          <p:nvPr/>
        </p:nvSpPr>
        <p:spPr>
          <a:xfrm>
            <a:off x="6903720" y="2770632"/>
            <a:ext cx="4709160" cy="475488"/>
          </a:xfrm>
          <a:prstGeom prst="rect">
            <a:avLst/>
          </a:prstGeom>
          <a:noFill/>
          <a:ln/>
        </p:spPr>
        <p:txBody>
          <a:bodyPr wrap="square" lIns="0" tIns="0" rIns="0" bIns="0" rtlCol="0" anchor="t"/>
          <a:lstStyle/>
          <a:p>
            <a:pPr indent="0" marL="0">
              <a:buNone/>
            </a:pPr>
            <a:r>
              <a:rPr lang="en-US" sz="1400" dirty="0">
                <a:solidFill>
                  <a:schemeClr val="accent6"/>
                </a:solidFill>
              </a:rPr>
              <a:t>A merchant's assurance is a commercial view. It does not resolve a sanctions match.</a:t>
            </a:r>
            <a:endParaRPr lang="en-US" sz="1400" dirty="0"/>
          </a:p>
        </p:txBody>
      </p:sp>
      <p:sp>
        <p:nvSpPr>
          <p:cNvPr id="29" name="Shape 27"/>
          <p:cNvSpPr/>
          <p:nvPr/>
        </p:nvSpPr>
        <p:spPr>
          <a:xfrm>
            <a:off x="6217920" y="3401568"/>
            <a:ext cx="502920" cy="502920"/>
          </a:xfrm>
          <a:prstGeom prst="ellipse">
            <a:avLst/>
          </a:prstGeom>
          <a:solidFill>
            <a:schemeClr val="tx1"/>
          </a:solidFill>
          <a:ln w="12700">
            <a:solidFill>
              <a:schemeClr val="tx1"/>
            </a:solidFill>
            <a:prstDash val="solid"/>
          </a:ln>
        </p:spPr>
      </p:sp>
      <p:sp>
        <p:nvSpPr>
          <p:cNvPr id="30" name="Text 28"/>
          <p:cNvSpPr txBox="1"/>
          <p:nvPr/>
        </p:nvSpPr>
        <p:spPr>
          <a:xfrm>
            <a:off x="6217920" y="3401568"/>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31" name="Text 29"/>
          <p:cNvSpPr txBox="1"/>
          <p:nvPr/>
        </p:nvSpPr>
        <p:spPr>
          <a:xfrm>
            <a:off x="6903720" y="3346704"/>
            <a:ext cx="4709160" cy="292608"/>
          </a:xfrm>
          <a:prstGeom prst="rect">
            <a:avLst/>
          </a:prstGeom>
          <a:noFill/>
          <a:ln/>
        </p:spPr>
        <p:txBody>
          <a:bodyPr wrap="square" lIns="0" tIns="0" rIns="0" bIns="0" rtlCol="0" anchor="t"/>
          <a:lstStyle/>
          <a:p>
            <a:pPr indent="0" marL="0">
              <a:buNone/>
            </a:pPr>
            <a:r>
              <a:rPr lang="en-US" sz="1600" b="1" dirty="0">
                <a:solidFill>
                  <a:schemeClr val="tx1"/>
                </a:solidFill>
              </a:rPr>
              <a:t>Focused RFIs, no tipping off</a:t>
            </a:r>
            <a:endParaRPr lang="en-US" sz="1600" dirty="0"/>
          </a:p>
        </p:txBody>
      </p:sp>
      <p:sp>
        <p:nvSpPr>
          <p:cNvPr id="32" name="Text 30"/>
          <p:cNvSpPr txBox="1"/>
          <p:nvPr/>
        </p:nvSpPr>
        <p:spPr>
          <a:xfrm>
            <a:off x="6903720" y="3657600"/>
            <a:ext cx="4709160" cy="475488"/>
          </a:xfrm>
          <a:prstGeom prst="rect">
            <a:avLst/>
          </a:prstGeom>
          <a:noFill/>
          <a:ln/>
        </p:spPr>
        <p:txBody>
          <a:bodyPr wrap="square" lIns="0" tIns="0" rIns="0" bIns="0" rtlCol="0" anchor="t"/>
          <a:lstStyle/>
          <a:p>
            <a:pPr indent="0" marL="0">
              <a:buNone/>
            </a:pPr>
            <a:r>
              <a:rPr lang="en-US" sz="1400" dirty="0">
                <a:solidFill>
                  <a:schemeClr val="accent6"/>
                </a:solidFill>
              </a:rPr>
              <a:t>Request only the information you need, without disclosing why you need it.</a:t>
            </a:r>
            <a:endParaRPr lang="en-US" sz="1400" dirty="0"/>
          </a:p>
        </p:txBody>
      </p:sp>
      <p:sp>
        <p:nvSpPr>
          <p:cNvPr id="33" name="Shape 31"/>
          <p:cNvSpPr/>
          <p:nvPr/>
        </p:nvSpPr>
        <p:spPr>
          <a:xfrm>
            <a:off x="6217920" y="4288536"/>
            <a:ext cx="502920" cy="502920"/>
          </a:xfrm>
          <a:prstGeom prst="ellipse">
            <a:avLst/>
          </a:prstGeom>
          <a:solidFill>
            <a:schemeClr val="tx1"/>
          </a:solidFill>
          <a:ln w="12700">
            <a:solidFill>
              <a:schemeClr val="tx1"/>
            </a:solidFill>
            <a:prstDash val="solid"/>
          </a:ln>
        </p:spPr>
      </p:sp>
      <p:sp>
        <p:nvSpPr>
          <p:cNvPr id="34" name="Text 32"/>
          <p:cNvSpPr txBox="1"/>
          <p:nvPr/>
        </p:nvSpPr>
        <p:spPr>
          <a:xfrm>
            <a:off x="6217920" y="4288536"/>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5" name="Text 33"/>
          <p:cNvSpPr txBox="1"/>
          <p:nvPr/>
        </p:nvSpPr>
        <p:spPr>
          <a:xfrm>
            <a:off x="6903720" y="4233672"/>
            <a:ext cx="4709160" cy="292608"/>
          </a:xfrm>
          <a:prstGeom prst="rect">
            <a:avLst/>
          </a:prstGeom>
          <a:noFill/>
          <a:ln/>
        </p:spPr>
        <p:txBody>
          <a:bodyPr wrap="square" lIns="0" tIns="0" rIns="0" bIns="0" rtlCol="0" anchor="t"/>
          <a:lstStyle/>
          <a:p>
            <a:pPr indent="0" marL="0">
              <a:buNone/>
            </a:pPr>
            <a:r>
              <a:rPr lang="en-US" sz="1600" b="1" dirty="0">
                <a:solidFill>
                  <a:schemeClr val="tx1"/>
                </a:solidFill>
              </a:rPr>
              <a:t>A reproducible record</a:t>
            </a:r>
            <a:endParaRPr lang="en-US" sz="1600" dirty="0"/>
          </a:p>
        </p:txBody>
      </p:sp>
      <p:sp>
        <p:nvSpPr>
          <p:cNvPr id="36" name="Text 34"/>
          <p:cNvSpPr txBox="1"/>
          <p:nvPr/>
        </p:nvSpPr>
        <p:spPr>
          <a:xfrm>
            <a:off x="6903720" y="4544568"/>
            <a:ext cx="4709160" cy="475488"/>
          </a:xfrm>
          <a:prstGeom prst="rect">
            <a:avLst/>
          </a:prstGeom>
          <a:noFill/>
          <a:ln/>
        </p:spPr>
        <p:txBody>
          <a:bodyPr wrap="square" lIns="0" tIns="0" rIns="0" bIns="0" rtlCol="0" anchor="t"/>
          <a:lstStyle/>
          <a:p>
            <a:pPr indent="0" marL="0">
              <a:buNone/>
            </a:pPr>
            <a:r>
              <a:rPr lang="en-US" sz="1400" dirty="0">
                <a:solidFill>
                  <a:schemeClr val="accent6"/>
                </a:solidFill>
              </a:rPr>
              <a:t>Every decision must be reproducible from the case record alone.</a:t>
            </a:r>
            <a:endParaRPr lang="en-US" sz="1400" dirty="0"/>
          </a:p>
        </p:txBody>
      </p:sp>
      <p:sp>
        <p:nvSpPr>
          <p:cNvPr id="3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8" name="Text 36"/>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9" name="Text 37"/>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Each principle guards against a failure covered in this session — from discounted alerts to missed owners and merchant pressure.</a:t>
            </a:r>
            <a:endParaRPr lang="en-US" sz="1400" dirty="0"/>
          </a:p>
        </p:txBody>
      </p:sp>
      <p:sp>
        <p:nvSpPr>
          <p:cNvPr id="4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1" name="Text 39"/>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2" name="Text 40"/>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Apply all eight on every alert, in every region. If a decision would break one of them, stop and escalate to L2.</a:t>
            </a:r>
            <a:endParaRPr lang="en-US" sz="1400" dirty="0"/>
          </a:p>
        </p:txBody>
      </p:sp>
      <p:sp>
        <p:nvSpPr>
          <p:cNvPr id="43" name="Text 41"/>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(cite section); OFSI Financial Sanctions General Guidance; OFAC Framework for Compliance Commitments (2019).</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What counts as a sanctions exposure?</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 payment can be risky even when the name is not on any list.</a:t>
            </a:r>
            <a:endParaRPr lang="en-US" sz="1700" dirty="0"/>
          </a:p>
        </p:txBody>
      </p:sp>
      <p:sp>
        <p:nvSpPr>
          <p:cNvPr id="5" name="Direct hit"/>
          <p:cNvSpPr/>
          <p:nvPr/>
        </p:nvSpPr>
        <p:spPr>
          <a:xfrm>
            <a:off x="548640" y="1554480"/>
            <a:ext cx="5440680" cy="1691640"/>
          </a:xfrm>
          <a:prstGeom prst="roundRect">
            <a:avLst>
              <a:gd name="adj" fmla="val 6486"/>
            </a:avLst>
          </a:prstGeom>
          <a:solidFill>
            <a:schemeClr val="bg2"/>
          </a:solidFill>
          <a:ln w="12700">
            <a:solidFill>
              <a:schemeClr val="bg2"/>
            </a:solidFill>
            <a:prstDash val="solid"/>
          </a:ln>
        </p:spPr>
      </p:sp>
      <p:sp>
        <p:nvSpPr>
          <p:cNvPr id="6" name="Direct hit circle"/>
          <p:cNvSpPr/>
          <p:nvPr/>
        </p:nvSpPr>
        <p:spPr>
          <a:xfrm>
            <a:off x="777240" y="1755648"/>
            <a:ext cx="594360" cy="594360"/>
          </a:xfrm>
          <a:prstGeom prst="ellipse">
            <a:avLst/>
          </a:prstGeom>
          <a:solidFill>
            <a:schemeClr val="accent1"/>
          </a:solidFill>
          <a:ln w="12700">
            <a:solidFill>
              <a:schemeClr val="accent1"/>
            </a:solidFill>
            <a:prstDash val="solid"/>
          </a:ln>
        </p:spPr>
      </p:sp>
      <p:pic>
        <p:nvPicPr>
          <p:cNvPr id="7" name="Direct hit icon" descr="preencoded.png">    </p:cNvPr>
          <p:cNvPicPr>
            <a:picLocks noChangeAspect="1"/>
          </p:cNvPicPr>
          <p:nvPr/>
        </p:nvPicPr>
        <p:blipFill>
          <a:blip r:embed="rId1"/>
          <a:stretch>
            <a:fillRect/>
          </a:stretch>
        </p:blipFill>
        <p:spPr>
          <a:xfrm>
            <a:off x="896112" y="1874520"/>
            <a:ext cx="356616" cy="356616"/>
          </a:xfrm>
          <a:prstGeom prst="rect">
            <a:avLst/>
          </a:prstGeom>
        </p:spPr>
      </p:pic>
      <p:sp>
        <p:nvSpPr>
          <p:cNvPr id="8" name="Text 5"/>
          <p:cNvSpPr txBox="1"/>
          <p:nvPr/>
        </p:nvSpPr>
        <p:spPr>
          <a:xfrm>
            <a:off x="1554480" y="1700784"/>
            <a:ext cx="4206240" cy="347472"/>
          </a:xfrm>
          <a:prstGeom prst="rect">
            <a:avLst/>
          </a:prstGeom>
          <a:noFill/>
          <a:ln/>
        </p:spPr>
        <p:txBody>
          <a:bodyPr wrap="square" lIns="0" tIns="0" rIns="0" bIns="0" rtlCol="0" anchor="t"/>
          <a:lstStyle/>
          <a:p>
            <a:pPr indent="0" marL="0">
              <a:buNone/>
            </a:pPr>
            <a:r>
              <a:rPr lang="en-US" sz="1700" b="1" dirty="0">
                <a:solidFill>
                  <a:schemeClr val="tx1"/>
                </a:solidFill>
              </a:rPr>
              <a:t>Direct hit</a:t>
            </a:r>
            <a:endParaRPr lang="en-US" sz="1700" dirty="0"/>
          </a:p>
        </p:txBody>
      </p:sp>
      <p:sp>
        <p:nvSpPr>
          <p:cNvPr id="9" name="Text 6"/>
          <p:cNvSpPr txBox="1"/>
          <p:nvPr/>
        </p:nvSpPr>
        <p:spPr>
          <a:xfrm>
            <a:off x="1554480" y="2066544"/>
            <a:ext cx="4206240" cy="594360"/>
          </a:xfrm>
          <a:prstGeom prst="rect">
            <a:avLst/>
          </a:prstGeom>
          <a:noFill/>
          <a:ln/>
        </p:spPr>
        <p:txBody>
          <a:bodyPr wrap="square" lIns="0" tIns="0" rIns="0" bIns="0" rtlCol="0" anchor="t"/>
          <a:lstStyle/>
          <a:p>
            <a:pPr indent="0" marL="0">
              <a:buNone/>
            </a:pPr>
            <a:r>
              <a:rPr lang="en-US" sz="1400" dirty="0">
                <a:solidFill>
                  <a:schemeClr val="tx1"/>
                </a:solidFill>
              </a:rPr>
              <a:t>The named party is itself a designated person or entity.</a:t>
            </a:r>
            <a:endParaRPr lang="en-US" sz="1400" dirty="0"/>
          </a:p>
        </p:txBody>
      </p:sp>
      <p:sp>
        <p:nvSpPr>
          <p:cNvPr id="10" name="Text 7"/>
          <p:cNvSpPr txBox="1"/>
          <p:nvPr/>
        </p:nvSpPr>
        <p:spPr>
          <a:xfrm>
            <a:off x="1554480" y="2697480"/>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The beneficiary bank is a listed Russian bank.</a:t>
            </a:r>
            <a:endParaRPr lang="en-US" sz="1300" dirty="0"/>
          </a:p>
        </p:txBody>
      </p:sp>
      <p:sp>
        <p:nvSpPr>
          <p:cNvPr id="11" name="Indirect hit"/>
          <p:cNvSpPr/>
          <p:nvPr/>
        </p:nvSpPr>
        <p:spPr>
          <a:xfrm>
            <a:off x="6172200" y="1554480"/>
            <a:ext cx="5440680" cy="1691640"/>
          </a:xfrm>
          <a:prstGeom prst="roundRect">
            <a:avLst>
              <a:gd name="adj" fmla="val 6486"/>
            </a:avLst>
          </a:prstGeom>
          <a:solidFill>
            <a:schemeClr val="bg2"/>
          </a:solidFill>
          <a:ln w="12700">
            <a:solidFill>
              <a:schemeClr val="bg2"/>
            </a:solidFill>
            <a:prstDash val="solid"/>
          </a:ln>
        </p:spPr>
      </p:sp>
      <p:sp>
        <p:nvSpPr>
          <p:cNvPr id="12" name="Indirect hit circle"/>
          <p:cNvSpPr/>
          <p:nvPr/>
        </p:nvSpPr>
        <p:spPr>
          <a:xfrm>
            <a:off x="6400800" y="1755648"/>
            <a:ext cx="594360" cy="594360"/>
          </a:xfrm>
          <a:prstGeom prst="ellipse">
            <a:avLst/>
          </a:prstGeom>
          <a:solidFill>
            <a:schemeClr val="tx1"/>
          </a:solidFill>
          <a:ln w="12700">
            <a:solidFill>
              <a:schemeClr val="tx1"/>
            </a:solidFill>
            <a:prstDash val="solid"/>
          </a:ln>
        </p:spPr>
      </p:sp>
      <p:pic>
        <p:nvPicPr>
          <p:cNvPr id="13" name="Indirect hit icon" descr="preencoded.png">    </p:cNvPr>
          <p:cNvPicPr>
            <a:picLocks noChangeAspect="1"/>
          </p:cNvPicPr>
          <p:nvPr/>
        </p:nvPicPr>
        <p:blipFill>
          <a:blip r:embed="rId2"/>
          <a:stretch>
            <a:fillRect/>
          </a:stretch>
        </p:blipFill>
        <p:spPr>
          <a:xfrm>
            <a:off x="6519672" y="1874520"/>
            <a:ext cx="356616" cy="356616"/>
          </a:xfrm>
          <a:prstGeom prst="rect">
            <a:avLst/>
          </a:prstGeom>
        </p:spPr>
      </p:pic>
      <p:sp>
        <p:nvSpPr>
          <p:cNvPr id="14" name="Text 10"/>
          <p:cNvSpPr txBox="1"/>
          <p:nvPr/>
        </p:nvSpPr>
        <p:spPr>
          <a:xfrm>
            <a:off x="7178040" y="1700784"/>
            <a:ext cx="4206240" cy="347472"/>
          </a:xfrm>
          <a:prstGeom prst="rect">
            <a:avLst/>
          </a:prstGeom>
          <a:noFill/>
          <a:ln/>
        </p:spPr>
        <p:txBody>
          <a:bodyPr wrap="square" lIns="0" tIns="0" rIns="0" bIns="0" rtlCol="0" anchor="t"/>
          <a:lstStyle/>
          <a:p>
            <a:pPr indent="0" marL="0">
              <a:buNone/>
            </a:pPr>
            <a:r>
              <a:rPr lang="en-US" sz="1700" b="1" dirty="0">
                <a:solidFill>
                  <a:schemeClr val="tx1"/>
                </a:solidFill>
              </a:rPr>
              <a:t>Indirect hit</a:t>
            </a:r>
            <a:endParaRPr lang="en-US" sz="1700" dirty="0"/>
          </a:p>
        </p:txBody>
      </p:sp>
      <p:sp>
        <p:nvSpPr>
          <p:cNvPr id="15" name="Text 11"/>
          <p:cNvSpPr txBox="1"/>
          <p:nvPr/>
        </p:nvSpPr>
        <p:spPr>
          <a:xfrm>
            <a:off x="7178040" y="2066544"/>
            <a:ext cx="4206240" cy="594360"/>
          </a:xfrm>
          <a:prstGeom prst="rect">
            <a:avLst/>
          </a:prstGeom>
          <a:noFill/>
          <a:ln/>
        </p:spPr>
        <p:txBody>
          <a:bodyPr wrap="square" lIns="0" tIns="0" rIns="0" bIns="0" rtlCol="0" anchor="t"/>
          <a:lstStyle/>
          <a:p>
            <a:pPr indent="0" marL="0">
              <a:buNone/>
            </a:pPr>
            <a:r>
              <a:rPr lang="en-US" sz="1400" dirty="0">
                <a:solidFill>
                  <a:schemeClr val="tx1"/>
                </a:solidFill>
              </a:rPr>
              <a:t>The party is owned, controlled, acting for, or benefitting a designated person or entity.</a:t>
            </a:r>
            <a:endParaRPr lang="en-US" sz="1400" dirty="0"/>
          </a:p>
        </p:txBody>
      </p:sp>
      <p:sp>
        <p:nvSpPr>
          <p:cNvPr id="16" name="Text 12"/>
          <p:cNvSpPr txBox="1"/>
          <p:nvPr/>
        </p:nvSpPr>
        <p:spPr>
          <a:xfrm>
            <a:off x="7178040" y="2697480"/>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A newly added director is designated and signs payouts.</a:t>
            </a:r>
            <a:endParaRPr lang="en-US" sz="1300" dirty="0"/>
          </a:p>
        </p:txBody>
      </p:sp>
      <p:sp>
        <p:nvSpPr>
          <p:cNvPr id="17" name="Prohibited geography or activity"/>
          <p:cNvSpPr/>
          <p:nvPr/>
        </p:nvSpPr>
        <p:spPr>
          <a:xfrm>
            <a:off x="548640" y="3364992"/>
            <a:ext cx="5440680" cy="1691640"/>
          </a:xfrm>
          <a:prstGeom prst="roundRect">
            <a:avLst>
              <a:gd name="adj" fmla="val 6486"/>
            </a:avLst>
          </a:prstGeom>
          <a:solidFill>
            <a:schemeClr val="bg2"/>
          </a:solidFill>
          <a:ln w="12700">
            <a:solidFill>
              <a:schemeClr val="bg2"/>
            </a:solidFill>
            <a:prstDash val="solid"/>
          </a:ln>
        </p:spPr>
      </p:sp>
      <p:sp>
        <p:nvSpPr>
          <p:cNvPr id="18" name="Prohibited geography or activity circle"/>
          <p:cNvSpPr/>
          <p:nvPr/>
        </p:nvSpPr>
        <p:spPr>
          <a:xfrm>
            <a:off x="777240" y="3566160"/>
            <a:ext cx="594360" cy="594360"/>
          </a:xfrm>
          <a:prstGeom prst="ellipse">
            <a:avLst/>
          </a:prstGeom>
          <a:solidFill>
            <a:schemeClr val="accent4"/>
          </a:solidFill>
          <a:ln w="12700">
            <a:solidFill>
              <a:schemeClr val="accent4"/>
            </a:solidFill>
            <a:prstDash val="solid"/>
          </a:ln>
        </p:spPr>
      </p:sp>
      <p:pic>
        <p:nvPicPr>
          <p:cNvPr id="19" name="Prohibited geography or activity icon" descr="preencoded.png">    </p:cNvPr>
          <p:cNvPicPr>
            <a:picLocks noChangeAspect="1"/>
          </p:cNvPicPr>
          <p:nvPr/>
        </p:nvPicPr>
        <p:blipFill>
          <a:blip r:embed="rId3"/>
          <a:stretch>
            <a:fillRect/>
          </a:stretch>
        </p:blipFill>
        <p:spPr>
          <a:xfrm>
            <a:off x="896112" y="3685032"/>
            <a:ext cx="356616" cy="356616"/>
          </a:xfrm>
          <a:prstGeom prst="rect">
            <a:avLst/>
          </a:prstGeom>
        </p:spPr>
      </p:pic>
      <p:sp>
        <p:nvSpPr>
          <p:cNvPr id="20" name="Text 15"/>
          <p:cNvSpPr txBox="1"/>
          <p:nvPr/>
        </p:nvSpPr>
        <p:spPr>
          <a:xfrm>
            <a:off x="1554480" y="3511296"/>
            <a:ext cx="4206240" cy="347472"/>
          </a:xfrm>
          <a:prstGeom prst="rect">
            <a:avLst/>
          </a:prstGeom>
          <a:noFill/>
          <a:ln/>
        </p:spPr>
        <p:txBody>
          <a:bodyPr wrap="square" lIns="0" tIns="0" rIns="0" bIns="0" rtlCol="0" anchor="t"/>
          <a:lstStyle/>
          <a:p>
            <a:pPr indent="0" marL="0">
              <a:buNone/>
            </a:pPr>
            <a:r>
              <a:rPr lang="en-US" sz="1700" b="1" dirty="0">
                <a:solidFill>
                  <a:schemeClr val="tx1"/>
                </a:solidFill>
              </a:rPr>
              <a:t>Prohibited geography or activity</a:t>
            </a:r>
            <a:endParaRPr lang="en-US" sz="1700" dirty="0"/>
          </a:p>
        </p:txBody>
      </p:sp>
      <p:sp>
        <p:nvSpPr>
          <p:cNvPr id="21" name="Text 16"/>
          <p:cNvSpPr txBox="1"/>
          <p:nvPr/>
        </p:nvSpPr>
        <p:spPr>
          <a:xfrm>
            <a:off x="1554480" y="3877056"/>
            <a:ext cx="4206240" cy="594360"/>
          </a:xfrm>
          <a:prstGeom prst="rect">
            <a:avLst/>
          </a:prstGeom>
          <a:noFill/>
          <a:ln/>
        </p:spPr>
        <p:txBody>
          <a:bodyPr wrap="square" lIns="0" tIns="0" rIns="0" bIns="0" rtlCol="0" anchor="t"/>
          <a:lstStyle/>
          <a:p>
            <a:pPr indent="0" marL="0">
              <a:buNone/>
            </a:pPr>
            <a:r>
              <a:rPr lang="en-US" sz="1400" dirty="0">
                <a:solidFill>
                  <a:schemeClr val="tx1"/>
                </a:solidFill>
              </a:rPr>
              <a:t>A country or territory, sector, service, vessel, commodity or end-use is restricted.</a:t>
            </a:r>
            <a:endParaRPr lang="en-US" sz="1400" dirty="0"/>
          </a:p>
        </p:txBody>
      </p:sp>
      <p:sp>
        <p:nvSpPr>
          <p:cNvPr id="22" name="Text 17"/>
          <p:cNvSpPr txBox="1"/>
          <p:nvPr/>
        </p:nvSpPr>
        <p:spPr>
          <a:xfrm>
            <a:off x="1554480" y="4507992"/>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The customer's IP address is in a sanctioned region.</a:t>
            </a:r>
            <a:endParaRPr lang="en-US" sz="1300" dirty="0"/>
          </a:p>
        </p:txBody>
      </p:sp>
      <p:sp>
        <p:nvSpPr>
          <p:cNvPr id="23" name="Evasion / circumvention"/>
          <p:cNvSpPr/>
          <p:nvPr/>
        </p:nvSpPr>
        <p:spPr>
          <a:xfrm>
            <a:off x="6172200" y="3364992"/>
            <a:ext cx="5440680" cy="1691640"/>
          </a:xfrm>
          <a:prstGeom prst="roundRect">
            <a:avLst>
              <a:gd name="adj" fmla="val 6486"/>
            </a:avLst>
          </a:prstGeom>
          <a:solidFill>
            <a:schemeClr val="bg2"/>
          </a:solidFill>
          <a:ln w="12700">
            <a:solidFill>
              <a:schemeClr val="bg2"/>
            </a:solidFill>
            <a:prstDash val="solid"/>
          </a:ln>
        </p:spPr>
      </p:sp>
      <p:sp>
        <p:nvSpPr>
          <p:cNvPr id="24" name="Evasion / circumvention circle"/>
          <p:cNvSpPr/>
          <p:nvPr/>
        </p:nvSpPr>
        <p:spPr>
          <a:xfrm>
            <a:off x="6400800" y="3566160"/>
            <a:ext cx="594360" cy="594360"/>
          </a:xfrm>
          <a:prstGeom prst="ellipse">
            <a:avLst/>
          </a:prstGeom>
          <a:solidFill>
            <a:schemeClr val="accent2"/>
          </a:solidFill>
          <a:ln w="12700">
            <a:solidFill>
              <a:schemeClr val="accent2"/>
            </a:solidFill>
            <a:prstDash val="solid"/>
          </a:ln>
        </p:spPr>
      </p:sp>
      <p:pic>
        <p:nvPicPr>
          <p:cNvPr id="25" name="Evasion / circumvention icon" descr="preencoded.png">    </p:cNvPr>
          <p:cNvPicPr>
            <a:picLocks noChangeAspect="1"/>
          </p:cNvPicPr>
          <p:nvPr/>
        </p:nvPicPr>
        <p:blipFill>
          <a:blip r:embed="rId4"/>
          <a:stretch>
            <a:fillRect/>
          </a:stretch>
        </p:blipFill>
        <p:spPr>
          <a:xfrm>
            <a:off x="6519672" y="3685032"/>
            <a:ext cx="356616" cy="356616"/>
          </a:xfrm>
          <a:prstGeom prst="rect">
            <a:avLst/>
          </a:prstGeom>
        </p:spPr>
      </p:pic>
      <p:sp>
        <p:nvSpPr>
          <p:cNvPr id="26" name="Text 20"/>
          <p:cNvSpPr txBox="1"/>
          <p:nvPr/>
        </p:nvSpPr>
        <p:spPr>
          <a:xfrm>
            <a:off x="7178040" y="3511296"/>
            <a:ext cx="4206240" cy="347472"/>
          </a:xfrm>
          <a:prstGeom prst="rect">
            <a:avLst/>
          </a:prstGeom>
          <a:noFill/>
          <a:ln/>
        </p:spPr>
        <p:txBody>
          <a:bodyPr wrap="square" lIns="0" tIns="0" rIns="0" bIns="0" rtlCol="0" anchor="t"/>
          <a:lstStyle/>
          <a:p>
            <a:pPr indent="0" marL="0">
              <a:buNone/>
            </a:pPr>
            <a:r>
              <a:rPr lang="en-US" sz="1700" b="1" dirty="0">
                <a:solidFill>
                  <a:schemeClr val="tx1"/>
                </a:solidFill>
              </a:rPr>
              <a:t>Evasion / circumvention</a:t>
            </a:r>
            <a:endParaRPr lang="en-US" sz="1700" dirty="0"/>
          </a:p>
        </p:txBody>
      </p:sp>
      <p:sp>
        <p:nvSpPr>
          <p:cNvPr id="27" name="Text 21"/>
          <p:cNvSpPr txBox="1"/>
          <p:nvPr/>
        </p:nvSpPr>
        <p:spPr>
          <a:xfrm>
            <a:off x="7178040" y="3877056"/>
            <a:ext cx="4206240" cy="594360"/>
          </a:xfrm>
          <a:prstGeom prst="rect">
            <a:avLst/>
          </a:prstGeom>
          <a:noFill/>
          <a:ln/>
        </p:spPr>
        <p:txBody>
          <a:bodyPr wrap="square" lIns="0" tIns="0" rIns="0" bIns="0" rtlCol="0" anchor="t"/>
          <a:lstStyle/>
          <a:p>
            <a:pPr indent="0" marL="0">
              <a:buNone/>
            </a:pPr>
            <a:r>
              <a:rPr lang="en-US" sz="1400" dirty="0">
                <a:solidFill>
                  <a:schemeClr val="tx1"/>
                </a:solidFill>
              </a:rPr>
              <a:t>Layering intermediaries, opaque ownership, rapid routing changes or weak commercial explanations.</a:t>
            </a:r>
            <a:endParaRPr lang="en-US" sz="1400" dirty="0"/>
          </a:p>
        </p:txBody>
      </p:sp>
      <p:sp>
        <p:nvSpPr>
          <p:cNvPr id="28" name="Text 22"/>
          <p:cNvSpPr txBox="1"/>
          <p:nvPr/>
        </p:nvSpPr>
        <p:spPr>
          <a:xfrm>
            <a:off x="7178040" y="4507992"/>
            <a:ext cx="4206240" cy="457200"/>
          </a:xfrm>
          <a:prstGeom prst="rect">
            <a:avLst/>
          </a:prstGeom>
          <a:noFill/>
          <a:ln/>
        </p:spPr>
        <p:txBody>
          <a:bodyPr wrap="square" lIns="0" tIns="0" rIns="0" bIns="0" rtlCol="0" anchor="t"/>
          <a:lstStyle/>
          <a:p>
            <a:pPr indent="0" marL="0">
              <a:buNone/>
            </a:pPr>
            <a:r>
              <a:rPr lang="en-US" sz="1300" i="1" dirty="0">
                <a:solidFill>
                  <a:schemeClr val="accent6"/>
                </a:solidFill>
              </a:rPr>
              <a:t>Example: Payouts split across new intermediaries, vague descriptions.</a:t>
            </a:r>
            <a:endParaRPr lang="en-US" sz="13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24"/>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25"/>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Most exposure does not arrive as a direct hit. Indirect, geographic and evasion risk is missed when you only look at the name.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27"/>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28"/>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On every alert, ask which of the four you are looking at. Any one is enough to investigate — they are not mutually exclusive.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FIRST RESPONSE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First response to a potential true match</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in doubt: stop the payment, check it, and pass it to L2.</a:t>
            </a:r>
            <a:endParaRPr lang="en-US" sz="1700" dirty="0"/>
          </a:p>
        </p:txBody>
      </p:sp>
      <p:sp>
        <p:nvSpPr>
          <p:cNvPr id="5" name="PAUSE circle"/>
          <p:cNvSpPr/>
          <p:nvPr/>
        </p:nvSpPr>
        <p:spPr>
          <a:xfrm>
            <a:off x="548640" y="1554480"/>
            <a:ext cx="594360" cy="594360"/>
          </a:xfrm>
          <a:prstGeom prst="ellipse">
            <a:avLst/>
          </a:prstGeom>
          <a:solidFill>
            <a:schemeClr val="accent1"/>
          </a:solidFill>
          <a:ln w="12700">
            <a:solidFill>
              <a:schemeClr val="accent1"/>
            </a:solidFill>
            <a:prstDash val="solid"/>
          </a:ln>
        </p:spPr>
      </p:sp>
      <p:pic>
        <p:nvPicPr>
          <p:cNvPr id="6" name="PAUSE icon" descr="preencoded.png">    </p:cNvPr>
          <p:cNvPicPr>
            <a:picLocks noChangeAspect="1"/>
          </p:cNvPicPr>
          <p:nvPr/>
        </p:nvPicPr>
        <p:blipFill>
          <a:blip r:embed="rId1"/>
          <a:stretch>
            <a:fillRect/>
          </a:stretch>
        </p:blipFill>
        <p:spPr>
          <a:xfrm>
            <a:off x="667512" y="1673352"/>
            <a:ext cx="356616" cy="356616"/>
          </a:xfrm>
          <a:prstGeom prst="rect">
            <a:avLst/>
          </a:prstGeom>
        </p:spPr>
      </p:pic>
      <p:sp>
        <p:nvSpPr>
          <p:cNvPr id="7" name="Text 4"/>
          <p:cNvSpPr txBox="1"/>
          <p:nvPr/>
        </p:nvSpPr>
        <p:spPr>
          <a:xfrm>
            <a:off x="1298448" y="1554480"/>
            <a:ext cx="2651760" cy="594360"/>
          </a:xfrm>
          <a:prstGeom prst="rect">
            <a:avLst/>
          </a:prstGeom>
          <a:noFill/>
          <a:ln/>
        </p:spPr>
        <p:txBody>
          <a:bodyPr wrap="square" lIns="0" tIns="0" rIns="0" bIns="0" rtlCol="0" anchor="ctr"/>
          <a:lstStyle/>
          <a:p>
            <a:pPr indent="0" marL="0">
              <a:buNone/>
            </a:pPr>
            <a:r>
              <a:rPr lang="en-US" sz="2000" b="1" dirty="0">
                <a:solidFill>
                  <a:schemeClr val="accent1"/>
                </a:solidFill>
              </a:rPr>
              <a:t>PAUSE</a:t>
            </a:r>
            <a:endParaRPr lang="en-US" sz="2000" dirty="0"/>
          </a:p>
        </p:txBody>
      </p:sp>
      <p:sp>
        <p:nvSpPr>
          <p:cNvPr id="8" name="Text 5"/>
          <p:cNvSpPr txBox="1"/>
          <p:nvPr/>
        </p:nvSpPr>
        <p:spPr>
          <a:xfrm>
            <a:off x="54864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Stop the transaction. No release, completion or manual bypass while uncertainty remains — and no refund or return to the sender.</a:t>
            </a:r>
            <a:endParaRPr lang="en-US" sz="1500" dirty="0"/>
          </a:p>
        </p:txBody>
      </p:sp>
      <p:pic>
        <p:nvPicPr>
          <p:cNvPr id="9" name="Image 1" descr="preencoded.png">    </p:cNvPr>
          <p:cNvPicPr>
            <a:picLocks noChangeAspect="1"/>
          </p:cNvPicPr>
          <p:nvPr/>
        </p:nvPicPr>
        <p:blipFill>
          <a:blip r:embed="rId2"/>
          <a:stretch>
            <a:fillRect/>
          </a:stretch>
        </p:blipFill>
        <p:spPr>
          <a:xfrm>
            <a:off x="3977640" y="1673352"/>
            <a:ext cx="347472" cy="347472"/>
          </a:xfrm>
          <a:prstGeom prst="rect">
            <a:avLst/>
          </a:prstGeom>
        </p:spPr>
      </p:pic>
      <p:sp>
        <p:nvSpPr>
          <p:cNvPr id="10" name="INVESTIGATE circle"/>
          <p:cNvSpPr/>
          <p:nvPr/>
        </p:nvSpPr>
        <p:spPr>
          <a:xfrm>
            <a:off x="4343400" y="1554480"/>
            <a:ext cx="594360" cy="594360"/>
          </a:xfrm>
          <a:prstGeom prst="ellipse">
            <a:avLst/>
          </a:prstGeom>
          <a:solidFill>
            <a:schemeClr val="accent2"/>
          </a:solidFill>
          <a:ln w="12700">
            <a:solidFill>
              <a:schemeClr val="accent2"/>
            </a:solidFill>
            <a:prstDash val="solid"/>
          </a:ln>
        </p:spPr>
      </p:sp>
      <p:pic>
        <p:nvPicPr>
          <p:cNvPr id="11" name="INVESTIGATE icon" descr="preencoded.png">    </p:cNvPr>
          <p:cNvPicPr>
            <a:picLocks noChangeAspect="1"/>
          </p:cNvPicPr>
          <p:nvPr/>
        </p:nvPicPr>
        <p:blipFill>
          <a:blip r:embed="rId3"/>
          <a:stretch>
            <a:fillRect/>
          </a:stretch>
        </p:blipFill>
        <p:spPr>
          <a:xfrm>
            <a:off x="4462272" y="1673352"/>
            <a:ext cx="356616" cy="356616"/>
          </a:xfrm>
          <a:prstGeom prst="rect">
            <a:avLst/>
          </a:prstGeom>
        </p:spPr>
      </p:pic>
      <p:sp>
        <p:nvSpPr>
          <p:cNvPr id="12" name="Text 7"/>
          <p:cNvSpPr txBox="1"/>
          <p:nvPr/>
        </p:nvSpPr>
        <p:spPr>
          <a:xfrm>
            <a:off x="5093208" y="1554480"/>
            <a:ext cx="2651760" cy="594360"/>
          </a:xfrm>
          <a:prstGeom prst="rect">
            <a:avLst/>
          </a:prstGeom>
          <a:noFill/>
          <a:ln/>
        </p:spPr>
        <p:txBody>
          <a:bodyPr wrap="square" lIns="0" tIns="0" rIns="0" bIns="0" rtlCol="0" anchor="ctr"/>
          <a:lstStyle/>
          <a:p>
            <a:pPr indent="0" marL="0">
              <a:buNone/>
            </a:pPr>
            <a:r>
              <a:rPr lang="en-US" sz="2000" b="1" dirty="0">
                <a:solidFill>
                  <a:schemeClr val="accent2"/>
                </a:solidFill>
              </a:rPr>
              <a:t>INVESTIGATE</a:t>
            </a:r>
            <a:endParaRPr lang="en-US" sz="2000" dirty="0"/>
          </a:p>
        </p:txBody>
      </p:sp>
      <p:sp>
        <p:nvSpPr>
          <p:cNvPr id="13" name="Text 8"/>
          <p:cNvSpPr txBox="1"/>
          <p:nvPr/>
        </p:nvSpPr>
        <p:spPr>
          <a:xfrm>
            <a:off x="434340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Preserve the alert, payment details and list record. Compare identifiers and raise a focused RFI to resolve identity or exposure.</a:t>
            </a:r>
            <a:endParaRPr lang="en-US" sz="1500" dirty="0"/>
          </a:p>
        </p:txBody>
      </p:sp>
      <p:pic>
        <p:nvPicPr>
          <p:cNvPr id="14" name="Image 3" descr="preencoded.png">    </p:cNvPr>
          <p:cNvPicPr>
            <a:picLocks noChangeAspect="1"/>
          </p:cNvPicPr>
          <p:nvPr/>
        </p:nvPicPr>
        <p:blipFill>
          <a:blip r:embed="rId4"/>
          <a:stretch>
            <a:fillRect/>
          </a:stretch>
        </p:blipFill>
        <p:spPr>
          <a:xfrm>
            <a:off x="7772400" y="1673352"/>
            <a:ext cx="347472" cy="347472"/>
          </a:xfrm>
          <a:prstGeom prst="rect">
            <a:avLst/>
          </a:prstGeom>
        </p:spPr>
      </p:pic>
      <p:sp>
        <p:nvSpPr>
          <p:cNvPr id="15" name="ESCALATE circle"/>
          <p:cNvSpPr/>
          <p:nvPr/>
        </p:nvSpPr>
        <p:spPr>
          <a:xfrm>
            <a:off x="8138160" y="1554480"/>
            <a:ext cx="594360" cy="594360"/>
          </a:xfrm>
          <a:prstGeom prst="ellipse">
            <a:avLst/>
          </a:prstGeom>
          <a:solidFill>
            <a:schemeClr val="accent4"/>
          </a:solidFill>
          <a:ln w="12700">
            <a:solidFill>
              <a:schemeClr val="accent4"/>
            </a:solidFill>
            <a:prstDash val="solid"/>
          </a:ln>
        </p:spPr>
      </p:sp>
      <p:pic>
        <p:nvPicPr>
          <p:cNvPr id="16" name="ESCALATE icon" descr="preencoded.png">    </p:cNvPr>
          <p:cNvPicPr>
            <a:picLocks noChangeAspect="1"/>
          </p:cNvPicPr>
          <p:nvPr/>
        </p:nvPicPr>
        <p:blipFill>
          <a:blip r:embed="rId5"/>
          <a:stretch>
            <a:fillRect/>
          </a:stretch>
        </p:blipFill>
        <p:spPr>
          <a:xfrm>
            <a:off x="8257032" y="1673352"/>
            <a:ext cx="356616" cy="356616"/>
          </a:xfrm>
          <a:prstGeom prst="rect">
            <a:avLst/>
          </a:prstGeom>
        </p:spPr>
      </p:pic>
      <p:sp>
        <p:nvSpPr>
          <p:cNvPr id="17" name="Text 10"/>
          <p:cNvSpPr txBox="1"/>
          <p:nvPr/>
        </p:nvSpPr>
        <p:spPr>
          <a:xfrm>
            <a:off x="8887968" y="1554480"/>
            <a:ext cx="2651760" cy="594360"/>
          </a:xfrm>
          <a:prstGeom prst="rect">
            <a:avLst/>
          </a:prstGeom>
          <a:noFill/>
          <a:ln/>
        </p:spPr>
        <p:txBody>
          <a:bodyPr wrap="square" lIns="0" tIns="0" rIns="0" bIns="0" rtlCol="0" anchor="ctr"/>
          <a:lstStyle/>
          <a:p>
            <a:pPr indent="0" marL="0">
              <a:buNone/>
            </a:pPr>
            <a:r>
              <a:rPr lang="en-US" sz="2000" b="1" dirty="0">
                <a:solidFill>
                  <a:schemeClr val="accent4"/>
                </a:solidFill>
              </a:rPr>
              <a:t>ESCALATE</a:t>
            </a:r>
            <a:endParaRPr lang="en-US" sz="2000" dirty="0"/>
          </a:p>
        </p:txBody>
      </p:sp>
      <p:sp>
        <p:nvSpPr>
          <p:cNvPr id="18" name="Text 11"/>
          <p:cNvSpPr txBox="1"/>
          <p:nvPr/>
        </p:nvSpPr>
        <p:spPr>
          <a:xfrm>
            <a:off x="8138160" y="2240280"/>
            <a:ext cx="3429000" cy="1051560"/>
          </a:xfrm>
          <a:prstGeom prst="rect">
            <a:avLst/>
          </a:prstGeom>
          <a:noFill/>
          <a:ln/>
        </p:spPr>
        <p:txBody>
          <a:bodyPr wrap="square" lIns="0" tIns="0" rIns="0" bIns="0" rtlCol="0" anchor="t"/>
          <a:lstStyle/>
          <a:p>
            <a:pPr indent="0" marL="0">
              <a:buNone/>
            </a:pPr>
            <a:r>
              <a:rPr lang="en-US" sz="1500" dirty="0">
                <a:solidFill>
                  <a:schemeClr val="tx1"/>
                </a:solidFill>
              </a:rPr>
              <a:t>Route confirmed or unresolved matches through the approved sanctions path, with your findings recorded. Do not tip off.</a:t>
            </a:r>
            <a:endParaRPr lang="en-US" sz="1500" dirty="0"/>
          </a:p>
        </p:txBody>
      </p:sp>
      <p:sp>
        <p:nvSpPr>
          <p:cNvPr id="19" name="analyst decision"/>
          <p:cNvSpPr/>
          <p:nvPr/>
        </p:nvSpPr>
        <p:spPr>
          <a:xfrm>
            <a:off x="548640" y="3401568"/>
            <a:ext cx="5440680" cy="1024128"/>
          </a:xfrm>
          <a:prstGeom prst="roundRect">
            <a:avLst>
              <a:gd name="adj" fmla="val 10714"/>
            </a:avLst>
          </a:prstGeom>
          <a:solidFill>
            <a:schemeClr val="bg2"/>
          </a:solidFill>
          <a:ln w="12700">
            <a:solidFill>
              <a:schemeClr val="bg2"/>
            </a:solidFill>
            <a:prstDash val="solid"/>
          </a:ln>
        </p:spPr>
      </p:sp>
      <p:sp>
        <p:nvSpPr>
          <p:cNvPr id="20" name="Text 13"/>
          <p:cNvSpPr txBox="1"/>
          <p:nvPr/>
        </p:nvSpPr>
        <p:spPr>
          <a:xfrm>
            <a:off x="777240" y="3493008"/>
            <a:ext cx="5029200" cy="219456"/>
          </a:xfrm>
          <a:prstGeom prst="rect">
            <a:avLst/>
          </a:prstGeom>
          <a:noFill/>
          <a:ln/>
        </p:spPr>
        <p:txBody>
          <a:bodyPr wrap="square" lIns="0" tIns="0" rIns="0" bIns="0" rtlCol="0" anchor="t"/>
          <a:lstStyle/>
          <a:p>
            <a:pPr indent="0" marL="0">
              <a:buNone/>
            </a:pPr>
            <a:r>
              <a:rPr lang="en-US" sz="1100" b="1" spc="100" kern="0" dirty="0">
                <a:solidFill>
                  <a:schemeClr val="accent3"/>
                </a:solidFill>
              </a:rPr>
              <a:t>THE ANALYST'S DECISION (L1)</a:t>
            </a:r>
            <a:endParaRPr lang="en-US" sz="1100" dirty="0"/>
          </a:p>
        </p:txBody>
      </p:sp>
      <p:sp>
        <p:nvSpPr>
          <p:cNvPr id="21" name="Text 14"/>
          <p:cNvSpPr txBox="1"/>
          <p:nvPr/>
        </p:nvSpPr>
        <p:spPr>
          <a:xfrm>
            <a:off x="777240" y="3749040"/>
            <a:ext cx="5029200" cy="640080"/>
          </a:xfrm>
          <a:prstGeom prst="rect">
            <a:avLst/>
          </a:prstGeom>
          <a:noFill/>
          <a:ln/>
        </p:spPr>
        <p:txBody>
          <a:bodyPr wrap="square" lIns="0" tIns="0" rIns="0" bIns="0" rtlCol="0" anchor="t"/>
          <a:lstStyle/>
          <a:p>
            <a:pPr indent="0" marL="0">
              <a:buNone/>
            </a:pPr>
            <a:r>
              <a:rPr lang="en-US" sz="1400" dirty="0">
                <a:solidFill>
                  <a:schemeClr val="tx1"/>
                </a:solidFill>
              </a:rPr>
              <a:t>Close a false positive where the mismatch is evidenced and independently checked. Request information. Escalate.</a:t>
            </a:r>
            <a:endParaRPr lang="en-US" sz="1400" dirty="0"/>
          </a:p>
        </p:txBody>
      </p:sp>
      <p:sp>
        <p:nvSpPr>
          <p:cNvPr id="22" name="reserved"/>
          <p:cNvSpPr/>
          <p:nvPr/>
        </p:nvSpPr>
        <p:spPr>
          <a:xfrm>
            <a:off x="6172200" y="3401568"/>
            <a:ext cx="5440680" cy="1024128"/>
          </a:xfrm>
          <a:prstGeom prst="roundRect">
            <a:avLst>
              <a:gd name="adj" fmla="val 10714"/>
            </a:avLst>
          </a:prstGeom>
          <a:solidFill>
            <a:schemeClr val="bg2"/>
          </a:solidFill>
          <a:ln w="12700">
            <a:solidFill>
              <a:schemeClr val="bg2"/>
            </a:solidFill>
            <a:prstDash val="solid"/>
          </a:ln>
        </p:spPr>
      </p:sp>
      <p:sp>
        <p:nvSpPr>
          <p:cNvPr id="23" name="Text 16"/>
          <p:cNvSpPr txBox="1"/>
          <p:nvPr/>
        </p:nvSpPr>
        <p:spPr>
          <a:xfrm>
            <a:off x="6400800" y="3493008"/>
            <a:ext cx="502920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RESERVED FOR L2 / L3</a:t>
            </a:r>
            <a:endParaRPr lang="en-US" sz="1100" dirty="0"/>
          </a:p>
        </p:txBody>
      </p:sp>
      <p:sp>
        <p:nvSpPr>
          <p:cNvPr id="24" name="Text 17"/>
          <p:cNvSpPr txBox="1"/>
          <p:nvPr/>
        </p:nvSpPr>
        <p:spPr>
          <a:xfrm>
            <a:off x="6400800" y="3749040"/>
            <a:ext cx="5029200" cy="640080"/>
          </a:xfrm>
          <a:prstGeom prst="rect">
            <a:avLst/>
          </a:prstGeom>
          <a:noFill/>
          <a:ln/>
        </p:spPr>
        <p:txBody>
          <a:bodyPr wrap="square" lIns="0" tIns="0" rIns="0" bIns="0" rtlCol="0" anchor="t"/>
          <a:lstStyle/>
          <a:p>
            <a:pPr indent="0" marL="0">
              <a:buNone/>
            </a:pPr>
            <a:r>
              <a:rPr lang="en-US" sz="1400" dirty="0">
                <a:solidFill>
                  <a:schemeClr val="tx1"/>
                </a:solidFill>
              </a:rPr>
              <a:t>Releasing an unresolved match, freeze or reject, licences and exceptions, regulatory reporting, and any explanation to the customer.</a:t>
            </a:r>
            <a:endParaRPr lang="en-US" sz="1400" dirty="0"/>
          </a:p>
        </p:txBody>
      </p:sp>
      <p:sp>
        <p:nvSpPr>
          <p:cNvPr id="25" name="Text 18"/>
          <p:cNvSpPr txBox="1"/>
          <p:nvPr/>
        </p:nvSpPr>
        <p:spPr>
          <a:xfrm>
            <a:off x="548640" y="4544568"/>
            <a:ext cx="11064240" cy="530352"/>
          </a:xfrm>
          <a:prstGeom prst="rect">
            <a:avLst/>
          </a:prstGeom>
          <a:noFill/>
          <a:ln/>
        </p:spPr>
        <p:txBody>
          <a:bodyPr wrap="square" lIns="0" tIns="0" rIns="0" bIns="0" rtlCol="0" anchor="t"/>
          <a:lstStyle/>
          <a:p>
            <a:pPr indent="0" marL="0">
              <a:buNone/>
            </a:pPr>
            <a:r>
              <a:rPr lang="en-US" sz="1400" b="1" dirty="0">
                <a:solidFill>
                  <a:schemeClr val="tx1"/>
                </a:solidFill>
              </a:rPr>
              <a:t>Escalation path:  </a:t>
            </a:r>
            <a:pPr indent="0" marL="0">
              <a:buNone/>
            </a:pPr>
            <a:r>
              <a:rPr lang="en-US" sz="1400" dirty="0">
                <a:solidFill>
                  <a:schemeClr val="tx1"/>
                </a:solidFill>
              </a:rPr>
              <a:t>L1 analyst → 4-eye review → L2 Sanctions Compliance → L3 / Global Head of Sanctions and CCO → Treasury and regional MLROs execute the freeze and reporting steps.</a:t>
            </a:r>
            <a:endParaRPr lang="en-US" sz="1400" dirty="0"/>
          </a:p>
        </p:txBody>
      </p:sp>
      <p:sp>
        <p:nvSpPr>
          <p:cNvPr id="2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7" name="Text 20"/>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8" name="Text 21"/>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first minutes decide whether funds leave. A released payment is hard to recall, and returning funds can itself be a breach.</a:t>
            </a:r>
            <a:endParaRPr lang="en-US" sz="1400" dirty="0"/>
          </a:p>
        </p:txBody>
      </p:sp>
      <p:sp>
        <p:nvSpPr>
          <p:cNvPr id="2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0" name="Text 23"/>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1" name="Text 24"/>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Close only evidenced false positives, with a 4-eye check. Anything confirmed or unresolved goes to L2 — never release it.</a:t>
            </a:r>
            <a:endParaRPr lang="en-US" sz="1400" dirty="0"/>
          </a:p>
        </p:txBody>
      </p:sp>
      <p:sp>
        <p:nvSpPr>
          <p:cNvPr id="32" name="Text 25"/>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 escalation and operating model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Compare the regions</a:t>
            </a:r>
            <a:endParaRPr lang="en-US" sz="3000" dirty="0"/>
          </a:p>
        </p:txBody>
      </p:sp>
      <p:sp>
        <p:nvSpPr>
          <p:cNvPr id="4" name="part 2 circle"/>
          <p:cNvSpPr/>
          <p:nvPr/>
        </p:nvSpPr>
        <p:spPr>
          <a:xfrm>
            <a:off x="10561320" y="320040"/>
            <a:ext cx="1005840" cy="1005840"/>
          </a:xfrm>
          <a:prstGeom prst="ellipse">
            <a:avLst/>
          </a:prstGeom>
          <a:solidFill>
            <a:schemeClr val="accent4"/>
          </a:solidFill>
          <a:ln w="12700">
            <a:solidFill>
              <a:schemeClr val="accent4"/>
            </a:solidFill>
            <a:prstDash val="solid"/>
          </a:ln>
        </p:spPr>
      </p:sp>
      <p:pic>
        <p:nvPicPr>
          <p:cNvPr id="5" name="part 2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3"/>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Regional rules differ.</a:t>
            </a:r>
            <a:endParaRPr lang="en-US" sz="2200" dirty="0"/>
          </a:p>
        </p:txBody>
      </p:sp>
      <p:sp>
        <p:nvSpPr>
          <p:cNvPr id="7" name="Text 4"/>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1: you can recognise exposure and know the first response.</a:t>
            </a:r>
            <a:endParaRPr lang="en-US" sz="1400" dirty="0"/>
          </a:p>
        </p:txBody>
      </p:sp>
      <p:sp>
        <p:nvSpPr>
          <p:cNvPr id="8" name="Text 5"/>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The model is constant, but the rulebooks are not. In plain terms: you don't need to memorise six regimes — you need to spot which ones a payment touches.</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7"/>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8"/>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Which rules apply</a:t>
            </a:r>
            <a:endParaRPr lang="en-US" sz="1400" dirty="0"/>
          </a:p>
          <a:p>
            <a:pPr marL="342900" indent="-342900">
              <a:spcAft>
                <a:spcPts val="400"/>
              </a:spcAft>
              <a:buSzPct val="100000"/>
              <a:buChar char="•"/>
            </a:pPr>
            <a:r>
              <a:rPr lang="en-US" sz="1400" dirty="0">
                <a:solidFill>
                  <a:schemeClr val="bg1"/>
                </a:solidFill>
              </a:rPr>
              <a:t>UK, EU / France and US</a:t>
            </a:r>
            <a:endParaRPr lang="en-US" sz="1400" dirty="0"/>
          </a:p>
          <a:p>
            <a:pPr marL="342900" indent="-342900">
              <a:spcAft>
                <a:spcPts val="400"/>
              </a:spcAft>
              <a:buSzPct val="100000"/>
              <a:buChar char="•"/>
            </a:pPr>
            <a:r>
              <a:rPr lang="en-US" sz="1400" dirty="0">
                <a:solidFill>
                  <a:schemeClr val="bg1"/>
                </a:solidFill>
              </a:rPr>
              <a:t>UAE, Singapore and Hong Kong</a:t>
            </a:r>
            <a:endParaRPr lang="en-US" sz="1400" dirty="0"/>
          </a:p>
          <a:p>
            <a:pPr marL="342900" indent="-342900">
              <a:spcAft>
                <a:spcPts val="400"/>
              </a:spcAft>
              <a:buSzPct val="100000"/>
              <a:buChar char="•"/>
            </a:pPr>
            <a:r>
              <a:rPr lang="en-US" sz="1400" dirty="0">
                <a:solidFill>
                  <a:schemeClr val="bg1"/>
                </a:solidFill>
              </a:rPr>
              <a:t>Ownership and control</a:t>
            </a:r>
            <a:endParaRPr lang="en-US" sz="1400" dirty="0"/>
          </a:p>
          <a:p>
            <a:pPr marL="342900" indent="-342900">
              <a:spcAft>
                <a:spcPts val="400"/>
              </a:spcAft>
              <a:buSzPct val="100000"/>
              <a:buChar char="•"/>
            </a:pPr>
            <a:r>
              <a:rPr lang="en-US" sz="1400" dirty="0">
                <a:solidFill>
                  <a:schemeClr val="bg1"/>
                </a:solidFill>
              </a:rPr>
              <a:t>Freeze, block and reject</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10"/>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11"/>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A payment can be clear under one rulebook and prohibited under another. Missing that is a breach, even if no one intended it.</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13"/>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14"/>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Confirm the Checkout legal entity, payment route and currency from the case record, and check the Country Risk Rating and legal-entity HRTC registers.</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16"/>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17"/>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Which Checkout entity processed this payment — and which countries, currencies and banks does it touch?</a:t>
            </a:r>
            <a:endParaRPr lang="en-US" sz="1600" dirty="0"/>
          </a:p>
        </p:txBody>
      </p:sp>
      <p:sp>
        <p:nvSpPr>
          <p:cNvPr id="21" name="progress 1"/>
          <p:cNvSpPr/>
          <p:nvPr/>
        </p:nvSpPr>
        <p:spPr>
          <a:xfrm>
            <a:off x="548640" y="5833872"/>
            <a:ext cx="2651760" cy="384048"/>
          </a:xfrm>
          <a:prstGeom prst="roundRect">
            <a:avLst>
              <a:gd name="adj" fmla="val 50000"/>
            </a:avLst>
          </a:prstGeom>
          <a:solidFill>
            <a:schemeClr val="tx2"/>
          </a:solidFill>
          <a:ln w="12700">
            <a:solidFill>
              <a:schemeClr val="accent4"/>
            </a:solidFill>
            <a:prstDash val="solid"/>
          </a:ln>
        </p:spPr>
      </p:sp>
      <p:sp>
        <p:nvSpPr>
          <p:cNvPr id="22" name="Text 19"/>
          <p:cNvSpPr txBox="1"/>
          <p:nvPr/>
        </p:nvSpPr>
        <p:spPr>
          <a:xfrm>
            <a:off x="548640"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3" name="progress 2"/>
          <p:cNvSpPr/>
          <p:nvPr/>
        </p:nvSpPr>
        <p:spPr>
          <a:xfrm>
            <a:off x="3346704" y="5833872"/>
            <a:ext cx="2651760" cy="384048"/>
          </a:xfrm>
          <a:prstGeom prst="roundRect">
            <a:avLst>
              <a:gd name="adj" fmla="val 50000"/>
            </a:avLst>
          </a:prstGeom>
          <a:solidFill>
            <a:schemeClr val="accent4"/>
          </a:solidFill>
          <a:ln w="12700">
            <a:solidFill>
              <a:schemeClr val="accent4"/>
            </a:solidFill>
            <a:prstDash val="solid"/>
          </a:ln>
        </p:spPr>
      </p:sp>
      <p:sp>
        <p:nvSpPr>
          <p:cNvPr id="24" name="Text 21"/>
          <p:cNvSpPr txBox="1"/>
          <p:nvPr/>
        </p:nvSpPr>
        <p:spPr>
          <a:xfrm>
            <a:off x="3346704" y="5833872"/>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2  Compare the regions</a:t>
            </a:r>
            <a:endParaRPr lang="en-US" sz="1300" dirty="0"/>
          </a:p>
        </p:txBody>
      </p:sp>
      <p:sp>
        <p:nvSpPr>
          <p:cNvPr id="25" name="progress 3"/>
          <p:cNvSpPr/>
          <p:nvPr/>
        </p:nvSpPr>
        <p:spPr>
          <a:xfrm>
            <a:off x="6144768" y="5833872"/>
            <a:ext cx="2651760" cy="384048"/>
          </a:xfrm>
          <a:prstGeom prst="roundRect">
            <a:avLst>
              <a:gd name="adj" fmla="val 50000"/>
            </a:avLst>
          </a:prstGeom>
          <a:solidFill>
            <a:schemeClr val="tx2"/>
          </a:solidFill>
          <a:ln w="12700">
            <a:solidFill>
              <a:schemeClr val="accent4"/>
            </a:solidFill>
            <a:prstDash val="solid"/>
          </a:ln>
        </p:spPr>
      </p:sp>
      <p:sp>
        <p:nvSpPr>
          <p:cNvPr id="26" name="Text 23"/>
          <p:cNvSpPr txBox="1"/>
          <p:nvPr/>
        </p:nvSpPr>
        <p:spPr>
          <a:xfrm>
            <a:off x="6144768"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7" name="progress 4"/>
          <p:cNvSpPr/>
          <p:nvPr/>
        </p:nvSpPr>
        <p:spPr>
          <a:xfrm>
            <a:off x="8942832" y="5833872"/>
            <a:ext cx="2651760" cy="384048"/>
          </a:xfrm>
          <a:prstGeom prst="roundRect">
            <a:avLst>
              <a:gd name="adj" fmla="val 50000"/>
            </a:avLst>
          </a:prstGeom>
          <a:solidFill>
            <a:schemeClr val="tx2"/>
          </a:solidFill>
          <a:ln w="12700">
            <a:solidFill>
              <a:schemeClr val="accent4"/>
            </a:solidFill>
            <a:prstDash val="solid"/>
          </a:ln>
        </p:spPr>
      </p:sp>
      <p:sp>
        <p:nvSpPr>
          <p:cNvPr id="28" name="Text 25"/>
          <p:cNvSpPr txBox="1"/>
          <p:nvPr/>
        </p:nvSpPr>
        <p:spPr>
          <a:xfrm>
            <a:off x="8942832"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Which rules apply? Every regime the payment touches</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Check every country the payment touches — not just the local one.</a:t>
            </a:r>
            <a:endParaRPr lang="en-US" sz="1700" dirty="0"/>
          </a:p>
        </p:txBody>
      </p:sp>
      <p:sp>
        <p:nvSpPr>
          <p:cNvPr id="5" name="Text 3"/>
          <p:cNvSpPr txBox="1"/>
          <p:nvPr/>
        </p:nvSpPr>
        <p:spPr>
          <a:xfrm>
            <a:off x="548640" y="1554480"/>
            <a:ext cx="51206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APPLY EVERY LAYER, IN ORDER</a:t>
            </a:r>
            <a:endParaRPr lang="en-US" sz="1100" dirty="0"/>
          </a:p>
        </p:txBody>
      </p:sp>
      <p:sp>
        <p:nvSpPr>
          <p:cNvPr id="6" name="layer 1"/>
          <p:cNvSpPr/>
          <p:nvPr/>
        </p:nvSpPr>
        <p:spPr>
          <a:xfrm>
            <a:off x="548640" y="1828800"/>
            <a:ext cx="5120640" cy="731520"/>
          </a:xfrm>
          <a:prstGeom prst="roundRect">
            <a:avLst>
              <a:gd name="adj" fmla="val 15000"/>
            </a:avLst>
          </a:prstGeom>
          <a:solidFill>
            <a:schemeClr val="tx1"/>
          </a:solidFill>
          <a:ln w="12700">
            <a:solidFill>
              <a:schemeClr val="tx1"/>
            </a:solidFill>
            <a:prstDash val="solid"/>
          </a:ln>
        </p:spPr>
      </p:sp>
      <p:sp>
        <p:nvSpPr>
          <p:cNvPr id="7" name="Shape 5"/>
          <p:cNvSpPr/>
          <p:nvPr/>
        </p:nvSpPr>
        <p:spPr>
          <a:xfrm>
            <a:off x="713232" y="196596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713232"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7"/>
          <p:cNvSpPr txBox="1"/>
          <p:nvPr/>
        </p:nvSpPr>
        <p:spPr>
          <a:xfrm>
            <a:off x="1371600" y="1901952"/>
            <a:ext cx="4160520" cy="292608"/>
          </a:xfrm>
          <a:prstGeom prst="rect">
            <a:avLst/>
          </a:prstGeom>
          <a:noFill/>
          <a:ln/>
        </p:spPr>
        <p:txBody>
          <a:bodyPr wrap="square" lIns="0" tIns="0" rIns="0" bIns="0" rtlCol="0" anchor="t"/>
          <a:lstStyle/>
          <a:p>
            <a:pPr indent="0" marL="0">
              <a:buNone/>
            </a:pPr>
            <a:r>
              <a:rPr lang="en-US" sz="1600" b="1" dirty="0">
                <a:solidFill>
                  <a:schemeClr val="bg1"/>
                </a:solidFill>
              </a:rPr>
              <a:t>Local law</a:t>
            </a:r>
            <a:endParaRPr lang="en-US" sz="1600" dirty="0"/>
          </a:p>
        </p:txBody>
      </p:sp>
      <p:sp>
        <p:nvSpPr>
          <p:cNvPr id="10" name="Text 8"/>
          <p:cNvSpPr txBox="1"/>
          <p:nvPr/>
        </p:nvSpPr>
        <p:spPr>
          <a:xfrm>
            <a:off x="1371600" y="2212848"/>
            <a:ext cx="4160520" cy="292608"/>
          </a:xfrm>
          <a:prstGeom prst="rect">
            <a:avLst/>
          </a:prstGeom>
          <a:noFill/>
          <a:ln/>
        </p:spPr>
        <p:txBody>
          <a:bodyPr wrap="square" lIns="0" tIns="0" rIns="0" bIns="0" rtlCol="0" anchor="t"/>
          <a:lstStyle/>
          <a:p>
            <a:pPr indent="0" marL="0">
              <a:buNone/>
            </a:pPr>
            <a:r>
              <a:rPr lang="en-US" sz="1400" dirty="0">
                <a:solidFill>
                  <a:schemeClr val="accent5"/>
                </a:solidFill>
              </a:rPr>
              <a:t>Of the Checkout legal entity processing the payment</a:t>
            </a:r>
            <a:endParaRPr lang="en-US" sz="1400" dirty="0"/>
          </a:p>
        </p:txBody>
      </p:sp>
      <p:sp>
        <p:nvSpPr>
          <p:cNvPr id="11" name="layer 2"/>
          <p:cNvSpPr/>
          <p:nvPr/>
        </p:nvSpPr>
        <p:spPr>
          <a:xfrm>
            <a:off x="548640" y="2633472"/>
            <a:ext cx="5120640" cy="731520"/>
          </a:xfrm>
          <a:prstGeom prst="roundRect">
            <a:avLst>
              <a:gd name="adj" fmla="val 15000"/>
            </a:avLst>
          </a:prstGeom>
          <a:solidFill>
            <a:schemeClr val="bg2"/>
          </a:solidFill>
          <a:ln w="12700">
            <a:solidFill>
              <a:schemeClr val="bg2"/>
            </a:solidFill>
            <a:prstDash val="solid"/>
          </a:ln>
        </p:spPr>
      </p:sp>
      <p:sp>
        <p:nvSpPr>
          <p:cNvPr id="12" name="Shape 10"/>
          <p:cNvSpPr/>
          <p:nvPr/>
        </p:nvSpPr>
        <p:spPr>
          <a:xfrm>
            <a:off x="713232" y="2770632"/>
            <a:ext cx="457200" cy="457200"/>
          </a:xfrm>
          <a:prstGeom prst="ellipse">
            <a:avLst/>
          </a:prstGeom>
          <a:solidFill>
            <a:schemeClr val="tx1"/>
          </a:solidFill>
          <a:ln w="12700">
            <a:solidFill>
              <a:schemeClr val="tx1"/>
            </a:solidFill>
            <a:prstDash val="solid"/>
          </a:ln>
        </p:spPr>
      </p:sp>
      <p:sp>
        <p:nvSpPr>
          <p:cNvPr id="13" name="Text 11"/>
          <p:cNvSpPr txBox="1"/>
          <p:nvPr/>
        </p:nvSpPr>
        <p:spPr>
          <a:xfrm>
            <a:off x="713232"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1371600" y="2706624"/>
            <a:ext cx="4160520" cy="292608"/>
          </a:xfrm>
          <a:prstGeom prst="rect">
            <a:avLst/>
          </a:prstGeom>
          <a:noFill/>
          <a:ln/>
        </p:spPr>
        <p:txBody>
          <a:bodyPr wrap="square" lIns="0" tIns="0" rIns="0" bIns="0" rtlCol="0" anchor="t"/>
          <a:lstStyle/>
          <a:p>
            <a:pPr indent="0" marL="0">
              <a:buNone/>
            </a:pPr>
            <a:r>
              <a:rPr lang="en-US" sz="1600" b="1" dirty="0">
                <a:solidFill>
                  <a:schemeClr val="tx1"/>
                </a:solidFill>
              </a:rPr>
              <a:t>Group policy</a:t>
            </a:r>
            <a:endParaRPr lang="en-US" sz="1600" dirty="0"/>
          </a:p>
        </p:txBody>
      </p:sp>
      <p:sp>
        <p:nvSpPr>
          <p:cNvPr id="15" name="Text 13"/>
          <p:cNvSpPr txBox="1"/>
          <p:nvPr/>
        </p:nvSpPr>
        <p:spPr>
          <a:xfrm>
            <a:off x="1371600" y="3017520"/>
            <a:ext cx="4160520" cy="292608"/>
          </a:xfrm>
          <a:prstGeom prst="rect">
            <a:avLst/>
          </a:prstGeom>
          <a:noFill/>
          <a:ln/>
        </p:spPr>
        <p:txBody>
          <a:bodyPr wrap="square" lIns="0" tIns="0" rIns="0" bIns="0" rtlCol="0" anchor="t"/>
          <a:lstStyle/>
          <a:p>
            <a:pPr indent="0" marL="0">
              <a:buNone/>
            </a:pPr>
            <a:r>
              <a:rPr lang="en-US" sz="1400" dirty="0">
                <a:solidFill>
                  <a:schemeClr val="accent6"/>
                </a:solidFill>
              </a:rPr>
              <a:t>Our Global Sanctions Reporting Procedure</a:t>
            </a:r>
            <a:endParaRPr lang="en-US" sz="1400" dirty="0"/>
          </a:p>
        </p:txBody>
      </p:sp>
      <p:sp>
        <p:nvSpPr>
          <p:cNvPr id="16" name="layer 3"/>
          <p:cNvSpPr/>
          <p:nvPr/>
        </p:nvSpPr>
        <p:spPr>
          <a:xfrm>
            <a:off x="548640" y="3438144"/>
            <a:ext cx="5120640" cy="731520"/>
          </a:xfrm>
          <a:prstGeom prst="roundRect">
            <a:avLst>
              <a:gd name="adj" fmla="val 15000"/>
            </a:avLst>
          </a:prstGeom>
          <a:solidFill>
            <a:schemeClr val="bg2"/>
          </a:solidFill>
          <a:ln w="12700">
            <a:solidFill>
              <a:schemeClr val="bg2"/>
            </a:solidFill>
            <a:prstDash val="solid"/>
          </a:ln>
        </p:spPr>
      </p:sp>
      <p:sp>
        <p:nvSpPr>
          <p:cNvPr id="17" name="Shape 15"/>
          <p:cNvSpPr/>
          <p:nvPr/>
        </p:nvSpPr>
        <p:spPr>
          <a:xfrm>
            <a:off x="713232" y="3575304"/>
            <a:ext cx="457200" cy="457200"/>
          </a:xfrm>
          <a:prstGeom prst="ellipse">
            <a:avLst/>
          </a:prstGeom>
          <a:solidFill>
            <a:schemeClr val="tx1"/>
          </a:solidFill>
          <a:ln w="12700">
            <a:solidFill>
              <a:schemeClr val="tx1"/>
            </a:solidFill>
            <a:prstDash val="solid"/>
          </a:ln>
        </p:spPr>
      </p:sp>
      <p:sp>
        <p:nvSpPr>
          <p:cNvPr id="18" name="Text 16"/>
          <p:cNvSpPr txBox="1"/>
          <p:nvPr/>
        </p:nvSpPr>
        <p:spPr>
          <a:xfrm>
            <a:off x="713232" y="35753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17"/>
          <p:cNvSpPr txBox="1"/>
          <p:nvPr/>
        </p:nvSpPr>
        <p:spPr>
          <a:xfrm>
            <a:off x="1371600" y="3511296"/>
            <a:ext cx="4160520" cy="292608"/>
          </a:xfrm>
          <a:prstGeom prst="rect">
            <a:avLst/>
          </a:prstGeom>
          <a:noFill/>
          <a:ln/>
        </p:spPr>
        <p:txBody>
          <a:bodyPr wrap="square" lIns="0" tIns="0" rIns="0" bIns="0" rtlCol="0" anchor="t"/>
          <a:lstStyle/>
          <a:p>
            <a:pPr indent="0" marL="0">
              <a:buNone/>
            </a:pPr>
            <a:r>
              <a:rPr lang="en-US" sz="1600" b="1" dirty="0">
                <a:solidFill>
                  <a:schemeClr val="tx1"/>
                </a:solidFill>
              </a:rPr>
              <a:t>Correspondent / partner constraints</a:t>
            </a:r>
            <a:endParaRPr lang="en-US" sz="1600" dirty="0"/>
          </a:p>
        </p:txBody>
      </p:sp>
      <p:sp>
        <p:nvSpPr>
          <p:cNvPr id="20" name="Text 18"/>
          <p:cNvSpPr txBox="1"/>
          <p:nvPr/>
        </p:nvSpPr>
        <p:spPr>
          <a:xfrm>
            <a:off x="1371600" y="3822192"/>
            <a:ext cx="4160520" cy="292608"/>
          </a:xfrm>
          <a:prstGeom prst="rect">
            <a:avLst/>
          </a:prstGeom>
          <a:noFill/>
          <a:ln/>
        </p:spPr>
        <p:txBody>
          <a:bodyPr wrap="square" lIns="0" tIns="0" rIns="0" bIns="0" rtlCol="0" anchor="t"/>
          <a:lstStyle/>
          <a:p>
            <a:pPr indent="0" marL="0">
              <a:buNone/>
            </a:pPr>
            <a:r>
              <a:rPr lang="en-US" sz="1400" dirty="0">
                <a:solidFill>
                  <a:schemeClr val="accent6"/>
                </a:solidFill>
              </a:rPr>
              <a:t>Bank, scheme and correspondent contracts</a:t>
            </a:r>
            <a:endParaRPr lang="en-US" sz="1400" dirty="0"/>
          </a:p>
        </p:txBody>
      </p:sp>
      <p:sp>
        <p:nvSpPr>
          <p:cNvPr id="21" name="layer 4"/>
          <p:cNvSpPr/>
          <p:nvPr/>
        </p:nvSpPr>
        <p:spPr>
          <a:xfrm>
            <a:off x="548640" y="4242816"/>
            <a:ext cx="5120640" cy="731520"/>
          </a:xfrm>
          <a:prstGeom prst="roundRect">
            <a:avLst>
              <a:gd name="adj" fmla="val 15000"/>
            </a:avLst>
          </a:prstGeom>
          <a:solidFill>
            <a:schemeClr val="bg2"/>
          </a:solidFill>
          <a:ln w="12700">
            <a:solidFill>
              <a:schemeClr val="bg2"/>
            </a:solidFill>
            <a:prstDash val="solid"/>
          </a:ln>
        </p:spPr>
      </p:sp>
      <p:sp>
        <p:nvSpPr>
          <p:cNvPr id="22" name="Shape 20"/>
          <p:cNvSpPr/>
          <p:nvPr/>
        </p:nvSpPr>
        <p:spPr>
          <a:xfrm>
            <a:off x="713232" y="4379976"/>
            <a:ext cx="457200" cy="457200"/>
          </a:xfrm>
          <a:prstGeom prst="ellipse">
            <a:avLst/>
          </a:prstGeom>
          <a:solidFill>
            <a:schemeClr val="tx1"/>
          </a:solidFill>
          <a:ln w="12700">
            <a:solidFill>
              <a:schemeClr val="tx1"/>
            </a:solidFill>
            <a:prstDash val="solid"/>
          </a:ln>
        </p:spPr>
      </p:sp>
      <p:sp>
        <p:nvSpPr>
          <p:cNvPr id="23" name="Text 21"/>
          <p:cNvSpPr txBox="1"/>
          <p:nvPr/>
        </p:nvSpPr>
        <p:spPr>
          <a:xfrm>
            <a:off x="713232" y="43799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1371600" y="4315968"/>
            <a:ext cx="4160520" cy="292608"/>
          </a:xfrm>
          <a:prstGeom prst="rect">
            <a:avLst/>
          </a:prstGeom>
          <a:noFill/>
          <a:ln/>
        </p:spPr>
        <p:txBody>
          <a:bodyPr wrap="square" lIns="0" tIns="0" rIns="0" bIns="0" rtlCol="0" anchor="t"/>
          <a:lstStyle/>
          <a:p>
            <a:pPr indent="0" marL="0">
              <a:buNone/>
            </a:pPr>
            <a:r>
              <a:rPr lang="en-US" sz="1600" b="1" dirty="0">
                <a:solidFill>
                  <a:schemeClr val="tx1"/>
                </a:solidFill>
              </a:rPr>
              <a:t>Product rules</a:t>
            </a:r>
            <a:endParaRPr lang="en-US" sz="1600" dirty="0"/>
          </a:p>
        </p:txBody>
      </p:sp>
      <p:sp>
        <p:nvSpPr>
          <p:cNvPr id="25" name="Text 23"/>
          <p:cNvSpPr txBox="1"/>
          <p:nvPr/>
        </p:nvSpPr>
        <p:spPr>
          <a:xfrm>
            <a:off x="1371600" y="4626864"/>
            <a:ext cx="4160520" cy="292608"/>
          </a:xfrm>
          <a:prstGeom prst="rect">
            <a:avLst/>
          </a:prstGeom>
          <a:noFill/>
          <a:ln/>
        </p:spPr>
        <p:txBody>
          <a:bodyPr wrap="square" lIns="0" tIns="0" rIns="0" bIns="0" rtlCol="0" anchor="t"/>
          <a:lstStyle/>
          <a:p>
            <a:pPr indent="0" marL="0">
              <a:buNone/>
            </a:pPr>
            <a:r>
              <a:rPr lang="en-US" sz="1400" dirty="0">
                <a:solidFill>
                  <a:schemeClr val="accent6"/>
                </a:solidFill>
              </a:rPr>
              <a:t>What this product is permitted to do</a:t>
            </a:r>
            <a:endParaRPr lang="en-US" sz="1400" dirty="0"/>
          </a:p>
        </p:txBody>
      </p:sp>
      <p:sp>
        <p:nvSpPr>
          <p:cNvPr id="26" name="Text 24"/>
          <p:cNvSpPr txBox="1"/>
          <p:nvPr/>
        </p:nvSpPr>
        <p:spPr>
          <a:xfrm>
            <a:off x="6035040" y="1554480"/>
            <a:ext cx="55778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THEN TEST FOR EACH NEXUS</a:t>
            </a:r>
            <a:endParaRPr lang="en-US" sz="1100" dirty="0"/>
          </a:p>
        </p:txBody>
      </p:sp>
      <p:sp>
        <p:nvSpPr>
          <p:cNvPr id="27" name="UK nexus?"/>
          <p:cNvSpPr/>
          <p:nvPr/>
        </p:nvSpPr>
        <p:spPr>
          <a:xfrm>
            <a:off x="6035040" y="1828800"/>
            <a:ext cx="5577840" cy="969264"/>
          </a:xfrm>
          <a:prstGeom prst="roundRect">
            <a:avLst>
              <a:gd name="adj" fmla="val 11321"/>
            </a:avLst>
          </a:prstGeom>
          <a:solidFill>
            <a:schemeClr val="bg2"/>
          </a:solidFill>
          <a:ln w="12700">
            <a:solidFill>
              <a:schemeClr val="bg2"/>
            </a:solidFill>
            <a:prstDash val="solid"/>
          </a:ln>
        </p:spPr>
      </p:sp>
      <p:sp>
        <p:nvSpPr>
          <p:cNvPr id="28" name="Text 26"/>
          <p:cNvSpPr txBox="1"/>
          <p:nvPr/>
        </p:nvSpPr>
        <p:spPr>
          <a:xfrm>
            <a:off x="6263640" y="1901952"/>
            <a:ext cx="2377440" cy="310896"/>
          </a:xfrm>
          <a:prstGeom prst="rect">
            <a:avLst/>
          </a:prstGeom>
          <a:noFill/>
          <a:ln/>
        </p:spPr>
        <p:txBody>
          <a:bodyPr wrap="square" lIns="0" tIns="0" rIns="0" bIns="0" rtlCol="0" anchor="t"/>
          <a:lstStyle/>
          <a:p>
            <a:pPr indent="0" marL="0">
              <a:buNone/>
            </a:pPr>
            <a:r>
              <a:rPr lang="en-US" sz="1600" b="1" dirty="0">
                <a:solidFill>
                  <a:schemeClr val="tx1"/>
                </a:solidFill>
              </a:rPr>
              <a:t>UK nexus?</a:t>
            </a:r>
            <a:endParaRPr lang="en-US" sz="1600" dirty="0"/>
          </a:p>
        </p:txBody>
      </p:sp>
      <p:sp>
        <p:nvSpPr>
          <p:cNvPr id="29" name="Text 27"/>
          <p:cNvSpPr txBox="1"/>
          <p:nvPr/>
        </p:nvSpPr>
        <p:spPr>
          <a:xfrm>
            <a:off x="8641080" y="1901952"/>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UK sanctions</a:t>
            </a:r>
            <a:endParaRPr lang="en-US" sz="1400" dirty="0"/>
          </a:p>
        </p:txBody>
      </p:sp>
      <p:sp>
        <p:nvSpPr>
          <p:cNvPr id="30" name="Text 28"/>
          <p:cNvSpPr txBox="1"/>
          <p:nvPr/>
        </p:nvSpPr>
        <p:spPr>
          <a:xfrm>
            <a:off x="6263640" y="2240280"/>
            <a:ext cx="5166360" cy="502920"/>
          </a:xfrm>
          <a:prstGeom prst="rect">
            <a:avLst/>
          </a:prstGeom>
          <a:noFill/>
          <a:ln/>
        </p:spPr>
        <p:txBody>
          <a:bodyPr wrap="square" lIns="0" tIns="0" rIns="0" bIns="0" rtlCol="0" anchor="t"/>
          <a:lstStyle/>
          <a:p>
            <a:pPr indent="0" marL="0">
              <a:buNone/>
            </a:pPr>
            <a:r>
              <a:rPr lang="en-US" sz="1400" dirty="0">
                <a:solidFill>
                  <a:schemeClr val="tx1"/>
                </a:solidFill>
              </a:rPr>
              <a:t>A UK entity or UK person anywhere, or activity routed through the UK — for example, GBP clearing.</a:t>
            </a:r>
            <a:endParaRPr lang="en-US" sz="1400" dirty="0"/>
          </a:p>
        </p:txBody>
      </p:sp>
      <p:sp>
        <p:nvSpPr>
          <p:cNvPr id="31" name="EU nexus?"/>
          <p:cNvSpPr/>
          <p:nvPr/>
        </p:nvSpPr>
        <p:spPr>
          <a:xfrm>
            <a:off x="6035040" y="2907792"/>
            <a:ext cx="5577840" cy="969264"/>
          </a:xfrm>
          <a:prstGeom prst="roundRect">
            <a:avLst>
              <a:gd name="adj" fmla="val 11321"/>
            </a:avLst>
          </a:prstGeom>
          <a:solidFill>
            <a:schemeClr val="bg2"/>
          </a:solidFill>
          <a:ln w="12700">
            <a:solidFill>
              <a:schemeClr val="bg2"/>
            </a:solidFill>
            <a:prstDash val="solid"/>
          </a:ln>
        </p:spPr>
      </p:sp>
      <p:sp>
        <p:nvSpPr>
          <p:cNvPr id="32" name="Text 30"/>
          <p:cNvSpPr txBox="1"/>
          <p:nvPr/>
        </p:nvSpPr>
        <p:spPr>
          <a:xfrm>
            <a:off x="6263640" y="2980944"/>
            <a:ext cx="2377440" cy="310896"/>
          </a:xfrm>
          <a:prstGeom prst="rect">
            <a:avLst/>
          </a:prstGeom>
          <a:noFill/>
          <a:ln/>
        </p:spPr>
        <p:txBody>
          <a:bodyPr wrap="square" lIns="0" tIns="0" rIns="0" bIns="0" rtlCol="0" anchor="t"/>
          <a:lstStyle/>
          <a:p>
            <a:pPr indent="0" marL="0">
              <a:buNone/>
            </a:pPr>
            <a:r>
              <a:rPr lang="en-US" sz="1600" b="1" dirty="0">
                <a:solidFill>
                  <a:schemeClr val="tx1"/>
                </a:solidFill>
              </a:rPr>
              <a:t>EU nexus?</a:t>
            </a:r>
            <a:endParaRPr lang="en-US" sz="1600" dirty="0"/>
          </a:p>
        </p:txBody>
      </p:sp>
      <p:sp>
        <p:nvSpPr>
          <p:cNvPr id="33" name="Text 31"/>
          <p:cNvSpPr txBox="1"/>
          <p:nvPr/>
        </p:nvSpPr>
        <p:spPr>
          <a:xfrm>
            <a:off x="8641080" y="2980944"/>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EU measures</a:t>
            </a:r>
            <a:endParaRPr lang="en-US" sz="1400" dirty="0"/>
          </a:p>
        </p:txBody>
      </p:sp>
      <p:sp>
        <p:nvSpPr>
          <p:cNvPr id="34" name="Text 32"/>
          <p:cNvSpPr txBox="1"/>
          <p:nvPr/>
        </p:nvSpPr>
        <p:spPr>
          <a:xfrm>
            <a:off x="6263640" y="3319272"/>
            <a:ext cx="5166360" cy="502920"/>
          </a:xfrm>
          <a:prstGeom prst="rect">
            <a:avLst/>
          </a:prstGeom>
          <a:noFill/>
          <a:ln/>
        </p:spPr>
        <p:txBody>
          <a:bodyPr wrap="square" lIns="0" tIns="0" rIns="0" bIns="0" rtlCol="0" anchor="t"/>
          <a:lstStyle/>
          <a:p>
            <a:pPr indent="0" marL="0">
              <a:buNone/>
            </a:pPr>
            <a:r>
              <a:rPr lang="en-US" sz="1400" dirty="0">
                <a:solidFill>
                  <a:schemeClr val="tx1"/>
                </a:solidFill>
              </a:rPr>
              <a:t>An EU entity or EU national anywhere, or business in the EU. For France, also check the national register.</a:t>
            </a:r>
            <a:endParaRPr lang="en-US" sz="1400" dirty="0"/>
          </a:p>
        </p:txBody>
      </p:sp>
      <p:sp>
        <p:nvSpPr>
          <p:cNvPr id="35" name="US nexus?"/>
          <p:cNvSpPr/>
          <p:nvPr/>
        </p:nvSpPr>
        <p:spPr>
          <a:xfrm>
            <a:off x="6035040" y="3986784"/>
            <a:ext cx="5577840" cy="969264"/>
          </a:xfrm>
          <a:prstGeom prst="roundRect">
            <a:avLst>
              <a:gd name="adj" fmla="val 11321"/>
            </a:avLst>
          </a:prstGeom>
          <a:solidFill>
            <a:schemeClr val="bg2"/>
          </a:solidFill>
          <a:ln w="12700">
            <a:solidFill>
              <a:schemeClr val="bg2"/>
            </a:solidFill>
            <a:prstDash val="solid"/>
          </a:ln>
        </p:spPr>
      </p:sp>
      <p:sp>
        <p:nvSpPr>
          <p:cNvPr id="36" name="Text 34"/>
          <p:cNvSpPr txBox="1"/>
          <p:nvPr/>
        </p:nvSpPr>
        <p:spPr>
          <a:xfrm>
            <a:off x="6263640" y="4059936"/>
            <a:ext cx="2377440" cy="310896"/>
          </a:xfrm>
          <a:prstGeom prst="rect">
            <a:avLst/>
          </a:prstGeom>
          <a:noFill/>
          <a:ln/>
        </p:spPr>
        <p:txBody>
          <a:bodyPr wrap="square" lIns="0" tIns="0" rIns="0" bIns="0" rtlCol="0" anchor="t"/>
          <a:lstStyle/>
          <a:p>
            <a:pPr indent="0" marL="0">
              <a:buNone/>
            </a:pPr>
            <a:r>
              <a:rPr lang="en-US" sz="1600" b="1" dirty="0">
                <a:solidFill>
                  <a:schemeClr val="tx1"/>
                </a:solidFill>
              </a:rPr>
              <a:t>US nexus?</a:t>
            </a:r>
            <a:endParaRPr lang="en-US" sz="1600" dirty="0"/>
          </a:p>
        </p:txBody>
      </p:sp>
      <p:sp>
        <p:nvSpPr>
          <p:cNvPr id="37" name="Text 35"/>
          <p:cNvSpPr txBox="1"/>
          <p:nvPr/>
        </p:nvSpPr>
        <p:spPr>
          <a:xfrm>
            <a:off x="8641080" y="4059936"/>
            <a:ext cx="2788920" cy="310896"/>
          </a:xfrm>
          <a:prstGeom prst="rect">
            <a:avLst/>
          </a:prstGeom>
          <a:noFill/>
          <a:ln/>
        </p:spPr>
        <p:txBody>
          <a:bodyPr wrap="square" lIns="0" tIns="0" rIns="0" bIns="0" rtlCol="0" anchor="t"/>
          <a:lstStyle/>
          <a:p>
            <a:pPr algn="r" indent="0" marL="0">
              <a:buNone/>
            </a:pPr>
            <a:r>
              <a:rPr lang="en-US" sz="1400" b="1" dirty="0">
                <a:solidFill>
                  <a:schemeClr val="accent1"/>
                </a:solidFill>
              </a:rPr>
              <a:t>Apply OFAC</a:t>
            </a:r>
            <a:endParaRPr lang="en-US" sz="1400" dirty="0"/>
          </a:p>
        </p:txBody>
      </p:sp>
      <p:sp>
        <p:nvSpPr>
          <p:cNvPr id="38" name="Text 36"/>
          <p:cNvSpPr txBox="1"/>
          <p:nvPr/>
        </p:nvSpPr>
        <p:spPr>
          <a:xfrm>
            <a:off x="6263640" y="4398264"/>
            <a:ext cx="5166360" cy="502920"/>
          </a:xfrm>
          <a:prstGeom prst="rect">
            <a:avLst/>
          </a:prstGeom>
          <a:noFill/>
          <a:ln/>
        </p:spPr>
        <p:txBody>
          <a:bodyPr wrap="square" lIns="0" tIns="0" rIns="0" bIns="0" rtlCol="0" anchor="t"/>
          <a:lstStyle/>
          <a:p>
            <a:pPr indent="0" marL="0">
              <a:buNone/>
            </a:pPr>
            <a:r>
              <a:rPr lang="en-US" sz="1400" dirty="0">
                <a:solidFill>
                  <a:schemeClr val="tx1"/>
                </a:solidFill>
              </a:rPr>
              <a:t>USD clearing, a US bank in the chain, a US person, or US-origin goods or services.</a:t>
            </a:r>
            <a:endParaRPr lang="en-US" sz="1400" dirty="0"/>
          </a:p>
        </p:txBody>
      </p:sp>
      <p:sp>
        <p:nvSpPr>
          <p:cNvPr id="3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40" name="Text 38"/>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1" name="Text 39"/>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payment that is clear under one country's rules can still breach another's. The local list alone is never the whole answer.</a:t>
            </a:r>
            <a:endParaRPr lang="en-US" sz="1400" dirty="0"/>
          </a:p>
        </p:txBody>
      </p:sp>
      <p:sp>
        <p:nvSpPr>
          <p:cNvPr id="4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3" name="Text 41"/>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4" name="Text 42"/>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Confirm the legal entity, route and currency in the case record, then check the Country Risk Rating and HRTC registers.</a:t>
            </a:r>
            <a:endParaRPr lang="en-US" sz="1400" dirty="0"/>
          </a:p>
        </p:txBody>
      </p:sp>
      <p:sp>
        <p:nvSpPr>
          <p:cNvPr id="45" name="Text 43"/>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OFSI General Guidance — UK nexus; EU Council Best Practices — jurisdiction; OFAC Basic Information on Sanctions; Checkout Global Sanctions Reporting Procedure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COMPARISON — UK · EU / FRANCE · US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UK, EU and US: the differences that change the outcome</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The UK, EU and US play by different rules — know where they differ.</a:t>
            </a:r>
            <a:endParaRPr lang="en-US" sz="1700" dirty="0"/>
          </a:p>
        </p:txBody>
      </p:sp>
      <p:sp>
        <p:nvSpPr>
          <p:cNvPr id="5" name="United Kingdom card"/>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United Kingdom header"/>
          <p:cNvSpPr/>
          <p:nvPr/>
        </p:nvSpPr>
        <p:spPr>
          <a:xfrm>
            <a:off x="548640" y="1554480"/>
            <a:ext cx="3566160" cy="502920"/>
          </a:xfrm>
          <a:prstGeom prst="roundRect">
            <a:avLst>
              <a:gd name="adj" fmla="val 21818"/>
            </a:avLst>
          </a:prstGeom>
          <a:solidFill>
            <a:schemeClr val="tx1"/>
          </a:solidFill>
          <a:ln w="12700">
            <a:solidFill>
              <a:schemeClr val="tx1"/>
            </a:solidFill>
            <a:prstDash val="solid"/>
          </a:ln>
        </p:spPr>
      </p:sp>
      <p:sp>
        <p:nvSpPr>
          <p:cNvPr id="7" name="Text 5"/>
          <p:cNvSpPr txBox="1"/>
          <p:nvPr/>
        </p:nvSpPr>
        <p:spPr>
          <a:xfrm>
            <a:off x="777240" y="1554480"/>
            <a:ext cx="3108960" cy="502920"/>
          </a:xfrm>
          <a:prstGeom prst="rect">
            <a:avLst/>
          </a:prstGeom>
          <a:noFill/>
          <a:ln/>
        </p:spPr>
        <p:txBody>
          <a:bodyPr wrap="square" lIns="0" tIns="0" rIns="0" bIns="0" rtlCol="0" anchor="ctr"/>
          <a:lstStyle/>
          <a:p>
            <a:pPr indent="0" marL="0">
              <a:buNone/>
            </a:pPr>
            <a:r>
              <a:rPr lang="en-US" sz="1900" b="1" dirty="0">
                <a:solidFill>
                  <a:schemeClr val="bg1"/>
                </a:solidFill>
              </a:rPr>
              <a:t>United Kingdom</a:t>
            </a:r>
            <a:pPr indent="0" marL="0">
              <a:buNone/>
            </a:pPr>
            <a:r>
              <a:rPr lang="en-US" sz="1300" dirty="0">
                <a:solidFill>
                  <a:schemeClr val="bg1"/>
                </a:solidFill>
              </a:rPr>
              <a:t>   OFSI</a:t>
            </a:r>
            <a:endParaRPr lang="en-US" sz="1400" dirty="0"/>
          </a:p>
        </p:txBody>
      </p:sp>
      <p:sp>
        <p:nvSpPr>
          <p:cNvPr id="8" name="Text 6"/>
          <p:cNvSpPr txBox="1"/>
          <p:nvPr/>
        </p:nvSpPr>
        <p:spPr>
          <a:xfrm>
            <a:off x="777240" y="215798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9" name="Text 7"/>
          <p:cNvSpPr txBox="1"/>
          <p:nvPr/>
        </p:nvSpPr>
        <p:spPr>
          <a:xfrm>
            <a:off x="777240" y="2377440"/>
            <a:ext cx="3108960" cy="457200"/>
          </a:xfrm>
          <a:prstGeom prst="rect">
            <a:avLst/>
          </a:prstGeom>
          <a:noFill/>
          <a:ln/>
        </p:spPr>
        <p:txBody>
          <a:bodyPr wrap="square" lIns="0" tIns="0" rIns="0" bIns="0" rtlCol="0" anchor="t"/>
          <a:lstStyle/>
          <a:p>
            <a:pPr indent="0" marL="0">
              <a:buNone/>
            </a:pPr>
            <a:r>
              <a:rPr lang="en-US" sz="1400" dirty="0">
                <a:solidFill>
                  <a:schemeClr val="tx1"/>
                </a:solidFill>
              </a:rPr>
              <a:t>UK Sanctions List — the single source for UK designations since 28 Jan 2026</a:t>
            </a:r>
            <a:endParaRPr lang="en-US" sz="1400" dirty="0"/>
          </a:p>
        </p:txBody>
      </p:sp>
      <p:sp>
        <p:nvSpPr>
          <p:cNvPr id="10" name="Text 8"/>
          <p:cNvSpPr txBox="1"/>
          <p:nvPr/>
        </p:nvSpPr>
        <p:spPr>
          <a:xfrm>
            <a:off x="777240" y="288950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11" name="Text 9"/>
          <p:cNvSpPr txBox="1"/>
          <p:nvPr/>
        </p:nvSpPr>
        <p:spPr>
          <a:xfrm>
            <a:off x="777240" y="3108960"/>
            <a:ext cx="3108960" cy="457200"/>
          </a:xfrm>
          <a:prstGeom prst="rect">
            <a:avLst/>
          </a:prstGeom>
          <a:noFill/>
          <a:ln/>
        </p:spPr>
        <p:txBody>
          <a:bodyPr wrap="square" lIns="0" tIns="0" rIns="0" bIns="0" rtlCol="0" anchor="t"/>
          <a:lstStyle/>
          <a:p>
            <a:pPr indent="0" marL="0">
              <a:buNone/>
            </a:pPr>
            <a:r>
              <a:rPr lang="en-US" sz="1400" dirty="0">
                <a:solidFill>
                  <a:schemeClr val="tx1"/>
                </a:solidFill>
              </a:rPr>
              <a:t>More than 50%, not aggregated across designated persons. Control also counts</a:t>
            </a:r>
            <a:endParaRPr lang="en-US" sz="1400" dirty="0"/>
          </a:p>
        </p:txBody>
      </p:sp>
      <p:sp>
        <p:nvSpPr>
          <p:cNvPr id="12" name="Text 10"/>
          <p:cNvSpPr txBox="1"/>
          <p:nvPr/>
        </p:nvSpPr>
        <p:spPr>
          <a:xfrm>
            <a:off x="777240" y="362102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13" name="Text 11"/>
          <p:cNvSpPr txBox="1"/>
          <p:nvPr/>
        </p:nvSpPr>
        <p:spPr>
          <a:xfrm>
            <a:off x="777240" y="3840480"/>
            <a:ext cx="3108960" cy="457200"/>
          </a:xfrm>
          <a:prstGeom prst="rect">
            <a:avLst/>
          </a:prstGeom>
          <a:noFill/>
          <a:ln/>
        </p:spPr>
        <p:txBody>
          <a:bodyPr wrap="square" lIns="0" tIns="0" rIns="0" bIns="0" rtlCol="0" anchor="t"/>
          <a:lstStyle/>
          <a:p>
            <a:pPr indent="0" marL="0">
              <a:buNone/>
            </a:pPr>
            <a:r>
              <a:rPr lang="en-US" sz="1400" dirty="0">
                <a:solidFill>
                  <a:schemeClr val="tx1"/>
                </a:solidFill>
              </a:rPr>
              <a:t>OFSI, as soon as practicable</a:t>
            </a:r>
            <a:endParaRPr lang="en-US" sz="1400" dirty="0"/>
          </a:p>
        </p:txBody>
      </p:sp>
      <p:sp>
        <p:nvSpPr>
          <p:cNvPr id="14" name="Text 12"/>
          <p:cNvSpPr txBox="1"/>
          <p:nvPr/>
        </p:nvSpPr>
        <p:spPr>
          <a:xfrm>
            <a:off x="777240" y="4352544"/>
            <a:ext cx="3108960" cy="201168"/>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15" name="Text 13"/>
          <p:cNvSpPr txBox="1"/>
          <p:nvPr/>
        </p:nvSpPr>
        <p:spPr>
          <a:xfrm>
            <a:off x="777240" y="4572000"/>
            <a:ext cx="3108960" cy="457200"/>
          </a:xfrm>
          <a:prstGeom prst="rect">
            <a:avLst/>
          </a:prstGeom>
          <a:noFill/>
          <a:ln/>
        </p:spPr>
        <p:txBody>
          <a:bodyPr wrap="square" lIns="0" tIns="0" rIns="0" bIns="0" rtlCol="0" anchor="t"/>
          <a:lstStyle/>
          <a:p>
            <a:pPr indent="0" marL="0">
              <a:buNone/>
            </a:pPr>
            <a:r>
              <a:rPr lang="en-US" sz="1400" b="1" dirty="0">
                <a:solidFill>
                  <a:schemeClr val="tx1"/>
                </a:solidFill>
              </a:rPr>
              <a:t>Strict liability: lack of knowledge is no defence to a civil penalty</a:t>
            </a:r>
            <a:endParaRPr lang="en-US" sz="1400" dirty="0"/>
          </a:p>
        </p:txBody>
      </p:sp>
      <p:sp>
        <p:nvSpPr>
          <p:cNvPr id="16" name="EU / France card"/>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17" name="EU / France header"/>
          <p:cNvSpPr/>
          <p:nvPr/>
        </p:nvSpPr>
        <p:spPr>
          <a:xfrm>
            <a:off x="4297680" y="1554480"/>
            <a:ext cx="3566160" cy="502920"/>
          </a:xfrm>
          <a:prstGeom prst="roundRect">
            <a:avLst>
              <a:gd name="adj" fmla="val 21818"/>
            </a:avLst>
          </a:prstGeom>
          <a:solidFill>
            <a:schemeClr val="accent4"/>
          </a:solidFill>
          <a:ln w="12700">
            <a:solidFill>
              <a:schemeClr val="accent4"/>
            </a:solidFill>
            <a:prstDash val="solid"/>
          </a:ln>
        </p:spPr>
      </p:sp>
      <p:sp>
        <p:nvSpPr>
          <p:cNvPr id="18" name="Text 16"/>
          <p:cNvSpPr txBox="1"/>
          <p:nvPr/>
        </p:nvSpPr>
        <p:spPr>
          <a:xfrm>
            <a:off x="4526280" y="1554480"/>
            <a:ext cx="3108960" cy="502920"/>
          </a:xfrm>
          <a:prstGeom prst="rect">
            <a:avLst/>
          </a:prstGeom>
          <a:noFill/>
          <a:ln/>
        </p:spPr>
        <p:txBody>
          <a:bodyPr wrap="square" lIns="0" tIns="0" rIns="0" bIns="0" rtlCol="0" anchor="ctr"/>
          <a:lstStyle/>
          <a:p>
            <a:pPr indent="0" marL="0">
              <a:buNone/>
            </a:pPr>
            <a:r>
              <a:rPr lang="en-US" sz="1900" b="1" dirty="0">
                <a:solidFill>
                  <a:schemeClr val="bg1"/>
                </a:solidFill>
              </a:rPr>
              <a:t>EU / France</a:t>
            </a:r>
            <a:pPr indent="0" marL="0">
              <a:buNone/>
            </a:pPr>
            <a:r>
              <a:rPr lang="en-US" sz="1300" dirty="0">
                <a:solidFill>
                  <a:schemeClr val="bg1"/>
                </a:solidFill>
              </a:rPr>
              <a:t>   DG Trésor</a:t>
            </a:r>
            <a:endParaRPr lang="en-US" sz="1400" dirty="0"/>
          </a:p>
        </p:txBody>
      </p:sp>
      <p:sp>
        <p:nvSpPr>
          <p:cNvPr id="19" name="Text 17"/>
          <p:cNvSpPr txBox="1"/>
          <p:nvPr/>
        </p:nvSpPr>
        <p:spPr>
          <a:xfrm>
            <a:off x="4526280" y="215798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20" name="Text 18"/>
          <p:cNvSpPr txBox="1"/>
          <p:nvPr/>
        </p:nvSpPr>
        <p:spPr>
          <a:xfrm>
            <a:off x="4526280" y="2377440"/>
            <a:ext cx="3108960" cy="457200"/>
          </a:xfrm>
          <a:prstGeom prst="rect">
            <a:avLst/>
          </a:prstGeom>
          <a:noFill/>
          <a:ln/>
        </p:spPr>
        <p:txBody>
          <a:bodyPr wrap="square" lIns="0" tIns="0" rIns="0" bIns="0" rtlCol="0" anchor="t"/>
          <a:lstStyle/>
          <a:p>
            <a:pPr indent="0" marL="0">
              <a:buNone/>
            </a:pPr>
            <a:r>
              <a:rPr lang="en-US" sz="1400" dirty="0">
                <a:solidFill>
                  <a:schemeClr val="tx1"/>
                </a:solidFill>
              </a:rPr>
              <a:t>EU consolidated list plus the French national asset-freeze register</a:t>
            </a:r>
            <a:endParaRPr lang="en-US" sz="1400" dirty="0"/>
          </a:p>
        </p:txBody>
      </p:sp>
      <p:sp>
        <p:nvSpPr>
          <p:cNvPr id="21" name="Text 19"/>
          <p:cNvSpPr txBox="1"/>
          <p:nvPr/>
        </p:nvSpPr>
        <p:spPr>
          <a:xfrm>
            <a:off x="4526280" y="288950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2" name="Text 20"/>
          <p:cNvSpPr txBox="1"/>
          <p:nvPr/>
        </p:nvSpPr>
        <p:spPr>
          <a:xfrm>
            <a:off x="4526280" y="3108960"/>
            <a:ext cx="3108960" cy="457200"/>
          </a:xfrm>
          <a:prstGeom prst="rect">
            <a:avLst/>
          </a:prstGeom>
          <a:noFill/>
          <a:ln/>
        </p:spPr>
        <p:txBody>
          <a:bodyPr wrap="square" lIns="0" tIns="0" rIns="0" bIns="0" rtlCol="0" anchor="t"/>
          <a:lstStyle/>
          <a:p>
            <a:pPr indent="0" marL="0">
              <a:buNone/>
            </a:pPr>
            <a:r>
              <a:rPr lang="en-US" sz="1400" dirty="0">
                <a:solidFill>
                  <a:schemeClr val="tx1"/>
                </a:solidFill>
              </a:rPr>
              <a:t>50% or more. Holdings of listed persons are aggregated. Control also counts</a:t>
            </a:r>
            <a:endParaRPr lang="en-US" sz="1400" dirty="0"/>
          </a:p>
        </p:txBody>
      </p:sp>
      <p:sp>
        <p:nvSpPr>
          <p:cNvPr id="23" name="Text 21"/>
          <p:cNvSpPr txBox="1"/>
          <p:nvPr/>
        </p:nvSpPr>
        <p:spPr>
          <a:xfrm>
            <a:off x="4526280" y="362102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24" name="Text 22"/>
          <p:cNvSpPr txBox="1"/>
          <p:nvPr/>
        </p:nvSpPr>
        <p:spPr>
          <a:xfrm>
            <a:off x="4526280" y="3840480"/>
            <a:ext cx="3108960" cy="457200"/>
          </a:xfrm>
          <a:prstGeom prst="rect">
            <a:avLst/>
          </a:prstGeom>
          <a:noFill/>
          <a:ln/>
        </p:spPr>
        <p:txBody>
          <a:bodyPr wrap="square" lIns="0" tIns="0" rIns="0" bIns="0" rtlCol="0" anchor="t"/>
          <a:lstStyle/>
          <a:p>
            <a:pPr indent="0" marL="0">
              <a:buNone/>
            </a:pPr>
            <a:r>
              <a:rPr lang="en-US" sz="1400" dirty="0">
                <a:solidFill>
                  <a:schemeClr val="tx1"/>
                </a:solidFill>
              </a:rPr>
              <a:t>DG Trésor for freezes; TRACFIN for suspicion</a:t>
            </a:r>
            <a:endParaRPr lang="en-US" sz="1400" dirty="0"/>
          </a:p>
        </p:txBody>
      </p:sp>
      <p:sp>
        <p:nvSpPr>
          <p:cNvPr id="25" name="Text 23"/>
          <p:cNvSpPr txBox="1"/>
          <p:nvPr/>
        </p:nvSpPr>
        <p:spPr>
          <a:xfrm>
            <a:off x="4526280" y="4352544"/>
            <a:ext cx="3108960" cy="201168"/>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26" name="Text 24"/>
          <p:cNvSpPr txBox="1"/>
          <p:nvPr/>
        </p:nvSpPr>
        <p:spPr>
          <a:xfrm>
            <a:off x="4526280" y="4572000"/>
            <a:ext cx="3108960" cy="457200"/>
          </a:xfrm>
          <a:prstGeom prst="rect">
            <a:avLst/>
          </a:prstGeom>
          <a:noFill/>
          <a:ln/>
        </p:spPr>
        <p:txBody>
          <a:bodyPr wrap="square" lIns="0" tIns="0" rIns="0" bIns="0" rtlCol="0" anchor="t"/>
          <a:lstStyle/>
          <a:p>
            <a:pPr indent="0" marL="0">
              <a:buNone/>
            </a:pPr>
            <a:r>
              <a:rPr lang="en-US" sz="1400" b="1" dirty="0">
                <a:solidFill>
                  <a:schemeClr val="tx1"/>
                </a:solidFill>
              </a:rPr>
              <a:t>The French register includes names that are not on the EU list</a:t>
            </a:r>
            <a:endParaRPr lang="en-US" sz="1400" dirty="0"/>
          </a:p>
        </p:txBody>
      </p:sp>
      <p:sp>
        <p:nvSpPr>
          <p:cNvPr id="27" name="United States card"/>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28" name="United States header"/>
          <p:cNvSpPr/>
          <p:nvPr/>
        </p:nvSpPr>
        <p:spPr>
          <a:xfrm>
            <a:off x="8046720" y="1554480"/>
            <a:ext cx="3566160" cy="502920"/>
          </a:xfrm>
          <a:prstGeom prst="roundRect">
            <a:avLst>
              <a:gd name="adj" fmla="val 21818"/>
            </a:avLst>
          </a:prstGeom>
          <a:solidFill>
            <a:schemeClr val="accent1"/>
          </a:solidFill>
          <a:ln w="12700">
            <a:solidFill>
              <a:schemeClr val="accent1"/>
            </a:solidFill>
            <a:prstDash val="solid"/>
          </a:ln>
        </p:spPr>
      </p:sp>
      <p:sp>
        <p:nvSpPr>
          <p:cNvPr id="29" name="Text 27"/>
          <p:cNvSpPr txBox="1"/>
          <p:nvPr/>
        </p:nvSpPr>
        <p:spPr>
          <a:xfrm>
            <a:off x="8275320" y="1554480"/>
            <a:ext cx="3108960" cy="502920"/>
          </a:xfrm>
          <a:prstGeom prst="rect">
            <a:avLst/>
          </a:prstGeom>
          <a:noFill/>
          <a:ln/>
        </p:spPr>
        <p:txBody>
          <a:bodyPr wrap="square" lIns="0" tIns="0" rIns="0" bIns="0" rtlCol="0" anchor="ctr"/>
          <a:lstStyle/>
          <a:p>
            <a:pPr indent="0" marL="0">
              <a:buNone/>
            </a:pPr>
            <a:r>
              <a:rPr lang="en-US" sz="1900" b="1" dirty="0">
                <a:solidFill>
                  <a:schemeClr val="bg1"/>
                </a:solidFill>
              </a:rPr>
              <a:t>United States</a:t>
            </a:r>
            <a:pPr indent="0" marL="0">
              <a:buNone/>
            </a:pPr>
            <a:r>
              <a:rPr lang="en-US" sz="1300" dirty="0">
                <a:solidFill>
                  <a:schemeClr val="bg1"/>
                </a:solidFill>
              </a:rPr>
              <a:t>   OFAC</a:t>
            </a:r>
            <a:endParaRPr lang="en-US" sz="1400" dirty="0"/>
          </a:p>
        </p:txBody>
      </p:sp>
      <p:sp>
        <p:nvSpPr>
          <p:cNvPr id="30" name="Text 28"/>
          <p:cNvSpPr txBox="1"/>
          <p:nvPr/>
        </p:nvSpPr>
        <p:spPr>
          <a:xfrm>
            <a:off x="8275320" y="215798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31" name="Text 29"/>
          <p:cNvSpPr txBox="1"/>
          <p:nvPr/>
        </p:nvSpPr>
        <p:spPr>
          <a:xfrm>
            <a:off x="8275320" y="2377440"/>
            <a:ext cx="3108960" cy="457200"/>
          </a:xfrm>
          <a:prstGeom prst="rect">
            <a:avLst/>
          </a:prstGeom>
          <a:noFill/>
          <a:ln/>
        </p:spPr>
        <p:txBody>
          <a:bodyPr wrap="square" lIns="0" tIns="0" rIns="0" bIns="0" rtlCol="0" anchor="t"/>
          <a:lstStyle/>
          <a:p>
            <a:pPr indent="0" marL="0">
              <a:buNone/>
            </a:pPr>
            <a:r>
              <a:rPr lang="en-US" sz="1400" dirty="0">
                <a:solidFill>
                  <a:schemeClr val="tx1"/>
                </a:solidFill>
              </a:rPr>
              <a:t>OFAC SDN List and other OFAC lists</a:t>
            </a:r>
            <a:endParaRPr lang="en-US" sz="1400" dirty="0"/>
          </a:p>
        </p:txBody>
      </p:sp>
      <p:sp>
        <p:nvSpPr>
          <p:cNvPr id="32" name="Text 30"/>
          <p:cNvSpPr txBox="1"/>
          <p:nvPr/>
        </p:nvSpPr>
        <p:spPr>
          <a:xfrm>
            <a:off x="8275320" y="288950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33" name="Text 31"/>
          <p:cNvSpPr txBox="1"/>
          <p:nvPr/>
        </p:nvSpPr>
        <p:spPr>
          <a:xfrm>
            <a:off x="8275320" y="3108960"/>
            <a:ext cx="3108960" cy="457200"/>
          </a:xfrm>
          <a:prstGeom prst="rect">
            <a:avLst/>
          </a:prstGeom>
          <a:noFill/>
          <a:ln/>
        </p:spPr>
        <p:txBody>
          <a:bodyPr wrap="square" lIns="0" tIns="0" rIns="0" bIns="0" rtlCol="0" anchor="t"/>
          <a:lstStyle/>
          <a:p>
            <a:pPr indent="0" marL="0">
              <a:buNone/>
            </a:pPr>
            <a:r>
              <a:rPr lang="en-US" sz="1400" dirty="0">
                <a:solidFill>
                  <a:schemeClr val="tx1"/>
                </a:solidFill>
              </a:rPr>
              <a:t>50% or more. Holdings of blocked persons are aggregated</a:t>
            </a:r>
            <a:endParaRPr lang="en-US" sz="1400" dirty="0"/>
          </a:p>
        </p:txBody>
      </p:sp>
      <p:sp>
        <p:nvSpPr>
          <p:cNvPr id="34" name="Text 32"/>
          <p:cNvSpPr txBox="1"/>
          <p:nvPr/>
        </p:nvSpPr>
        <p:spPr>
          <a:xfrm>
            <a:off x="8275320" y="362102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35" name="Text 33"/>
          <p:cNvSpPr txBox="1"/>
          <p:nvPr/>
        </p:nvSpPr>
        <p:spPr>
          <a:xfrm>
            <a:off x="8275320" y="3840480"/>
            <a:ext cx="3108960" cy="457200"/>
          </a:xfrm>
          <a:prstGeom prst="rect">
            <a:avLst/>
          </a:prstGeom>
          <a:noFill/>
          <a:ln/>
        </p:spPr>
        <p:txBody>
          <a:bodyPr wrap="square" lIns="0" tIns="0" rIns="0" bIns="0" rtlCol="0" anchor="t"/>
          <a:lstStyle/>
          <a:p>
            <a:pPr indent="0" marL="0">
              <a:buNone/>
            </a:pPr>
            <a:r>
              <a:rPr lang="en-US" sz="1400" dirty="0">
                <a:solidFill>
                  <a:schemeClr val="tx1"/>
                </a:solidFill>
              </a:rPr>
              <a:t>OFAC within 10 business days, for blocked or rejected transactions</a:t>
            </a:r>
            <a:endParaRPr lang="en-US" sz="1400" dirty="0"/>
          </a:p>
        </p:txBody>
      </p:sp>
      <p:sp>
        <p:nvSpPr>
          <p:cNvPr id="36" name="Text 34"/>
          <p:cNvSpPr txBox="1"/>
          <p:nvPr/>
        </p:nvSpPr>
        <p:spPr>
          <a:xfrm>
            <a:off x="8275320" y="4352544"/>
            <a:ext cx="3108960" cy="201168"/>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37" name="Text 35"/>
          <p:cNvSpPr txBox="1"/>
          <p:nvPr/>
        </p:nvSpPr>
        <p:spPr>
          <a:xfrm>
            <a:off x="8275320" y="4572000"/>
            <a:ext cx="3108960" cy="457200"/>
          </a:xfrm>
          <a:prstGeom prst="rect">
            <a:avLst/>
          </a:prstGeom>
          <a:noFill/>
          <a:ln/>
        </p:spPr>
        <p:txBody>
          <a:bodyPr wrap="square" lIns="0" tIns="0" rIns="0" bIns="0" rtlCol="0" anchor="t"/>
          <a:lstStyle/>
          <a:p>
            <a:pPr indent="0" marL="0">
              <a:buNone/>
            </a:pPr>
            <a:r>
              <a:rPr lang="en-US" sz="1400" b="1" dirty="0">
                <a:solidFill>
                  <a:schemeClr val="tx1"/>
                </a:solidFill>
              </a:rPr>
              <a:t>Blocking and rejecting differ — and USD is not automatically OFAC</a:t>
            </a:r>
            <a:endParaRPr lang="en-US" sz="1400" dirty="0"/>
          </a:p>
        </p:txBody>
      </p:sp>
      <p:sp>
        <p:nvSpPr>
          <p:cNvPr id="38"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9" name="Text 37"/>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0" name="Text 38"/>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UK, EU and US answer the same questions differently — and the difference can decide whether a payment is held or released.</a:t>
            </a:r>
            <a:endParaRPr lang="en-US" sz="1400" dirty="0"/>
          </a:p>
        </p:txBody>
      </p:sp>
      <p:sp>
        <p:nvSpPr>
          <p:cNvPr id="41"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2" name="Text 40"/>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3" name="Text 41"/>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 don't apply these tests yourself. Spot when each regime is triggered and give L2 the facts: entity, route, currency, owners.</a:t>
            </a:r>
            <a:endParaRPr lang="en-US" sz="1400" dirty="0"/>
          </a:p>
        </p:txBody>
      </p:sp>
      <p:sp>
        <p:nvSpPr>
          <p:cNvPr id="44" name="Text 42"/>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Russia Regs 2019 regs 7, 70; OFSI General Guidance; EU Best Practices ST 11623/24 + Commission FAQ; CMF L562-1 ff.; OFAC 50 Percent Rule (2014); 31 CFR 501.603–604.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COMPARISON — UAE · SINGAPORE · HONG KONG</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UAE, Singapore and Hong Kong: UN plus a local overlay</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These countries mostly follow UN lists — a local “clear” is not the end of the check.</a:t>
            </a:r>
            <a:endParaRPr lang="en-US" sz="1700" dirty="0"/>
          </a:p>
        </p:txBody>
      </p:sp>
      <p:sp>
        <p:nvSpPr>
          <p:cNvPr id="5" name="UAE card"/>
          <p:cNvSpPr/>
          <p:nvPr/>
        </p:nvSpPr>
        <p:spPr>
          <a:xfrm>
            <a:off x="548640" y="1554480"/>
            <a:ext cx="3566160" cy="3520440"/>
          </a:xfrm>
          <a:prstGeom prst="roundRect">
            <a:avLst>
              <a:gd name="adj" fmla="val 3117"/>
            </a:avLst>
          </a:prstGeom>
          <a:solidFill>
            <a:schemeClr val="bg2"/>
          </a:solidFill>
          <a:ln w="12700">
            <a:solidFill>
              <a:schemeClr val="bg2"/>
            </a:solidFill>
            <a:prstDash val="solid"/>
          </a:ln>
        </p:spPr>
      </p:sp>
      <p:sp>
        <p:nvSpPr>
          <p:cNvPr id="6" name="UAE header"/>
          <p:cNvSpPr/>
          <p:nvPr/>
        </p:nvSpPr>
        <p:spPr>
          <a:xfrm>
            <a:off x="548640" y="1554480"/>
            <a:ext cx="3566160" cy="502920"/>
          </a:xfrm>
          <a:prstGeom prst="roundRect">
            <a:avLst>
              <a:gd name="adj" fmla="val 21818"/>
            </a:avLst>
          </a:prstGeom>
          <a:solidFill>
            <a:schemeClr val="accent3"/>
          </a:solidFill>
          <a:ln w="12700">
            <a:solidFill>
              <a:schemeClr val="accent3"/>
            </a:solidFill>
            <a:prstDash val="solid"/>
          </a:ln>
        </p:spPr>
      </p:sp>
      <p:sp>
        <p:nvSpPr>
          <p:cNvPr id="7" name="Text 5"/>
          <p:cNvSpPr txBox="1"/>
          <p:nvPr/>
        </p:nvSpPr>
        <p:spPr>
          <a:xfrm>
            <a:off x="777240" y="1554480"/>
            <a:ext cx="3108960" cy="502920"/>
          </a:xfrm>
          <a:prstGeom prst="rect">
            <a:avLst/>
          </a:prstGeom>
          <a:noFill/>
          <a:ln/>
        </p:spPr>
        <p:txBody>
          <a:bodyPr wrap="square" lIns="0" tIns="0" rIns="0" bIns="0" rtlCol="0" anchor="ctr"/>
          <a:lstStyle/>
          <a:p>
            <a:pPr indent="0" marL="0">
              <a:buNone/>
            </a:pPr>
            <a:r>
              <a:rPr lang="en-US" sz="1900" b="1" dirty="0">
                <a:solidFill>
                  <a:schemeClr val="bg1"/>
                </a:solidFill>
              </a:rPr>
              <a:t>UAE</a:t>
            </a:r>
            <a:pPr indent="0" marL="0">
              <a:buNone/>
            </a:pPr>
            <a:r>
              <a:rPr lang="en-US" sz="1300" dirty="0">
                <a:solidFill>
                  <a:schemeClr val="bg1"/>
                </a:solidFill>
              </a:rPr>
              <a:t>   EOCN</a:t>
            </a:r>
            <a:endParaRPr lang="en-US" sz="1400" dirty="0"/>
          </a:p>
        </p:txBody>
      </p:sp>
      <p:sp>
        <p:nvSpPr>
          <p:cNvPr id="8" name="Text 6"/>
          <p:cNvSpPr txBox="1"/>
          <p:nvPr/>
        </p:nvSpPr>
        <p:spPr>
          <a:xfrm>
            <a:off x="777240" y="215798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9" name="Text 7"/>
          <p:cNvSpPr txBox="1"/>
          <p:nvPr/>
        </p:nvSpPr>
        <p:spPr>
          <a:xfrm>
            <a:off x="777240" y="2377440"/>
            <a:ext cx="3108960" cy="457200"/>
          </a:xfrm>
          <a:prstGeom prst="rect">
            <a:avLst/>
          </a:prstGeom>
          <a:noFill/>
          <a:ln/>
        </p:spPr>
        <p:txBody>
          <a:bodyPr wrap="square" lIns="0" tIns="0" rIns="0" bIns="0" rtlCol="0" anchor="t"/>
          <a:lstStyle/>
          <a:p>
            <a:pPr indent="0" marL="0">
              <a:buNone/>
            </a:pPr>
            <a:r>
              <a:rPr lang="en-US" sz="1400" dirty="0">
                <a:solidFill>
                  <a:schemeClr val="tx1"/>
                </a:solidFill>
              </a:rPr>
              <a:t>UN Consolidated List and the UAE Local Terrorist List</a:t>
            </a:r>
            <a:endParaRPr lang="en-US" sz="1400" dirty="0"/>
          </a:p>
        </p:txBody>
      </p:sp>
      <p:sp>
        <p:nvSpPr>
          <p:cNvPr id="10" name="Text 8"/>
          <p:cNvSpPr txBox="1"/>
          <p:nvPr/>
        </p:nvSpPr>
        <p:spPr>
          <a:xfrm>
            <a:off x="777240" y="288950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11" name="Text 9"/>
          <p:cNvSpPr txBox="1"/>
          <p:nvPr/>
        </p:nvSpPr>
        <p:spPr>
          <a:xfrm>
            <a:off x="777240" y="3108960"/>
            <a:ext cx="3108960" cy="457200"/>
          </a:xfrm>
          <a:prstGeom prst="rect">
            <a:avLst/>
          </a:prstGeom>
          <a:noFill/>
          <a:ln/>
        </p:spPr>
        <p:txBody>
          <a:bodyPr wrap="square" lIns="0" tIns="0" rIns="0" bIns="0" rtlCol="0" anchor="t"/>
          <a:lstStyle/>
          <a:p>
            <a:pPr indent="0" marL="0">
              <a:buNone/>
            </a:pPr>
            <a:r>
              <a:rPr lang="en-US" sz="1400" dirty="0">
                <a:solidFill>
                  <a:schemeClr val="tx1"/>
                </a:solidFill>
              </a:rPr>
              <a:t>Freeze without delay — within 24 hours of a listing</a:t>
            </a:r>
            <a:endParaRPr lang="en-US" sz="1400" dirty="0"/>
          </a:p>
        </p:txBody>
      </p:sp>
      <p:sp>
        <p:nvSpPr>
          <p:cNvPr id="12" name="Text 10"/>
          <p:cNvSpPr txBox="1"/>
          <p:nvPr/>
        </p:nvSpPr>
        <p:spPr>
          <a:xfrm>
            <a:off x="777240" y="362102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13" name="Text 11"/>
          <p:cNvSpPr txBox="1"/>
          <p:nvPr/>
        </p:nvSpPr>
        <p:spPr>
          <a:xfrm>
            <a:off x="777240" y="3840480"/>
            <a:ext cx="3108960" cy="457200"/>
          </a:xfrm>
          <a:prstGeom prst="rect">
            <a:avLst/>
          </a:prstGeom>
          <a:noFill/>
          <a:ln/>
        </p:spPr>
        <p:txBody>
          <a:bodyPr wrap="square" lIns="0" tIns="0" rIns="0" bIns="0" rtlCol="0" anchor="t"/>
          <a:lstStyle/>
          <a:p>
            <a:pPr indent="0" marL="0">
              <a:buNone/>
            </a:pPr>
            <a:r>
              <a:rPr lang="en-US" sz="1400" dirty="0">
                <a:solidFill>
                  <a:schemeClr val="tx1"/>
                </a:solidFill>
              </a:rPr>
              <a:t>EOCN via goAML (CNMR or PNMR) within 5 business days</a:t>
            </a:r>
            <a:endParaRPr lang="en-US" sz="1400" dirty="0"/>
          </a:p>
        </p:txBody>
      </p:sp>
      <p:sp>
        <p:nvSpPr>
          <p:cNvPr id="14" name="Text 12"/>
          <p:cNvSpPr txBox="1"/>
          <p:nvPr/>
        </p:nvSpPr>
        <p:spPr>
          <a:xfrm>
            <a:off x="777240" y="4352544"/>
            <a:ext cx="3108960" cy="201168"/>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15" name="Text 13"/>
          <p:cNvSpPr txBox="1"/>
          <p:nvPr/>
        </p:nvSpPr>
        <p:spPr>
          <a:xfrm>
            <a:off x="777240" y="4572000"/>
            <a:ext cx="3108960" cy="457200"/>
          </a:xfrm>
          <a:prstGeom prst="rect">
            <a:avLst/>
          </a:prstGeom>
          <a:noFill/>
          <a:ln/>
        </p:spPr>
        <p:txBody>
          <a:bodyPr wrap="square" lIns="0" tIns="0" rIns="0" bIns="0" rtlCol="0" anchor="t"/>
          <a:lstStyle/>
          <a:p>
            <a:pPr indent="0" marL="0">
              <a:buNone/>
            </a:pPr>
            <a:r>
              <a:rPr lang="en-US" sz="1400" b="1" dirty="0">
                <a:solidFill>
                  <a:schemeClr val="tx1"/>
                </a:solidFill>
              </a:rPr>
              <a:t>An unresolved partial match stays suspended until EOCN instructs</a:t>
            </a:r>
            <a:endParaRPr lang="en-US" sz="1400" dirty="0"/>
          </a:p>
        </p:txBody>
      </p:sp>
      <p:sp>
        <p:nvSpPr>
          <p:cNvPr id="16" name="Singapore card"/>
          <p:cNvSpPr/>
          <p:nvPr/>
        </p:nvSpPr>
        <p:spPr>
          <a:xfrm>
            <a:off x="4297680" y="1554480"/>
            <a:ext cx="3566160" cy="3520440"/>
          </a:xfrm>
          <a:prstGeom prst="roundRect">
            <a:avLst>
              <a:gd name="adj" fmla="val 3117"/>
            </a:avLst>
          </a:prstGeom>
          <a:solidFill>
            <a:schemeClr val="bg2"/>
          </a:solidFill>
          <a:ln w="12700">
            <a:solidFill>
              <a:schemeClr val="bg2"/>
            </a:solidFill>
            <a:prstDash val="solid"/>
          </a:ln>
        </p:spPr>
      </p:sp>
      <p:sp>
        <p:nvSpPr>
          <p:cNvPr id="17" name="Singapore header"/>
          <p:cNvSpPr/>
          <p:nvPr/>
        </p:nvSpPr>
        <p:spPr>
          <a:xfrm>
            <a:off x="4297680" y="1554480"/>
            <a:ext cx="3566160" cy="502920"/>
          </a:xfrm>
          <a:prstGeom prst="roundRect">
            <a:avLst>
              <a:gd name="adj" fmla="val 21818"/>
            </a:avLst>
          </a:prstGeom>
          <a:solidFill>
            <a:schemeClr val="accent2"/>
          </a:solidFill>
          <a:ln w="12700">
            <a:solidFill>
              <a:schemeClr val="accent2"/>
            </a:solidFill>
            <a:prstDash val="solid"/>
          </a:ln>
        </p:spPr>
      </p:sp>
      <p:sp>
        <p:nvSpPr>
          <p:cNvPr id="18" name="Text 16"/>
          <p:cNvSpPr txBox="1"/>
          <p:nvPr/>
        </p:nvSpPr>
        <p:spPr>
          <a:xfrm>
            <a:off x="4526280" y="1554480"/>
            <a:ext cx="3108960" cy="502920"/>
          </a:xfrm>
          <a:prstGeom prst="rect">
            <a:avLst/>
          </a:prstGeom>
          <a:noFill/>
          <a:ln/>
        </p:spPr>
        <p:txBody>
          <a:bodyPr wrap="square" lIns="0" tIns="0" rIns="0" bIns="0" rtlCol="0" anchor="ctr"/>
          <a:lstStyle/>
          <a:p>
            <a:pPr indent="0" marL="0">
              <a:buNone/>
            </a:pPr>
            <a:r>
              <a:rPr lang="en-US" sz="1900" b="1" dirty="0">
                <a:solidFill>
                  <a:schemeClr val="bg1"/>
                </a:solidFill>
              </a:rPr>
              <a:t>Singapore</a:t>
            </a:r>
            <a:pPr indent="0" marL="0">
              <a:buNone/>
            </a:pPr>
            <a:r>
              <a:rPr lang="en-US" sz="1300" dirty="0">
                <a:solidFill>
                  <a:schemeClr val="bg1"/>
                </a:solidFill>
              </a:rPr>
              <a:t>   MAS</a:t>
            </a:r>
            <a:endParaRPr lang="en-US" sz="1400" dirty="0"/>
          </a:p>
        </p:txBody>
      </p:sp>
      <p:sp>
        <p:nvSpPr>
          <p:cNvPr id="19" name="Text 17"/>
          <p:cNvSpPr txBox="1"/>
          <p:nvPr/>
        </p:nvSpPr>
        <p:spPr>
          <a:xfrm>
            <a:off x="4526280" y="215798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20" name="Text 18"/>
          <p:cNvSpPr txBox="1"/>
          <p:nvPr/>
        </p:nvSpPr>
        <p:spPr>
          <a:xfrm>
            <a:off x="4526280" y="2377440"/>
            <a:ext cx="3108960" cy="457200"/>
          </a:xfrm>
          <a:prstGeom prst="rect">
            <a:avLst/>
          </a:prstGeom>
          <a:noFill/>
          <a:ln/>
        </p:spPr>
        <p:txBody>
          <a:bodyPr wrap="square" lIns="0" tIns="0" rIns="0" bIns="0" rtlCol="0" anchor="t"/>
          <a:lstStyle/>
          <a:p>
            <a:pPr indent="0" marL="0">
              <a:buNone/>
            </a:pPr>
            <a:r>
              <a:rPr lang="en-US" sz="1400" dirty="0">
                <a:solidFill>
                  <a:schemeClr val="tx1"/>
                </a:solidFill>
              </a:rPr>
              <a:t>UN lists, Singapore terrorist designations and MAS Russia measures</a:t>
            </a:r>
            <a:endParaRPr lang="en-US" sz="1400" dirty="0"/>
          </a:p>
        </p:txBody>
      </p:sp>
      <p:sp>
        <p:nvSpPr>
          <p:cNvPr id="21" name="Text 19"/>
          <p:cNvSpPr txBox="1"/>
          <p:nvPr/>
        </p:nvSpPr>
        <p:spPr>
          <a:xfrm>
            <a:off x="4526280" y="288950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2" name="Text 20"/>
          <p:cNvSpPr txBox="1"/>
          <p:nvPr/>
        </p:nvSpPr>
        <p:spPr>
          <a:xfrm>
            <a:off x="4526280" y="3108960"/>
            <a:ext cx="3108960" cy="457200"/>
          </a:xfrm>
          <a:prstGeom prst="rect">
            <a:avLst/>
          </a:prstGeom>
          <a:noFill/>
          <a:ln/>
        </p:spPr>
        <p:txBody>
          <a:bodyPr wrap="square" lIns="0" tIns="0" rIns="0" bIns="0" rtlCol="0" anchor="t"/>
          <a:lstStyle/>
          <a:p>
            <a:pPr indent="0" marL="0">
              <a:buNone/>
            </a:pPr>
            <a:r>
              <a:rPr lang="en-US" sz="1400" dirty="0">
                <a:solidFill>
                  <a:schemeClr val="tx1"/>
                </a:solidFill>
              </a:rPr>
              <a:t>Freeze, and do not deal with listed parties</a:t>
            </a:r>
            <a:endParaRPr lang="en-US" sz="1400" dirty="0"/>
          </a:p>
        </p:txBody>
      </p:sp>
      <p:sp>
        <p:nvSpPr>
          <p:cNvPr id="23" name="Text 21"/>
          <p:cNvSpPr txBox="1"/>
          <p:nvPr/>
        </p:nvSpPr>
        <p:spPr>
          <a:xfrm>
            <a:off x="4526280" y="362102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24" name="Text 22"/>
          <p:cNvSpPr txBox="1"/>
          <p:nvPr/>
        </p:nvSpPr>
        <p:spPr>
          <a:xfrm>
            <a:off x="4526280" y="3840480"/>
            <a:ext cx="3108960" cy="457200"/>
          </a:xfrm>
          <a:prstGeom prst="rect">
            <a:avLst/>
          </a:prstGeom>
          <a:noFill/>
          <a:ln/>
        </p:spPr>
        <p:txBody>
          <a:bodyPr wrap="square" lIns="0" tIns="0" rIns="0" bIns="0" rtlCol="0" anchor="t"/>
          <a:lstStyle/>
          <a:p>
            <a:pPr indent="0" marL="0">
              <a:buNone/>
            </a:pPr>
            <a:r>
              <a:rPr lang="en-US" sz="1400" dirty="0">
                <a:solidFill>
                  <a:schemeClr val="tx1"/>
                </a:solidFill>
              </a:rPr>
              <a:t>MAS immediately; suspicion reports to STRO</a:t>
            </a:r>
            <a:endParaRPr lang="en-US" sz="1400" dirty="0"/>
          </a:p>
        </p:txBody>
      </p:sp>
      <p:sp>
        <p:nvSpPr>
          <p:cNvPr id="25" name="Text 23"/>
          <p:cNvSpPr txBox="1"/>
          <p:nvPr/>
        </p:nvSpPr>
        <p:spPr>
          <a:xfrm>
            <a:off x="4526280" y="4352544"/>
            <a:ext cx="3108960" cy="201168"/>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26" name="Text 24"/>
          <p:cNvSpPr txBox="1"/>
          <p:nvPr/>
        </p:nvSpPr>
        <p:spPr>
          <a:xfrm>
            <a:off x="4526280" y="4572000"/>
            <a:ext cx="3108960" cy="457200"/>
          </a:xfrm>
          <a:prstGeom prst="rect">
            <a:avLst/>
          </a:prstGeom>
          <a:noFill/>
          <a:ln/>
        </p:spPr>
        <p:txBody>
          <a:bodyPr wrap="square" lIns="0" tIns="0" rIns="0" bIns="0" rtlCol="0" anchor="t"/>
          <a:lstStyle/>
          <a:p>
            <a:pPr indent="0" marL="0">
              <a:buNone/>
            </a:pPr>
            <a:r>
              <a:rPr lang="en-US" sz="1400" b="1" dirty="0">
                <a:solidFill>
                  <a:schemeClr val="tx1"/>
                </a:solidFill>
              </a:rPr>
              <a:t>MAS Russia measures name four banks and the entities they own or control</a:t>
            </a:r>
            <a:endParaRPr lang="en-US" sz="1400" dirty="0"/>
          </a:p>
        </p:txBody>
      </p:sp>
      <p:sp>
        <p:nvSpPr>
          <p:cNvPr id="27" name="Hong Kong card"/>
          <p:cNvSpPr/>
          <p:nvPr/>
        </p:nvSpPr>
        <p:spPr>
          <a:xfrm>
            <a:off x="8046720" y="1554480"/>
            <a:ext cx="3566160" cy="3520440"/>
          </a:xfrm>
          <a:prstGeom prst="roundRect">
            <a:avLst>
              <a:gd name="adj" fmla="val 3117"/>
            </a:avLst>
          </a:prstGeom>
          <a:solidFill>
            <a:schemeClr val="bg2"/>
          </a:solidFill>
          <a:ln w="12700">
            <a:solidFill>
              <a:schemeClr val="bg2"/>
            </a:solidFill>
            <a:prstDash val="solid"/>
          </a:ln>
        </p:spPr>
      </p:sp>
      <p:sp>
        <p:nvSpPr>
          <p:cNvPr id="28" name="Hong Kong header"/>
          <p:cNvSpPr/>
          <p:nvPr/>
        </p:nvSpPr>
        <p:spPr>
          <a:xfrm>
            <a:off x="8046720" y="1554480"/>
            <a:ext cx="3566160" cy="502920"/>
          </a:xfrm>
          <a:prstGeom prst="roundRect">
            <a:avLst>
              <a:gd name="adj" fmla="val 21818"/>
            </a:avLst>
          </a:prstGeom>
          <a:solidFill>
            <a:schemeClr val="accent6"/>
          </a:solidFill>
          <a:ln w="12700">
            <a:solidFill>
              <a:schemeClr val="accent6"/>
            </a:solidFill>
            <a:prstDash val="solid"/>
          </a:ln>
        </p:spPr>
      </p:sp>
      <p:sp>
        <p:nvSpPr>
          <p:cNvPr id="29" name="Text 27"/>
          <p:cNvSpPr txBox="1"/>
          <p:nvPr/>
        </p:nvSpPr>
        <p:spPr>
          <a:xfrm>
            <a:off x="8275320" y="1554480"/>
            <a:ext cx="3108960" cy="502920"/>
          </a:xfrm>
          <a:prstGeom prst="rect">
            <a:avLst/>
          </a:prstGeom>
          <a:noFill/>
          <a:ln/>
        </p:spPr>
        <p:txBody>
          <a:bodyPr wrap="square" lIns="0" tIns="0" rIns="0" bIns="0" rtlCol="0" anchor="ctr"/>
          <a:lstStyle/>
          <a:p>
            <a:pPr indent="0" marL="0">
              <a:buNone/>
            </a:pPr>
            <a:r>
              <a:rPr lang="en-US" sz="1900" b="1" dirty="0">
                <a:solidFill>
                  <a:schemeClr val="bg1"/>
                </a:solidFill>
              </a:rPr>
              <a:t>Hong Kong</a:t>
            </a:r>
            <a:pPr indent="0" marL="0">
              <a:buNone/>
            </a:pPr>
            <a:r>
              <a:rPr lang="en-US" sz="1300" dirty="0">
                <a:solidFill>
                  <a:schemeClr val="bg1"/>
                </a:solidFill>
              </a:rPr>
              <a:t>   UN only</a:t>
            </a:r>
            <a:endParaRPr lang="en-US" sz="1400" dirty="0"/>
          </a:p>
        </p:txBody>
      </p:sp>
      <p:sp>
        <p:nvSpPr>
          <p:cNvPr id="30" name="Text 28"/>
          <p:cNvSpPr txBox="1"/>
          <p:nvPr/>
        </p:nvSpPr>
        <p:spPr>
          <a:xfrm>
            <a:off x="8275320" y="215798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31" name="Text 29"/>
          <p:cNvSpPr txBox="1"/>
          <p:nvPr/>
        </p:nvSpPr>
        <p:spPr>
          <a:xfrm>
            <a:off x="8275320" y="2377440"/>
            <a:ext cx="3108960" cy="457200"/>
          </a:xfrm>
          <a:prstGeom prst="rect">
            <a:avLst/>
          </a:prstGeom>
          <a:noFill/>
          <a:ln/>
        </p:spPr>
        <p:txBody>
          <a:bodyPr wrap="square" lIns="0" tIns="0" rIns="0" bIns="0" rtlCol="0" anchor="t"/>
          <a:lstStyle/>
          <a:p>
            <a:pPr indent="0" marL="0">
              <a:buNone/>
            </a:pPr>
            <a:r>
              <a:rPr lang="en-US" sz="1400" dirty="0">
                <a:solidFill>
                  <a:schemeClr val="tx1"/>
                </a:solidFill>
              </a:rPr>
              <a:t>UN sanctions (Cap. 537) and UN terrorist designations (Cap. 575)</a:t>
            </a:r>
            <a:endParaRPr lang="en-US" sz="1400" dirty="0"/>
          </a:p>
        </p:txBody>
      </p:sp>
      <p:sp>
        <p:nvSpPr>
          <p:cNvPr id="32" name="Text 30"/>
          <p:cNvSpPr txBox="1"/>
          <p:nvPr/>
        </p:nvSpPr>
        <p:spPr>
          <a:xfrm>
            <a:off x="8275320" y="288950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33" name="Text 31"/>
          <p:cNvSpPr txBox="1"/>
          <p:nvPr/>
        </p:nvSpPr>
        <p:spPr>
          <a:xfrm>
            <a:off x="8275320" y="3108960"/>
            <a:ext cx="3108960" cy="457200"/>
          </a:xfrm>
          <a:prstGeom prst="rect">
            <a:avLst/>
          </a:prstGeom>
          <a:noFill/>
          <a:ln/>
        </p:spPr>
        <p:txBody>
          <a:bodyPr wrap="square" lIns="0" tIns="0" rIns="0" bIns="0" rtlCol="0" anchor="t"/>
          <a:lstStyle/>
          <a:p>
            <a:pPr indent="0" marL="0">
              <a:buNone/>
            </a:pPr>
            <a:r>
              <a:rPr lang="en-US" sz="1400" dirty="0">
                <a:solidFill>
                  <a:schemeClr val="tx1"/>
                </a:solidFill>
              </a:rPr>
              <a:t>Freeze where a UN measure applies</a:t>
            </a:r>
            <a:endParaRPr lang="en-US" sz="1400" dirty="0"/>
          </a:p>
        </p:txBody>
      </p:sp>
      <p:sp>
        <p:nvSpPr>
          <p:cNvPr id="34" name="Text 32"/>
          <p:cNvSpPr txBox="1"/>
          <p:nvPr/>
        </p:nvSpPr>
        <p:spPr>
          <a:xfrm>
            <a:off x="8275320" y="3621024"/>
            <a:ext cx="3108960" cy="201168"/>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35" name="Text 33"/>
          <p:cNvSpPr txBox="1"/>
          <p:nvPr/>
        </p:nvSpPr>
        <p:spPr>
          <a:xfrm>
            <a:off x="8275320" y="3840480"/>
            <a:ext cx="3108960" cy="457200"/>
          </a:xfrm>
          <a:prstGeom prst="rect">
            <a:avLst/>
          </a:prstGeom>
          <a:noFill/>
          <a:ln/>
        </p:spPr>
        <p:txBody>
          <a:bodyPr wrap="square" lIns="0" tIns="0" rIns="0" bIns="0" rtlCol="0" anchor="t"/>
          <a:lstStyle/>
          <a:p>
            <a:pPr indent="0" marL="0">
              <a:buNone/>
            </a:pPr>
            <a:r>
              <a:rPr lang="en-US" sz="1400" dirty="0">
                <a:solidFill>
                  <a:schemeClr val="tx1"/>
                </a:solidFill>
              </a:rPr>
              <a:t>JFIU, via the approved local process</a:t>
            </a:r>
            <a:endParaRPr lang="en-US" sz="1400" dirty="0"/>
          </a:p>
        </p:txBody>
      </p:sp>
      <p:sp>
        <p:nvSpPr>
          <p:cNvPr id="36" name="Text 34"/>
          <p:cNvSpPr txBox="1"/>
          <p:nvPr/>
        </p:nvSpPr>
        <p:spPr>
          <a:xfrm>
            <a:off x="8275320" y="4352544"/>
            <a:ext cx="3108960" cy="201168"/>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37" name="Text 35"/>
          <p:cNvSpPr txBox="1"/>
          <p:nvPr/>
        </p:nvSpPr>
        <p:spPr>
          <a:xfrm>
            <a:off x="8275320" y="4572000"/>
            <a:ext cx="3108960" cy="457200"/>
          </a:xfrm>
          <a:prstGeom prst="rect">
            <a:avLst/>
          </a:prstGeom>
          <a:noFill/>
          <a:ln/>
        </p:spPr>
        <p:txBody>
          <a:bodyPr wrap="square" lIns="0" tIns="0" rIns="0" bIns="0" rtlCol="0" anchor="t"/>
          <a:lstStyle/>
          <a:p>
            <a:pPr indent="0" marL="0">
              <a:buNone/>
            </a:pPr>
            <a:r>
              <a:rPr lang="en-US" sz="1400" b="1" dirty="0">
                <a:solidFill>
                  <a:schemeClr val="tx1"/>
                </a:solidFill>
              </a:rPr>
              <a:t>UN sanctions only — group policy and UK, EU and US rules still apply</a:t>
            </a:r>
            <a:endParaRPr lang="en-US" sz="1400" dirty="0"/>
          </a:p>
        </p:txBody>
      </p:sp>
      <p:sp>
        <p:nvSpPr>
          <p:cNvPr id="38"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9" name="Text 37"/>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0" name="Text 38"/>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These regimes mainly implement UN lists, so a local clear is common — while UK, EU or US exposure can remain.</a:t>
            </a:r>
            <a:endParaRPr lang="en-US" sz="1400" dirty="0"/>
          </a:p>
        </p:txBody>
      </p:sp>
      <p:sp>
        <p:nvSpPr>
          <p:cNvPr id="41"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42" name="Text 40"/>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3" name="Text 41"/>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Never close an alert on a local clear alone. Check group policy and every regime the payment touches; escalate if unresolved.</a:t>
            </a:r>
            <a:endParaRPr lang="en-US" sz="1400" dirty="0"/>
          </a:p>
        </p:txBody>
      </p:sp>
      <p:sp>
        <p:nvSpPr>
          <p:cNvPr id="44" name="Text 42"/>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UAE Cabinet Decision No. 74 of 2020, EOCN guidance, CBUAE Rulebook; Singapore FSM (Sanctions and Freezing of Assets of Persons) Regs 2023, MAS Notice SNR-N01; HK Cap. 537, Cap. 575 s.12.</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OWNERSHIP &amp; CONTROL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Ownership and control: same facts, different answers</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Countries count ownership differently — so don't do the maths, escalate.</a:t>
            </a:r>
            <a:endParaRPr lang="en-US" sz="1700" dirty="0"/>
          </a:p>
        </p:txBody>
      </p:sp>
      <p:sp>
        <p:nvSpPr>
          <p:cNvPr id="5" name="diagram"/>
          <p:cNvSpPr/>
          <p:nvPr/>
        </p:nvSpPr>
        <p:spPr>
          <a:xfrm>
            <a:off x="548640" y="1554480"/>
            <a:ext cx="5760720" cy="3520440"/>
          </a:xfrm>
          <a:prstGeom prst="roundRect">
            <a:avLst>
              <a:gd name="adj" fmla="val 3117"/>
            </a:avLst>
          </a:prstGeom>
          <a:solidFill>
            <a:schemeClr val="bg2"/>
          </a:solidFill>
          <a:ln w="12700">
            <a:solidFill>
              <a:schemeClr val="bg2"/>
            </a:solidFill>
            <a:prstDash val="solid"/>
          </a:ln>
        </p:spPr>
      </p:sp>
      <p:sp>
        <p:nvSpPr>
          <p:cNvPr id="6" name="Shape 4"/>
          <p:cNvSpPr/>
          <p:nvPr/>
        </p:nvSpPr>
        <p:spPr>
          <a:xfrm>
            <a:off x="822960" y="1737360"/>
            <a:ext cx="1600200" cy="822960"/>
          </a:xfrm>
          <a:prstGeom prst="roundRect">
            <a:avLst>
              <a:gd name="adj" fmla="val 11111"/>
            </a:avLst>
          </a:prstGeom>
          <a:solidFill>
            <a:schemeClr val="accent1"/>
          </a:solidFill>
          <a:ln w="12700">
            <a:solidFill>
              <a:schemeClr val="accent1"/>
            </a:solidFill>
            <a:prstDash val="solid"/>
          </a:ln>
        </p:spPr>
      </p:sp>
      <p:sp>
        <p:nvSpPr>
          <p:cNvPr id="7" name="Text 5"/>
          <p:cNvSpPr txBox="1"/>
          <p:nvPr/>
        </p:nvSpPr>
        <p:spPr>
          <a:xfrm>
            <a:off x="89611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A</a:t>
            </a:r>
            <a:endParaRPr lang="en-US" sz="1400" dirty="0"/>
          </a:p>
          <a:p>
            <a:pPr algn="ctr" indent="0" marL="0">
              <a:buNone/>
            </a:pPr>
            <a:r>
              <a:rPr lang="en-US" sz="1200" dirty="0">
                <a:solidFill>
                  <a:schemeClr val="bg1"/>
                </a:solidFill>
              </a:rPr>
              <a:t>owns 30%</a:t>
            </a:r>
            <a:endParaRPr lang="en-US" sz="1400" dirty="0"/>
          </a:p>
        </p:txBody>
      </p:sp>
      <p:sp>
        <p:nvSpPr>
          <p:cNvPr id="8" name="Shape 6"/>
          <p:cNvSpPr/>
          <p:nvPr/>
        </p:nvSpPr>
        <p:spPr>
          <a:xfrm>
            <a:off x="1623060" y="2560320"/>
            <a:ext cx="1805940" cy="960120"/>
          </a:xfrm>
          <a:prstGeom prst="line">
            <a:avLst/>
          </a:prstGeom>
          <a:noFill/>
          <a:ln w="25400">
            <a:solidFill>
              <a:srgbClr val="5B6472"/>
            </a:solidFill>
            <a:prstDash val="solid"/>
            <a:tailEnd type="triangle"/>
          </a:ln>
        </p:spPr>
      </p:sp>
      <p:sp>
        <p:nvSpPr>
          <p:cNvPr id="9" name="Shape 7"/>
          <p:cNvSpPr/>
          <p:nvPr/>
        </p:nvSpPr>
        <p:spPr>
          <a:xfrm>
            <a:off x="2514600" y="1737360"/>
            <a:ext cx="1600200" cy="822960"/>
          </a:xfrm>
          <a:prstGeom prst="roundRect">
            <a:avLst>
              <a:gd name="adj" fmla="val 11111"/>
            </a:avLst>
          </a:prstGeom>
          <a:solidFill>
            <a:schemeClr val="accent1"/>
          </a:solidFill>
          <a:ln w="12700">
            <a:solidFill>
              <a:schemeClr val="accent1"/>
            </a:solidFill>
            <a:prstDash val="solid"/>
          </a:ln>
        </p:spPr>
      </p:sp>
      <p:sp>
        <p:nvSpPr>
          <p:cNvPr id="10" name="Text 8"/>
          <p:cNvSpPr txBox="1"/>
          <p:nvPr/>
        </p:nvSpPr>
        <p:spPr>
          <a:xfrm>
            <a:off x="258775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B</a:t>
            </a:r>
            <a:endParaRPr lang="en-US" sz="1400" dirty="0"/>
          </a:p>
          <a:p>
            <a:pPr algn="ctr" indent="0" marL="0">
              <a:buNone/>
            </a:pPr>
            <a:r>
              <a:rPr lang="en-US" sz="1200" dirty="0">
                <a:solidFill>
                  <a:schemeClr val="bg1"/>
                </a:solidFill>
              </a:rPr>
              <a:t>owns 25%</a:t>
            </a:r>
            <a:endParaRPr lang="en-US" sz="1400" dirty="0"/>
          </a:p>
        </p:txBody>
      </p:sp>
      <p:sp>
        <p:nvSpPr>
          <p:cNvPr id="11" name="Shape 9"/>
          <p:cNvSpPr/>
          <p:nvPr/>
        </p:nvSpPr>
        <p:spPr>
          <a:xfrm>
            <a:off x="3314700" y="2560320"/>
            <a:ext cx="114300" cy="960120"/>
          </a:xfrm>
          <a:prstGeom prst="line">
            <a:avLst/>
          </a:prstGeom>
          <a:noFill/>
          <a:ln w="25400">
            <a:solidFill>
              <a:srgbClr val="5B6472"/>
            </a:solidFill>
            <a:prstDash val="solid"/>
            <a:tailEnd type="triangle"/>
          </a:ln>
        </p:spPr>
      </p:sp>
      <p:sp>
        <p:nvSpPr>
          <p:cNvPr id="12" name="Shape 10"/>
          <p:cNvSpPr/>
          <p:nvPr/>
        </p:nvSpPr>
        <p:spPr>
          <a:xfrm>
            <a:off x="4206240" y="1737360"/>
            <a:ext cx="1600200" cy="822960"/>
          </a:xfrm>
          <a:prstGeom prst="roundRect">
            <a:avLst>
              <a:gd name="adj" fmla="val 11111"/>
            </a:avLst>
          </a:prstGeom>
          <a:solidFill>
            <a:schemeClr val="accent2"/>
          </a:solidFill>
          <a:ln w="12700">
            <a:solidFill>
              <a:schemeClr val="accent2"/>
            </a:solidFill>
            <a:prstDash val="solid"/>
          </a:ln>
        </p:spPr>
      </p:sp>
      <p:sp>
        <p:nvSpPr>
          <p:cNvPr id="13" name="Text 11"/>
          <p:cNvSpPr txBox="1"/>
          <p:nvPr/>
        </p:nvSpPr>
        <p:spPr>
          <a:xfrm>
            <a:off x="4279392" y="1737360"/>
            <a:ext cx="1453896" cy="822960"/>
          </a:xfrm>
          <a:prstGeom prst="rect">
            <a:avLst/>
          </a:prstGeom>
          <a:noFill/>
          <a:ln/>
        </p:spPr>
        <p:txBody>
          <a:bodyPr wrap="square" lIns="0" tIns="0" rIns="0" bIns="0" rtlCol="0" anchor="ctr"/>
          <a:lstStyle/>
          <a:p>
            <a:pPr algn="ctr" indent="0" marL="0">
              <a:buNone/>
            </a:pPr>
            <a:r>
              <a:rPr lang="en-US" sz="1400" b="1" dirty="0">
                <a:solidFill>
                  <a:schemeClr val="bg1"/>
                </a:solidFill>
              </a:rPr>
              <a:t>Designated C</a:t>
            </a:r>
            <a:endParaRPr lang="en-US" sz="1400" dirty="0"/>
          </a:p>
          <a:p>
            <a:pPr algn="ctr" indent="0" marL="0">
              <a:buNone/>
            </a:pPr>
            <a:r>
              <a:rPr lang="en-US" sz="1200" dirty="0">
                <a:solidFill>
                  <a:schemeClr val="bg1"/>
                </a:solidFill>
              </a:rPr>
              <a:t>director · signs payouts</a:t>
            </a:r>
            <a:endParaRPr lang="en-US" sz="1400" dirty="0"/>
          </a:p>
        </p:txBody>
      </p:sp>
      <p:sp>
        <p:nvSpPr>
          <p:cNvPr id="14" name="Shape 12"/>
          <p:cNvSpPr/>
          <p:nvPr/>
        </p:nvSpPr>
        <p:spPr>
          <a:xfrm flipH="1">
            <a:off x="3429000" y="2560320"/>
            <a:ext cx="1577340" cy="960120"/>
          </a:xfrm>
          <a:prstGeom prst="line">
            <a:avLst/>
          </a:prstGeom>
          <a:noFill/>
          <a:ln w="25400">
            <a:solidFill>
              <a:srgbClr val="5B6472"/>
            </a:solidFill>
            <a:prstDash val="dash"/>
            <a:tailEnd type="triangle"/>
          </a:ln>
        </p:spPr>
      </p:sp>
      <p:sp>
        <p:nvSpPr>
          <p:cNvPr id="15" name="Shape 13"/>
          <p:cNvSpPr/>
          <p:nvPr/>
        </p:nvSpPr>
        <p:spPr>
          <a:xfrm>
            <a:off x="2423160" y="3520440"/>
            <a:ext cx="2011680" cy="822960"/>
          </a:xfrm>
          <a:prstGeom prst="roundRect">
            <a:avLst>
              <a:gd name="adj" fmla="val 11111"/>
            </a:avLst>
          </a:prstGeom>
          <a:solidFill>
            <a:schemeClr val="tx1"/>
          </a:solidFill>
          <a:ln w="12700">
            <a:solidFill>
              <a:schemeClr val="tx1"/>
            </a:solidFill>
            <a:prstDash val="solid"/>
          </a:ln>
        </p:spPr>
      </p:sp>
      <p:sp>
        <p:nvSpPr>
          <p:cNvPr id="16" name="Text 14"/>
          <p:cNvSpPr txBox="1"/>
          <p:nvPr/>
        </p:nvSpPr>
        <p:spPr>
          <a:xfrm>
            <a:off x="2423160" y="3520440"/>
            <a:ext cx="2011680" cy="822960"/>
          </a:xfrm>
          <a:prstGeom prst="rect">
            <a:avLst/>
          </a:prstGeom>
          <a:noFill/>
          <a:ln/>
        </p:spPr>
        <p:txBody>
          <a:bodyPr wrap="square" lIns="0" tIns="0" rIns="0" bIns="0" rtlCol="0" anchor="ctr"/>
          <a:lstStyle/>
          <a:p>
            <a:pPr algn="ctr" indent="0" marL="0">
              <a:buNone/>
            </a:pPr>
            <a:r>
              <a:rPr lang="en-US" sz="1600" b="1" dirty="0">
                <a:solidFill>
                  <a:schemeClr val="bg1"/>
                </a:solidFill>
              </a:rPr>
              <a:t>Company X</a:t>
            </a:r>
            <a:endParaRPr lang="en-US" sz="1600" dirty="0"/>
          </a:p>
          <a:p>
            <a:pPr algn="ctr" indent="0" marL="0">
              <a:buNone/>
            </a:pPr>
            <a:r>
              <a:rPr lang="en-US" sz="1200" dirty="0">
                <a:solidFill>
                  <a:schemeClr val="bg1"/>
                </a:solidFill>
              </a:rPr>
              <a:t>not listed</a:t>
            </a:r>
            <a:endParaRPr lang="en-US" sz="1600" dirty="0"/>
          </a:p>
        </p:txBody>
      </p:sp>
      <p:sp>
        <p:nvSpPr>
          <p:cNvPr id="17" name="Text 15"/>
          <p:cNvSpPr txBox="1"/>
          <p:nvPr/>
        </p:nvSpPr>
        <p:spPr>
          <a:xfrm>
            <a:off x="822960" y="4572000"/>
            <a:ext cx="5212080" cy="320040"/>
          </a:xfrm>
          <a:prstGeom prst="rect">
            <a:avLst/>
          </a:prstGeom>
          <a:noFill/>
          <a:ln/>
        </p:spPr>
        <p:txBody>
          <a:bodyPr wrap="square" lIns="0" tIns="0" rIns="0" bIns="0" rtlCol="0" anchor="t"/>
          <a:lstStyle/>
          <a:p>
            <a:pPr indent="0" marL="0">
              <a:buNone/>
            </a:pPr>
            <a:r>
              <a:rPr lang="en-US" sz="1300" i="1" dirty="0">
                <a:solidFill>
                  <a:schemeClr val="accent6"/>
                </a:solidFill>
              </a:rPr>
              <a:t>Solid line: ownership.  Dashed line: control.</a:t>
            </a:r>
            <a:endParaRPr lang="en-US" sz="1300" dirty="0"/>
          </a:p>
        </p:txBody>
      </p:sp>
      <p:sp>
        <p:nvSpPr>
          <p:cNvPr id="18" name="Shape 16"/>
          <p:cNvSpPr/>
          <p:nvPr/>
        </p:nvSpPr>
        <p:spPr>
          <a:xfrm>
            <a:off x="6583680" y="1755648"/>
            <a:ext cx="621792" cy="621792"/>
          </a:xfrm>
          <a:prstGeom prst="ellipse">
            <a:avLst/>
          </a:prstGeom>
          <a:solidFill>
            <a:schemeClr val="accent1"/>
          </a:solidFill>
          <a:ln w="12700">
            <a:solidFill>
              <a:schemeClr val="accent1"/>
            </a:solidFill>
            <a:prstDash val="solid"/>
          </a:ln>
        </p:spPr>
      </p:sp>
      <p:sp>
        <p:nvSpPr>
          <p:cNvPr id="19" name="Text 17"/>
          <p:cNvSpPr txBox="1"/>
          <p:nvPr/>
        </p:nvSpPr>
        <p:spPr>
          <a:xfrm>
            <a:off x="6583680" y="1755648"/>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US</a:t>
            </a:r>
            <a:endParaRPr lang="en-US" sz="1500" dirty="0"/>
          </a:p>
        </p:txBody>
      </p:sp>
      <p:sp>
        <p:nvSpPr>
          <p:cNvPr id="20" name="Text 18"/>
          <p:cNvSpPr txBox="1"/>
          <p:nvPr/>
        </p:nvSpPr>
        <p:spPr>
          <a:xfrm>
            <a:off x="7406640" y="1572768"/>
            <a:ext cx="4206240" cy="1024128"/>
          </a:xfrm>
          <a:prstGeom prst="rect">
            <a:avLst/>
          </a:prstGeom>
          <a:noFill/>
          <a:ln/>
        </p:spPr>
        <p:txBody>
          <a:bodyPr wrap="square" lIns="0" tIns="0" rIns="0" bIns="0" rtlCol="0" anchor="ctr"/>
          <a:lstStyle/>
          <a:p>
            <a:pPr indent="0" marL="0">
              <a:buNone/>
            </a:pPr>
            <a:r>
              <a:rPr lang="en-US" sz="1500" dirty="0">
                <a:solidFill>
                  <a:schemeClr val="tx1"/>
                </a:solidFill>
              </a:rPr>
              <a:t>30% + 25% = 55%. OFAC aggregates the holdings of blocked persons, so Company X is blocked.</a:t>
            </a:r>
            <a:endParaRPr lang="en-US" sz="1500" dirty="0"/>
          </a:p>
        </p:txBody>
      </p:sp>
      <p:sp>
        <p:nvSpPr>
          <p:cNvPr id="21" name="Shape 19"/>
          <p:cNvSpPr/>
          <p:nvPr/>
        </p:nvSpPr>
        <p:spPr>
          <a:xfrm>
            <a:off x="6583680" y="2926080"/>
            <a:ext cx="621792" cy="621792"/>
          </a:xfrm>
          <a:prstGeom prst="ellipse">
            <a:avLst/>
          </a:prstGeom>
          <a:solidFill>
            <a:schemeClr val="accent4"/>
          </a:solidFill>
          <a:ln w="12700">
            <a:solidFill>
              <a:schemeClr val="accent4"/>
            </a:solidFill>
            <a:prstDash val="solid"/>
          </a:ln>
        </p:spPr>
      </p:sp>
      <p:sp>
        <p:nvSpPr>
          <p:cNvPr id="22" name="Text 20"/>
          <p:cNvSpPr txBox="1"/>
          <p:nvPr/>
        </p:nvSpPr>
        <p:spPr>
          <a:xfrm>
            <a:off x="6583680" y="2926080"/>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EU</a:t>
            </a:r>
            <a:endParaRPr lang="en-US" sz="1500" dirty="0"/>
          </a:p>
        </p:txBody>
      </p:sp>
      <p:sp>
        <p:nvSpPr>
          <p:cNvPr id="23" name="Text 21"/>
          <p:cNvSpPr txBox="1"/>
          <p:nvPr/>
        </p:nvSpPr>
        <p:spPr>
          <a:xfrm>
            <a:off x="7406640" y="2743200"/>
            <a:ext cx="4206240" cy="1024128"/>
          </a:xfrm>
          <a:prstGeom prst="rect">
            <a:avLst/>
          </a:prstGeom>
          <a:noFill/>
          <a:ln/>
        </p:spPr>
        <p:txBody>
          <a:bodyPr wrap="square" lIns="0" tIns="0" rIns="0" bIns="0" rtlCol="0" anchor="ctr"/>
          <a:lstStyle/>
          <a:p>
            <a:pPr indent="0" marL="0">
              <a:buNone/>
            </a:pPr>
            <a:r>
              <a:rPr lang="en-US" sz="1500" dirty="0">
                <a:solidFill>
                  <a:schemeClr val="tx1"/>
                </a:solidFill>
              </a:rPr>
              <a:t>The EU also aggregates holdings at 50% or more, so Company X is treated as owned.</a:t>
            </a:r>
            <a:endParaRPr lang="en-US" sz="1500" dirty="0"/>
          </a:p>
        </p:txBody>
      </p:sp>
      <p:sp>
        <p:nvSpPr>
          <p:cNvPr id="24" name="Shape 22"/>
          <p:cNvSpPr/>
          <p:nvPr/>
        </p:nvSpPr>
        <p:spPr>
          <a:xfrm>
            <a:off x="6583680" y="4096512"/>
            <a:ext cx="621792" cy="621792"/>
          </a:xfrm>
          <a:prstGeom prst="ellipse">
            <a:avLst/>
          </a:prstGeom>
          <a:solidFill>
            <a:schemeClr val="tx1"/>
          </a:solidFill>
          <a:ln w="12700">
            <a:solidFill>
              <a:schemeClr val="tx1"/>
            </a:solidFill>
            <a:prstDash val="solid"/>
          </a:ln>
        </p:spPr>
      </p:sp>
      <p:sp>
        <p:nvSpPr>
          <p:cNvPr id="25" name="Text 23"/>
          <p:cNvSpPr txBox="1"/>
          <p:nvPr/>
        </p:nvSpPr>
        <p:spPr>
          <a:xfrm>
            <a:off x="6583680" y="4096512"/>
            <a:ext cx="621792" cy="621792"/>
          </a:xfrm>
          <a:prstGeom prst="rect">
            <a:avLst/>
          </a:prstGeom>
          <a:noFill/>
          <a:ln/>
        </p:spPr>
        <p:txBody>
          <a:bodyPr wrap="square" lIns="0" tIns="0" rIns="0" bIns="0" rtlCol="0" anchor="ctr"/>
          <a:lstStyle/>
          <a:p>
            <a:pPr algn="ctr" indent="0" marL="0">
              <a:buNone/>
            </a:pPr>
            <a:r>
              <a:rPr lang="en-US" sz="1500" b="1" dirty="0">
                <a:solidFill>
                  <a:schemeClr val="bg1"/>
                </a:solidFill>
              </a:rPr>
              <a:t>UK</a:t>
            </a:r>
            <a:endParaRPr lang="en-US" sz="1500" dirty="0"/>
          </a:p>
        </p:txBody>
      </p:sp>
      <p:sp>
        <p:nvSpPr>
          <p:cNvPr id="26" name="Text 24"/>
          <p:cNvSpPr txBox="1"/>
          <p:nvPr/>
        </p:nvSpPr>
        <p:spPr>
          <a:xfrm>
            <a:off x="7406640" y="3913632"/>
            <a:ext cx="4206240" cy="1024128"/>
          </a:xfrm>
          <a:prstGeom prst="rect">
            <a:avLst/>
          </a:prstGeom>
          <a:noFill/>
          <a:ln/>
        </p:spPr>
        <p:txBody>
          <a:bodyPr wrap="square" lIns="0" tIns="0" rIns="0" bIns="0" rtlCol="0" anchor="ctr"/>
          <a:lstStyle/>
          <a:p>
            <a:pPr indent="0" marL="0">
              <a:buNone/>
            </a:pPr>
            <a:r>
              <a:rPr lang="en-US" sz="1500" dirty="0">
                <a:solidFill>
                  <a:schemeClr val="tx1"/>
                </a:solidFill>
              </a:rPr>
              <a:t>OFSI does not aggregate different designated persons' holdings unless held jointly. But C signs the payouts, so control must be assessed.</a:t>
            </a:r>
            <a:endParaRPr lang="en-US" sz="1500" dirty="0"/>
          </a:p>
        </p:txBody>
      </p:sp>
      <p:sp>
        <p:nvSpPr>
          <p:cNvPr id="2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8" name="Text 26"/>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9" name="Text 27"/>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The same facts can block a company in one regime but not another — and Citibank's ownership checks missed subsidiaries.</a:t>
            </a:r>
            <a:endParaRPr lang="en-US" sz="1400" dirty="0"/>
          </a:p>
        </p:txBody>
      </p:sp>
      <p:sp>
        <p:nvSpPr>
          <p:cNvPr id="3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1" name="Text 29"/>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2" name="Text 30"/>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Map owners, directors and signatories from Orbis and corporate documents. Designated person anywhere? Hold and escalate.</a:t>
            </a:r>
            <a:endParaRPr lang="en-US" sz="1400" dirty="0"/>
          </a:p>
        </p:txBody>
      </p:sp>
      <p:sp>
        <p:nvSpPr>
          <p:cNvPr id="33" name="Text 31"/>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OFAC 50 Percent Rule (2014); Russia Regs 2019 reg 7 + OFSI General Guidance; EU Best Practices ST 11623/24 paras 63–64, Commission FAQ, CJEU C-84/24 (Mar 2026).</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OUTCOMES BY REGIME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Freeze, block and reject mean different things</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Freezing, blocking or rejecting is not your call — hold the payment and escalate.</a:t>
            </a:r>
            <a:endParaRPr lang="en-US" sz="1700" dirty="0"/>
          </a:p>
        </p:txBody>
      </p:sp>
      <p:sp>
        <p:nvSpPr>
          <p:cNvPr id="5" name="FREEZE"/>
          <p:cNvSpPr/>
          <p:nvPr/>
        </p:nvSpPr>
        <p:spPr>
          <a:xfrm>
            <a:off x="548640" y="1554480"/>
            <a:ext cx="3566160" cy="1828800"/>
          </a:xfrm>
          <a:prstGeom prst="roundRect">
            <a:avLst>
              <a:gd name="adj" fmla="val 6000"/>
            </a:avLst>
          </a:prstGeom>
          <a:solidFill>
            <a:schemeClr val="bg2"/>
          </a:solidFill>
          <a:ln w="12700">
            <a:solidFill>
              <a:schemeClr val="bg2"/>
            </a:solidFill>
            <a:prstDash val="solid"/>
          </a:ln>
        </p:spPr>
      </p:sp>
      <p:sp>
        <p:nvSpPr>
          <p:cNvPr id="6" name="FREEZE circle"/>
          <p:cNvSpPr/>
          <p:nvPr/>
        </p:nvSpPr>
        <p:spPr>
          <a:xfrm>
            <a:off x="777240" y="1691640"/>
            <a:ext cx="566928" cy="566928"/>
          </a:xfrm>
          <a:prstGeom prst="ellipse">
            <a:avLst/>
          </a:prstGeom>
          <a:solidFill>
            <a:schemeClr val="tx1"/>
          </a:solidFill>
          <a:ln w="12700">
            <a:solidFill>
              <a:schemeClr val="tx1"/>
            </a:solidFill>
            <a:prstDash val="solid"/>
          </a:ln>
        </p:spPr>
      </p:sp>
      <p:pic>
        <p:nvPicPr>
          <p:cNvPr id="7" name="FREEZE icon" descr="preencoded.png">    </p:cNvPr>
          <p:cNvPicPr>
            <a:picLocks noChangeAspect="1"/>
          </p:cNvPicPr>
          <p:nvPr/>
        </p:nvPicPr>
        <p:blipFill>
          <a:blip r:embed="rId1"/>
          <a:stretch>
            <a:fillRect/>
          </a:stretch>
        </p:blipFill>
        <p:spPr>
          <a:xfrm>
            <a:off x="890626" y="1805026"/>
            <a:ext cx="340157" cy="340157"/>
          </a:xfrm>
          <a:prstGeom prst="rect">
            <a:avLst/>
          </a:prstGeom>
        </p:spPr>
      </p:pic>
      <p:sp>
        <p:nvSpPr>
          <p:cNvPr id="8" name="Text 5"/>
          <p:cNvSpPr txBox="1"/>
          <p:nvPr/>
        </p:nvSpPr>
        <p:spPr>
          <a:xfrm>
            <a:off x="1508760" y="1673352"/>
            <a:ext cx="2423160" cy="329184"/>
          </a:xfrm>
          <a:prstGeom prst="rect">
            <a:avLst/>
          </a:prstGeom>
          <a:noFill/>
          <a:ln/>
        </p:spPr>
        <p:txBody>
          <a:bodyPr wrap="square" lIns="0" tIns="0" rIns="0" bIns="0" rtlCol="0" anchor="t"/>
          <a:lstStyle/>
          <a:p>
            <a:pPr indent="0" marL="0">
              <a:buNone/>
            </a:pPr>
            <a:r>
              <a:rPr lang="en-US" sz="1900" b="1" dirty="0">
                <a:solidFill>
                  <a:schemeClr val="tx1"/>
                </a:solidFill>
              </a:rPr>
              <a:t>FREEZE</a:t>
            </a:r>
            <a:endParaRPr lang="en-US" sz="1900" dirty="0"/>
          </a:p>
        </p:txBody>
      </p:sp>
      <p:sp>
        <p:nvSpPr>
          <p:cNvPr id="9" name="Text 6"/>
          <p:cNvSpPr txBox="1"/>
          <p:nvPr/>
        </p:nvSpPr>
        <p:spPr>
          <a:xfrm>
            <a:off x="150876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UK · EU · UN · local regimes</a:t>
            </a:r>
            <a:endParaRPr lang="en-US" sz="1300" dirty="0"/>
          </a:p>
        </p:txBody>
      </p:sp>
      <p:sp>
        <p:nvSpPr>
          <p:cNvPr id="10" name="Text 7"/>
          <p:cNvSpPr txBox="1"/>
          <p:nvPr/>
        </p:nvSpPr>
        <p:spPr>
          <a:xfrm>
            <a:off x="77724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Funds are held and nothing moves in or out. The freeze is reported to the competent authority.</a:t>
            </a:r>
            <a:endParaRPr lang="en-US" sz="1400" dirty="0"/>
          </a:p>
        </p:txBody>
      </p:sp>
      <p:sp>
        <p:nvSpPr>
          <p:cNvPr id="11" name="BLOCK"/>
          <p:cNvSpPr/>
          <p:nvPr/>
        </p:nvSpPr>
        <p:spPr>
          <a:xfrm>
            <a:off x="4297680" y="1554480"/>
            <a:ext cx="3566160" cy="1828800"/>
          </a:xfrm>
          <a:prstGeom prst="roundRect">
            <a:avLst>
              <a:gd name="adj" fmla="val 6000"/>
            </a:avLst>
          </a:prstGeom>
          <a:solidFill>
            <a:schemeClr val="bg2"/>
          </a:solidFill>
          <a:ln w="12700">
            <a:solidFill>
              <a:schemeClr val="bg2"/>
            </a:solidFill>
            <a:prstDash val="solid"/>
          </a:ln>
        </p:spPr>
      </p:sp>
      <p:sp>
        <p:nvSpPr>
          <p:cNvPr id="12" name="BLOCK circle"/>
          <p:cNvSpPr/>
          <p:nvPr/>
        </p:nvSpPr>
        <p:spPr>
          <a:xfrm>
            <a:off x="4526280" y="1691640"/>
            <a:ext cx="566928" cy="566928"/>
          </a:xfrm>
          <a:prstGeom prst="ellipse">
            <a:avLst/>
          </a:prstGeom>
          <a:solidFill>
            <a:schemeClr val="accent1"/>
          </a:solidFill>
          <a:ln w="12700">
            <a:solidFill>
              <a:schemeClr val="accent1"/>
            </a:solidFill>
            <a:prstDash val="solid"/>
          </a:ln>
        </p:spPr>
      </p:sp>
      <p:pic>
        <p:nvPicPr>
          <p:cNvPr id="13" name="BLOCK icon" descr="preencoded.png">    </p:cNvPr>
          <p:cNvPicPr>
            <a:picLocks noChangeAspect="1"/>
          </p:cNvPicPr>
          <p:nvPr/>
        </p:nvPicPr>
        <p:blipFill>
          <a:blip r:embed="rId2"/>
          <a:stretch>
            <a:fillRect/>
          </a:stretch>
        </p:blipFill>
        <p:spPr>
          <a:xfrm>
            <a:off x="4639666" y="1805026"/>
            <a:ext cx="340157" cy="340157"/>
          </a:xfrm>
          <a:prstGeom prst="rect">
            <a:avLst/>
          </a:prstGeom>
        </p:spPr>
      </p:pic>
      <p:sp>
        <p:nvSpPr>
          <p:cNvPr id="14" name="Text 10"/>
          <p:cNvSpPr txBox="1"/>
          <p:nvPr/>
        </p:nvSpPr>
        <p:spPr>
          <a:xfrm>
            <a:off x="5257800" y="1673352"/>
            <a:ext cx="2423160" cy="329184"/>
          </a:xfrm>
          <a:prstGeom prst="rect">
            <a:avLst/>
          </a:prstGeom>
          <a:noFill/>
          <a:ln/>
        </p:spPr>
        <p:txBody>
          <a:bodyPr wrap="square" lIns="0" tIns="0" rIns="0" bIns="0" rtlCol="0" anchor="t"/>
          <a:lstStyle/>
          <a:p>
            <a:pPr indent="0" marL="0">
              <a:buNone/>
            </a:pPr>
            <a:r>
              <a:rPr lang="en-US" sz="1900" b="1" dirty="0">
                <a:solidFill>
                  <a:schemeClr val="accent1"/>
                </a:solidFill>
              </a:rPr>
              <a:t>BLOCK</a:t>
            </a:r>
            <a:endParaRPr lang="en-US" sz="1900" dirty="0"/>
          </a:p>
        </p:txBody>
      </p:sp>
      <p:sp>
        <p:nvSpPr>
          <p:cNvPr id="15" name="Text 11"/>
          <p:cNvSpPr txBox="1"/>
          <p:nvPr/>
        </p:nvSpPr>
        <p:spPr>
          <a:xfrm>
            <a:off x="525780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16" name="Text 12"/>
          <p:cNvSpPr txBox="1"/>
          <p:nvPr/>
        </p:nvSpPr>
        <p:spPr>
          <a:xfrm>
            <a:off x="452628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OFAC's term for a freeze, where a blocked person has an interest. The property stays in place and is reported.</a:t>
            </a:r>
            <a:endParaRPr lang="en-US" sz="1400" dirty="0"/>
          </a:p>
        </p:txBody>
      </p:sp>
      <p:sp>
        <p:nvSpPr>
          <p:cNvPr id="17" name="REJECT"/>
          <p:cNvSpPr/>
          <p:nvPr/>
        </p:nvSpPr>
        <p:spPr>
          <a:xfrm>
            <a:off x="8046720" y="1554480"/>
            <a:ext cx="3566160" cy="1828800"/>
          </a:xfrm>
          <a:prstGeom prst="roundRect">
            <a:avLst>
              <a:gd name="adj" fmla="val 6000"/>
            </a:avLst>
          </a:prstGeom>
          <a:solidFill>
            <a:schemeClr val="bg2"/>
          </a:solidFill>
          <a:ln w="12700">
            <a:solidFill>
              <a:schemeClr val="bg2"/>
            </a:solidFill>
            <a:prstDash val="solid"/>
          </a:ln>
        </p:spPr>
      </p:sp>
      <p:sp>
        <p:nvSpPr>
          <p:cNvPr id="18" name="REJECT circle"/>
          <p:cNvSpPr/>
          <p:nvPr/>
        </p:nvSpPr>
        <p:spPr>
          <a:xfrm>
            <a:off x="8275320" y="1691640"/>
            <a:ext cx="566928" cy="566928"/>
          </a:xfrm>
          <a:prstGeom prst="ellipse">
            <a:avLst/>
          </a:prstGeom>
          <a:solidFill>
            <a:schemeClr val="accent2"/>
          </a:solidFill>
          <a:ln w="12700">
            <a:solidFill>
              <a:schemeClr val="accent2"/>
            </a:solidFill>
            <a:prstDash val="solid"/>
          </a:ln>
        </p:spPr>
      </p:sp>
      <p:pic>
        <p:nvPicPr>
          <p:cNvPr id="19" name="REJECT icon" descr="preencoded.png">    </p:cNvPr>
          <p:cNvPicPr>
            <a:picLocks noChangeAspect="1"/>
          </p:cNvPicPr>
          <p:nvPr/>
        </p:nvPicPr>
        <p:blipFill>
          <a:blip r:embed="rId3"/>
          <a:stretch>
            <a:fillRect/>
          </a:stretch>
        </p:blipFill>
        <p:spPr>
          <a:xfrm>
            <a:off x="8388706" y="1805026"/>
            <a:ext cx="340157" cy="340157"/>
          </a:xfrm>
          <a:prstGeom prst="rect">
            <a:avLst/>
          </a:prstGeom>
        </p:spPr>
      </p:pic>
      <p:sp>
        <p:nvSpPr>
          <p:cNvPr id="20" name="Text 15"/>
          <p:cNvSpPr txBox="1"/>
          <p:nvPr/>
        </p:nvSpPr>
        <p:spPr>
          <a:xfrm>
            <a:off x="9006840" y="1673352"/>
            <a:ext cx="2423160" cy="329184"/>
          </a:xfrm>
          <a:prstGeom prst="rect">
            <a:avLst/>
          </a:prstGeom>
          <a:noFill/>
          <a:ln/>
        </p:spPr>
        <p:txBody>
          <a:bodyPr wrap="square" lIns="0" tIns="0" rIns="0" bIns="0" rtlCol="0" anchor="t"/>
          <a:lstStyle/>
          <a:p>
            <a:pPr indent="0" marL="0">
              <a:buNone/>
            </a:pPr>
            <a:r>
              <a:rPr lang="en-US" sz="1900" b="1" dirty="0">
                <a:solidFill>
                  <a:schemeClr val="accent2"/>
                </a:solidFill>
              </a:rPr>
              <a:t>REJECT</a:t>
            </a:r>
            <a:endParaRPr lang="en-US" sz="1900" dirty="0"/>
          </a:p>
        </p:txBody>
      </p:sp>
      <p:sp>
        <p:nvSpPr>
          <p:cNvPr id="21" name="Text 16"/>
          <p:cNvSpPr txBox="1"/>
          <p:nvPr/>
        </p:nvSpPr>
        <p:spPr>
          <a:xfrm>
            <a:off x="9006840" y="1993392"/>
            <a:ext cx="2423160" cy="27432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22" name="Text 17"/>
          <p:cNvSpPr txBox="1"/>
          <p:nvPr/>
        </p:nvSpPr>
        <p:spPr>
          <a:xfrm>
            <a:off x="8275320" y="2377440"/>
            <a:ext cx="3108960" cy="960120"/>
          </a:xfrm>
          <a:prstGeom prst="rect">
            <a:avLst/>
          </a:prstGeom>
          <a:noFill/>
          <a:ln/>
        </p:spPr>
        <p:txBody>
          <a:bodyPr wrap="square" lIns="0" tIns="0" rIns="0" bIns="0" rtlCol="0" anchor="t"/>
          <a:lstStyle/>
          <a:p>
            <a:pPr indent="0" marL="0">
              <a:buNone/>
            </a:pPr>
            <a:r>
              <a:rPr lang="en-US" sz="1400" dirty="0">
                <a:solidFill>
                  <a:schemeClr val="tx1"/>
                </a:solidFill>
              </a:rPr>
              <a:t>Prohibited, but no blocked person has an interest, so the transaction is refused. Rejections are also reported.</a:t>
            </a:r>
            <a:endParaRPr lang="en-US" sz="1400" dirty="0"/>
          </a:p>
        </p:txBody>
      </p:sp>
      <p:sp>
        <p:nvSpPr>
          <p:cNvPr id="23" name="Text 18"/>
          <p:cNvSpPr txBox="1"/>
          <p:nvPr/>
        </p:nvSpPr>
        <p:spPr>
          <a:xfrm>
            <a:off x="548640" y="3520440"/>
            <a:ext cx="11064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HOW IT RUNS IN OUR PROCESS</a:t>
            </a:r>
            <a:endParaRPr lang="en-US" sz="1100" dirty="0"/>
          </a:p>
        </p:txBody>
      </p:sp>
      <p:sp>
        <p:nvSpPr>
          <p:cNvPr id="24" name="You (L1)"/>
          <p:cNvSpPr/>
          <p:nvPr/>
        </p:nvSpPr>
        <p:spPr>
          <a:xfrm>
            <a:off x="548640" y="3794760"/>
            <a:ext cx="2651760" cy="1261872"/>
          </a:xfrm>
          <a:prstGeom prst="roundRect">
            <a:avLst>
              <a:gd name="adj" fmla="val 8696"/>
            </a:avLst>
          </a:prstGeom>
          <a:solidFill>
            <a:schemeClr val="bg2"/>
          </a:solidFill>
          <a:ln w="12700">
            <a:solidFill>
              <a:schemeClr val="bg2"/>
            </a:solidFill>
            <a:prstDash val="solid"/>
          </a:ln>
        </p:spPr>
      </p:sp>
      <p:sp>
        <p:nvSpPr>
          <p:cNvPr id="25" name="Shape 20"/>
          <p:cNvSpPr/>
          <p:nvPr/>
        </p:nvSpPr>
        <p:spPr>
          <a:xfrm>
            <a:off x="713232" y="3904488"/>
            <a:ext cx="384048" cy="384048"/>
          </a:xfrm>
          <a:prstGeom prst="ellipse">
            <a:avLst/>
          </a:prstGeom>
          <a:solidFill>
            <a:schemeClr val="accent1"/>
          </a:solidFill>
          <a:ln w="12700">
            <a:solidFill>
              <a:schemeClr val="accent1"/>
            </a:solidFill>
            <a:prstDash val="solid"/>
          </a:ln>
        </p:spPr>
      </p:sp>
      <p:sp>
        <p:nvSpPr>
          <p:cNvPr id="26" name="Text 21"/>
          <p:cNvSpPr txBox="1"/>
          <p:nvPr/>
        </p:nvSpPr>
        <p:spPr>
          <a:xfrm>
            <a:off x="713232"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7" name="Text 22"/>
          <p:cNvSpPr txBox="1"/>
          <p:nvPr/>
        </p:nvSpPr>
        <p:spPr>
          <a:xfrm>
            <a:off x="1188720"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You (L1)</a:t>
            </a:r>
            <a:endParaRPr lang="en-US" sz="1400" dirty="0"/>
          </a:p>
        </p:txBody>
      </p:sp>
      <p:sp>
        <p:nvSpPr>
          <p:cNvPr id="28" name="Text 23"/>
          <p:cNvSpPr txBox="1"/>
          <p:nvPr/>
        </p:nvSpPr>
        <p:spPr>
          <a:xfrm>
            <a:off x="731520"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Hold the payment and escalate with your findings.</a:t>
            </a:r>
            <a:endParaRPr lang="en-US" sz="1400" dirty="0"/>
          </a:p>
        </p:txBody>
      </p:sp>
      <p:pic>
        <p:nvPicPr>
          <p:cNvPr id="29" name="Image 3" descr="preencoded.png">    </p:cNvPr>
          <p:cNvPicPr>
            <a:picLocks noChangeAspect="1"/>
          </p:cNvPicPr>
          <p:nvPr/>
        </p:nvPicPr>
        <p:blipFill>
          <a:blip r:embed="rId4"/>
          <a:stretch>
            <a:fillRect/>
          </a:stretch>
        </p:blipFill>
        <p:spPr>
          <a:xfrm>
            <a:off x="3182112" y="4343400"/>
            <a:ext cx="182880" cy="182880"/>
          </a:xfrm>
          <a:prstGeom prst="rect">
            <a:avLst/>
          </a:prstGeom>
        </p:spPr>
      </p:pic>
      <p:sp>
        <p:nvSpPr>
          <p:cNvPr id="30" name="L2 Sanctions Compliance"/>
          <p:cNvSpPr/>
          <p:nvPr/>
        </p:nvSpPr>
        <p:spPr>
          <a:xfrm>
            <a:off x="3346704" y="3794760"/>
            <a:ext cx="2651760" cy="1261872"/>
          </a:xfrm>
          <a:prstGeom prst="roundRect">
            <a:avLst>
              <a:gd name="adj" fmla="val 8696"/>
            </a:avLst>
          </a:prstGeom>
          <a:solidFill>
            <a:schemeClr val="bg2"/>
          </a:solidFill>
          <a:ln w="12700">
            <a:solidFill>
              <a:schemeClr val="bg2"/>
            </a:solidFill>
            <a:prstDash val="solid"/>
          </a:ln>
        </p:spPr>
      </p:sp>
      <p:sp>
        <p:nvSpPr>
          <p:cNvPr id="31" name="Shape 25"/>
          <p:cNvSpPr/>
          <p:nvPr/>
        </p:nvSpPr>
        <p:spPr>
          <a:xfrm>
            <a:off x="3511296" y="3904488"/>
            <a:ext cx="384048" cy="384048"/>
          </a:xfrm>
          <a:prstGeom prst="ellipse">
            <a:avLst/>
          </a:prstGeom>
          <a:solidFill>
            <a:schemeClr val="tx1"/>
          </a:solidFill>
          <a:ln w="12700">
            <a:solidFill>
              <a:schemeClr val="tx1"/>
            </a:solidFill>
            <a:prstDash val="solid"/>
          </a:ln>
        </p:spPr>
      </p:sp>
      <p:sp>
        <p:nvSpPr>
          <p:cNvPr id="32" name="Text 26"/>
          <p:cNvSpPr txBox="1"/>
          <p:nvPr/>
        </p:nvSpPr>
        <p:spPr>
          <a:xfrm>
            <a:off x="3511296"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27"/>
          <p:cNvSpPr txBox="1"/>
          <p:nvPr/>
        </p:nvSpPr>
        <p:spPr>
          <a:xfrm>
            <a:off x="3986784"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L2 Sanctions Compliance</a:t>
            </a:r>
            <a:endParaRPr lang="en-US" sz="1400" dirty="0"/>
          </a:p>
        </p:txBody>
      </p:sp>
      <p:sp>
        <p:nvSpPr>
          <p:cNvPr id="34" name="Text 28"/>
          <p:cNvSpPr txBox="1"/>
          <p:nvPr/>
        </p:nvSpPr>
        <p:spPr>
          <a:xfrm>
            <a:off x="3529584"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Assess the regime, the match and the right outcome.</a:t>
            </a:r>
            <a:endParaRPr lang="en-US" sz="1400" dirty="0"/>
          </a:p>
        </p:txBody>
      </p:sp>
      <p:pic>
        <p:nvPicPr>
          <p:cNvPr id="35" name="Image 4" descr="preencoded.png">    </p:cNvPr>
          <p:cNvPicPr>
            <a:picLocks noChangeAspect="1"/>
          </p:cNvPicPr>
          <p:nvPr/>
        </p:nvPicPr>
        <p:blipFill>
          <a:blip r:embed="rId5"/>
          <a:stretch>
            <a:fillRect/>
          </a:stretch>
        </p:blipFill>
        <p:spPr>
          <a:xfrm>
            <a:off x="5980176" y="4343400"/>
            <a:ext cx="182880" cy="182880"/>
          </a:xfrm>
          <a:prstGeom prst="rect">
            <a:avLst/>
          </a:prstGeom>
        </p:spPr>
      </p:pic>
      <p:sp>
        <p:nvSpPr>
          <p:cNvPr id="36" name="L3 / Global Head + CCO"/>
          <p:cNvSpPr/>
          <p:nvPr/>
        </p:nvSpPr>
        <p:spPr>
          <a:xfrm>
            <a:off x="6144768" y="3794760"/>
            <a:ext cx="2651760" cy="1261872"/>
          </a:xfrm>
          <a:prstGeom prst="roundRect">
            <a:avLst>
              <a:gd name="adj" fmla="val 8696"/>
            </a:avLst>
          </a:prstGeom>
          <a:solidFill>
            <a:schemeClr val="bg2"/>
          </a:solidFill>
          <a:ln w="12700">
            <a:solidFill>
              <a:schemeClr val="bg2"/>
            </a:solidFill>
            <a:prstDash val="solid"/>
          </a:ln>
        </p:spPr>
      </p:sp>
      <p:sp>
        <p:nvSpPr>
          <p:cNvPr id="37" name="Shape 30"/>
          <p:cNvSpPr/>
          <p:nvPr/>
        </p:nvSpPr>
        <p:spPr>
          <a:xfrm>
            <a:off x="6309360" y="3904488"/>
            <a:ext cx="384048" cy="384048"/>
          </a:xfrm>
          <a:prstGeom prst="ellipse">
            <a:avLst/>
          </a:prstGeom>
          <a:solidFill>
            <a:schemeClr val="tx1"/>
          </a:solidFill>
          <a:ln w="12700">
            <a:solidFill>
              <a:schemeClr val="tx1"/>
            </a:solidFill>
            <a:prstDash val="solid"/>
          </a:ln>
        </p:spPr>
      </p:sp>
      <p:sp>
        <p:nvSpPr>
          <p:cNvPr id="38" name="Text 31"/>
          <p:cNvSpPr txBox="1"/>
          <p:nvPr/>
        </p:nvSpPr>
        <p:spPr>
          <a:xfrm>
            <a:off x="6309360"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9" name="Text 32"/>
          <p:cNvSpPr txBox="1"/>
          <p:nvPr/>
        </p:nvSpPr>
        <p:spPr>
          <a:xfrm>
            <a:off x="6784848"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L3 / Global Head + CCO</a:t>
            </a:r>
            <a:endParaRPr lang="en-US" sz="1400" dirty="0"/>
          </a:p>
        </p:txBody>
      </p:sp>
      <p:sp>
        <p:nvSpPr>
          <p:cNvPr id="40" name="Text 33"/>
          <p:cNvSpPr txBox="1"/>
          <p:nvPr/>
        </p:nvSpPr>
        <p:spPr>
          <a:xfrm>
            <a:off x="6327648"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Confirm a true match and approve reporting.</a:t>
            </a:r>
            <a:endParaRPr lang="en-US" sz="1400" dirty="0"/>
          </a:p>
        </p:txBody>
      </p:sp>
      <p:pic>
        <p:nvPicPr>
          <p:cNvPr id="41" name="Image 5" descr="preencoded.png">    </p:cNvPr>
          <p:cNvPicPr>
            <a:picLocks noChangeAspect="1"/>
          </p:cNvPicPr>
          <p:nvPr/>
        </p:nvPicPr>
        <p:blipFill>
          <a:blip r:embed="rId6"/>
          <a:stretch>
            <a:fillRect/>
          </a:stretch>
        </p:blipFill>
        <p:spPr>
          <a:xfrm>
            <a:off x="8778240" y="4343400"/>
            <a:ext cx="182880" cy="182880"/>
          </a:xfrm>
          <a:prstGeom prst="rect">
            <a:avLst/>
          </a:prstGeom>
        </p:spPr>
      </p:pic>
      <p:sp>
        <p:nvSpPr>
          <p:cNvPr id="42" name="Treasury &amp; regional MLROs"/>
          <p:cNvSpPr/>
          <p:nvPr/>
        </p:nvSpPr>
        <p:spPr>
          <a:xfrm>
            <a:off x="8942832" y="3794760"/>
            <a:ext cx="2651760" cy="1261872"/>
          </a:xfrm>
          <a:prstGeom prst="roundRect">
            <a:avLst>
              <a:gd name="adj" fmla="val 8696"/>
            </a:avLst>
          </a:prstGeom>
          <a:solidFill>
            <a:schemeClr val="bg2"/>
          </a:solidFill>
          <a:ln w="12700">
            <a:solidFill>
              <a:schemeClr val="bg2"/>
            </a:solidFill>
            <a:prstDash val="solid"/>
          </a:ln>
        </p:spPr>
      </p:sp>
      <p:sp>
        <p:nvSpPr>
          <p:cNvPr id="43" name="Shape 35"/>
          <p:cNvSpPr/>
          <p:nvPr/>
        </p:nvSpPr>
        <p:spPr>
          <a:xfrm>
            <a:off x="9107424" y="3904488"/>
            <a:ext cx="384048" cy="384048"/>
          </a:xfrm>
          <a:prstGeom prst="ellipse">
            <a:avLst/>
          </a:prstGeom>
          <a:solidFill>
            <a:schemeClr val="tx1"/>
          </a:solidFill>
          <a:ln w="12700">
            <a:solidFill>
              <a:schemeClr val="tx1"/>
            </a:solidFill>
            <a:prstDash val="solid"/>
          </a:ln>
        </p:spPr>
      </p:sp>
      <p:sp>
        <p:nvSpPr>
          <p:cNvPr id="44" name="Text 36"/>
          <p:cNvSpPr txBox="1"/>
          <p:nvPr/>
        </p:nvSpPr>
        <p:spPr>
          <a:xfrm>
            <a:off x="9107424" y="3904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5" name="Text 37"/>
          <p:cNvSpPr txBox="1"/>
          <p:nvPr/>
        </p:nvSpPr>
        <p:spPr>
          <a:xfrm>
            <a:off x="9582912" y="3904488"/>
            <a:ext cx="1920240" cy="384048"/>
          </a:xfrm>
          <a:prstGeom prst="rect">
            <a:avLst/>
          </a:prstGeom>
          <a:noFill/>
          <a:ln/>
        </p:spPr>
        <p:txBody>
          <a:bodyPr wrap="square" lIns="0" tIns="0" rIns="0" bIns="0" rtlCol="0" anchor="ctr"/>
          <a:lstStyle/>
          <a:p>
            <a:pPr indent="0" marL="0">
              <a:buNone/>
            </a:pPr>
            <a:r>
              <a:rPr lang="en-US" sz="1400" b="1" dirty="0">
                <a:solidFill>
                  <a:schemeClr val="tx1"/>
                </a:solidFill>
              </a:rPr>
              <a:t>Treasury &amp; regional MLROs</a:t>
            </a:r>
            <a:endParaRPr lang="en-US" sz="1400" dirty="0"/>
          </a:p>
        </p:txBody>
      </p:sp>
      <p:sp>
        <p:nvSpPr>
          <p:cNvPr id="46" name="Text 38"/>
          <p:cNvSpPr txBox="1"/>
          <p:nvPr/>
        </p:nvSpPr>
        <p:spPr>
          <a:xfrm>
            <a:off x="9125712" y="4370832"/>
            <a:ext cx="2331720" cy="640080"/>
          </a:xfrm>
          <a:prstGeom prst="rect">
            <a:avLst/>
          </a:prstGeom>
          <a:noFill/>
          <a:ln/>
        </p:spPr>
        <p:txBody>
          <a:bodyPr wrap="square" lIns="0" tIns="0" rIns="0" bIns="0" rtlCol="0" anchor="t"/>
          <a:lstStyle/>
          <a:p>
            <a:pPr indent="0" marL="0">
              <a:buNone/>
            </a:pPr>
            <a:r>
              <a:rPr lang="en-US" sz="1400" dirty="0">
                <a:solidFill>
                  <a:schemeClr val="tx1"/>
                </a:solidFill>
              </a:rPr>
              <a:t>Execute the freeze, block or reject and file reports.</a:t>
            </a:r>
            <a:endParaRPr lang="en-US" sz="1400" dirty="0"/>
          </a:p>
        </p:txBody>
      </p:sp>
      <p:sp>
        <p:nvSpPr>
          <p:cNvPr id="4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48" name="Text 40"/>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49" name="Text 41"/>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Returning funds to a designated person is itself making funds available — so the wrong action can create a breach.</a:t>
            </a:r>
            <a:endParaRPr lang="en-US" sz="1400" dirty="0"/>
          </a:p>
        </p:txBody>
      </p:sp>
      <p:sp>
        <p:nvSpPr>
          <p:cNvPr id="5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51" name="Text 43"/>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52" name="Text 44"/>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You never choose between freeze, block and reject. Hold and escalate — a rejected payment may still need reporting.</a:t>
            </a:r>
            <a:endParaRPr lang="en-US" sz="1400" dirty="0"/>
          </a:p>
        </p:txBody>
      </p:sp>
      <p:sp>
        <p:nvSpPr>
          <p:cNvPr id="53" name="Text 45"/>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31 CFR 501.603 (blocked property) and 501.604 (rejected transactions); Russia Regs 2019 regs 11–15 (asset freeze; making funds available) and reg 70 (reporting).</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Apply the indicators</a:t>
            </a:r>
            <a:endParaRPr lang="en-US" sz="3000" dirty="0"/>
          </a:p>
        </p:txBody>
      </p:sp>
      <p:sp>
        <p:nvSpPr>
          <p:cNvPr id="4" name="part 3 circle"/>
          <p:cNvSpPr/>
          <p:nvPr/>
        </p:nvSpPr>
        <p:spPr>
          <a:xfrm>
            <a:off x="10561320" y="320040"/>
            <a:ext cx="1005840" cy="1005840"/>
          </a:xfrm>
          <a:prstGeom prst="ellipse">
            <a:avLst/>
          </a:prstGeom>
          <a:solidFill>
            <a:schemeClr val="accent2"/>
          </a:solidFill>
          <a:ln w="12700">
            <a:solidFill>
              <a:schemeClr val="accent2"/>
            </a:solidFill>
            <a:prstDash val="solid"/>
          </a:ln>
        </p:spPr>
      </p:sp>
      <p:pic>
        <p:nvPicPr>
          <p:cNvPr id="5" name="part 3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3"/>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From alert to evidence.</a:t>
            </a:r>
            <a:endParaRPr lang="en-US" sz="2200" dirty="0"/>
          </a:p>
        </p:txBody>
      </p:sp>
      <p:sp>
        <p:nvSpPr>
          <p:cNvPr id="7" name="Text 4"/>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2: you know which rules apply and how outcomes differ.</a:t>
            </a:r>
            <a:endParaRPr lang="en-US" sz="1400" dirty="0"/>
          </a:p>
        </p:txBody>
      </p:sp>
      <p:sp>
        <p:nvSpPr>
          <p:cNvPr id="8" name="Text 5"/>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Now use what you already know — identifiers, ownership, geography, payment behaviour — and the tools you already have. In plain terms: prove it, or pass it on.</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7"/>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8"/>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Name variants and identifiers</a:t>
            </a:r>
            <a:endParaRPr lang="en-US" sz="1400" dirty="0"/>
          </a:p>
          <a:p>
            <a:pPr marL="342900" indent="-342900">
              <a:spcAft>
                <a:spcPts val="400"/>
              </a:spcAft>
              <a:buSzPct val="100000"/>
              <a:buChar char="•"/>
            </a:pPr>
            <a:r>
              <a:rPr lang="en-US" sz="1400" dirty="0">
                <a:solidFill>
                  <a:schemeClr val="bg1"/>
                </a:solidFill>
              </a:rPr>
              <a:t>Requesting information without tipping off</a:t>
            </a:r>
            <a:endParaRPr lang="en-US" sz="1400" dirty="0"/>
          </a:p>
          <a:p>
            <a:pPr marL="342900" indent="-342900">
              <a:spcAft>
                <a:spcPts val="400"/>
              </a:spcAft>
              <a:buSzPct val="100000"/>
              <a:buChar char="•"/>
            </a:pPr>
            <a:r>
              <a:rPr lang="en-US" sz="1400" dirty="0">
                <a:solidFill>
                  <a:schemeClr val="bg1"/>
                </a:solidFill>
              </a:rPr>
              <a:t>Case studies 01–04</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10"/>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11"/>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Indicators only protect the firm when you turn them into evidence — or into an escalation when the evidence isn't there.</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13"/>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14"/>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Firco match details and the list record; Orbis and corporate registries for ownership; the approved RFI template; re-screening once new data arrives.</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16"/>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17"/>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What evidence would resolve this alert — and where in our process do I get it?</a:t>
            </a:r>
            <a:endParaRPr lang="en-US" sz="1600" dirty="0"/>
          </a:p>
        </p:txBody>
      </p:sp>
      <p:sp>
        <p:nvSpPr>
          <p:cNvPr id="21" name="progress 1"/>
          <p:cNvSpPr/>
          <p:nvPr/>
        </p:nvSpPr>
        <p:spPr>
          <a:xfrm>
            <a:off x="548640" y="5833872"/>
            <a:ext cx="2651760" cy="384048"/>
          </a:xfrm>
          <a:prstGeom prst="roundRect">
            <a:avLst>
              <a:gd name="adj" fmla="val 50000"/>
            </a:avLst>
          </a:prstGeom>
          <a:solidFill>
            <a:schemeClr val="tx2"/>
          </a:solidFill>
          <a:ln w="12700">
            <a:solidFill>
              <a:schemeClr val="accent4"/>
            </a:solidFill>
            <a:prstDash val="solid"/>
          </a:ln>
        </p:spPr>
      </p:sp>
      <p:sp>
        <p:nvSpPr>
          <p:cNvPr id="22" name="Text 19"/>
          <p:cNvSpPr txBox="1"/>
          <p:nvPr/>
        </p:nvSpPr>
        <p:spPr>
          <a:xfrm>
            <a:off x="548640"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3" name="progress 2"/>
          <p:cNvSpPr/>
          <p:nvPr/>
        </p:nvSpPr>
        <p:spPr>
          <a:xfrm>
            <a:off x="3346704" y="5833872"/>
            <a:ext cx="2651760" cy="384048"/>
          </a:xfrm>
          <a:prstGeom prst="roundRect">
            <a:avLst>
              <a:gd name="adj" fmla="val 50000"/>
            </a:avLst>
          </a:prstGeom>
          <a:solidFill>
            <a:schemeClr val="tx2"/>
          </a:solidFill>
          <a:ln w="12700">
            <a:solidFill>
              <a:schemeClr val="accent4"/>
            </a:solidFill>
            <a:prstDash val="solid"/>
          </a:ln>
        </p:spPr>
      </p:sp>
      <p:sp>
        <p:nvSpPr>
          <p:cNvPr id="24" name="Text 21"/>
          <p:cNvSpPr txBox="1"/>
          <p:nvPr/>
        </p:nvSpPr>
        <p:spPr>
          <a:xfrm>
            <a:off x="3346704"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5" name="progress 3"/>
          <p:cNvSpPr/>
          <p:nvPr/>
        </p:nvSpPr>
        <p:spPr>
          <a:xfrm>
            <a:off x="6144768" y="5833872"/>
            <a:ext cx="2651760" cy="384048"/>
          </a:xfrm>
          <a:prstGeom prst="roundRect">
            <a:avLst>
              <a:gd name="adj" fmla="val 50000"/>
            </a:avLst>
          </a:prstGeom>
          <a:solidFill>
            <a:schemeClr val="accent2"/>
          </a:solidFill>
          <a:ln w="12700">
            <a:solidFill>
              <a:schemeClr val="accent2"/>
            </a:solidFill>
            <a:prstDash val="solid"/>
          </a:ln>
        </p:spPr>
      </p:sp>
      <p:sp>
        <p:nvSpPr>
          <p:cNvPr id="26" name="Text 23"/>
          <p:cNvSpPr txBox="1"/>
          <p:nvPr/>
        </p:nvSpPr>
        <p:spPr>
          <a:xfrm>
            <a:off x="6144768" y="5833872"/>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3  Apply the indicators</a:t>
            </a:r>
            <a:endParaRPr lang="en-US" sz="1300" dirty="0"/>
          </a:p>
        </p:txBody>
      </p:sp>
      <p:sp>
        <p:nvSpPr>
          <p:cNvPr id="27" name="progress 4"/>
          <p:cNvSpPr/>
          <p:nvPr/>
        </p:nvSpPr>
        <p:spPr>
          <a:xfrm>
            <a:off x="8942832" y="5833872"/>
            <a:ext cx="2651760" cy="384048"/>
          </a:xfrm>
          <a:prstGeom prst="roundRect">
            <a:avLst>
              <a:gd name="adj" fmla="val 50000"/>
            </a:avLst>
          </a:prstGeom>
          <a:solidFill>
            <a:schemeClr val="tx2"/>
          </a:solidFill>
          <a:ln w="12700">
            <a:solidFill>
              <a:schemeClr val="accent4"/>
            </a:solidFill>
            <a:prstDash val="solid"/>
          </a:ln>
        </p:spPr>
      </p:sp>
      <p:sp>
        <p:nvSpPr>
          <p:cNvPr id="28" name="Text 25"/>
          <p:cNvSpPr txBox="1"/>
          <p:nvPr/>
        </p:nvSpPr>
        <p:spPr>
          <a:xfrm>
            <a:off x="8942832"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NAME MATCHING</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Name variants are where screening most often fails</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One name can be spelled many ways — look past the spelling to the person.</a:t>
            </a:r>
            <a:endParaRPr lang="en-US" sz="1700" dirty="0"/>
          </a:p>
        </p:txBody>
      </p:sp>
      <p:sp>
        <p:nvSpPr>
          <p:cNvPr id="5" name="Legal-form prefixes"/>
          <p:cNvSpPr/>
          <p:nvPr/>
        </p:nvSpPr>
        <p:spPr>
          <a:xfrm>
            <a:off x="548640" y="1554480"/>
            <a:ext cx="6492240" cy="1078992"/>
          </a:xfrm>
          <a:prstGeom prst="roundRect">
            <a:avLst>
              <a:gd name="adj" fmla="val 10169"/>
            </a:avLst>
          </a:prstGeom>
          <a:solidFill>
            <a:schemeClr val="bg2"/>
          </a:solidFill>
          <a:ln w="12700">
            <a:solidFill>
              <a:schemeClr val="bg2"/>
            </a:solidFill>
            <a:prstDash val="solid"/>
          </a:ln>
        </p:spPr>
      </p:sp>
      <p:sp>
        <p:nvSpPr>
          <p:cNvPr id="6" name="Text 4"/>
          <p:cNvSpPr txBox="1"/>
          <p:nvPr/>
        </p:nvSpPr>
        <p:spPr>
          <a:xfrm>
            <a:off x="777240" y="164592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Legal-form prefixes</a:t>
            </a:r>
            <a:endParaRPr lang="en-US" sz="1600" dirty="0"/>
          </a:p>
        </p:txBody>
      </p:sp>
      <p:sp>
        <p:nvSpPr>
          <p:cNvPr id="7" name="Text 5"/>
          <p:cNvSpPr txBox="1"/>
          <p:nvPr/>
        </p:nvSpPr>
        <p:spPr>
          <a:xfrm>
            <a:off x="2926080" y="164592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PAO · ПАО · PJSC · OAO · AO · OOO · LLC · Ltd</a:t>
            </a:r>
            <a:endParaRPr lang="en-US" sz="1400" dirty="0"/>
          </a:p>
          <a:p>
            <a:pPr indent="0" marL="0">
              <a:buNone/>
            </a:pPr>
            <a:r>
              <a:rPr lang="en-US" sz="1300" dirty="0">
                <a:solidFill>
                  <a:schemeClr val="accent6"/>
                </a:solidFill>
              </a:rPr>
              <a:t>Citibank: “PAO Sovcomflot” was not matched to “Sovcomflot”.</a:t>
            </a:r>
            <a:endParaRPr lang="en-US" sz="1400" dirty="0"/>
          </a:p>
        </p:txBody>
      </p:sp>
      <p:sp>
        <p:nvSpPr>
          <p:cNvPr id="8" name="Transliteration"/>
          <p:cNvSpPr/>
          <p:nvPr/>
        </p:nvSpPr>
        <p:spPr>
          <a:xfrm>
            <a:off x="548640" y="2743200"/>
            <a:ext cx="6492240" cy="1078992"/>
          </a:xfrm>
          <a:prstGeom prst="roundRect">
            <a:avLst>
              <a:gd name="adj" fmla="val 10169"/>
            </a:avLst>
          </a:prstGeom>
          <a:solidFill>
            <a:schemeClr val="bg2"/>
          </a:solidFill>
          <a:ln w="12700">
            <a:solidFill>
              <a:schemeClr val="bg2"/>
            </a:solidFill>
            <a:prstDash val="solid"/>
          </a:ln>
        </p:spPr>
      </p:sp>
      <p:sp>
        <p:nvSpPr>
          <p:cNvPr id="9" name="Text 7"/>
          <p:cNvSpPr txBox="1"/>
          <p:nvPr/>
        </p:nvSpPr>
        <p:spPr>
          <a:xfrm>
            <a:off x="777240" y="283464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Transliteration</a:t>
            </a:r>
            <a:endParaRPr lang="en-US" sz="1600" dirty="0"/>
          </a:p>
        </p:txBody>
      </p:sp>
      <p:sp>
        <p:nvSpPr>
          <p:cNvPr id="10" name="Text 8"/>
          <p:cNvSpPr txBox="1"/>
          <p:nvPr/>
        </p:nvSpPr>
        <p:spPr>
          <a:xfrm>
            <a:off x="2926080" y="283464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Mohammed · Muhammad · Mohamed · Aleksandr · Alexander</a:t>
            </a:r>
            <a:endParaRPr lang="en-US" sz="1400" dirty="0"/>
          </a:p>
          <a:p>
            <a:pPr indent="0" marL="0">
              <a:buNone/>
            </a:pPr>
            <a:r>
              <a:rPr lang="en-US" sz="1300" dirty="0">
                <a:solidFill>
                  <a:schemeClr val="accent6"/>
                </a:solidFill>
              </a:rPr>
              <a:t>Bank of Scotland: the passport spelling differed from the list entry.</a:t>
            </a:r>
            <a:endParaRPr lang="en-US" sz="1400" dirty="0"/>
          </a:p>
        </p:txBody>
      </p:sp>
      <p:sp>
        <p:nvSpPr>
          <p:cNvPr id="11" name="Word order, initials, aliases"/>
          <p:cNvSpPr/>
          <p:nvPr/>
        </p:nvSpPr>
        <p:spPr>
          <a:xfrm>
            <a:off x="548640" y="3931920"/>
            <a:ext cx="6492240" cy="1078992"/>
          </a:xfrm>
          <a:prstGeom prst="roundRect">
            <a:avLst>
              <a:gd name="adj" fmla="val 10169"/>
            </a:avLst>
          </a:prstGeom>
          <a:solidFill>
            <a:schemeClr val="bg2"/>
          </a:solidFill>
          <a:ln w="12700">
            <a:solidFill>
              <a:schemeClr val="bg2"/>
            </a:solidFill>
            <a:prstDash val="solid"/>
          </a:ln>
        </p:spPr>
      </p:sp>
      <p:sp>
        <p:nvSpPr>
          <p:cNvPr id="12" name="Text 10"/>
          <p:cNvSpPr txBox="1"/>
          <p:nvPr/>
        </p:nvSpPr>
        <p:spPr>
          <a:xfrm>
            <a:off x="777240" y="4023360"/>
            <a:ext cx="2103120" cy="896112"/>
          </a:xfrm>
          <a:prstGeom prst="rect">
            <a:avLst/>
          </a:prstGeom>
          <a:noFill/>
          <a:ln/>
        </p:spPr>
        <p:txBody>
          <a:bodyPr wrap="square" lIns="0" tIns="0" rIns="0" bIns="0" rtlCol="0" anchor="ctr"/>
          <a:lstStyle/>
          <a:p>
            <a:pPr indent="0" marL="0">
              <a:buNone/>
            </a:pPr>
            <a:r>
              <a:rPr lang="en-US" sz="1600" b="1" dirty="0">
                <a:solidFill>
                  <a:schemeClr val="tx1"/>
                </a:solidFill>
              </a:rPr>
              <a:t>Word order, initials, aliases</a:t>
            </a:r>
            <a:endParaRPr lang="en-US" sz="1600" dirty="0"/>
          </a:p>
        </p:txBody>
      </p:sp>
      <p:sp>
        <p:nvSpPr>
          <p:cNvPr id="13" name="Text 11"/>
          <p:cNvSpPr txBox="1"/>
          <p:nvPr/>
        </p:nvSpPr>
        <p:spPr>
          <a:xfrm>
            <a:off x="2926080" y="4023360"/>
            <a:ext cx="3977640" cy="896112"/>
          </a:xfrm>
          <a:prstGeom prst="rect">
            <a:avLst/>
          </a:prstGeom>
          <a:noFill/>
          <a:ln/>
        </p:spPr>
        <p:txBody>
          <a:bodyPr wrap="square" lIns="0" tIns="0" rIns="0" bIns="0" rtlCol="0" anchor="ctr"/>
          <a:lstStyle/>
          <a:p>
            <a:pPr indent="0" marL="0">
              <a:buNone/>
            </a:pPr>
            <a:r>
              <a:rPr lang="en-US" sz="1400" b="1" dirty="0">
                <a:solidFill>
                  <a:schemeClr val="tx1"/>
                </a:solidFill>
              </a:rPr>
              <a:t>“M. Rahman” · “Rahman, Mohammed” · “Rakhman”</a:t>
            </a:r>
            <a:endParaRPr lang="en-US" sz="1400" dirty="0"/>
          </a:p>
          <a:p>
            <a:pPr indent="0" marL="0">
              <a:buNone/>
            </a:pPr>
            <a:r>
              <a:rPr lang="en-US" sz="1300" dirty="0">
                <a:solidFill>
                  <a:schemeClr val="accent6"/>
                </a:solidFill>
              </a:rPr>
              <a:t>Historical aliases on the list record count.</a:t>
            </a:r>
            <a:endParaRPr lang="en-US" sz="1400" dirty="0"/>
          </a:p>
        </p:txBody>
      </p:sp>
      <p:sp>
        <p:nvSpPr>
          <p:cNvPr id="14" name="identifiers"/>
          <p:cNvSpPr/>
          <p:nvPr/>
        </p:nvSpPr>
        <p:spPr>
          <a:xfrm>
            <a:off x="7269480" y="1554480"/>
            <a:ext cx="4343400" cy="3456432"/>
          </a:xfrm>
          <a:prstGeom prst="roundRect">
            <a:avLst>
              <a:gd name="adj" fmla="val 3175"/>
            </a:avLst>
          </a:prstGeom>
          <a:solidFill>
            <a:schemeClr val="tx1"/>
          </a:solidFill>
          <a:ln w="12700">
            <a:solidFill>
              <a:schemeClr val="tx1"/>
            </a:solidFill>
            <a:prstDash val="solid"/>
          </a:ln>
        </p:spPr>
      </p:sp>
      <p:sp>
        <p:nvSpPr>
          <p:cNvPr id="15" name="Text 13"/>
          <p:cNvSpPr txBox="1"/>
          <p:nvPr/>
        </p:nvSpPr>
        <p:spPr>
          <a:xfrm>
            <a:off x="7498080" y="1691640"/>
            <a:ext cx="393192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IDENTIFIERS THAT RESOLVE A MATCH</a:t>
            </a:r>
            <a:endParaRPr lang="en-US" sz="1100" dirty="0"/>
          </a:p>
        </p:txBody>
      </p:sp>
      <p:sp>
        <p:nvSpPr>
          <p:cNvPr id="16" name="Text 14"/>
          <p:cNvSpPr txBox="1"/>
          <p:nvPr/>
        </p:nvSpPr>
        <p:spPr>
          <a:xfrm>
            <a:off x="7498080" y="2011680"/>
            <a:ext cx="3931920" cy="2926080"/>
          </a:xfrm>
          <a:prstGeom prst="rect">
            <a:avLst/>
          </a:prstGeom>
          <a:noFill/>
          <a:ln/>
        </p:spPr>
        <p:txBody>
          <a:bodyPr wrap="square" lIns="0" tIns="0" rIns="0" bIns="0" rtlCol="0" anchor="t"/>
          <a:lstStyle/>
          <a:p>
            <a:pPr indent="0" marL="0">
              <a:buNone/>
            </a:pPr>
            <a:r>
              <a:rPr lang="en-US" sz="1500" b="1" dirty="0">
                <a:solidFill>
                  <a:schemeClr val="bg1"/>
                </a:solidFill>
              </a:rPr>
              <a:t>Strong</a:t>
            </a:r>
            <a:endParaRPr lang="en-US" sz="1500" dirty="0"/>
          </a:p>
          <a:p>
            <a:pPr indent="0" marL="0">
              <a:buNone/>
            </a:pPr>
            <a:r>
              <a:rPr lang="en-US" sz="1500" dirty="0">
                <a:solidFill>
                  <a:schemeClr val="bg1"/>
                </a:solidFill>
              </a:rPr>
              <a:t>Date of birth, passport or national ID number, company registration number, IMO number for vessels.</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bg1"/>
                </a:solidFill>
              </a:rPr>
              <a:t>Supporting</a:t>
            </a:r>
            <a:endParaRPr lang="en-US" sz="1500" dirty="0"/>
          </a:p>
          <a:p>
            <a:pPr indent="0" marL="0">
              <a:buNone/>
            </a:pPr>
            <a:r>
              <a:rPr lang="en-US" sz="1500" dirty="0">
                <a:solidFill>
                  <a:schemeClr val="bg1"/>
                </a:solidFill>
              </a:rPr>
              <a:t>Nationality, address, city, year of birth only.</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accent2"/>
                </a:solidFill>
              </a:rPr>
              <a:t>Close only on evidenced, independently checked mismatches.</a:t>
            </a:r>
            <a:endParaRPr lang="en-US" sz="1500" dirty="0"/>
          </a:p>
        </p:txBody>
      </p:sp>
      <p:sp>
        <p:nvSpPr>
          <p:cNvPr id="17"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8" name="Text 16"/>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9" name="Text 17"/>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Both UK penalties in this session began with a name that looked different from the list. Tools miss variants; analysts must not.</a:t>
            </a:r>
            <a:endParaRPr lang="en-US" sz="1400" dirty="0"/>
          </a:p>
        </p:txBody>
      </p:sp>
      <p:sp>
        <p:nvSpPr>
          <p:cNvPr id="20"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1" name="Text 19"/>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2" name="Text 20"/>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Re-screen near-matches with the full legal name and variants. Never discount on a low score, missing data or a common name.</a:t>
            </a:r>
            <a:endParaRPr lang="en-US" sz="1400" dirty="0"/>
          </a:p>
        </p:txBody>
      </p:sp>
      <p:sp>
        <p:nvSpPr>
          <p:cNvPr id="23" name="Text 21"/>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OFSI penalty notices — Citibank N.A. London Branch (2026), Bank of Scotland plc (2026); Checkout screening procedure — identifier standard (cite section).</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REQUESTING INFORMATION</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How to avoid tipping off</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Ask for what you need — never say why you need it.</a:t>
            </a:r>
            <a:endParaRPr lang="en-US" sz="1700" dirty="0"/>
          </a:p>
        </p:txBody>
      </p:sp>
      <p:sp>
        <p:nvSpPr>
          <p:cNvPr id="5" name="do"/>
          <p:cNvSpPr/>
          <p:nvPr/>
        </p:nvSpPr>
        <p:spPr>
          <a:xfrm>
            <a:off x="548640" y="1554480"/>
            <a:ext cx="5440680" cy="3520440"/>
          </a:xfrm>
          <a:prstGeom prst="roundRect">
            <a:avLst>
              <a:gd name="adj" fmla="val 3117"/>
            </a:avLst>
          </a:prstGeom>
          <a:solidFill>
            <a:schemeClr val="bg2"/>
          </a:solidFill>
          <a:ln w="12700">
            <a:solidFill>
              <a:schemeClr val="bg2"/>
            </a:solidFill>
            <a:prstDash val="solid"/>
          </a:ln>
        </p:spPr>
      </p:sp>
      <p:sp>
        <p:nvSpPr>
          <p:cNvPr id="6" name="do circle"/>
          <p:cNvSpPr/>
          <p:nvPr/>
        </p:nvSpPr>
        <p:spPr>
          <a:xfrm>
            <a:off x="777240" y="1691640"/>
            <a:ext cx="530352" cy="530352"/>
          </a:xfrm>
          <a:prstGeom prst="ellipse">
            <a:avLst/>
          </a:prstGeom>
          <a:solidFill>
            <a:schemeClr val="accent3"/>
          </a:solidFill>
          <a:ln w="12700">
            <a:solidFill>
              <a:schemeClr val="accent3"/>
            </a:solidFill>
            <a:prstDash val="solid"/>
          </a:ln>
        </p:spPr>
      </p:sp>
      <p:pic>
        <p:nvPicPr>
          <p:cNvPr id="7" name="do icon" descr="preencoded.png">    </p:cNvPr>
          <p:cNvPicPr>
            <a:picLocks noChangeAspect="1"/>
          </p:cNvPicPr>
          <p:nvPr/>
        </p:nvPicPr>
        <p:blipFill>
          <a:blip r:embed="rId1"/>
          <a:stretch>
            <a:fillRect/>
          </a:stretch>
        </p:blipFill>
        <p:spPr>
          <a:xfrm>
            <a:off x="883310" y="1797710"/>
            <a:ext cx="318211" cy="318211"/>
          </a:xfrm>
          <a:prstGeom prst="rect">
            <a:avLst/>
          </a:prstGeom>
        </p:spPr>
      </p:pic>
      <p:sp>
        <p:nvSpPr>
          <p:cNvPr id="8" name="Text 5"/>
          <p:cNvSpPr txBox="1"/>
          <p:nvPr/>
        </p:nvSpPr>
        <p:spPr>
          <a:xfrm>
            <a:off x="1463040" y="1691640"/>
            <a:ext cx="4297680" cy="530352"/>
          </a:xfrm>
          <a:prstGeom prst="rect">
            <a:avLst/>
          </a:prstGeom>
          <a:noFill/>
          <a:ln/>
        </p:spPr>
        <p:txBody>
          <a:bodyPr wrap="square" lIns="0" tIns="0" rIns="0" bIns="0" rtlCol="0" anchor="ctr"/>
          <a:lstStyle/>
          <a:p>
            <a:pPr indent="0" marL="0">
              <a:buNone/>
            </a:pPr>
            <a:r>
              <a:rPr lang="en-US" sz="2100" b="1" dirty="0">
                <a:solidFill>
                  <a:schemeClr val="accent3"/>
                </a:solidFill>
              </a:rPr>
              <a:t>Do</a:t>
            </a:r>
            <a:endParaRPr lang="en-US" sz="2100" dirty="0"/>
          </a:p>
        </p:txBody>
      </p:sp>
      <p:sp>
        <p:nvSpPr>
          <p:cNvPr id="9" name="Text 6"/>
          <p:cNvSpPr txBox="1"/>
          <p:nvPr/>
        </p:nvSpPr>
        <p:spPr>
          <a:xfrm>
            <a:off x="777240" y="2377440"/>
            <a:ext cx="502920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Use the approved RFI template.</a:t>
            </a:r>
            <a:endParaRPr lang="en-US" sz="1400" dirty="0"/>
          </a:p>
          <a:p>
            <a:pPr marL="342900" indent="-342900">
              <a:spcAft>
                <a:spcPts val="600"/>
              </a:spcAft>
              <a:buSzPct val="100000"/>
              <a:buChar char="•"/>
            </a:pPr>
            <a:r>
              <a:rPr lang="en-US" sz="1400" dirty="0">
                <a:solidFill>
                  <a:schemeClr val="tx1"/>
                </a:solidFill>
              </a:rPr>
              <a:t>Request only what resolves identity or exposure: full name, date of birth, nationality, address, ID or registration number, purpose of payment.</a:t>
            </a:r>
            <a:endParaRPr lang="en-US" sz="1400" dirty="0"/>
          </a:p>
          <a:p>
            <a:pPr marL="342900" indent="-342900">
              <a:spcAft>
                <a:spcPts val="600"/>
              </a:spcAft>
              <a:buSzPct val="100000"/>
              <a:buChar char="•"/>
            </a:pPr>
            <a:r>
              <a:rPr lang="en-US" sz="1400" dirty="0">
                <a:solidFill>
                  <a:schemeClr val="tx1"/>
                </a:solidFill>
              </a:rPr>
              <a:t>Use neutral wording: “We need some additional information to complete our standard checks.”</a:t>
            </a:r>
            <a:endParaRPr lang="en-US" sz="1400" dirty="0"/>
          </a:p>
          <a:p>
            <a:pPr marL="342900" indent="-342900">
              <a:spcAft>
                <a:spcPts val="600"/>
              </a:spcAft>
              <a:buSzPct val="100000"/>
              <a:buChar char="•"/>
            </a:pPr>
            <a:r>
              <a:rPr lang="en-US" sz="1400" dirty="0">
                <a:solidFill>
                  <a:schemeClr val="tx1"/>
                </a:solidFill>
              </a:rPr>
              <a:t>Keep the payment on hold while you wait.</a:t>
            </a:r>
            <a:endParaRPr lang="en-US" sz="1400" dirty="0"/>
          </a:p>
        </p:txBody>
      </p:sp>
      <p:sp>
        <p:nvSpPr>
          <p:cNvPr id="10" name="do not"/>
          <p:cNvSpPr/>
          <p:nvPr/>
        </p:nvSpPr>
        <p:spPr>
          <a:xfrm>
            <a:off x="6172200" y="1554480"/>
            <a:ext cx="5440680" cy="3520440"/>
          </a:xfrm>
          <a:prstGeom prst="roundRect">
            <a:avLst>
              <a:gd name="adj" fmla="val 3117"/>
            </a:avLst>
          </a:prstGeom>
          <a:solidFill>
            <a:schemeClr val="bg2"/>
          </a:solidFill>
          <a:ln w="12700">
            <a:solidFill>
              <a:schemeClr val="bg2"/>
            </a:solidFill>
            <a:prstDash val="solid"/>
          </a:ln>
        </p:spPr>
      </p:sp>
      <p:sp>
        <p:nvSpPr>
          <p:cNvPr id="11" name="do not circle"/>
          <p:cNvSpPr/>
          <p:nvPr/>
        </p:nvSpPr>
        <p:spPr>
          <a:xfrm>
            <a:off x="6400800" y="1691640"/>
            <a:ext cx="530352" cy="530352"/>
          </a:xfrm>
          <a:prstGeom prst="ellipse">
            <a:avLst/>
          </a:prstGeom>
          <a:solidFill>
            <a:schemeClr val="accent1"/>
          </a:solidFill>
          <a:ln w="12700">
            <a:solidFill>
              <a:schemeClr val="accent1"/>
            </a:solidFill>
            <a:prstDash val="solid"/>
          </a:ln>
        </p:spPr>
      </p:sp>
      <p:pic>
        <p:nvPicPr>
          <p:cNvPr id="12" name="do not icon" descr="preencoded.png">    </p:cNvPr>
          <p:cNvPicPr>
            <a:picLocks noChangeAspect="1"/>
          </p:cNvPicPr>
          <p:nvPr/>
        </p:nvPicPr>
        <p:blipFill>
          <a:blip r:embed="rId2"/>
          <a:stretch>
            <a:fillRect/>
          </a:stretch>
        </p:blipFill>
        <p:spPr>
          <a:xfrm>
            <a:off x="6506870" y="1797710"/>
            <a:ext cx="318211" cy="318211"/>
          </a:xfrm>
          <a:prstGeom prst="rect">
            <a:avLst/>
          </a:prstGeom>
        </p:spPr>
      </p:pic>
      <p:sp>
        <p:nvSpPr>
          <p:cNvPr id="13" name="Text 9"/>
          <p:cNvSpPr txBox="1"/>
          <p:nvPr/>
        </p:nvSpPr>
        <p:spPr>
          <a:xfrm>
            <a:off x="7086600" y="1691640"/>
            <a:ext cx="4297680" cy="530352"/>
          </a:xfrm>
          <a:prstGeom prst="rect">
            <a:avLst/>
          </a:prstGeom>
          <a:noFill/>
          <a:ln/>
        </p:spPr>
        <p:txBody>
          <a:bodyPr wrap="square" lIns="0" tIns="0" rIns="0" bIns="0" rtlCol="0" anchor="ctr"/>
          <a:lstStyle/>
          <a:p>
            <a:pPr indent="0" marL="0">
              <a:buNone/>
            </a:pPr>
            <a:r>
              <a:rPr lang="en-US" sz="2100" b="1" dirty="0">
                <a:solidFill>
                  <a:schemeClr val="accent1"/>
                </a:solidFill>
              </a:rPr>
              <a:t>Do not</a:t>
            </a:r>
            <a:endParaRPr lang="en-US" sz="2100" dirty="0"/>
          </a:p>
        </p:txBody>
      </p:sp>
      <p:sp>
        <p:nvSpPr>
          <p:cNvPr id="14" name="Text 10"/>
          <p:cNvSpPr txBox="1"/>
          <p:nvPr/>
        </p:nvSpPr>
        <p:spPr>
          <a:xfrm>
            <a:off x="6400800" y="2377440"/>
            <a:ext cx="502920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Refer to a sanctions list, a match, an investigation or a suspicion.</a:t>
            </a:r>
            <a:endParaRPr lang="en-US" sz="1400" dirty="0"/>
          </a:p>
          <a:p>
            <a:pPr marL="342900" indent="-342900">
              <a:spcAft>
                <a:spcPts val="600"/>
              </a:spcAft>
              <a:buSzPct val="100000"/>
              <a:buChar char="•"/>
            </a:pPr>
            <a:r>
              <a:rPr lang="en-US" sz="1400" dirty="0">
                <a:solidFill>
                  <a:schemeClr val="tx1"/>
                </a:solidFill>
              </a:rPr>
              <a:t>Say that the payment is being reported, or name any authority.</a:t>
            </a:r>
            <a:endParaRPr lang="en-US" sz="1400" dirty="0"/>
          </a:p>
          <a:p>
            <a:pPr marL="342900" indent="-342900">
              <a:spcAft>
                <a:spcPts val="600"/>
              </a:spcAft>
              <a:buSzPct val="100000"/>
              <a:buChar char="•"/>
            </a:pPr>
            <a:r>
              <a:rPr lang="en-US" sz="1400" dirty="0">
                <a:solidFill>
                  <a:schemeClr val="tx1"/>
                </a:solidFill>
              </a:rPr>
              <a:t>Indicate which information would resolve the alert.</a:t>
            </a:r>
            <a:endParaRPr lang="en-US" sz="1400" dirty="0"/>
          </a:p>
          <a:p>
            <a:pPr marL="342900" indent="-342900">
              <a:spcAft>
                <a:spcPts val="600"/>
              </a:spcAft>
              <a:buSzPct val="100000"/>
              <a:buChar char="•"/>
            </a:pPr>
            <a:r>
              <a:rPr lang="en-US" sz="1400" dirty="0">
                <a:solidFill>
                  <a:schemeClr val="tx1"/>
                </a:solidFill>
              </a:rPr>
              <a:t>Commit to a release date.</a:t>
            </a:r>
            <a:endParaRPr lang="en-US" sz="1400" dirty="0"/>
          </a:p>
        </p:txBody>
      </p:sp>
      <p:sp>
        <p:nvSpPr>
          <p:cNvPr id="1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16" name="Text 12"/>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7" name="Text 13"/>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Tipping off is a criminal offence, and a careless RFI can warn a customer that they are under review.</a:t>
            </a:r>
            <a:endParaRPr lang="en-US" sz="1400" dirty="0"/>
          </a:p>
        </p:txBody>
      </p:sp>
      <p:sp>
        <p:nvSpPr>
          <p:cNvPr id="1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19" name="Text 15"/>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0" name="Text 16"/>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Use the approved RFI template and neutral wording. If a customer asks why, do not improvise — refer the question to L2.</a:t>
            </a:r>
            <a:endParaRPr lang="en-US" sz="1400" dirty="0"/>
          </a:p>
        </p:txBody>
      </p:sp>
      <p:sp>
        <p:nvSpPr>
          <p:cNvPr id="21" name="Text 17"/>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Proceeds of Crime Act 2002 s.333A; Terrorism Act 2000 s.21D; local equivalents apply. Checkout RFI templates (cite).</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CASE STUDIES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Case studies 01 and 02: identity and control</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Same name is not the same person — and a hidden owner still counts.</a:t>
            </a:r>
            <a:endParaRPr lang="en-US" sz="1700" dirty="0"/>
          </a:p>
        </p:txBody>
      </p:sp>
      <p:sp>
        <p:nvSpPr>
          <p:cNvPr id="5" name="Shape 3"/>
          <p:cNvSpPr/>
          <p:nvPr/>
        </p:nvSpPr>
        <p:spPr>
          <a:xfrm>
            <a:off x="548640" y="1536192"/>
            <a:ext cx="411480" cy="411480"/>
          </a:xfrm>
          <a:prstGeom prst="ellipse">
            <a:avLst/>
          </a:prstGeom>
          <a:solidFill>
            <a:schemeClr val="tx1"/>
          </a:solidFill>
          <a:ln w="12700">
            <a:solidFill>
              <a:schemeClr val="tx1"/>
            </a:solidFill>
            <a:prstDash val="solid"/>
          </a:ln>
        </p:spPr>
      </p:sp>
      <p:sp>
        <p:nvSpPr>
          <p:cNvPr id="6" name="Text 4"/>
          <p:cNvSpPr txBox="1"/>
          <p:nvPr/>
        </p:nvSpPr>
        <p:spPr>
          <a:xfrm>
            <a:off x="54864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Text 5"/>
          <p:cNvSpPr txBox="1"/>
          <p:nvPr/>
        </p:nvSpPr>
        <p:spPr>
          <a:xfrm>
            <a:off x="107899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Same name, different person</a:t>
            </a:r>
            <a:endParaRPr lang="en-US" sz="1700" dirty="0"/>
          </a:p>
        </p:txBody>
      </p:sp>
      <p:sp>
        <p:nvSpPr>
          <p:cNvPr id="8" name="alert 01"/>
          <p:cNvSpPr/>
          <p:nvPr/>
        </p:nvSpPr>
        <p:spPr>
          <a:xfrm>
            <a:off x="548640" y="2011680"/>
            <a:ext cx="5440680" cy="1005840"/>
          </a:xfrm>
          <a:prstGeom prst="roundRect">
            <a:avLst>
              <a:gd name="adj" fmla="val 10909"/>
            </a:avLst>
          </a:prstGeom>
          <a:solidFill>
            <a:schemeClr val="bg2"/>
          </a:solidFill>
          <a:ln w="12700">
            <a:solidFill>
              <a:schemeClr val="bg2"/>
            </a:solidFill>
            <a:prstDash val="solid"/>
          </a:ln>
        </p:spPr>
      </p:sp>
      <p:sp>
        <p:nvSpPr>
          <p:cNvPr id="9" name="Text 7"/>
          <p:cNvSpPr txBox="1"/>
          <p:nvPr/>
        </p:nvSpPr>
        <p:spPr>
          <a:xfrm>
            <a:off x="77724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10" name="Text 8"/>
          <p:cNvSpPr txBox="1"/>
          <p:nvPr/>
        </p:nvSpPr>
        <p:spPr>
          <a:xfrm>
            <a:off x="77724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“Mohamed Hassan” appears on a sanctions list. The customer shares the name but differs on every other identifier: date of birth (1968 vs 1991), nationality, address, document.</a:t>
            </a:r>
            <a:endParaRPr lang="en-US" sz="1400" dirty="0"/>
          </a:p>
        </p:txBody>
      </p:sp>
      <p:sp>
        <p:nvSpPr>
          <p:cNvPr id="11" name="decision 01"/>
          <p:cNvSpPr/>
          <p:nvPr/>
        </p:nvSpPr>
        <p:spPr>
          <a:xfrm>
            <a:off x="548640" y="3090672"/>
            <a:ext cx="5440680" cy="1005840"/>
          </a:xfrm>
          <a:prstGeom prst="roundRect">
            <a:avLst>
              <a:gd name="adj" fmla="val 10909"/>
            </a:avLst>
          </a:prstGeom>
          <a:solidFill>
            <a:schemeClr val="accent3"/>
          </a:solidFill>
          <a:ln w="12700">
            <a:solidFill>
              <a:schemeClr val="accent3"/>
            </a:solidFill>
            <a:prstDash val="solid"/>
          </a:ln>
        </p:spPr>
      </p:sp>
      <p:sp>
        <p:nvSpPr>
          <p:cNvPr id="12" name="Text 10"/>
          <p:cNvSpPr txBox="1"/>
          <p:nvPr/>
        </p:nvSpPr>
        <p:spPr>
          <a:xfrm>
            <a:off x="77724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3" name="Text 11"/>
          <p:cNvSpPr txBox="1"/>
          <p:nvPr/>
        </p:nvSpPr>
        <p:spPr>
          <a:xfrm>
            <a:off x="77724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Close as a false positive — the mismatch is evidenced and has been independently checked.</a:t>
            </a:r>
            <a:endParaRPr lang="en-US" sz="1400" dirty="0"/>
          </a:p>
        </p:txBody>
      </p:sp>
      <p:sp>
        <p:nvSpPr>
          <p:cNvPr id="14" name="record 01"/>
          <p:cNvSpPr/>
          <p:nvPr/>
        </p:nvSpPr>
        <p:spPr>
          <a:xfrm>
            <a:off x="548640" y="4169664"/>
            <a:ext cx="5440680" cy="896112"/>
          </a:xfrm>
          <a:prstGeom prst="roundRect">
            <a:avLst>
              <a:gd name="adj" fmla="val 12245"/>
            </a:avLst>
          </a:prstGeom>
          <a:solidFill>
            <a:schemeClr val="bg2"/>
          </a:solidFill>
          <a:ln w="12700">
            <a:solidFill>
              <a:schemeClr val="bg2"/>
            </a:solidFill>
            <a:prstDash val="solid"/>
          </a:ln>
        </p:spPr>
      </p:sp>
      <p:sp>
        <p:nvSpPr>
          <p:cNvPr id="15" name="Text 13"/>
          <p:cNvSpPr txBox="1"/>
          <p:nvPr/>
        </p:nvSpPr>
        <p:spPr>
          <a:xfrm>
            <a:off x="77724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6" name="Text 14"/>
          <p:cNvSpPr txBox="1"/>
          <p:nvPr/>
        </p:nvSpPr>
        <p:spPr>
          <a:xfrm>
            <a:off x="77724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List entry, identifiers compared, source of each identifier, reviewer and rationale.</a:t>
            </a:r>
            <a:endParaRPr lang="en-US" sz="1400" dirty="0"/>
          </a:p>
        </p:txBody>
      </p:sp>
      <p:sp>
        <p:nvSpPr>
          <p:cNvPr id="17" name="Shape 15"/>
          <p:cNvSpPr/>
          <p:nvPr/>
        </p:nvSpPr>
        <p:spPr>
          <a:xfrm>
            <a:off x="6172200" y="1536192"/>
            <a:ext cx="411480" cy="411480"/>
          </a:xfrm>
          <a:prstGeom prst="ellipse">
            <a:avLst/>
          </a:prstGeom>
          <a:solidFill>
            <a:schemeClr val="tx1"/>
          </a:solidFill>
          <a:ln w="12700">
            <a:solidFill>
              <a:schemeClr val="tx1"/>
            </a:solidFill>
            <a:prstDash val="solid"/>
          </a:ln>
        </p:spPr>
      </p:sp>
      <p:sp>
        <p:nvSpPr>
          <p:cNvPr id="18" name="Text 16"/>
          <p:cNvSpPr txBox="1"/>
          <p:nvPr/>
        </p:nvSpPr>
        <p:spPr>
          <a:xfrm>
            <a:off x="617220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9" name="Text 17"/>
          <p:cNvSpPr txBox="1"/>
          <p:nvPr/>
        </p:nvSpPr>
        <p:spPr>
          <a:xfrm>
            <a:off x="670255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Indirect ownership and control</a:t>
            </a:r>
            <a:endParaRPr lang="en-US" sz="1700" dirty="0"/>
          </a:p>
        </p:txBody>
      </p:sp>
      <p:sp>
        <p:nvSpPr>
          <p:cNvPr id="20" name="alert 02"/>
          <p:cNvSpPr/>
          <p:nvPr/>
        </p:nvSpPr>
        <p:spPr>
          <a:xfrm>
            <a:off x="6172200" y="2011680"/>
            <a:ext cx="5440680" cy="1005840"/>
          </a:xfrm>
          <a:prstGeom prst="roundRect">
            <a:avLst>
              <a:gd name="adj" fmla="val 10909"/>
            </a:avLst>
          </a:prstGeom>
          <a:solidFill>
            <a:schemeClr val="bg2"/>
          </a:solidFill>
          <a:ln w="12700">
            <a:solidFill>
              <a:schemeClr val="bg2"/>
            </a:solidFill>
            <a:prstDash val="solid"/>
          </a:ln>
        </p:spPr>
      </p:sp>
      <p:sp>
        <p:nvSpPr>
          <p:cNvPr id="21" name="Text 19"/>
          <p:cNvSpPr txBox="1"/>
          <p:nvPr/>
        </p:nvSpPr>
        <p:spPr>
          <a:xfrm>
            <a:off x="640080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2" name="Text 20"/>
          <p:cNvSpPr txBox="1"/>
          <p:nvPr/>
        </p:nvSpPr>
        <p:spPr>
          <a:xfrm>
            <a:off x="640080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The merchant is not listed, but a designated person has just been added as a director and can sign payment instructions.</a:t>
            </a:r>
            <a:endParaRPr lang="en-US" sz="1400" dirty="0"/>
          </a:p>
        </p:txBody>
      </p:sp>
      <p:sp>
        <p:nvSpPr>
          <p:cNvPr id="23" name="decision 02"/>
          <p:cNvSpPr/>
          <p:nvPr/>
        </p:nvSpPr>
        <p:spPr>
          <a:xfrm>
            <a:off x="6172200" y="3090672"/>
            <a:ext cx="5440680" cy="1005840"/>
          </a:xfrm>
          <a:prstGeom prst="roundRect">
            <a:avLst>
              <a:gd name="adj" fmla="val 10909"/>
            </a:avLst>
          </a:prstGeom>
          <a:solidFill>
            <a:schemeClr val="accent3"/>
          </a:solidFill>
          <a:ln w="12700">
            <a:solidFill>
              <a:schemeClr val="accent3"/>
            </a:solidFill>
            <a:prstDash val="solid"/>
          </a:ln>
        </p:spPr>
      </p:sp>
      <p:sp>
        <p:nvSpPr>
          <p:cNvPr id="24" name="Text 22"/>
          <p:cNvSpPr txBox="1"/>
          <p:nvPr/>
        </p:nvSpPr>
        <p:spPr>
          <a:xfrm>
            <a:off x="640080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5" name="Text 23"/>
          <p:cNvSpPr txBox="1"/>
          <p:nvPr/>
        </p:nvSpPr>
        <p:spPr>
          <a:xfrm>
            <a:off x="640080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Hold and escalate to L2. Do not rely on a single percentage threshold: control can create exposure even without ownership.</a:t>
            </a:r>
            <a:endParaRPr lang="en-US" sz="1400" dirty="0"/>
          </a:p>
        </p:txBody>
      </p:sp>
      <p:sp>
        <p:nvSpPr>
          <p:cNvPr id="26" name="record 02"/>
          <p:cNvSpPr/>
          <p:nvPr/>
        </p:nvSpPr>
        <p:spPr>
          <a:xfrm>
            <a:off x="6172200" y="4169664"/>
            <a:ext cx="5440680" cy="896112"/>
          </a:xfrm>
          <a:prstGeom prst="roundRect">
            <a:avLst>
              <a:gd name="adj" fmla="val 12245"/>
            </a:avLst>
          </a:prstGeom>
          <a:solidFill>
            <a:schemeClr val="bg2"/>
          </a:solidFill>
          <a:ln w="12700">
            <a:solidFill>
              <a:schemeClr val="bg2"/>
            </a:solidFill>
            <a:prstDash val="solid"/>
          </a:ln>
        </p:spPr>
      </p:sp>
      <p:sp>
        <p:nvSpPr>
          <p:cNvPr id="27" name="Text 25"/>
          <p:cNvSpPr txBox="1"/>
          <p:nvPr/>
        </p:nvSpPr>
        <p:spPr>
          <a:xfrm>
            <a:off x="640080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8" name="Text 26"/>
          <p:cNvSpPr txBox="1"/>
          <p:nvPr/>
        </p:nvSpPr>
        <p:spPr>
          <a:xfrm>
            <a:off x="640080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The director's identity, role and signing powers; corporate documents, registry and UBO evidence.</a:t>
            </a:r>
            <a:endParaRPr lang="en-US" sz="14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28"/>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29"/>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name difference and a control link look very different, but both need evidence — one to clear, the other to escalate.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31"/>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32"/>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For a false positive, record which identifiers differ and where each came from. For a control link, hold and send L2 the facts.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CASE STUDIES</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Case studies 03 and 04: reach and merchant pressure</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“Clear locally” and “the merchant says it's fine” are not evidence.</a:t>
            </a:r>
            <a:endParaRPr lang="en-US" sz="1700" dirty="0"/>
          </a:p>
        </p:txBody>
      </p:sp>
      <p:sp>
        <p:nvSpPr>
          <p:cNvPr id="5" name="Shape 3"/>
          <p:cNvSpPr/>
          <p:nvPr/>
        </p:nvSpPr>
        <p:spPr>
          <a:xfrm>
            <a:off x="548640" y="1536192"/>
            <a:ext cx="411480" cy="411480"/>
          </a:xfrm>
          <a:prstGeom prst="ellipse">
            <a:avLst/>
          </a:prstGeom>
          <a:solidFill>
            <a:schemeClr val="tx1"/>
          </a:solidFill>
          <a:ln w="12700">
            <a:solidFill>
              <a:schemeClr val="tx1"/>
            </a:solidFill>
            <a:prstDash val="solid"/>
          </a:ln>
        </p:spPr>
      </p:sp>
      <p:sp>
        <p:nvSpPr>
          <p:cNvPr id="6" name="Text 4"/>
          <p:cNvSpPr txBox="1"/>
          <p:nvPr/>
        </p:nvSpPr>
        <p:spPr>
          <a:xfrm>
            <a:off x="54864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7" name="Text 5"/>
          <p:cNvSpPr txBox="1"/>
          <p:nvPr/>
        </p:nvSpPr>
        <p:spPr>
          <a:xfrm>
            <a:off x="107899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Local list clear, global exposure remains</a:t>
            </a:r>
            <a:endParaRPr lang="en-US" sz="1700" dirty="0"/>
          </a:p>
        </p:txBody>
      </p:sp>
      <p:sp>
        <p:nvSpPr>
          <p:cNvPr id="8" name="alert 03"/>
          <p:cNvSpPr/>
          <p:nvPr/>
        </p:nvSpPr>
        <p:spPr>
          <a:xfrm>
            <a:off x="548640" y="2011680"/>
            <a:ext cx="5440680" cy="1005840"/>
          </a:xfrm>
          <a:prstGeom prst="roundRect">
            <a:avLst>
              <a:gd name="adj" fmla="val 10909"/>
            </a:avLst>
          </a:prstGeom>
          <a:solidFill>
            <a:schemeClr val="bg2"/>
          </a:solidFill>
          <a:ln w="12700">
            <a:solidFill>
              <a:schemeClr val="bg2"/>
            </a:solidFill>
            <a:prstDash val="solid"/>
          </a:ln>
        </p:spPr>
      </p:sp>
      <p:sp>
        <p:nvSpPr>
          <p:cNvPr id="9" name="Text 7"/>
          <p:cNvSpPr txBox="1"/>
          <p:nvPr/>
        </p:nvSpPr>
        <p:spPr>
          <a:xfrm>
            <a:off x="77724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10" name="Text 8"/>
          <p:cNvSpPr txBox="1"/>
          <p:nvPr/>
        </p:nvSpPr>
        <p:spPr>
          <a:xfrm>
            <a:off x="77724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A Hong Kong customer is clear against the local UN-derived source, but the payment touches a UK entity and a USD correspondent bank.</a:t>
            </a:r>
            <a:endParaRPr lang="en-US" sz="1400" dirty="0"/>
          </a:p>
        </p:txBody>
      </p:sp>
      <p:sp>
        <p:nvSpPr>
          <p:cNvPr id="11" name="decision 03"/>
          <p:cNvSpPr/>
          <p:nvPr/>
        </p:nvSpPr>
        <p:spPr>
          <a:xfrm>
            <a:off x="548640" y="3090672"/>
            <a:ext cx="5440680" cy="1005840"/>
          </a:xfrm>
          <a:prstGeom prst="roundRect">
            <a:avLst>
              <a:gd name="adj" fmla="val 10909"/>
            </a:avLst>
          </a:prstGeom>
          <a:solidFill>
            <a:schemeClr val="accent3"/>
          </a:solidFill>
          <a:ln w="12700">
            <a:solidFill>
              <a:schemeClr val="accent3"/>
            </a:solidFill>
            <a:prstDash val="solid"/>
          </a:ln>
        </p:spPr>
      </p:sp>
      <p:sp>
        <p:nvSpPr>
          <p:cNvPr id="12" name="Text 10"/>
          <p:cNvSpPr txBox="1"/>
          <p:nvPr/>
        </p:nvSpPr>
        <p:spPr>
          <a:xfrm>
            <a:off x="77724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3" name="Text 11"/>
          <p:cNvSpPr txBox="1"/>
          <p:nvPr/>
        </p:nvSpPr>
        <p:spPr>
          <a:xfrm>
            <a:off x="77724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Route to sanctions review — do not auto-clear solely because the local list is clear.</a:t>
            </a:r>
            <a:endParaRPr lang="en-US" sz="1400" dirty="0"/>
          </a:p>
        </p:txBody>
      </p:sp>
      <p:sp>
        <p:nvSpPr>
          <p:cNvPr id="14" name="record 03"/>
          <p:cNvSpPr/>
          <p:nvPr/>
        </p:nvSpPr>
        <p:spPr>
          <a:xfrm>
            <a:off x="548640" y="4169664"/>
            <a:ext cx="5440680" cy="896112"/>
          </a:xfrm>
          <a:prstGeom prst="roundRect">
            <a:avLst>
              <a:gd name="adj" fmla="val 12245"/>
            </a:avLst>
          </a:prstGeom>
          <a:solidFill>
            <a:schemeClr val="bg2"/>
          </a:solidFill>
          <a:ln w="12700">
            <a:solidFill>
              <a:schemeClr val="bg2"/>
            </a:solidFill>
            <a:prstDash val="solid"/>
          </a:ln>
        </p:spPr>
      </p:sp>
      <p:sp>
        <p:nvSpPr>
          <p:cNvPr id="15" name="Text 13"/>
          <p:cNvSpPr txBox="1"/>
          <p:nvPr/>
        </p:nvSpPr>
        <p:spPr>
          <a:xfrm>
            <a:off x="77724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6" name="Text 14"/>
          <p:cNvSpPr txBox="1"/>
          <p:nvPr/>
        </p:nvSpPr>
        <p:spPr>
          <a:xfrm>
            <a:off x="77724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All applicable regimes considered, and why the final action is proportionate.</a:t>
            </a:r>
            <a:endParaRPr lang="en-US" sz="1400" dirty="0"/>
          </a:p>
        </p:txBody>
      </p:sp>
      <p:sp>
        <p:nvSpPr>
          <p:cNvPr id="17" name="Shape 15"/>
          <p:cNvSpPr/>
          <p:nvPr/>
        </p:nvSpPr>
        <p:spPr>
          <a:xfrm>
            <a:off x="6172200" y="1536192"/>
            <a:ext cx="411480" cy="411480"/>
          </a:xfrm>
          <a:prstGeom prst="ellipse">
            <a:avLst/>
          </a:prstGeom>
          <a:solidFill>
            <a:schemeClr val="tx1"/>
          </a:solidFill>
          <a:ln w="12700">
            <a:solidFill>
              <a:schemeClr val="tx1"/>
            </a:solidFill>
            <a:prstDash val="solid"/>
          </a:ln>
        </p:spPr>
      </p:sp>
      <p:sp>
        <p:nvSpPr>
          <p:cNvPr id="18" name="Text 16"/>
          <p:cNvSpPr txBox="1"/>
          <p:nvPr/>
        </p:nvSpPr>
        <p:spPr>
          <a:xfrm>
            <a:off x="6172200" y="1536192"/>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9" name="Text 17"/>
          <p:cNvSpPr txBox="1"/>
          <p:nvPr/>
        </p:nvSpPr>
        <p:spPr>
          <a:xfrm>
            <a:off x="6702552" y="1536192"/>
            <a:ext cx="4910328" cy="411480"/>
          </a:xfrm>
          <a:prstGeom prst="rect">
            <a:avLst/>
          </a:prstGeom>
          <a:noFill/>
          <a:ln/>
        </p:spPr>
        <p:txBody>
          <a:bodyPr wrap="square" lIns="0" tIns="0" rIns="0" bIns="0" rtlCol="0" anchor="ctr"/>
          <a:lstStyle/>
          <a:p>
            <a:pPr indent="0" marL="0">
              <a:buNone/>
            </a:pPr>
            <a:r>
              <a:rPr lang="en-US" sz="1700" b="1" dirty="0">
                <a:solidFill>
                  <a:schemeClr val="tx1"/>
                </a:solidFill>
              </a:rPr>
              <a:t>Unresolved name match on an insurance payout</a:t>
            </a:r>
            <a:endParaRPr lang="en-US" sz="1700" dirty="0"/>
          </a:p>
        </p:txBody>
      </p:sp>
      <p:sp>
        <p:nvSpPr>
          <p:cNvPr id="20" name="alert 04"/>
          <p:cNvSpPr/>
          <p:nvPr/>
        </p:nvSpPr>
        <p:spPr>
          <a:xfrm>
            <a:off x="6172200" y="2011680"/>
            <a:ext cx="5440680" cy="1005840"/>
          </a:xfrm>
          <a:prstGeom prst="roundRect">
            <a:avLst>
              <a:gd name="adj" fmla="val 10909"/>
            </a:avLst>
          </a:prstGeom>
          <a:solidFill>
            <a:schemeClr val="bg2"/>
          </a:solidFill>
          <a:ln w="12700">
            <a:solidFill>
              <a:schemeClr val="bg2"/>
            </a:solidFill>
            <a:prstDash val="solid"/>
          </a:ln>
        </p:spPr>
      </p:sp>
      <p:sp>
        <p:nvSpPr>
          <p:cNvPr id="21" name="Text 19"/>
          <p:cNvSpPr txBox="1"/>
          <p:nvPr/>
        </p:nvSpPr>
        <p:spPr>
          <a:xfrm>
            <a:off x="6400800" y="2075688"/>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2" name="Text 20"/>
          <p:cNvSpPr txBox="1"/>
          <p:nvPr/>
        </p:nvSpPr>
        <p:spPr>
          <a:xfrm>
            <a:off x="6400800" y="2304288"/>
            <a:ext cx="4983480" cy="676656"/>
          </a:xfrm>
          <a:prstGeom prst="rect">
            <a:avLst/>
          </a:prstGeom>
          <a:noFill/>
          <a:ln/>
        </p:spPr>
        <p:txBody>
          <a:bodyPr wrap="square" lIns="0" tIns="0" rIns="0" bIns="0" rtlCol="0" anchor="t"/>
          <a:lstStyle/>
          <a:p>
            <a:pPr indent="0" marL="0">
              <a:buNone/>
            </a:pPr>
            <a:r>
              <a:rPr lang="en-US" sz="1400" dirty="0">
                <a:solidFill>
                  <a:schemeClr val="tx1"/>
                </a:solidFill>
              </a:rPr>
              <a:t>Beneficiary “Daniel ABC” matches a sanctioned individual; no date of birth, nationality, address or ID. The merchant says: “We know the customer — let it pass.”</a:t>
            </a:r>
            <a:endParaRPr lang="en-US" sz="1400" dirty="0"/>
          </a:p>
        </p:txBody>
      </p:sp>
      <p:sp>
        <p:nvSpPr>
          <p:cNvPr id="23" name="decision 04"/>
          <p:cNvSpPr/>
          <p:nvPr/>
        </p:nvSpPr>
        <p:spPr>
          <a:xfrm>
            <a:off x="6172200" y="3090672"/>
            <a:ext cx="5440680" cy="1005840"/>
          </a:xfrm>
          <a:prstGeom prst="roundRect">
            <a:avLst>
              <a:gd name="adj" fmla="val 10909"/>
            </a:avLst>
          </a:prstGeom>
          <a:solidFill>
            <a:schemeClr val="accent3"/>
          </a:solidFill>
          <a:ln w="12700">
            <a:solidFill>
              <a:schemeClr val="accent3"/>
            </a:solidFill>
            <a:prstDash val="solid"/>
          </a:ln>
        </p:spPr>
      </p:sp>
      <p:sp>
        <p:nvSpPr>
          <p:cNvPr id="24" name="Text 22"/>
          <p:cNvSpPr txBox="1"/>
          <p:nvPr/>
        </p:nvSpPr>
        <p:spPr>
          <a:xfrm>
            <a:off x="6400800" y="3154680"/>
            <a:ext cx="4983480" cy="219456"/>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5" name="Text 23"/>
          <p:cNvSpPr txBox="1"/>
          <p:nvPr/>
        </p:nvSpPr>
        <p:spPr>
          <a:xfrm>
            <a:off x="6400800" y="3383280"/>
            <a:ext cx="4983480" cy="676656"/>
          </a:xfrm>
          <a:prstGeom prst="rect">
            <a:avLst/>
          </a:prstGeom>
          <a:noFill/>
          <a:ln/>
        </p:spPr>
        <p:txBody>
          <a:bodyPr wrap="square" lIns="0" tIns="0" rIns="0" bIns="0" rtlCol="0" anchor="t"/>
          <a:lstStyle/>
          <a:p>
            <a:pPr indent="0" marL="0">
              <a:buNone/>
            </a:pPr>
            <a:r>
              <a:rPr lang="en-US" sz="1400" dirty="0">
                <a:solidFill>
                  <a:schemeClr val="bg1"/>
                </a:solidFill>
              </a:rPr>
              <a:t>Hold, send an RFI and re-screen. Clear only if shown not to be the listed person. If still unresolved, reject per procedure and escalate.</a:t>
            </a:r>
            <a:endParaRPr lang="en-US" sz="1400" dirty="0"/>
          </a:p>
        </p:txBody>
      </p:sp>
      <p:sp>
        <p:nvSpPr>
          <p:cNvPr id="26" name="record 04"/>
          <p:cNvSpPr/>
          <p:nvPr/>
        </p:nvSpPr>
        <p:spPr>
          <a:xfrm>
            <a:off x="6172200" y="4169664"/>
            <a:ext cx="5440680" cy="896112"/>
          </a:xfrm>
          <a:prstGeom prst="roundRect">
            <a:avLst>
              <a:gd name="adj" fmla="val 12245"/>
            </a:avLst>
          </a:prstGeom>
          <a:solidFill>
            <a:schemeClr val="bg2"/>
          </a:solidFill>
          <a:ln w="12700">
            <a:solidFill>
              <a:schemeClr val="bg2"/>
            </a:solidFill>
            <a:prstDash val="solid"/>
          </a:ln>
        </p:spPr>
      </p:sp>
      <p:sp>
        <p:nvSpPr>
          <p:cNvPr id="27" name="Text 25"/>
          <p:cNvSpPr txBox="1"/>
          <p:nvPr/>
        </p:nvSpPr>
        <p:spPr>
          <a:xfrm>
            <a:off x="6400800" y="4233672"/>
            <a:ext cx="498348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8" name="Text 26"/>
          <p:cNvSpPr txBox="1"/>
          <p:nvPr/>
        </p:nvSpPr>
        <p:spPr>
          <a:xfrm>
            <a:off x="6400800" y="4462272"/>
            <a:ext cx="4983480" cy="548640"/>
          </a:xfrm>
          <a:prstGeom prst="rect">
            <a:avLst/>
          </a:prstGeom>
          <a:noFill/>
          <a:ln/>
        </p:spPr>
        <p:txBody>
          <a:bodyPr wrap="square" lIns="0" tIns="0" rIns="0" bIns="0" rtlCol="0" anchor="t"/>
          <a:lstStyle/>
          <a:p>
            <a:pPr indent="0" marL="0">
              <a:buNone/>
            </a:pPr>
            <a:r>
              <a:rPr lang="en-US" sz="1400" dirty="0">
                <a:solidFill>
                  <a:schemeClr val="tx1"/>
                </a:solidFill>
              </a:rPr>
              <a:t>Merchant position, checks completed, RFI outcome, decision and rationale.</a:t>
            </a:r>
            <a:endParaRPr lang="en-US" sz="1400" dirty="0"/>
          </a:p>
        </p:txBody>
      </p:sp>
      <p:sp>
        <p:nvSpPr>
          <p:cNvPr id="29"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0" name="Text 28"/>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1" name="Text 29"/>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A local clear and merchant pressure both push towards a quick release — and neither is evidence.</a:t>
            </a:r>
            <a:endParaRPr lang="en-US" sz="1400" dirty="0"/>
          </a:p>
        </p:txBody>
      </p:sp>
      <p:sp>
        <p:nvSpPr>
          <p:cNvPr id="32"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3" name="Text 31"/>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4" name="Text 32"/>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Check every regime the payment touches. Merchant comfort is never a reason to clear; if still unresolved, reject and escalate.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4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Record the decision</a:t>
            </a:r>
            <a:endParaRPr lang="en-US" sz="3000" dirty="0"/>
          </a:p>
        </p:txBody>
      </p:sp>
      <p:sp>
        <p:nvSpPr>
          <p:cNvPr id="4" name="part 4 circle"/>
          <p:cNvSpPr/>
          <p:nvPr/>
        </p:nvSpPr>
        <p:spPr>
          <a:xfrm>
            <a:off x="10561320" y="320040"/>
            <a:ext cx="1005840" cy="1005840"/>
          </a:xfrm>
          <a:prstGeom prst="ellipse">
            <a:avLst/>
          </a:prstGeom>
          <a:solidFill>
            <a:schemeClr val="accent3"/>
          </a:solidFill>
          <a:ln w="12700">
            <a:solidFill>
              <a:schemeClr val="accent3"/>
            </a:solidFill>
            <a:prstDash val="solid"/>
          </a:ln>
        </p:spPr>
      </p:sp>
      <p:pic>
        <p:nvPicPr>
          <p:cNvPr id="5" name="part 4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3"/>
          <p:cNvSpPr txBox="1"/>
          <p:nvPr/>
        </p:nvSpPr>
        <p:spPr>
          <a:xfrm>
            <a:off x="548640" y="1234440"/>
            <a:ext cx="9601200" cy="438912"/>
          </a:xfrm>
          <a:prstGeom prst="rect">
            <a:avLst/>
          </a:prstGeom>
          <a:noFill/>
          <a:ln/>
        </p:spPr>
        <p:txBody>
          <a:bodyPr wrap="square" lIns="0" tIns="0" rIns="0" bIns="0" rtlCol="0" anchor="t"/>
          <a:lstStyle/>
          <a:p>
            <a:pPr indent="0" marL="0">
              <a:buNone/>
            </a:pPr>
            <a:r>
              <a:rPr lang="en-US" sz="2200" b="1" i="1" dirty="0">
                <a:solidFill>
                  <a:schemeClr val="accent2"/>
                </a:solidFill>
              </a:rPr>
              <a:t>Defensible and reproducible.</a:t>
            </a:r>
            <a:endParaRPr lang="en-US" sz="2200" dirty="0"/>
          </a:p>
        </p:txBody>
      </p:sp>
      <p:sp>
        <p:nvSpPr>
          <p:cNvPr id="7" name="Text 4"/>
          <p:cNvSpPr txBox="1"/>
          <p:nvPr/>
        </p:nvSpPr>
        <p:spPr>
          <a:xfrm>
            <a:off x="548640" y="1700784"/>
            <a:ext cx="10515600" cy="292608"/>
          </a:xfrm>
          <a:prstGeom prst="rect">
            <a:avLst/>
          </a:prstGeom>
          <a:noFill/>
          <a:ln/>
        </p:spPr>
        <p:txBody>
          <a:bodyPr wrap="square" lIns="0" tIns="0" rIns="0" bIns="0" rtlCol="0" anchor="t"/>
          <a:lstStyle/>
          <a:p>
            <a:pPr indent="0" marL="0">
              <a:buNone/>
            </a:pPr>
            <a:r>
              <a:rPr lang="en-US" sz="1400" i="1" dirty="0">
                <a:solidFill>
                  <a:schemeClr val="accent5"/>
                </a:solidFill>
              </a:rPr>
              <a:t>Building on Part 3: you can gather the evidence and reach a recommendation.</a:t>
            </a:r>
            <a:endParaRPr lang="en-US" sz="1400" dirty="0"/>
          </a:p>
        </p:txBody>
      </p:sp>
      <p:sp>
        <p:nvSpPr>
          <p:cNvPr id="8" name="Text 5"/>
          <p:cNvSpPr txBox="1"/>
          <p:nvPr/>
        </p:nvSpPr>
        <p:spPr>
          <a:xfrm>
            <a:off x="548640" y="2029968"/>
            <a:ext cx="10789920" cy="731520"/>
          </a:xfrm>
          <a:prstGeom prst="rect">
            <a:avLst/>
          </a:prstGeom>
          <a:noFill/>
          <a:ln/>
        </p:spPr>
        <p:txBody>
          <a:bodyPr wrap="square" lIns="0" tIns="0" rIns="0" bIns="0" rtlCol="0" anchor="t"/>
          <a:lstStyle/>
          <a:p>
            <a:pPr indent="0" marL="0">
              <a:buNone/>
            </a:pPr>
            <a:r>
              <a:rPr lang="en-US" sz="1700" dirty="0">
                <a:solidFill>
                  <a:schemeClr val="bg1"/>
                </a:solidFill>
              </a:rPr>
              <a:t>A decision is only as strong as its record. In plain terms: if it isn't written down, it didn't happen — then put it all together in a cross-team case.</a:t>
            </a:r>
            <a:endParaRPr lang="en-US" sz="1700" dirty="0"/>
          </a:p>
        </p:txBody>
      </p:sp>
      <p:sp>
        <p:nvSpPr>
          <p:cNvPr id="9" name="In this part"/>
          <p:cNvSpPr/>
          <p:nvPr/>
        </p:nvSpPr>
        <p:spPr>
          <a:xfrm>
            <a:off x="548640" y="2880360"/>
            <a:ext cx="2651760" cy="2743200"/>
          </a:xfrm>
          <a:prstGeom prst="roundRect">
            <a:avLst>
              <a:gd name="adj" fmla="val 4138"/>
            </a:avLst>
          </a:prstGeom>
          <a:solidFill>
            <a:schemeClr val="tx1"/>
          </a:solidFill>
          <a:ln w="12700">
            <a:solidFill>
              <a:schemeClr val="accent4"/>
            </a:solidFill>
            <a:prstDash val="solid"/>
          </a:ln>
        </p:spPr>
      </p:sp>
      <p:sp>
        <p:nvSpPr>
          <p:cNvPr id="10" name="Text 7"/>
          <p:cNvSpPr txBox="1"/>
          <p:nvPr/>
        </p:nvSpPr>
        <p:spPr>
          <a:xfrm>
            <a:off x="731520"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8"/>
          <p:cNvSpPr txBox="1"/>
          <p:nvPr/>
        </p:nvSpPr>
        <p:spPr>
          <a:xfrm>
            <a:off x="731520" y="3337560"/>
            <a:ext cx="2331720" cy="2194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The defensible case note</a:t>
            </a:r>
            <a:endParaRPr lang="en-US" sz="1400" dirty="0"/>
          </a:p>
          <a:p>
            <a:pPr marL="342900" indent="-342900">
              <a:spcAft>
                <a:spcPts val="400"/>
              </a:spcAft>
              <a:buSzPct val="100000"/>
              <a:buChar char="•"/>
            </a:pPr>
            <a:r>
              <a:rPr lang="en-US" sz="1400" dirty="0">
                <a:solidFill>
                  <a:schemeClr val="bg1"/>
                </a:solidFill>
              </a:rPr>
              <a:t>Three teams, one risk picture</a:t>
            </a:r>
            <a:endParaRPr lang="en-US" sz="1400" dirty="0"/>
          </a:p>
          <a:p>
            <a:pPr marL="342900" indent="-342900">
              <a:spcAft>
                <a:spcPts val="400"/>
              </a:spcAft>
              <a:buSzPct val="100000"/>
              <a:buChar char="•"/>
            </a:pPr>
            <a:r>
              <a:rPr lang="en-US" sz="1400" dirty="0">
                <a:solidFill>
                  <a:schemeClr val="bg1"/>
                </a:solidFill>
              </a:rPr>
              <a:t>Answer reveal and team handoffs</a:t>
            </a:r>
            <a:endParaRPr lang="en-US" sz="1400" dirty="0"/>
          </a:p>
        </p:txBody>
      </p:sp>
      <p:sp>
        <p:nvSpPr>
          <p:cNvPr id="12" name="Why it matters"/>
          <p:cNvSpPr/>
          <p:nvPr/>
        </p:nvSpPr>
        <p:spPr>
          <a:xfrm>
            <a:off x="3346704" y="2880360"/>
            <a:ext cx="2651760" cy="2743200"/>
          </a:xfrm>
          <a:prstGeom prst="roundRect">
            <a:avLst>
              <a:gd name="adj" fmla="val 4138"/>
            </a:avLst>
          </a:prstGeom>
          <a:solidFill>
            <a:schemeClr val="tx1"/>
          </a:solidFill>
          <a:ln w="12700">
            <a:solidFill>
              <a:schemeClr val="accent4"/>
            </a:solidFill>
            <a:prstDash val="solid"/>
          </a:ln>
        </p:spPr>
      </p:sp>
      <p:sp>
        <p:nvSpPr>
          <p:cNvPr id="13" name="Text 10"/>
          <p:cNvSpPr txBox="1"/>
          <p:nvPr/>
        </p:nvSpPr>
        <p:spPr>
          <a:xfrm>
            <a:off x="3529584"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14" name="Text 11"/>
          <p:cNvSpPr txBox="1"/>
          <p:nvPr/>
        </p:nvSpPr>
        <p:spPr>
          <a:xfrm>
            <a:off x="3529584"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Reviewers, auditors and regulators judge a decision from the record alone. A sound decision with a weak record is still exposed.</a:t>
            </a:r>
            <a:endParaRPr lang="en-US" sz="1400" dirty="0"/>
          </a:p>
        </p:txBody>
      </p:sp>
      <p:sp>
        <p:nvSpPr>
          <p:cNvPr id="15" name="What it means for you"/>
          <p:cNvSpPr/>
          <p:nvPr/>
        </p:nvSpPr>
        <p:spPr>
          <a:xfrm>
            <a:off x="6144768" y="2880360"/>
            <a:ext cx="2651760" cy="2743200"/>
          </a:xfrm>
          <a:prstGeom prst="roundRect">
            <a:avLst>
              <a:gd name="adj" fmla="val 4138"/>
            </a:avLst>
          </a:prstGeom>
          <a:solidFill>
            <a:schemeClr val="tx1"/>
          </a:solidFill>
          <a:ln w="12700">
            <a:solidFill>
              <a:schemeClr val="accent4"/>
            </a:solidFill>
            <a:prstDash val="solid"/>
          </a:ln>
        </p:spPr>
      </p:sp>
      <p:sp>
        <p:nvSpPr>
          <p:cNvPr id="16" name="Text 13"/>
          <p:cNvSpPr txBox="1"/>
          <p:nvPr/>
        </p:nvSpPr>
        <p:spPr>
          <a:xfrm>
            <a:off x="6327648"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17" name="Text 14"/>
          <p:cNvSpPr txBox="1"/>
          <p:nvPr/>
        </p:nvSpPr>
        <p:spPr>
          <a:xfrm>
            <a:off x="6327648" y="3337560"/>
            <a:ext cx="2286000" cy="2194560"/>
          </a:xfrm>
          <a:prstGeom prst="rect">
            <a:avLst/>
          </a:prstGeom>
          <a:noFill/>
          <a:ln/>
        </p:spPr>
        <p:txBody>
          <a:bodyPr wrap="square" lIns="0" tIns="0" rIns="0" bIns="0" rtlCol="0" anchor="t"/>
          <a:lstStyle/>
          <a:p>
            <a:pPr indent="0" marL="0">
              <a:buNone/>
            </a:pPr>
            <a:r>
              <a:rPr lang="en-US" sz="1400" dirty="0">
                <a:solidFill>
                  <a:schemeClr val="bg1"/>
                </a:solidFill>
              </a:rPr>
              <a:t>Case note in house format, 4-eye sign-off and L2 escalation — plus a TM referral (UAR / MLRO) or EDR trigger where activity or ownership has changed.</a:t>
            </a:r>
            <a:endParaRPr lang="en-US" sz="1400" dirty="0"/>
          </a:p>
        </p:txBody>
      </p:sp>
      <p:sp>
        <p:nvSpPr>
          <p:cNvPr id="18" name="Ask yourself"/>
          <p:cNvSpPr/>
          <p:nvPr/>
        </p:nvSpPr>
        <p:spPr>
          <a:xfrm>
            <a:off x="8942832" y="2880360"/>
            <a:ext cx="2651760" cy="2743200"/>
          </a:xfrm>
          <a:prstGeom prst="roundRect">
            <a:avLst>
              <a:gd name="adj" fmla="val 4138"/>
            </a:avLst>
          </a:prstGeom>
          <a:solidFill>
            <a:schemeClr val="tx1"/>
          </a:solidFill>
          <a:ln w="12700">
            <a:solidFill>
              <a:schemeClr val="accent4"/>
            </a:solidFill>
            <a:prstDash val="solid"/>
          </a:ln>
        </p:spPr>
      </p:sp>
      <p:sp>
        <p:nvSpPr>
          <p:cNvPr id="19" name="Text 16"/>
          <p:cNvSpPr txBox="1"/>
          <p:nvPr/>
        </p:nvSpPr>
        <p:spPr>
          <a:xfrm>
            <a:off x="9125712" y="3017520"/>
            <a:ext cx="228600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20" name="Text 17"/>
          <p:cNvSpPr txBox="1"/>
          <p:nvPr/>
        </p:nvSpPr>
        <p:spPr>
          <a:xfrm>
            <a:off x="9125712" y="3337560"/>
            <a:ext cx="2286000" cy="2194560"/>
          </a:xfrm>
          <a:prstGeom prst="rect">
            <a:avLst/>
          </a:prstGeom>
          <a:noFill/>
          <a:ln/>
        </p:spPr>
        <p:txBody>
          <a:bodyPr wrap="square" lIns="0" tIns="0" rIns="0" bIns="0" rtlCol="0" anchor="t"/>
          <a:lstStyle/>
          <a:p>
            <a:pPr indent="0" marL="0">
              <a:buNone/>
            </a:pPr>
            <a:r>
              <a:rPr lang="en-US" sz="1600" i="1" dirty="0">
                <a:solidFill>
                  <a:schemeClr val="bg1"/>
                </a:solidFill>
              </a:rPr>
              <a:t>Could someone who has never seen this case defend my decision from the record alone?</a:t>
            </a:r>
            <a:endParaRPr lang="en-US" sz="1600" dirty="0"/>
          </a:p>
        </p:txBody>
      </p:sp>
      <p:sp>
        <p:nvSpPr>
          <p:cNvPr id="21" name="progress 1"/>
          <p:cNvSpPr/>
          <p:nvPr/>
        </p:nvSpPr>
        <p:spPr>
          <a:xfrm>
            <a:off x="548640" y="5833872"/>
            <a:ext cx="2651760" cy="384048"/>
          </a:xfrm>
          <a:prstGeom prst="roundRect">
            <a:avLst>
              <a:gd name="adj" fmla="val 50000"/>
            </a:avLst>
          </a:prstGeom>
          <a:solidFill>
            <a:schemeClr val="tx2"/>
          </a:solidFill>
          <a:ln w="12700">
            <a:solidFill>
              <a:schemeClr val="accent4"/>
            </a:solidFill>
            <a:prstDash val="solid"/>
          </a:ln>
        </p:spPr>
      </p:sp>
      <p:sp>
        <p:nvSpPr>
          <p:cNvPr id="22" name="Text 19"/>
          <p:cNvSpPr txBox="1"/>
          <p:nvPr/>
        </p:nvSpPr>
        <p:spPr>
          <a:xfrm>
            <a:off x="548640"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3" name="progress 2"/>
          <p:cNvSpPr/>
          <p:nvPr/>
        </p:nvSpPr>
        <p:spPr>
          <a:xfrm>
            <a:off x="3346704" y="5833872"/>
            <a:ext cx="2651760" cy="384048"/>
          </a:xfrm>
          <a:prstGeom prst="roundRect">
            <a:avLst>
              <a:gd name="adj" fmla="val 50000"/>
            </a:avLst>
          </a:prstGeom>
          <a:solidFill>
            <a:schemeClr val="tx2"/>
          </a:solidFill>
          <a:ln w="12700">
            <a:solidFill>
              <a:schemeClr val="accent4"/>
            </a:solidFill>
            <a:prstDash val="solid"/>
          </a:ln>
        </p:spPr>
      </p:sp>
      <p:sp>
        <p:nvSpPr>
          <p:cNvPr id="24" name="Text 21"/>
          <p:cNvSpPr txBox="1"/>
          <p:nvPr/>
        </p:nvSpPr>
        <p:spPr>
          <a:xfrm>
            <a:off x="3346704"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5" name="progress 3"/>
          <p:cNvSpPr/>
          <p:nvPr/>
        </p:nvSpPr>
        <p:spPr>
          <a:xfrm>
            <a:off x="6144768" y="5833872"/>
            <a:ext cx="2651760" cy="384048"/>
          </a:xfrm>
          <a:prstGeom prst="roundRect">
            <a:avLst>
              <a:gd name="adj" fmla="val 50000"/>
            </a:avLst>
          </a:prstGeom>
          <a:solidFill>
            <a:schemeClr val="tx2"/>
          </a:solidFill>
          <a:ln w="12700">
            <a:solidFill>
              <a:schemeClr val="accent4"/>
            </a:solidFill>
            <a:prstDash val="solid"/>
          </a:ln>
        </p:spPr>
      </p:sp>
      <p:sp>
        <p:nvSpPr>
          <p:cNvPr id="26" name="Text 23"/>
          <p:cNvSpPr txBox="1"/>
          <p:nvPr/>
        </p:nvSpPr>
        <p:spPr>
          <a:xfrm>
            <a:off x="6144768" y="5833872"/>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7" name="progress 4"/>
          <p:cNvSpPr/>
          <p:nvPr/>
        </p:nvSpPr>
        <p:spPr>
          <a:xfrm>
            <a:off x="8942832" y="5833872"/>
            <a:ext cx="2651760" cy="384048"/>
          </a:xfrm>
          <a:prstGeom prst="roundRect">
            <a:avLst>
              <a:gd name="adj" fmla="val 50000"/>
            </a:avLst>
          </a:prstGeom>
          <a:solidFill>
            <a:schemeClr val="accent3"/>
          </a:solidFill>
          <a:ln w="12700">
            <a:solidFill>
              <a:schemeClr val="accent3"/>
            </a:solidFill>
            <a:prstDash val="solid"/>
          </a:ln>
        </p:spPr>
      </p:sp>
      <p:sp>
        <p:nvSpPr>
          <p:cNvPr id="28" name="Text 25"/>
          <p:cNvSpPr txBox="1"/>
          <p:nvPr/>
        </p:nvSpPr>
        <p:spPr>
          <a:xfrm>
            <a:off x="8942832" y="5833872"/>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4  Record the decision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DEFENSIBLE CASE NOTE — MINIMUM STANDARD</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The defensible case note</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If it isn't written down, it didn't happen.</a:t>
            </a:r>
            <a:endParaRPr lang="en-US" sz="1700" dirty="0"/>
          </a:p>
        </p:txBody>
      </p:sp>
      <p:sp>
        <p:nvSpPr>
          <p:cNvPr id="5" name="Alert"/>
          <p:cNvSpPr/>
          <p:nvPr/>
        </p:nvSpPr>
        <p:spPr>
          <a:xfrm>
            <a:off x="548640" y="1554480"/>
            <a:ext cx="5440680" cy="1097280"/>
          </a:xfrm>
          <a:prstGeom prst="roundRect">
            <a:avLst>
              <a:gd name="adj" fmla="val 10000"/>
            </a:avLst>
          </a:prstGeom>
          <a:solidFill>
            <a:schemeClr val="bg2"/>
          </a:solidFill>
          <a:ln w="12700">
            <a:solidFill>
              <a:schemeClr val="bg2"/>
            </a:solidFill>
            <a:prstDash val="solid"/>
          </a:ln>
        </p:spPr>
      </p:sp>
      <p:sp>
        <p:nvSpPr>
          <p:cNvPr id="6" name="Shape 4"/>
          <p:cNvSpPr/>
          <p:nvPr/>
        </p:nvSpPr>
        <p:spPr>
          <a:xfrm>
            <a:off x="749808" y="1828800"/>
            <a:ext cx="548640" cy="548640"/>
          </a:xfrm>
          <a:prstGeom prst="ellipse">
            <a:avLst/>
          </a:prstGeom>
          <a:solidFill>
            <a:schemeClr val="tx1"/>
          </a:solidFill>
          <a:ln w="12700">
            <a:solidFill>
              <a:schemeClr val="tx1"/>
            </a:solidFill>
            <a:prstDash val="solid"/>
          </a:ln>
        </p:spPr>
      </p:sp>
      <p:sp>
        <p:nvSpPr>
          <p:cNvPr id="7" name="Text 5"/>
          <p:cNvSpPr txBox="1"/>
          <p:nvPr/>
        </p:nvSpPr>
        <p:spPr>
          <a:xfrm>
            <a:off x="749808" y="1828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8" name="Text 6"/>
          <p:cNvSpPr txBox="1"/>
          <p:nvPr/>
        </p:nvSpPr>
        <p:spPr>
          <a:xfrm>
            <a:off x="1463040" y="1645920"/>
            <a:ext cx="4343400" cy="310896"/>
          </a:xfrm>
          <a:prstGeom prst="rect">
            <a:avLst/>
          </a:prstGeom>
          <a:noFill/>
          <a:ln/>
        </p:spPr>
        <p:txBody>
          <a:bodyPr wrap="square" lIns="0" tIns="0" rIns="0" bIns="0" rtlCol="0" anchor="t"/>
          <a:lstStyle/>
          <a:p>
            <a:pPr indent="0" marL="0">
              <a:buNone/>
            </a:pPr>
            <a:r>
              <a:rPr lang="en-US" sz="1600" b="1" dirty="0">
                <a:solidFill>
                  <a:schemeClr val="tx1"/>
                </a:solidFill>
              </a:rPr>
              <a:t>Alert</a:t>
            </a:r>
            <a:endParaRPr lang="en-US" sz="1600" dirty="0"/>
          </a:p>
        </p:txBody>
      </p:sp>
      <p:sp>
        <p:nvSpPr>
          <p:cNvPr id="9" name="Text 7"/>
          <p:cNvSpPr txBox="1"/>
          <p:nvPr/>
        </p:nvSpPr>
        <p:spPr>
          <a:xfrm>
            <a:off x="1463040" y="197510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Beneficiary “Daniel ABC” matched [list / programme]; match unresolved due to missing identifiers.</a:t>
            </a:r>
            <a:endParaRPr lang="en-US" sz="1400" dirty="0"/>
          </a:p>
        </p:txBody>
      </p:sp>
      <p:sp>
        <p:nvSpPr>
          <p:cNvPr id="10" name="Merchant position"/>
          <p:cNvSpPr/>
          <p:nvPr/>
        </p:nvSpPr>
        <p:spPr>
          <a:xfrm>
            <a:off x="548640" y="2743200"/>
            <a:ext cx="5440680" cy="1097280"/>
          </a:xfrm>
          <a:prstGeom prst="roundRect">
            <a:avLst>
              <a:gd name="adj" fmla="val 10000"/>
            </a:avLst>
          </a:prstGeom>
          <a:solidFill>
            <a:schemeClr val="bg2"/>
          </a:solidFill>
          <a:ln w="12700">
            <a:solidFill>
              <a:schemeClr val="bg2"/>
            </a:solidFill>
            <a:prstDash val="solid"/>
          </a:ln>
        </p:spPr>
      </p:sp>
      <p:sp>
        <p:nvSpPr>
          <p:cNvPr id="11" name="Shape 9"/>
          <p:cNvSpPr/>
          <p:nvPr/>
        </p:nvSpPr>
        <p:spPr>
          <a:xfrm>
            <a:off x="749808" y="3017520"/>
            <a:ext cx="548640" cy="548640"/>
          </a:xfrm>
          <a:prstGeom prst="ellipse">
            <a:avLst/>
          </a:prstGeom>
          <a:solidFill>
            <a:schemeClr val="tx1"/>
          </a:solidFill>
          <a:ln w="12700">
            <a:solidFill>
              <a:schemeClr val="tx1"/>
            </a:solidFill>
            <a:prstDash val="solid"/>
          </a:ln>
        </p:spPr>
      </p:sp>
      <p:sp>
        <p:nvSpPr>
          <p:cNvPr id="12" name="Text 10"/>
          <p:cNvSpPr txBox="1"/>
          <p:nvPr/>
        </p:nvSpPr>
        <p:spPr>
          <a:xfrm>
            <a:off x="749808" y="301752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11"/>
          <p:cNvSpPr txBox="1"/>
          <p:nvPr/>
        </p:nvSpPr>
        <p:spPr>
          <a:xfrm>
            <a:off x="1463040" y="2834640"/>
            <a:ext cx="4343400" cy="310896"/>
          </a:xfrm>
          <a:prstGeom prst="rect">
            <a:avLst/>
          </a:prstGeom>
          <a:noFill/>
          <a:ln/>
        </p:spPr>
        <p:txBody>
          <a:bodyPr wrap="square" lIns="0" tIns="0" rIns="0" bIns="0" rtlCol="0" anchor="t"/>
          <a:lstStyle/>
          <a:p>
            <a:pPr indent="0" marL="0">
              <a:buNone/>
            </a:pPr>
            <a:r>
              <a:rPr lang="en-US" sz="1600" b="1" dirty="0">
                <a:solidFill>
                  <a:schemeClr val="tx1"/>
                </a:solidFill>
              </a:rPr>
              <a:t>Merchant position</a:t>
            </a:r>
            <a:endParaRPr lang="en-US" sz="1600" dirty="0"/>
          </a:p>
        </p:txBody>
      </p:sp>
      <p:sp>
        <p:nvSpPr>
          <p:cNvPr id="14" name="Text 12"/>
          <p:cNvSpPr txBox="1"/>
          <p:nvPr/>
        </p:nvSpPr>
        <p:spPr>
          <a:xfrm>
            <a:off x="1463040" y="316382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Merchant was comfortable processing the payment but provided no further reliable identifiers.</a:t>
            </a:r>
            <a:endParaRPr lang="en-US" sz="1400" dirty="0"/>
          </a:p>
        </p:txBody>
      </p:sp>
      <p:sp>
        <p:nvSpPr>
          <p:cNvPr id="15" name="Checks completed"/>
          <p:cNvSpPr/>
          <p:nvPr/>
        </p:nvSpPr>
        <p:spPr>
          <a:xfrm>
            <a:off x="548640" y="3931920"/>
            <a:ext cx="5440680" cy="1097280"/>
          </a:xfrm>
          <a:prstGeom prst="roundRect">
            <a:avLst>
              <a:gd name="adj" fmla="val 10000"/>
            </a:avLst>
          </a:prstGeom>
          <a:solidFill>
            <a:schemeClr val="bg2"/>
          </a:solidFill>
          <a:ln w="12700">
            <a:solidFill>
              <a:schemeClr val="bg2"/>
            </a:solidFill>
            <a:prstDash val="solid"/>
          </a:ln>
        </p:spPr>
      </p:sp>
      <p:sp>
        <p:nvSpPr>
          <p:cNvPr id="16" name="Shape 14"/>
          <p:cNvSpPr/>
          <p:nvPr/>
        </p:nvSpPr>
        <p:spPr>
          <a:xfrm>
            <a:off x="749808" y="4206240"/>
            <a:ext cx="548640" cy="548640"/>
          </a:xfrm>
          <a:prstGeom prst="ellipse">
            <a:avLst/>
          </a:prstGeom>
          <a:solidFill>
            <a:schemeClr val="tx1"/>
          </a:solidFill>
          <a:ln w="12700">
            <a:solidFill>
              <a:schemeClr val="tx1"/>
            </a:solidFill>
            <a:prstDash val="solid"/>
          </a:ln>
        </p:spPr>
      </p:sp>
      <p:sp>
        <p:nvSpPr>
          <p:cNvPr id="17" name="Text 15"/>
          <p:cNvSpPr txBox="1"/>
          <p:nvPr/>
        </p:nvSpPr>
        <p:spPr>
          <a:xfrm>
            <a:off x="749808" y="42062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8" name="Text 16"/>
          <p:cNvSpPr txBox="1"/>
          <p:nvPr/>
        </p:nvSpPr>
        <p:spPr>
          <a:xfrm>
            <a:off x="1463040" y="4023360"/>
            <a:ext cx="4343400" cy="310896"/>
          </a:xfrm>
          <a:prstGeom prst="rect">
            <a:avLst/>
          </a:prstGeom>
          <a:noFill/>
          <a:ln/>
        </p:spPr>
        <p:txBody>
          <a:bodyPr wrap="square" lIns="0" tIns="0" rIns="0" bIns="0" rtlCol="0" anchor="t"/>
          <a:lstStyle/>
          <a:p>
            <a:pPr indent="0" marL="0">
              <a:buNone/>
            </a:pPr>
            <a:r>
              <a:rPr lang="en-US" sz="1600" b="1" dirty="0">
                <a:solidFill>
                  <a:schemeClr val="tx1"/>
                </a:solidFill>
              </a:rPr>
              <a:t>Checks completed</a:t>
            </a:r>
            <a:endParaRPr lang="en-US" sz="1600" dirty="0"/>
          </a:p>
        </p:txBody>
      </p:sp>
      <p:sp>
        <p:nvSpPr>
          <p:cNvPr id="19" name="Text 17"/>
          <p:cNvSpPr txBox="1"/>
          <p:nvPr/>
        </p:nvSpPr>
        <p:spPr>
          <a:xfrm>
            <a:off x="1463040" y="435254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Name and alias comparison, account and payment data, linked-party review; RFI issued and assessed.</a:t>
            </a:r>
            <a:endParaRPr lang="en-US" sz="1400" dirty="0"/>
          </a:p>
        </p:txBody>
      </p:sp>
      <p:sp>
        <p:nvSpPr>
          <p:cNvPr id="20" name="Decision"/>
          <p:cNvSpPr/>
          <p:nvPr/>
        </p:nvSpPr>
        <p:spPr>
          <a:xfrm>
            <a:off x="6172200" y="1554480"/>
            <a:ext cx="5440680" cy="1097280"/>
          </a:xfrm>
          <a:prstGeom prst="roundRect">
            <a:avLst>
              <a:gd name="adj" fmla="val 10000"/>
            </a:avLst>
          </a:prstGeom>
          <a:solidFill>
            <a:schemeClr val="bg2"/>
          </a:solidFill>
          <a:ln w="12700">
            <a:solidFill>
              <a:schemeClr val="bg2"/>
            </a:solidFill>
            <a:prstDash val="solid"/>
          </a:ln>
        </p:spPr>
      </p:sp>
      <p:sp>
        <p:nvSpPr>
          <p:cNvPr id="21" name="Shape 19"/>
          <p:cNvSpPr/>
          <p:nvPr/>
        </p:nvSpPr>
        <p:spPr>
          <a:xfrm>
            <a:off x="6373368" y="1828800"/>
            <a:ext cx="548640" cy="548640"/>
          </a:xfrm>
          <a:prstGeom prst="ellipse">
            <a:avLst/>
          </a:prstGeom>
          <a:solidFill>
            <a:schemeClr val="tx1"/>
          </a:solidFill>
          <a:ln w="12700">
            <a:solidFill>
              <a:schemeClr val="tx1"/>
            </a:solidFill>
            <a:prstDash val="solid"/>
          </a:ln>
        </p:spPr>
      </p:sp>
      <p:sp>
        <p:nvSpPr>
          <p:cNvPr id="22" name="Text 20"/>
          <p:cNvSpPr txBox="1"/>
          <p:nvPr/>
        </p:nvSpPr>
        <p:spPr>
          <a:xfrm>
            <a:off x="6373368" y="1828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3" name="Text 21"/>
          <p:cNvSpPr txBox="1"/>
          <p:nvPr/>
        </p:nvSpPr>
        <p:spPr>
          <a:xfrm>
            <a:off x="7086600" y="1645920"/>
            <a:ext cx="4343400" cy="310896"/>
          </a:xfrm>
          <a:prstGeom prst="rect">
            <a:avLst/>
          </a:prstGeom>
          <a:noFill/>
          <a:ln/>
        </p:spPr>
        <p:txBody>
          <a:bodyPr wrap="square" lIns="0" tIns="0" rIns="0" bIns="0" rtlCol="0" anchor="t"/>
          <a:lstStyle/>
          <a:p>
            <a:pPr indent="0" marL="0">
              <a:buNone/>
            </a:pPr>
            <a:r>
              <a:rPr lang="en-US" sz="1600" b="1" dirty="0">
                <a:solidFill>
                  <a:schemeClr val="tx1"/>
                </a:solidFill>
              </a:rPr>
              <a:t>Decision</a:t>
            </a:r>
            <a:endParaRPr lang="en-US" sz="1600" dirty="0"/>
          </a:p>
        </p:txBody>
      </p:sp>
      <p:sp>
        <p:nvSpPr>
          <p:cNvPr id="24" name="Text 22"/>
          <p:cNvSpPr txBox="1"/>
          <p:nvPr/>
        </p:nvSpPr>
        <p:spPr>
          <a:xfrm>
            <a:off x="7086600" y="197510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Not cleared on merchant assurance; held; rejected per procedure; escalated to L2.</a:t>
            </a:r>
            <a:endParaRPr lang="en-US" sz="1400" dirty="0"/>
          </a:p>
        </p:txBody>
      </p:sp>
      <p:sp>
        <p:nvSpPr>
          <p:cNvPr id="25" name="Rationale"/>
          <p:cNvSpPr/>
          <p:nvPr/>
        </p:nvSpPr>
        <p:spPr>
          <a:xfrm>
            <a:off x="6172200" y="2743200"/>
            <a:ext cx="5440680" cy="1097280"/>
          </a:xfrm>
          <a:prstGeom prst="roundRect">
            <a:avLst>
              <a:gd name="adj" fmla="val 10000"/>
            </a:avLst>
          </a:prstGeom>
          <a:solidFill>
            <a:schemeClr val="bg2"/>
          </a:solidFill>
          <a:ln w="12700">
            <a:solidFill>
              <a:schemeClr val="bg2"/>
            </a:solidFill>
            <a:prstDash val="solid"/>
          </a:ln>
        </p:spPr>
      </p:sp>
      <p:sp>
        <p:nvSpPr>
          <p:cNvPr id="26" name="Shape 24"/>
          <p:cNvSpPr/>
          <p:nvPr/>
        </p:nvSpPr>
        <p:spPr>
          <a:xfrm>
            <a:off x="6373368" y="3017520"/>
            <a:ext cx="548640" cy="548640"/>
          </a:xfrm>
          <a:prstGeom prst="ellipse">
            <a:avLst/>
          </a:prstGeom>
          <a:solidFill>
            <a:schemeClr val="tx1"/>
          </a:solidFill>
          <a:ln w="12700">
            <a:solidFill>
              <a:schemeClr val="tx1"/>
            </a:solidFill>
            <a:prstDash val="solid"/>
          </a:ln>
        </p:spPr>
      </p:sp>
      <p:sp>
        <p:nvSpPr>
          <p:cNvPr id="27" name="Text 25"/>
          <p:cNvSpPr txBox="1"/>
          <p:nvPr/>
        </p:nvSpPr>
        <p:spPr>
          <a:xfrm>
            <a:off x="6373368" y="301752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8" name="Text 26"/>
          <p:cNvSpPr txBox="1"/>
          <p:nvPr/>
        </p:nvSpPr>
        <p:spPr>
          <a:xfrm>
            <a:off x="7086600" y="2834640"/>
            <a:ext cx="4343400" cy="310896"/>
          </a:xfrm>
          <a:prstGeom prst="rect">
            <a:avLst/>
          </a:prstGeom>
          <a:noFill/>
          <a:ln/>
        </p:spPr>
        <p:txBody>
          <a:bodyPr wrap="square" lIns="0" tIns="0" rIns="0" bIns="0" rtlCol="0" anchor="t"/>
          <a:lstStyle/>
          <a:p>
            <a:pPr indent="0" marL="0">
              <a:buNone/>
            </a:pPr>
            <a:r>
              <a:rPr lang="en-US" sz="1600" b="1" dirty="0">
                <a:solidFill>
                  <a:schemeClr val="tx1"/>
                </a:solidFill>
              </a:rPr>
              <a:t>Rationale</a:t>
            </a:r>
            <a:endParaRPr lang="en-US" sz="1600" dirty="0"/>
          </a:p>
        </p:txBody>
      </p:sp>
      <p:sp>
        <p:nvSpPr>
          <p:cNvPr id="29" name="Text 27"/>
          <p:cNvSpPr txBox="1"/>
          <p:nvPr/>
        </p:nvSpPr>
        <p:spPr>
          <a:xfrm>
            <a:off x="7086600" y="316382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Unresolved material sanctions exposure; insufficient evidence to conclude a false positive.</a:t>
            </a:r>
            <a:endParaRPr lang="en-US" sz="1400" dirty="0"/>
          </a:p>
        </p:txBody>
      </p:sp>
      <p:sp>
        <p:nvSpPr>
          <p:cNvPr id="30" name="Sign-off"/>
          <p:cNvSpPr/>
          <p:nvPr/>
        </p:nvSpPr>
        <p:spPr>
          <a:xfrm>
            <a:off x="6172200" y="3931920"/>
            <a:ext cx="5440680" cy="1097280"/>
          </a:xfrm>
          <a:prstGeom prst="roundRect">
            <a:avLst>
              <a:gd name="adj" fmla="val 10000"/>
            </a:avLst>
          </a:prstGeom>
          <a:solidFill>
            <a:schemeClr val="bg2"/>
          </a:solidFill>
          <a:ln w="12700">
            <a:solidFill>
              <a:schemeClr val="bg2"/>
            </a:solidFill>
            <a:prstDash val="solid"/>
          </a:ln>
        </p:spPr>
      </p:sp>
      <p:sp>
        <p:nvSpPr>
          <p:cNvPr id="31" name="Shape 29"/>
          <p:cNvSpPr/>
          <p:nvPr/>
        </p:nvSpPr>
        <p:spPr>
          <a:xfrm>
            <a:off x="6373368" y="4206240"/>
            <a:ext cx="548640" cy="548640"/>
          </a:xfrm>
          <a:prstGeom prst="ellipse">
            <a:avLst/>
          </a:prstGeom>
          <a:solidFill>
            <a:schemeClr val="tx1"/>
          </a:solidFill>
          <a:ln w="12700">
            <a:solidFill>
              <a:schemeClr val="tx1"/>
            </a:solidFill>
            <a:prstDash val="solid"/>
          </a:ln>
        </p:spPr>
      </p:sp>
      <p:sp>
        <p:nvSpPr>
          <p:cNvPr id="32" name="Text 30"/>
          <p:cNvSpPr txBox="1"/>
          <p:nvPr/>
        </p:nvSpPr>
        <p:spPr>
          <a:xfrm>
            <a:off x="6373368" y="42062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33" name="Text 31"/>
          <p:cNvSpPr txBox="1"/>
          <p:nvPr/>
        </p:nvSpPr>
        <p:spPr>
          <a:xfrm>
            <a:off x="7086600" y="4023360"/>
            <a:ext cx="4343400" cy="310896"/>
          </a:xfrm>
          <a:prstGeom prst="rect">
            <a:avLst/>
          </a:prstGeom>
          <a:noFill/>
          <a:ln/>
        </p:spPr>
        <p:txBody>
          <a:bodyPr wrap="square" lIns="0" tIns="0" rIns="0" bIns="0" rtlCol="0" anchor="t"/>
          <a:lstStyle/>
          <a:p>
            <a:pPr indent="0" marL="0">
              <a:buNone/>
            </a:pPr>
            <a:r>
              <a:rPr lang="en-US" sz="1600" b="1" dirty="0">
                <a:solidFill>
                  <a:schemeClr val="tx1"/>
                </a:solidFill>
              </a:rPr>
              <a:t>Sign-off</a:t>
            </a:r>
            <a:endParaRPr lang="en-US" sz="1600" dirty="0"/>
          </a:p>
        </p:txBody>
      </p:sp>
      <p:sp>
        <p:nvSpPr>
          <p:cNvPr id="34" name="Text 32"/>
          <p:cNvSpPr txBox="1"/>
          <p:nvPr/>
        </p:nvSpPr>
        <p:spPr>
          <a:xfrm>
            <a:off x="7086600" y="4352544"/>
            <a:ext cx="4343400" cy="621792"/>
          </a:xfrm>
          <a:prstGeom prst="rect">
            <a:avLst/>
          </a:prstGeom>
          <a:noFill/>
          <a:ln/>
        </p:spPr>
        <p:txBody>
          <a:bodyPr wrap="square" lIns="0" tIns="0" rIns="0" bIns="0" rtlCol="0" anchor="t"/>
          <a:lstStyle/>
          <a:p>
            <a:pPr indent="0" marL="0">
              <a:buNone/>
            </a:pPr>
            <a:r>
              <a:rPr lang="en-US" sz="1400" dirty="0">
                <a:solidFill>
                  <a:schemeClr val="accent6"/>
                </a:solidFill>
              </a:rPr>
              <a:t>Analyst, reviewer and Sanctions Compliance — names and timestamps.</a:t>
            </a:r>
            <a:endParaRPr lang="en-US" sz="1400" dirty="0"/>
          </a:p>
        </p:txBody>
      </p:sp>
      <p:sp>
        <p:nvSpPr>
          <p:cNvPr id="35"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36" name="Text 34"/>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37" name="Text 35"/>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If it is not in the record, it did not happen. Reviewers, auditors and OFSI judge the decision from the note alone.</a:t>
            </a:r>
            <a:endParaRPr lang="en-US" sz="1400" dirty="0"/>
          </a:p>
        </p:txBody>
      </p:sp>
      <p:sp>
        <p:nvSpPr>
          <p:cNvPr id="38"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9" name="Text 37"/>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40" name="Text 38"/>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Write every case note in this structure before you close or escalate. Your 4-eye reviewer should reach the same conclusion.</a:t>
            </a:r>
            <a:endParaRPr lang="en-US" sz="1400" dirty="0"/>
          </a:p>
        </p:txBody>
      </p:sp>
      <p:sp>
        <p:nvSpPr>
          <p:cNvPr id="41" name="Text 39"/>
          <p:cNvSpPr txBox="1"/>
          <p:nvPr/>
        </p:nvSpPr>
        <p:spPr>
          <a:xfrm>
            <a:off x="548640" y="6108192"/>
            <a:ext cx="11064240" cy="274320"/>
          </a:xfrm>
          <a:prstGeom prst="rect">
            <a:avLst/>
          </a:prstGeom>
          <a:noFill/>
          <a:ln/>
        </p:spPr>
        <p:txBody>
          <a:bodyPr wrap="square" lIns="0" tIns="0" rIns="0" bIns="0" rtlCol="0" anchor="b"/>
          <a:lstStyle/>
          <a:p>
            <a:pPr indent="0" marL="0">
              <a:buNone/>
            </a:pPr>
            <a:r>
              <a:rPr lang="en-US" sz="1000" i="1" dirty="0">
                <a:solidFill>
                  <a:schemeClr val="accent6"/>
                </a:solidFill>
              </a:rPr>
              <a:t>Source: Checkout PEP &amp; Sanctions Screening Checks; Global Sanctions Reporting Procedure (cite sections); Global Screening alert-rationale house format.</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INTERACTIVE CASE — CROSS-TEAM EXERCISE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Three teams, one risk picture</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Three teams each hold one clue. Would you release this payment?</a:t>
            </a:r>
            <a:endParaRPr lang="en-US" sz="1700" dirty="0"/>
          </a:p>
        </p:txBody>
      </p:sp>
      <p:sp>
        <p:nvSpPr>
          <p:cNvPr id="5" name="Text 3"/>
          <p:cNvSpPr txBox="1"/>
          <p:nvPr/>
        </p:nvSpPr>
        <p:spPr>
          <a:xfrm>
            <a:off x="548640" y="1536192"/>
            <a:ext cx="11064240" cy="502920"/>
          </a:xfrm>
          <a:prstGeom prst="rect">
            <a:avLst/>
          </a:prstGeom>
          <a:noFill/>
          <a:ln/>
        </p:spPr>
        <p:txBody>
          <a:bodyPr wrap="square" lIns="0" tIns="0" rIns="0" bIns="0" rtlCol="0" anchor="t"/>
          <a:lstStyle/>
          <a:p>
            <a:pPr indent="0" marL="0">
              <a:buNone/>
            </a:pPr>
            <a:r>
              <a:rPr lang="en-US" sz="1400" dirty="0">
                <a:solidFill>
                  <a:schemeClr val="tx1"/>
                </a:solidFill>
              </a:rPr>
              <a:t>Atlas Bridge Technologies Pte. Ltd. (fictional): a Singapore B2B software marketplace using Checkout for cross-border payouts. On book 18 months, S$1.2–1.8m a month, two non-sanctioned founders. A payout is pending.</a:t>
            </a:r>
            <a:endParaRPr lang="en-US" sz="1400" dirty="0"/>
          </a:p>
        </p:txBody>
      </p:sp>
      <p:sp>
        <p:nvSpPr>
          <p:cNvPr id="6" name="Sanctions screening"/>
          <p:cNvSpPr/>
          <p:nvPr/>
        </p:nvSpPr>
        <p:spPr>
          <a:xfrm>
            <a:off x="548640" y="2121408"/>
            <a:ext cx="3566160" cy="2240280"/>
          </a:xfrm>
          <a:prstGeom prst="roundRect">
            <a:avLst>
              <a:gd name="adj" fmla="val 4898"/>
            </a:avLst>
          </a:prstGeom>
          <a:solidFill>
            <a:schemeClr val="bg2"/>
          </a:solidFill>
          <a:ln w="12700">
            <a:solidFill>
              <a:schemeClr val="bg2"/>
            </a:solidFill>
            <a:prstDash val="solid"/>
          </a:ln>
        </p:spPr>
      </p:sp>
      <p:sp>
        <p:nvSpPr>
          <p:cNvPr id="7" name="Sanctions screening circle"/>
          <p:cNvSpPr/>
          <p:nvPr/>
        </p:nvSpPr>
        <p:spPr>
          <a:xfrm>
            <a:off x="749808" y="2240280"/>
            <a:ext cx="530352" cy="530352"/>
          </a:xfrm>
          <a:prstGeom prst="ellipse">
            <a:avLst/>
          </a:prstGeom>
          <a:solidFill>
            <a:schemeClr val="accent1"/>
          </a:solidFill>
          <a:ln w="12700">
            <a:solidFill>
              <a:schemeClr val="accent1"/>
            </a:solidFill>
            <a:prstDash val="solid"/>
          </a:ln>
        </p:spPr>
      </p:sp>
      <p:pic>
        <p:nvPicPr>
          <p:cNvPr id="8" name="Sanctions screening icon" descr="preencoded.png">    </p:cNvPr>
          <p:cNvPicPr>
            <a:picLocks noChangeAspect="1"/>
          </p:cNvPicPr>
          <p:nvPr/>
        </p:nvPicPr>
        <p:blipFill>
          <a:blip r:embed="rId1"/>
          <a:stretch>
            <a:fillRect/>
          </a:stretch>
        </p:blipFill>
        <p:spPr>
          <a:xfrm>
            <a:off x="855878" y="2346350"/>
            <a:ext cx="318211" cy="318211"/>
          </a:xfrm>
          <a:prstGeom prst="rect">
            <a:avLst/>
          </a:prstGeom>
        </p:spPr>
      </p:pic>
      <p:sp>
        <p:nvSpPr>
          <p:cNvPr id="9" name="Text 6"/>
          <p:cNvSpPr txBox="1"/>
          <p:nvPr/>
        </p:nvSpPr>
        <p:spPr>
          <a:xfrm>
            <a:off x="141732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1"/>
                </a:solidFill>
              </a:rPr>
              <a:t>EVIDENCE DROP 1</a:t>
            </a:r>
            <a:endParaRPr lang="en-US" sz="1100" dirty="0"/>
          </a:p>
        </p:txBody>
      </p:sp>
      <p:sp>
        <p:nvSpPr>
          <p:cNvPr id="10" name="Text 7"/>
          <p:cNvSpPr txBox="1"/>
          <p:nvPr/>
        </p:nvSpPr>
        <p:spPr>
          <a:xfrm>
            <a:off x="141732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Sanctions screening</a:t>
            </a:r>
            <a:endParaRPr lang="en-US" sz="1500" dirty="0"/>
          </a:p>
        </p:txBody>
      </p:sp>
      <p:sp>
        <p:nvSpPr>
          <p:cNvPr id="11" name="Text 8"/>
          <p:cNvSpPr txBox="1"/>
          <p:nvPr/>
        </p:nvSpPr>
        <p:spPr>
          <a:xfrm>
            <a:off x="74980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Close match on the new director, “M. Rahman”, against a historical alias on the UK list.</a:t>
            </a:r>
            <a:endParaRPr lang="en-US" sz="1400" dirty="0"/>
          </a:p>
          <a:p>
            <a:pPr marL="342900" indent="-342900">
              <a:spcAft>
                <a:spcPts val="400"/>
              </a:spcAft>
              <a:buSzPct val="100000"/>
              <a:buChar char="•"/>
            </a:pPr>
            <a:r>
              <a:rPr lang="en-US" sz="1400" dirty="0">
                <a:solidFill>
                  <a:schemeClr val="tx1"/>
                </a:solidFill>
              </a:rPr>
              <a:t>Nationality matches; date of birth is missing.</a:t>
            </a:r>
            <a:endParaRPr lang="en-US" sz="1400" dirty="0"/>
          </a:p>
        </p:txBody>
      </p:sp>
      <p:sp>
        <p:nvSpPr>
          <p:cNvPr id="12" name="Transaction monitoring"/>
          <p:cNvSpPr/>
          <p:nvPr/>
        </p:nvSpPr>
        <p:spPr>
          <a:xfrm>
            <a:off x="4297680" y="2121408"/>
            <a:ext cx="3566160" cy="2240280"/>
          </a:xfrm>
          <a:prstGeom prst="roundRect">
            <a:avLst>
              <a:gd name="adj" fmla="val 4898"/>
            </a:avLst>
          </a:prstGeom>
          <a:solidFill>
            <a:schemeClr val="bg2"/>
          </a:solidFill>
          <a:ln w="12700">
            <a:solidFill>
              <a:schemeClr val="bg2"/>
            </a:solidFill>
            <a:prstDash val="solid"/>
          </a:ln>
        </p:spPr>
      </p:sp>
      <p:sp>
        <p:nvSpPr>
          <p:cNvPr id="13" name="Transaction monitoring circle"/>
          <p:cNvSpPr/>
          <p:nvPr/>
        </p:nvSpPr>
        <p:spPr>
          <a:xfrm>
            <a:off x="4498848" y="2240280"/>
            <a:ext cx="530352" cy="530352"/>
          </a:xfrm>
          <a:prstGeom prst="ellipse">
            <a:avLst/>
          </a:prstGeom>
          <a:solidFill>
            <a:schemeClr val="accent2"/>
          </a:solidFill>
          <a:ln w="12700">
            <a:solidFill>
              <a:schemeClr val="accent2"/>
            </a:solidFill>
            <a:prstDash val="solid"/>
          </a:ln>
        </p:spPr>
      </p:sp>
      <p:pic>
        <p:nvPicPr>
          <p:cNvPr id="14" name="Transaction monitoring icon" descr="preencoded.png">    </p:cNvPr>
          <p:cNvPicPr>
            <a:picLocks noChangeAspect="1"/>
          </p:cNvPicPr>
          <p:nvPr/>
        </p:nvPicPr>
        <p:blipFill>
          <a:blip r:embed="rId2"/>
          <a:stretch>
            <a:fillRect/>
          </a:stretch>
        </p:blipFill>
        <p:spPr>
          <a:xfrm>
            <a:off x="4604918" y="2346350"/>
            <a:ext cx="318211" cy="318211"/>
          </a:xfrm>
          <a:prstGeom prst="rect">
            <a:avLst/>
          </a:prstGeom>
        </p:spPr>
      </p:pic>
      <p:sp>
        <p:nvSpPr>
          <p:cNvPr id="15" name="Text 11"/>
          <p:cNvSpPr txBox="1"/>
          <p:nvPr/>
        </p:nvSpPr>
        <p:spPr>
          <a:xfrm>
            <a:off x="516636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EVIDENCE DROP 2</a:t>
            </a:r>
            <a:endParaRPr lang="en-US" sz="1100" dirty="0"/>
          </a:p>
        </p:txBody>
      </p:sp>
      <p:sp>
        <p:nvSpPr>
          <p:cNvPr id="16" name="Text 12"/>
          <p:cNvSpPr txBox="1"/>
          <p:nvPr/>
        </p:nvSpPr>
        <p:spPr>
          <a:xfrm>
            <a:off x="516636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Transaction monitoring</a:t>
            </a:r>
            <a:endParaRPr lang="en-US" sz="1500" dirty="0"/>
          </a:p>
        </p:txBody>
      </p:sp>
      <p:sp>
        <p:nvSpPr>
          <p:cNvPr id="17" name="Text 13"/>
          <p:cNvSpPr txBox="1"/>
          <p:nvPr/>
        </p:nvSpPr>
        <p:spPr>
          <a:xfrm>
            <a:off x="449884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Volume is 4.5× the baseline over the last 10 days.</a:t>
            </a:r>
            <a:endParaRPr lang="en-US" sz="1400" dirty="0"/>
          </a:p>
          <a:p>
            <a:pPr marL="342900" indent="-342900">
              <a:spcAft>
                <a:spcPts val="400"/>
              </a:spcAft>
              <a:buSzPct val="100000"/>
              <a:buChar char="•"/>
            </a:pPr>
            <a:r>
              <a:rPr lang="en-US" sz="1400" dirty="0">
                <a:solidFill>
                  <a:schemeClr val="tx1"/>
                </a:solidFill>
              </a:rPr>
              <a:t>Payouts split through two new intermediaries to new beneficiaries in a UAE free zone and Hong Kong.</a:t>
            </a:r>
            <a:endParaRPr lang="en-US" sz="1400" dirty="0"/>
          </a:p>
        </p:txBody>
      </p:sp>
      <p:sp>
        <p:nvSpPr>
          <p:cNvPr id="18" name="Event-driven review"/>
          <p:cNvSpPr/>
          <p:nvPr/>
        </p:nvSpPr>
        <p:spPr>
          <a:xfrm>
            <a:off x="8046720" y="2121408"/>
            <a:ext cx="3566160" cy="2240280"/>
          </a:xfrm>
          <a:prstGeom prst="roundRect">
            <a:avLst>
              <a:gd name="adj" fmla="val 4898"/>
            </a:avLst>
          </a:prstGeom>
          <a:solidFill>
            <a:schemeClr val="bg2"/>
          </a:solidFill>
          <a:ln w="12700">
            <a:solidFill>
              <a:schemeClr val="bg2"/>
            </a:solidFill>
            <a:prstDash val="solid"/>
          </a:ln>
        </p:spPr>
      </p:sp>
      <p:sp>
        <p:nvSpPr>
          <p:cNvPr id="19" name="Event-driven review circle"/>
          <p:cNvSpPr/>
          <p:nvPr/>
        </p:nvSpPr>
        <p:spPr>
          <a:xfrm>
            <a:off x="8247888" y="2240280"/>
            <a:ext cx="530352" cy="530352"/>
          </a:xfrm>
          <a:prstGeom prst="ellipse">
            <a:avLst/>
          </a:prstGeom>
          <a:solidFill>
            <a:schemeClr val="accent4"/>
          </a:solidFill>
          <a:ln w="12700">
            <a:solidFill>
              <a:schemeClr val="accent4"/>
            </a:solidFill>
            <a:prstDash val="solid"/>
          </a:ln>
        </p:spPr>
      </p:sp>
      <p:pic>
        <p:nvPicPr>
          <p:cNvPr id="20" name="Event-driven review icon" descr="preencoded.png">    </p:cNvPr>
          <p:cNvPicPr>
            <a:picLocks noChangeAspect="1"/>
          </p:cNvPicPr>
          <p:nvPr/>
        </p:nvPicPr>
        <p:blipFill>
          <a:blip r:embed="rId3"/>
          <a:stretch>
            <a:fillRect/>
          </a:stretch>
        </p:blipFill>
        <p:spPr>
          <a:xfrm>
            <a:off x="8353958" y="2346350"/>
            <a:ext cx="318211" cy="318211"/>
          </a:xfrm>
          <a:prstGeom prst="rect">
            <a:avLst/>
          </a:prstGeom>
        </p:spPr>
      </p:pic>
      <p:sp>
        <p:nvSpPr>
          <p:cNvPr id="21" name="Text 16"/>
          <p:cNvSpPr txBox="1"/>
          <p:nvPr/>
        </p:nvSpPr>
        <p:spPr>
          <a:xfrm>
            <a:off x="8915400" y="2258568"/>
            <a:ext cx="2560320" cy="219456"/>
          </a:xfrm>
          <a:prstGeom prst="rect">
            <a:avLst/>
          </a:prstGeom>
          <a:noFill/>
          <a:ln/>
        </p:spPr>
        <p:txBody>
          <a:bodyPr wrap="square" lIns="0" tIns="0" rIns="0" bIns="0" rtlCol="0" anchor="t"/>
          <a:lstStyle/>
          <a:p>
            <a:pPr indent="0" marL="0">
              <a:buNone/>
            </a:pPr>
            <a:r>
              <a:rPr lang="en-US" sz="1100" b="1" spc="100" kern="0" dirty="0">
                <a:solidFill>
                  <a:schemeClr val="accent4"/>
                </a:solidFill>
              </a:rPr>
              <a:t>EVIDENCE DROP 3</a:t>
            </a:r>
            <a:endParaRPr lang="en-US" sz="1100" dirty="0"/>
          </a:p>
        </p:txBody>
      </p:sp>
      <p:sp>
        <p:nvSpPr>
          <p:cNvPr id="22" name="Text 17"/>
          <p:cNvSpPr txBox="1"/>
          <p:nvPr/>
        </p:nvSpPr>
        <p:spPr>
          <a:xfrm>
            <a:off x="8915400" y="2468880"/>
            <a:ext cx="2560320" cy="310896"/>
          </a:xfrm>
          <a:prstGeom prst="rect">
            <a:avLst/>
          </a:prstGeom>
          <a:noFill/>
          <a:ln/>
        </p:spPr>
        <p:txBody>
          <a:bodyPr wrap="square" lIns="0" tIns="0" rIns="0" bIns="0" rtlCol="0" anchor="t"/>
          <a:lstStyle/>
          <a:p>
            <a:pPr indent="0" marL="0">
              <a:buNone/>
            </a:pPr>
            <a:r>
              <a:rPr lang="en-US" sz="1500" b="1" dirty="0">
                <a:solidFill>
                  <a:schemeClr val="tx1"/>
                </a:solidFill>
              </a:rPr>
              <a:t>Event-driven review</a:t>
            </a:r>
            <a:endParaRPr lang="en-US" sz="1500" dirty="0"/>
          </a:p>
        </p:txBody>
      </p:sp>
      <p:sp>
        <p:nvSpPr>
          <p:cNvPr id="23" name="Text 18"/>
          <p:cNvSpPr txBox="1"/>
          <p:nvPr/>
        </p:nvSpPr>
        <p:spPr>
          <a:xfrm>
            <a:off x="8247888" y="2880360"/>
            <a:ext cx="320040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The new director is also a 35% shareholder with signing authority over payouts.</a:t>
            </a:r>
            <a:endParaRPr lang="en-US" sz="1400" dirty="0"/>
          </a:p>
          <a:p>
            <a:pPr marL="342900" indent="-342900">
              <a:spcAft>
                <a:spcPts val="400"/>
              </a:spcAft>
              <a:buSzPct val="100000"/>
              <a:buChar char="•"/>
            </a:pPr>
            <a:r>
              <a:rPr lang="en-US" sz="1400" dirty="0">
                <a:solidFill>
                  <a:schemeClr val="tx1"/>
                </a:solidFill>
              </a:rPr>
              <a:t>The UBO chain ends at a nominee company.</a:t>
            </a:r>
            <a:endParaRPr lang="en-US" sz="1400" dirty="0"/>
          </a:p>
        </p:txBody>
      </p:sp>
      <p:sp>
        <p:nvSpPr>
          <p:cNvPr id="24" name="vote"/>
          <p:cNvSpPr/>
          <p:nvPr/>
        </p:nvSpPr>
        <p:spPr>
          <a:xfrm>
            <a:off x="548640" y="4462272"/>
            <a:ext cx="11064240" cy="603504"/>
          </a:xfrm>
          <a:prstGeom prst="roundRect">
            <a:avLst>
              <a:gd name="adj" fmla="val 18182"/>
            </a:avLst>
          </a:prstGeom>
          <a:solidFill>
            <a:schemeClr val="bg2"/>
          </a:solidFill>
          <a:ln w="12700">
            <a:solidFill>
              <a:schemeClr val="bg2"/>
            </a:solidFill>
            <a:prstDash val="solid"/>
          </a:ln>
        </p:spPr>
      </p:sp>
      <p:sp>
        <p:nvSpPr>
          <p:cNvPr id="25" name="Text 20"/>
          <p:cNvSpPr txBox="1"/>
          <p:nvPr/>
        </p:nvSpPr>
        <p:spPr>
          <a:xfrm>
            <a:off x="777240" y="4462272"/>
            <a:ext cx="10607040" cy="603504"/>
          </a:xfrm>
          <a:prstGeom prst="rect">
            <a:avLst/>
          </a:prstGeom>
          <a:noFill/>
          <a:ln/>
        </p:spPr>
        <p:txBody>
          <a:bodyPr wrap="square" lIns="0" tIns="0" rIns="0" bIns="0" rtlCol="0" anchor="ctr"/>
          <a:lstStyle/>
          <a:p>
            <a:pPr indent="0" marL="0">
              <a:buNone/>
            </a:pPr>
            <a:r>
              <a:rPr lang="en-US" sz="1200" b="1" spc="100" kern="0" dirty="0">
                <a:solidFill>
                  <a:schemeClr val="accent1"/>
                </a:solidFill>
              </a:rPr>
              <a:t>PAUSE &amp; VOTE   </a:t>
            </a:r>
            <a:pPr indent="0" marL="0">
              <a:buNone/>
            </a:pPr>
            <a:r>
              <a:rPr lang="en-US" sz="1500" dirty="0">
                <a:solidFill>
                  <a:schemeClr val="tx1"/>
                </a:solidFill>
              </a:rPr>
              <a:t>A  Clear and continue      B  Reject this payment only      C  Joined escalation across Sanctions, TM and EDR</a:t>
            </a:r>
            <a:endParaRPr lang="en-US" sz="1500" dirty="0"/>
          </a:p>
        </p:txBody>
      </p:sp>
      <p:sp>
        <p:nvSpPr>
          <p:cNvPr id="26"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7" name="Text 22"/>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8" name="Text 23"/>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Real cases rarely arrive as one clean alert. This exercise uses the three controls you work with: screening, TM and EDR.</a:t>
            </a:r>
            <a:endParaRPr lang="en-US" sz="1400" dirty="0"/>
          </a:p>
        </p:txBody>
      </p:sp>
      <p:sp>
        <p:nvSpPr>
          <p:cNvPr id="29"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30" name="Text 25"/>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31" name="Text 26"/>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Vote as you would act in your queue — and name the evidence and the process step behind your choice.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ANSWER REVEAL</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Choose C — the risks converge</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When the clues add up, keep the payment on hold and escalate together.</a:t>
            </a:r>
            <a:endParaRPr lang="en-US" sz="1700" dirty="0"/>
          </a:p>
        </p:txBody>
      </p:sp>
      <p:sp>
        <p:nvSpPr>
          <p:cNvPr id="5" name="Sanctions screening"/>
          <p:cNvSpPr/>
          <p:nvPr/>
        </p:nvSpPr>
        <p:spPr>
          <a:xfrm>
            <a:off x="548640" y="1554480"/>
            <a:ext cx="3566160" cy="2057400"/>
          </a:xfrm>
          <a:prstGeom prst="roundRect">
            <a:avLst>
              <a:gd name="adj" fmla="val 5333"/>
            </a:avLst>
          </a:prstGeom>
          <a:solidFill>
            <a:schemeClr val="bg2"/>
          </a:solidFill>
          <a:ln w="12700">
            <a:solidFill>
              <a:schemeClr val="bg2"/>
            </a:solidFill>
            <a:prstDash val="solid"/>
          </a:ln>
        </p:spPr>
      </p:sp>
      <p:sp>
        <p:nvSpPr>
          <p:cNvPr id="6" name="Text 4"/>
          <p:cNvSpPr txBox="1"/>
          <p:nvPr/>
        </p:nvSpPr>
        <p:spPr>
          <a:xfrm>
            <a:off x="777240" y="1664208"/>
            <a:ext cx="3108960" cy="347472"/>
          </a:xfrm>
          <a:prstGeom prst="rect">
            <a:avLst/>
          </a:prstGeom>
          <a:noFill/>
          <a:ln/>
        </p:spPr>
        <p:txBody>
          <a:bodyPr wrap="square" lIns="0" tIns="0" rIns="0" bIns="0" rtlCol="0" anchor="t"/>
          <a:lstStyle/>
          <a:p>
            <a:pPr indent="0" marL="0">
              <a:buNone/>
            </a:pPr>
            <a:r>
              <a:rPr lang="en-US" sz="1700" b="1" dirty="0">
                <a:solidFill>
                  <a:schemeClr val="accent1"/>
                </a:solidFill>
              </a:rPr>
              <a:t>Sanctions screening</a:t>
            </a:r>
            <a:endParaRPr lang="en-US" sz="1700" dirty="0"/>
          </a:p>
        </p:txBody>
      </p:sp>
      <p:sp>
        <p:nvSpPr>
          <p:cNvPr id="7" name="Text 5"/>
          <p:cNvSpPr txBox="1"/>
          <p:nvPr/>
        </p:nvSpPr>
        <p:spPr>
          <a:xfrm>
            <a:off x="77724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Resolve identity, aliases and ownership/control. Get the director's date of birth and ID through a focused RFI, then re-screen.</a:t>
            </a:r>
            <a:endParaRPr lang="en-US" sz="1500" dirty="0"/>
          </a:p>
        </p:txBody>
      </p:sp>
      <p:sp>
        <p:nvSpPr>
          <p:cNvPr id="8" name="Transaction monitoring"/>
          <p:cNvSpPr/>
          <p:nvPr/>
        </p:nvSpPr>
        <p:spPr>
          <a:xfrm>
            <a:off x="4297680" y="1554480"/>
            <a:ext cx="3566160" cy="2057400"/>
          </a:xfrm>
          <a:prstGeom prst="roundRect">
            <a:avLst>
              <a:gd name="adj" fmla="val 5333"/>
            </a:avLst>
          </a:prstGeom>
          <a:solidFill>
            <a:schemeClr val="bg2"/>
          </a:solidFill>
          <a:ln w="12700">
            <a:solidFill>
              <a:schemeClr val="bg2"/>
            </a:solidFill>
            <a:prstDash val="solid"/>
          </a:ln>
        </p:spPr>
      </p:sp>
      <p:sp>
        <p:nvSpPr>
          <p:cNvPr id="9" name="Text 7"/>
          <p:cNvSpPr txBox="1"/>
          <p:nvPr/>
        </p:nvSpPr>
        <p:spPr>
          <a:xfrm>
            <a:off x="4526280" y="1664208"/>
            <a:ext cx="3108960" cy="347472"/>
          </a:xfrm>
          <a:prstGeom prst="rect">
            <a:avLst/>
          </a:prstGeom>
          <a:noFill/>
          <a:ln/>
        </p:spPr>
        <p:txBody>
          <a:bodyPr wrap="square" lIns="0" tIns="0" rIns="0" bIns="0" rtlCol="0" anchor="t"/>
          <a:lstStyle/>
          <a:p>
            <a:pPr indent="0" marL="0">
              <a:buNone/>
            </a:pPr>
            <a:r>
              <a:rPr lang="en-US" sz="1700" b="1" dirty="0">
                <a:solidFill>
                  <a:schemeClr val="accent2"/>
                </a:solidFill>
              </a:rPr>
              <a:t>Transaction monitoring</a:t>
            </a:r>
            <a:endParaRPr lang="en-US" sz="1700" dirty="0"/>
          </a:p>
        </p:txBody>
      </p:sp>
      <p:sp>
        <p:nvSpPr>
          <p:cNvPr id="10" name="Text 8"/>
          <p:cNvSpPr txBox="1"/>
          <p:nvPr/>
        </p:nvSpPr>
        <p:spPr>
          <a:xfrm>
            <a:off x="452628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Analyse variance from baseline, counterparties, geographies and evasion indicators; consider a UAR / MLRO referral.</a:t>
            </a:r>
            <a:endParaRPr lang="en-US" sz="1500" dirty="0"/>
          </a:p>
        </p:txBody>
      </p:sp>
      <p:sp>
        <p:nvSpPr>
          <p:cNvPr id="11" name="Event-driven review"/>
          <p:cNvSpPr/>
          <p:nvPr/>
        </p:nvSpPr>
        <p:spPr>
          <a:xfrm>
            <a:off x="8046720" y="1554480"/>
            <a:ext cx="3566160" cy="2057400"/>
          </a:xfrm>
          <a:prstGeom prst="roundRect">
            <a:avLst>
              <a:gd name="adj" fmla="val 5333"/>
            </a:avLst>
          </a:prstGeom>
          <a:solidFill>
            <a:schemeClr val="bg2"/>
          </a:solidFill>
          <a:ln w="12700">
            <a:solidFill>
              <a:schemeClr val="bg2"/>
            </a:solidFill>
            <a:prstDash val="solid"/>
          </a:ln>
        </p:spPr>
      </p:sp>
      <p:sp>
        <p:nvSpPr>
          <p:cNvPr id="12" name="Text 10"/>
          <p:cNvSpPr txBox="1"/>
          <p:nvPr/>
        </p:nvSpPr>
        <p:spPr>
          <a:xfrm>
            <a:off x="8275320" y="1664208"/>
            <a:ext cx="3108960" cy="347472"/>
          </a:xfrm>
          <a:prstGeom prst="rect">
            <a:avLst/>
          </a:prstGeom>
          <a:noFill/>
          <a:ln/>
        </p:spPr>
        <p:txBody>
          <a:bodyPr wrap="square" lIns="0" tIns="0" rIns="0" bIns="0" rtlCol="0" anchor="t"/>
          <a:lstStyle/>
          <a:p>
            <a:pPr indent="0" marL="0">
              <a:buNone/>
            </a:pPr>
            <a:r>
              <a:rPr lang="en-US" sz="1700" b="1" dirty="0">
                <a:solidFill>
                  <a:schemeClr val="accent4"/>
                </a:solidFill>
              </a:rPr>
              <a:t>Event-driven review</a:t>
            </a:r>
            <a:endParaRPr lang="en-US" sz="1700" dirty="0"/>
          </a:p>
        </p:txBody>
      </p:sp>
      <p:sp>
        <p:nvSpPr>
          <p:cNvPr id="13" name="Text 11"/>
          <p:cNvSpPr txBox="1"/>
          <p:nvPr/>
        </p:nvSpPr>
        <p:spPr>
          <a:xfrm>
            <a:off x="8275320" y="2075688"/>
            <a:ext cx="3108960" cy="1463040"/>
          </a:xfrm>
          <a:prstGeom prst="rect">
            <a:avLst/>
          </a:prstGeom>
          <a:noFill/>
          <a:ln/>
        </p:spPr>
        <p:txBody>
          <a:bodyPr wrap="square" lIns="0" tIns="0" rIns="0" bIns="0" rtlCol="0" anchor="t"/>
          <a:lstStyle/>
          <a:p>
            <a:pPr indent="0" marL="0">
              <a:buNone/>
            </a:pPr>
            <a:r>
              <a:rPr lang="en-US" sz="1500" dirty="0">
                <a:solidFill>
                  <a:schemeClr val="tx1"/>
                </a:solidFill>
              </a:rPr>
              <a:t>Refresh KYB and UBO beyond the nominee, re-screen all linked parties and reassess the customer's risk.</a:t>
            </a:r>
            <a:endParaRPr lang="en-US" sz="1500" dirty="0"/>
          </a:p>
        </p:txBody>
      </p:sp>
      <p:sp>
        <p:nvSpPr>
          <p:cNvPr id="14" name="Text 12"/>
          <p:cNvSpPr txBox="1"/>
          <p:nvPr/>
        </p:nvSpPr>
        <p:spPr>
          <a:xfrm>
            <a:off x="548640" y="3749040"/>
            <a:ext cx="11064240" cy="219456"/>
          </a:xfrm>
          <a:prstGeom prst="rect">
            <a:avLst/>
          </a:prstGeom>
          <a:noFill/>
          <a:ln/>
        </p:spPr>
        <p:txBody>
          <a:bodyPr wrap="square" lIns="0" tIns="0" rIns="0" bIns="0" rtlCol="0" anchor="t"/>
          <a:lstStyle/>
          <a:p>
            <a:pPr indent="0" marL="0">
              <a:buNone/>
            </a:pPr>
            <a:r>
              <a:rPr lang="en-US" sz="1100" b="1" spc="100" kern="0" dirty="0">
                <a:solidFill>
                  <a:schemeClr val="accent6"/>
                </a:solidFill>
              </a:rPr>
              <a:t>L2 AND L3 DECIDE THE OUTCOME — LINKED UNDER ONE SHARED CASE ID</a:t>
            </a:r>
            <a:endParaRPr lang="en-US" sz="1100" dirty="0"/>
          </a:p>
        </p:txBody>
      </p:sp>
      <p:sp>
        <p:nvSpPr>
          <p:cNvPr id="15" name="Release"/>
          <p:cNvSpPr/>
          <p:nvPr/>
        </p:nvSpPr>
        <p:spPr>
          <a:xfrm>
            <a:off x="548640" y="4041648"/>
            <a:ext cx="2651760" cy="566928"/>
          </a:xfrm>
          <a:prstGeom prst="roundRect">
            <a:avLst>
              <a:gd name="adj" fmla="val 19355"/>
            </a:avLst>
          </a:prstGeom>
          <a:solidFill>
            <a:schemeClr val="bg2"/>
          </a:solidFill>
          <a:ln w="12700">
            <a:solidFill>
              <a:schemeClr val="bg2"/>
            </a:solidFill>
            <a:prstDash val="solid"/>
          </a:ln>
        </p:spPr>
      </p:sp>
      <p:sp>
        <p:nvSpPr>
          <p:cNvPr id="16" name="Text 14"/>
          <p:cNvSpPr txBox="1"/>
          <p:nvPr/>
        </p:nvSpPr>
        <p:spPr>
          <a:xfrm>
            <a:off x="548640"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Release</a:t>
            </a:r>
            <a:endParaRPr lang="en-US" sz="1600" dirty="0"/>
          </a:p>
        </p:txBody>
      </p:sp>
      <p:sp>
        <p:nvSpPr>
          <p:cNvPr id="17" name="Reject"/>
          <p:cNvSpPr/>
          <p:nvPr/>
        </p:nvSpPr>
        <p:spPr>
          <a:xfrm>
            <a:off x="3346704" y="4041648"/>
            <a:ext cx="2651760" cy="566928"/>
          </a:xfrm>
          <a:prstGeom prst="roundRect">
            <a:avLst>
              <a:gd name="adj" fmla="val 19355"/>
            </a:avLst>
          </a:prstGeom>
          <a:solidFill>
            <a:schemeClr val="bg2"/>
          </a:solidFill>
          <a:ln w="12700">
            <a:solidFill>
              <a:schemeClr val="bg2"/>
            </a:solidFill>
            <a:prstDash val="solid"/>
          </a:ln>
        </p:spPr>
      </p:sp>
      <p:sp>
        <p:nvSpPr>
          <p:cNvPr id="18" name="Text 16"/>
          <p:cNvSpPr txBox="1"/>
          <p:nvPr/>
        </p:nvSpPr>
        <p:spPr>
          <a:xfrm>
            <a:off x="3346704"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Reject</a:t>
            </a:r>
            <a:endParaRPr lang="en-US" sz="1600" dirty="0"/>
          </a:p>
        </p:txBody>
      </p:sp>
      <p:sp>
        <p:nvSpPr>
          <p:cNvPr id="19" name="Freeze and report"/>
          <p:cNvSpPr/>
          <p:nvPr/>
        </p:nvSpPr>
        <p:spPr>
          <a:xfrm>
            <a:off x="6144768" y="4041648"/>
            <a:ext cx="2651760" cy="566928"/>
          </a:xfrm>
          <a:prstGeom prst="roundRect">
            <a:avLst>
              <a:gd name="adj" fmla="val 19355"/>
            </a:avLst>
          </a:prstGeom>
          <a:solidFill>
            <a:schemeClr val="bg2"/>
          </a:solidFill>
          <a:ln w="12700">
            <a:solidFill>
              <a:schemeClr val="bg2"/>
            </a:solidFill>
            <a:prstDash val="solid"/>
          </a:ln>
        </p:spPr>
      </p:sp>
      <p:sp>
        <p:nvSpPr>
          <p:cNvPr id="20" name="Text 18"/>
          <p:cNvSpPr txBox="1"/>
          <p:nvPr/>
        </p:nvSpPr>
        <p:spPr>
          <a:xfrm>
            <a:off x="6144768"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Freeze and report</a:t>
            </a:r>
            <a:endParaRPr lang="en-US" sz="1600" dirty="0"/>
          </a:p>
        </p:txBody>
      </p:sp>
      <p:sp>
        <p:nvSpPr>
          <p:cNvPr id="21" name="Offboard"/>
          <p:cNvSpPr/>
          <p:nvPr/>
        </p:nvSpPr>
        <p:spPr>
          <a:xfrm>
            <a:off x="8942832" y="4041648"/>
            <a:ext cx="2651760" cy="566928"/>
          </a:xfrm>
          <a:prstGeom prst="roundRect">
            <a:avLst>
              <a:gd name="adj" fmla="val 19355"/>
            </a:avLst>
          </a:prstGeom>
          <a:solidFill>
            <a:schemeClr val="bg2"/>
          </a:solidFill>
          <a:ln w="12700">
            <a:solidFill>
              <a:schemeClr val="bg2"/>
            </a:solidFill>
            <a:prstDash val="solid"/>
          </a:ln>
        </p:spPr>
      </p:sp>
      <p:sp>
        <p:nvSpPr>
          <p:cNvPr id="22" name="Text 20"/>
          <p:cNvSpPr txBox="1"/>
          <p:nvPr/>
        </p:nvSpPr>
        <p:spPr>
          <a:xfrm>
            <a:off x="8942832" y="4041648"/>
            <a:ext cx="2651760" cy="566928"/>
          </a:xfrm>
          <a:prstGeom prst="rect">
            <a:avLst/>
          </a:prstGeom>
          <a:noFill/>
          <a:ln/>
        </p:spPr>
        <p:txBody>
          <a:bodyPr wrap="square" lIns="0" tIns="0" rIns="0" bIns="0" rtlCol="0" anchor="ctr"/>
          <a:lstStyle/>
          <a:p>
            <a:pPr algn="ctr" indent="0" marL="0">
              <a:buNone/>
            </a:pPr>
            <a:r>
              <a:rPr lang="en-US" sz="1600" b="1" dirty="0">
                <a:solidFill>
                  <a:schemeClr val="tx1"/>
                </a:solidFill>
              </a:rPr>
              <a:t>Offboard</a:t>
            </a:r>
            <a:endParaRPr lang="en-US" sz="1600" dirty="0"/>
          </a:p>
        </p:txBody>
      </p:sp>
      <p:sp>
        <p:nvSpPr>
          <p:cNvPr id="23" name="Text 21"/>
          <p:cNvSpPr txBox="1"/>
          <p:nvPr/>
        </p:nvSpPr>
        <p:spPr>
          <a:xfrm>
            <a:off x="548640" y="4709160"/>
            <a:ext cx="11064240" cy="365760"/>
          </a:xfrm>
          <a:prstGeom prst="rect">
            <a:avLst/>
          </a:prstGeom>
          <a:noFill/>
          <a:ln/>
        </p:spPr>
        <p:txBody>
          <a:bodyPr wrap="square" lIns="0" tIns="0" rIns="0" bIns="0" rtlCol="0" anchor="t"/>
          <a:lstStyle/>
          <a:p>
            <a:pPr indent="0" marL="0">
              <a:buNone/>
            </a:pPr>
            <a:r>
              <a:rPr lang="en-US" sz="1300" i="1" dirty="0">
                <a:solidFill>
                  <a:schemeClr val="accent6"/>
                </a:solidFill>
              </a:rPr>
              <a:t>Facilitator: do not label this a confirmed sanctions breach until the relevant facts and legal basis are established.</a:t>
            </a:r>
            <a:endParaRPr lang="en-US" sz="1300" dirty="0"/>
          </a:p>
        </p:txBody>
      </p:sp>
      <p:sp>
        <p:nvSpPr>
          <p:cNvPr id="24" name="Why it matters"/>
          <p:cNvSpPr/>
          <p:nvPr/>
        </p:nvSpPr>
        <p:spPr>
          <a:xfrm>
            <a:off x="548640" y="5193792"/>
            <a:ext cx="5440680" cy="868680"/>
          </a:xfrm>
          <a:prstGeom prst="roundRect">
            <a:avLst>
              <a:gd name="adj" fmla="val 12632"/>
            </a:avLst>
          </a:prstGeom>
          <a:solidFill>
            <a:schemeClr val="tx1"/>
          </a:solidFill>
          <a:ln w="12700">
            <a:solidFill>
              <a:schemeClr val="tx1"/>
            </a:solidFill>
            <a:prstDash val="solid"/>
          </a:ln>
        </p:spPr>
      </p:sp>
      <p:sp>
        <p:nvSpPr>
          <p:cNvPr id="25" name="Text 23"/>
          <p:cNvSpPr txBox="1"/>
          <p:nvPr/>
        </p:nvSpPr>
        <p:spPr>
          <a:xfrm>
            <a:off x="77724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2"/>
                </a:solidFill>
              </a:rPr>
              <a:t>WHY IT MATTERS</a:t>
            </a:r>
            <a:endParaRPr lang="en-US" sz="1100" dirty="0"/>
          </a:p>
        </p:txBody>
      </p:sp>
      <p:sp>
        <p:nvSpPr>
          <p:cNvPr id="26" name="Text 24"/>
          <p:cNvSpPr txBox="1"/>
          <p:nvPr/>
        </p:nvSpPr>
        <p:spPr>
          <a:xfrm>
            <a:off x="77724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No single alert proved a breach. Closing them one by one would have released the payment and missed the pattern.</a:t>
            </a:r>
            <a:endParaRPr lang="en-US" sz="1400" dirty="0"/>
          </a:p>
        </p:txBody>
      </p:sp>
      <p:sp>
        <p:nvSpPr>
          <p:cNvPr id="27" name="What it means for you"/>
          <p:cNvSpPr/>
          <p:nvPr/>
        </p:nvSpPr>
        <p:spPr>
          <a:xfrm>
            <a:off x="6172200" y="5193792"/>
            <a:ext cx="5440680" cy="868680"/>
          </a:xfrm>
          <a:prstGeom prst="roundRect">
            <a:avLst>
              <a:gd name="adj" fmla="val 12632"/>
            </a:avLst>
          </a:prstGeom>
          <a:solidFill>
            <a:schemeClr val="tx1"/>
          </a:solidFill>
          <a:ln w="12700">
            <a:solidFill>
              <a:schemeClr val="tx1"/>
            </a:solidFill>
            <a:prstDash val="solid"/>
          </a:ln>
        </p:spPr>
      </p:sp>
      <p:sp>
        <p:nvSpPr>
          <p:cNvPr id="28" name="Text 26"/>
          <p:cNvSpPr txBox="1"/>
          <p:nvPr/>
        </p:nvSpPr>
        <p:spPr>
          <a:xfrm>
            <a:off x="6400800" y="5266944"/>
            <a:ext cx="4983480" cy="219456"/>
          </a:xfrm>
          <a:prstGeom prst="rect">
            <a:avLst/>
          </a:prstGeom>
          <a:noFill/>
          <a:ln/>
        </p:spPr>
        <p:txBody>
          <a:bodyPr wrap="square" lIns="0" tIns="0" rIns="0" bIns="0" rtlCol="0" anchor="t"/>
          <a:lstStyle/>
          <a:p>
            <a:pPr indent="0" marL="0">
              <a:buNone/>
            </a:pPr>
            <a:r>
              <a:rPr lang="en-US" sz="1100" b="1" spc="100" kern="0" dirty="0">
                <a:solidFill>
                  <a:schemeClr val="accent5"/>
                </a:solidFill>
              </a:rPr>
              <a:t>WHAT IT MEANS FOR YOU</a:t>
            </a:r>
            <a:endParaRPr lang="en-US" sz="1100" dirty="0"/>
          </a:p>
        </p:txBody>
      </p:sp>
      <p:sp>
        <p:nvSpPr>
          <p:cNvPr id="29" name="Text 27"/>
          <p:cNvSpPr txBox="1"/>
          <p:nvPr/>
        </p:nvSpPr>
        <p:spPr>
          <a:xfrm>
            <a:off x="6400800" y="5504688"/>
            <a:ext cx="4983480" cy="512064"/>
          </a:xfrm>
          <a:prstGeom prst="rect">
            <a:avLst/>
          </a:prstGeom>
          <a:noFill/>
          <a:ln/>
        </p:spPr>
        <p:txBody>
          <a:bodyPr wrap="square" lIns="0" tIns="0" rIns="0" bIns="0" rtlCol="0" anchor="t"/>
          <a:lstStyle/>
          <a:p>
            <a:pPr indent="0" marL="0">
              <a:buNone/>
            </a:pPr>
            <a:r>
              <a:rPr lang="en-US" sz="1400" dirty="0">
                <a:solidFill>
                  <a:schemeClr val="bg1"/>
                </a:solidFill>
              </a:rPr>
              <a:t>Link the evidence under one case ID, keep the payment pending and hand off to Sanctions, TM and EDR in parallel.</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CLOSE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Key takeaways</a:t>
            </a:r>
            <a:endParaRPr lang="en-US" sz="3000" dirty="0"/>
          </a:p>
        </p:txBody>
      </p:sp>
      <p:sp>
        <p:nvSpPr>
          <p:cNvPr id="4" name="Text 2"/>
          <p:cNvSpPr txBox="1"/>
          <p:nvPr/>
        </p:nvSpPr>
        <p:spPr>
          <a:xfrm>
            <a:off x="548640" y="1280160"/>
            <a:ext cx="11064240" cy="685800"/>
          </a:xfrm>
          <a:prstGeom prst="rect">
            <a:avLst/>
          </a:prstGeom>
          <a:noFill/>
          <a:ln/>
        </p:spPr>
        <p:txBody>
          <a:bodyPr wrap="square" lIns="0" tIns="0" rIns="0" bIns="0" rtlCol="0" anchor="t"/>
          <a:lstStyle/>
          <a:p>
            <a:pPr indent="0" marL="0">
              <a:buNone/>
            </a:pPr>
            <a:r>
              <a:rPr lang="en-US" sz="1800" b="1" i="1" dirty="0">
                <a:solidFill>
                  <a:schemeClr val="accent2"/>
                </a:solidFill>
              </a:rPr>
              <a:t>In one sentence:  </a:t>
            </a:r>
            <a:pPr indent="0" marL="0">
              <a:buNone/>
            </a:pPr>
            <a:r>
              <a:rPr lang="en-US" sz="1800" i="1" dirty="0">
                <a:solidFill>
                  <a:schemeClr val="bg1"/>
                </a:solidFill>
              </a:rPr>
              <a:t>If in doubt, don't let it go: stop the payment, check who is really behind it and every country it touches, pass anything unclear to L2 — and write down why.</a:t>
            </a:r>
            <a:endParaRPr lang="en-US" sz="1800" dirty="0"/>
          </a:p>
        </p:txBody>
      </p:sp>
      <p:sp>
        <p:nvSpPr>
          <p:cNvPr id="5" name="recap 1 circle"/>
          <p:cNvSpPr/>
          <p:nvPr/>
        </p:nvSpPr>
        <p:spPr>
          <a:xfrm>
            <a:off x="1463040" y="2240280"/>
            <a:ext cx="822960" cy="822960"/>
          </a:xfrm>
          <a:prstGeom prst="ellipse">
            <a:avLst/>
          </a:prstGeom>
          <a:solidFill>
            <a:schemeClr val="accent1"/>
          </a:solidFill>
          <a:ln w="12700">
            <a:solidFill>
              <a:schemeClr val="accent1"/>
            </a:solidFill>
            <a:prstDash val="solid"/>
          </a:ln>
        </p:spPr>
      </p:sp>
      <p:pic>
        <p:nvPicPr>
          <p:cNvPr id="6" name="recap 1 icon" descr="preencoded.png">    </p:cNvPr>
          <p:cNvPicPr>
            <a:picLocks noChangeAspect="1"/>
          </p:cNvPicPr>
          <p:nvPr/>
        </p:nvPicPr>
        <p:blipFill>
          <a:blip r:embed="rId1"/>
          <a:stretch>
            <a:fillRect/>
          </a:stretch>
        </p:blipFill>
        <p:spPr>
          <a:xfrm>
            <a:off x="1627632" y="2404872"/>
            <a:ext cx="493776" cy="493776"/>
          </a:xfrm>
          <a:prstGeom prst="rect">
            <a:avLst/>
          </a:prstGeom>
        </p:spPr>
      </p:pic>
      <p:sp>
        <p:nvSpPr>
          <p:cNvPr id="7" name="Text 4"/>
          <p:cNvSpPr txBox="1"/>
          <p:nvPr/>
        </p:nvSpPr>
        <p:spPr>
          <a:xfrm>
            <a:off x="548640" y="3200400"/>
            <a:ext cx="2651760" cy="384048"/>
          </a:xfrm>
          <a:prstGeom prst="rect">
            <a:avLst/>
          </a:prstGeom>
          <a:noFill/>
          <a:ln/>
        </p:spPr>
        <p:txBody>
          <a:bodyPr wrap="square" lIns="0" tIns="0" rIns="0" bIns="0" rtlCol="0" anchor="t"/>
          <a:lstStyle/>
          <a:p>
            <a:pPr algn="ctr" indent="0" marL="0">
              <a:buNone/>
            </a:pPr>
            <a:r>
              <a:rPr lang="en-US" sz="1700" b="1" dirty="0">
                <a:solidFill>
                  <a:schemeClr val="bg1"/>
                </a:solidFill>
              </a:rPr>
              <a:t>1  Understand the model</a:t>
            </a:r>
            <a:endParaRPr lang="en-US" sz="1700" dirty="0"/>
          </a:p>
        </p:txBody>
      </p:sp>
      <p:sp>
        <p:nvSpPr>
          <p:cNvPr id="8" name="Text 5"/>
          <p:cNvSpPr txBox="1"/>
          <p:nvPr/>
        </p:nvSpPr>
        <p:spPr>
          <a:xfrm>
            <a:off x="685800" y="3611880"/>
            <a:ext cx="2377440" cy="1097280"/>
          </a:xfrm>
          <a:prstGeom prst="rect">
            <a:avLst/>
          </a:prstGeom>
          <a:noFill/>
          <a:ln/>
        </p:spPr>
        <p:txBody>
          <a:bodyPr wrap="square" lIns="0" tIns="0" rIns="0" bIns="0" rtlCol="0" anchor="t"/>
          <a:lstStyle/>
          <a:p>
            <a:pPr algn="ctr" indent="0" marL="0">
              <a:buNone/>
            </a:pPr>
            <a:r>
              <a:rPr lang="en-US" sz="1500" dirty="0">
                <a:solidFill>
                  <a:schemeClr val="accent5"/>
                </a:solidFill>
              </a:rPr>
              <a:t>Run the same model on every alert: pause, investigate, escalate, record.</a:t>
            </a:r>
            <a:endParaRPr lang="en-US" sz="1500" dirty="0"/>
          </a:p>
        </p:txBody>
      </p:sp>
      <p:sp>
        <p:nvSpPr>
          <p:cNvPr id="9" name="recap 2 circle"/>
          <p:cNvSpPr/>
          <p:nvPr/>
        </p:nvSpPr>
        <p:spPr>
          <a:xfrm>
            <a:off x="4261104" y="2240280"/>
            <a:ext cx="822960" cy="822960"/>
          </a:xfrm>
          <a:prstGeom prst="ellipse">
            <a:avLst/>
          </a:prstGeom>
          <a:solidFill>
            <a:schemeClr val="accent4"/>
          </a:solidFill>
          <a:ln w="12700">
            <a:solidFill>
              <a:schemeClr val="accent4"/>
            </a:solidFill>
            <a:prstDash val="solid"/>
          </a:ln>
        </p:spPr>
      </p:sp>
      <p:pic>
        <p:nvPicPr>
          <p:cNvPr id="10" name="recap 2 icon" descr="preencoded.png">    </p:cNvPr>
          <p:cNvPicPr>
            <a:picLocks noChangeAspect="1"/>
          </p:cNvPicPr>
          <p:nvPr/>
        </p:nvPicPr>
        <p:blipFill>
          <a:blip r:embed="rId2"/>
          <a:stretch>
            <a:fillRect/>
          </a:stretch>
        </p:blipFill>
        <p:spPr>
          <a:xfrm>
            <a:off x="4425696" y="2404872"/>
            <a:ext cx="493776" cy="493776"/>
          </a:xfrm>
          <a:prstGeom prst="rect">
            <a:avLst/>
          </a:prstGeom>
        </p:spPr>
      </p:pic>
      <p:sp>
        <p:nvSpPr>
          <p:cNvPr id="11" name="Text 7"/>
          <p:cNvSpPr txBox="1"/>
          <p:nvPr/>
        </p:nvSpPr>
        <p:spPr>
          <a:xfrm>
            <a:off x="3346704" y="3200400"/>
            <a:ext cx="2651760" cy="384048"/>
          </a:xfrm>
          <a:prstGeom prst="rect">
            <a:avLst/>
          </a:prstGeom>
          <a:noFill/>
          <a:ln/>
        </p:spPr>
        <p:txBody>
          <a:bodyPr wrap="square" lIns="0" tIns="0" rIns="0" bIns="0" rtlCol="0" anchor="t"/>
          <a:lstStyle/>
          <a:p>
            <a:pPr algn="ctr" indent="0" marL="0">
              <a:buNone/>
            </a:pPr>
            <a:r>
              <a:rPr lang="en-US" sz="1700" b="1" dirty="0">
                <a:solidFill>
                  <a:schemeClr val="bg1"/>
                </a:solidFill>
              </a:rPr>
              <a:t>2  Compare the regions</a:t>
            </a:r>
            <a:endParaRPr lang="en-US" sz="1700" dirty="0"/>
          </a:p>
        </p:txBody>
      </p:sp>
      <p:sp>
        <p:nvSpPr>
          <p:cNvPr id="12" name="Text 8"/>
          <p:cNvSpPr txBox="1"/>
          <p:nvPr/>
        </p:nvSpPr>
        <p:spPr>
          <a:xfrm>
            <a:off x="3483864" y="3611880"/>
            <a:ext cx="2377440" cy="1097280"/>
          </a:xfrm>
          <a:prstGeom prst="rect">
            <a:avLst/>
          </a:prstGeom>
          <a:noFill/>
          <a:ln/>
        </p:spPr>
        <p:txBody>
          <a:bodyPr wrap="square" lIns="0" tIns="0" rIns="0" bIns="0" rtlCol="0" anchor="t"/>
          <a:lstStyle/>
          <a:p>
            <a:pPr algn="ctr" indent="0" marL="0">
              <a:buNone/>
            </a:pPr>
            <a:r>
              <a:rPr lang="en-US" sz="1500" dirty="0">
                <a:solidFill>
                  <a:schemeClr val="accent5"/>
                </a:solidFill>
              </a:rPr>
              <a:t>Check every regime the payment touches — not just the local list.</a:t>
            </a:r>
            <a:endParaRPr lang="en-US" sz="1500" dirty="0"/>
          </a:p>
        </p:txBody>
      </p:sp>
      <p:sp>
        <p:nvSpPr>
          <p:cNvPr id="13" name="recap 3 circle"/>
          <p:cNvSpPr/>
          <p:nvPr/>
        </p:nvSpPr>
        <p:spPr>
          <a:xfrm>
            <a:off x="7059168" y="2240280"/>
            <a:ext cx="822960" cy="822960"/>
          </a:xfrm>
          <a:prstGeom prst="ellipse">
            <a:avLst/>
          </a:prstGeom>
          <a:solidFill>
            <a:schemeClr val="accent2"/>
          </a:solidFill>
          <a:ln w="12700">
            <a:solidFill>
              <a:schemeClr val="accent2"/>
            </a:solidFill>
            <a:prstDash val="solid"/>
          </a:ln>
        </p:spPr>
      </p:sp>
      <p:pic>
        <p:nvPicPr>
          <p:cNvPr id="14" name="recap 3 icon" descr="preencoded.png">    </p:cNvPr>
          <p:cNvPicPr>
            <a:picLocks noChangeAspect="1"/>
          </p:cNvPicPr>
          <p:nvPr/>
        </p:nvPicPr>
        <p:blipFill>
          <a:blip r:embed="rId3"/>
          <a:stretch>
            <a:fillRect/>
          </a:stretch>
        </p:blipFill>
        <p:spPr>
          <a:xfrm>
            <a:off x="7223760" y="2404872"/>
            <a:ext cx="493776" cy="493776"/>
          </a:xfrm>
          <a:prstGeom prst="rect">
            <a:avLst/>
          </a:prstGeom>
        </p:spPr>
      </p:pic>
      <p:sp>
        <p:nvSpPr>
          <p:cNvPr id="15" name="Text 10"/>
          <p:cNvSpPr txBox="1"/>
          <p:nvPr/>
        </p:nvSpPr>
        <p:spPr>
          <a:xfrm>
            <a:off x="6144768" y="3200400"/>
            <a:ext cx="2651760" cy="384048"/>
          </a:xfrm>
          <a:prstGeom prst="rect">
            <a:avLst/>
          </a:prstGeom>
          <a:noFill/>
          <a:ln/>
        </p:spPr>
        <p:txBody>
          <a:bodyPr wrap="square" lIns="0" tIns="0" rIns="0" bIns="0" rtlCol="0" anchor="t"/>
          <a:lstStyle/>
          <a:p>
            <a:pPr algn="ctr" indent="0" marL="0">
              <a:buNone/>
            </a:pPr>
            <a:r>
              <a:rPr lang="en-US" sz="1700" b="1" dirty="0">
                <a:solidFill>
                  <a:schemeClr val="bg1"/>
                </a:solidFill>
              </a:rPr>
              <a:t>3  Apply the indicators</a:t>
            </a:r>
            <a:endParaRPr lang="en-US" sz="1700" dirty="0"/>
          </a:p>
        </p:txBody>
      </p:sp>
      <p:sp>
        <p:nvSpPr>
          <p:cNvPr id="16" name="Text 11"/>
          <p:cNvSpPr txBox="1"/>
          <p:nvPr/>
        </p:nvSpPr>
        <p:spPr>
          <a:xfrm>
            <a:off x="6281928" y="3611880"/>
            <a:ext cx="2377440" cy="1097280"/>
          </a:xfrm>
          <a:prstGeom prst="rect">
            <a:avLst/>
          </a:prstGeom>
          <a:noFill/>
          <a:ln/>
        </p:spPr>
        <p:txBody>
          <a:bodyPr wrap="square" lIns="0" tIns="0" rIns="0" bIns="0" rtlCol="0" anchor="t"/>
          <a:lstStyle/>
          <a:p>
            <a:pPr algn="ctr" indent="0" marL="0">
              <a:buNone/>
            </a:pPr>
            <a:r>
              <a:rPr lang="en-US" sz="1500" dirty="0">
                <a:solidFill>
                  <a:schemeClr val="accent5"/>
                </a:solidFill>
              </a:rPr>
              <a:t>Use identifiers, ownership and the tools you already have to resolve or escalate.</a:t>
            </a:r>
            <a:endParaRPr lang="en-US" sz="1500" dirty="0"/>
          </a:p>
        </p:txBody>
      </p:sp>
      <p:sp>
        <p:nvSpPr>
          <p:cNvPr id="17" name="recap 4 circle"/>
          <p:cNvSpPr/>
          <p:nvPr/>
        </p:nvSpPr>
        <p:spPr>
          <a:xfrm>
            <a:off x="9857232" y="2240280"/>
            <a:ext cx="822960" cy="822960"/>
          </a:xfrm>
          <a:prstGeom prst="ellipse">
            <a:avLst/>
          </a:prstGeom>
          <a:solidFill>
            <a:schemeClr val="accent3"/>
          </a:solidFill>
          <a:ln w="12700">
            <a:solidFill>
              <a:schemeClr val="accent3"/>
            </a:solidFill>
            <a:prstDash val="solid"/>
          </a:ln>
        </p:spPr>
      </p:sp>
      <p:pic>
        <p:nvPicPr>
          <p:cNvPr id="18" name="recap 4 icon" descr="preencoded.png">    </p:cNvPr>
          <p:cNvPicPr>
            <a:picLocks noChangeAspect="1"/>
          </p:cNvPicPr>
          <p:nvPr/>
        </p:nvPicPr>
        <p:blipFill>
          <a:blip r:embed="rId4"/>
          <a:stretch>
            <a:fillRect/>
          </a:stretch>
        </p:blipFill>
        <p:spPr>
          <a:xfrm>
            <a:off x="10021824" y="2404872"/>
            <a:ext cx="493776" cy="493776"/>
          </a:xfrm>
          <a:prstGeom prst="rect">
            <a:avLst/>
          </a:prstGeom>
        </p:spPr>
      </p:pic>
      <p:sp>
        <p:nvSpPr>
          <p:cNvPr id="19" name="Text 13"/>
          <p:cNvSpPr txBox="1"/>
          <p:nvPr/>
        </p:nvSpPr>
        <p:spPr>
          <a:xfrm>
            <a:off x="8942832" y="3200400"/>
            <a:ext cx="2651760" cy="384048"/>
          </a:xfrm>
          <a:prstGeom prst="rect">
            <a:avLst/>
          </a:prstGeom>
          <a:noFill/>
          <a:ln/>
        </p:spPr>
        <p:txBody>
          <a:bodyPr wrap="square" lIns="0" tIns="0" rIns="0" bIns="0" rtlCol="0" anchor="t"/>
          <a:lstStyle/>
          <a:p>
            <a:pPr algn="ctr" indent="0" marL="0">
              <a:buNone/>
            </a:pPr>
            <a:r>
              <a:rPr lang="en-US" sz="1700" b="1" dirty="0">
                <a:solidFill>
                  <a:schemeClr val="bg1"/>
                </a:solidFill>
              </a:rPr>
              <a:t>4  Record the decision</a:t>
            </a:r>
            <a:endParaRPr lang="en-US" sz="1700" dirty="0"/>
          </a:p>
        </p:txBody>
      </p:sp>
      <p:sp>
        <p:nvSpPr>
          <p:cNvPr id="20" name="Text 14"/>
          <p:cNvSpPr txBox="1"/>
          <p:nvPr/>
        </p:nvSpPr>
        <p:spPr>
          <a:xfrm>
            <a:off x="9079992" y="3611880"/>
            <a:ext cx="2377440" cy="1097280"/>
          </a:xfrm>
          <a:prstGeom prst="rect">
            <a:avLst/>
          </a:prstGeom>
          <a:noFill/>
          <a:ln/>
        </p:spPr>
        <p:txBody>
          <a:bodyPr wrap="square" lIns="0" tIns="0" rIns="0" bIns="0" rtlCol="0" anchor="t"/>
          <a:lstStyle/>
          <a:p>
            <a:pPr algn="ctr" indent="0" marL="0">
              <a:buNone/>
            </a:pPr>
            <a:r>
              <a:rPr lang="en-US" sz="1500" dirty="0">
                <a:solidFill>
                  <a:schemeClr val="accent5"/>
                </a:solidFill>
              </a:rPr>
              <a:t>Write every decision so it can be reproduced from the case record alone.</a:t>
            </a:r>
            <a:endParaRPr lang="en-US" sz="1500" dirty="0"/>
          </a:p>
        </p:txBody>
      </p:sp>
      <p:sp>
        <p:nvSpPr>
          <p:cNvPr id="21" name="Text 15"/>
          <p:cNvSpPr txBox="1"/>
          <p:nvPr/>
        </p:nvSpPr>
        <p:spPr>
          <a:xfrm>
            <a:off x="914400" y="4983480"/>
            <a:ext cx="10332720" cy="822960"/>
          </a:xfrm>
          <a:prstGeom prst="rect">
            <a:avLst/>
          </a:prstGeom>
          <a:noFill/>
          <a:ln/>
        </p:spPr>
        <p:txBody>
          <a:bodyPr wrap="square" lIns="0" tIns="0" rIns="0" bIns="0" rtlCol="0" anchor="t"/>
          <a:lstStyle/>
          <a:p>
            <a:pPr algn="ctr" indent="0" marL="0">
              <a:buNone/>
            </a:pPr>
            <a:r>
              <a:rPr lang="en-US" sz="1600" i="1" dirty="0">
                <a:solidFill>
                  <a:schemeClr val="bg1"/>
                </a:solidFill>
              </a:rPr>
              <a:t>Thank you. Under strict liability, your alert decisions are the firm's control. For edge cases or policy updates, contact the Sanctions &amp; Compliance team and refer to the Global Sanctions Reporting Procedure.</a:t>
            </a:r>
            <a:endParaRPr lang="en-US" sz="16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A</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Acronyms used in this session</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A quick reference for the session and for your queue.</a:t>
            </a:r>
            <a:endParaRPr lang="en-US" sz="17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440680" cy="914400"/>
        </p:xfrm>
        <a:graphic>
          <a:graphicData uri="http://schemas.openxmlformats.org/drawingml/2006/table">
            <a:tbl>
              <a:tblPr/>
              <a:tblGrid>
                <a:gridCol w="1463040"/>
                <a:gridCol w="3977640"/>
              </a:tblGrid>
              <a:tr h="512064">
                <a:tc>
                  <a:txBody>
                    <a:bodyPr/>
                    <a:lstStyle/>
                    <a:p>
                      <a:pPr indent="0" marL="0">
                        <a:buNone/>
                      </a:pPr>
                      <a:r>
                        <a:rPr lang="en-US" sz="1400" b="1" dirty="0">
                          <a:solidFill>
                            <a:schemeClr val="tx1"/>
                          </a:solidFill>
                        </a:rPr>
                        <a:t>DP</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Designated person (on a sanctions list)</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OFSI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Financial Sanctions Implementation (UK)</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Foreign Assets Control (US)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SDN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Specially Designated Nationals list (OFAC)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DG Trésor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competent authority for financial sanctions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TRACFIN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financial intelligence unit (suspicion reports)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EOCN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Executive Office for Control &amp; Non-Proliferation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goAML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reporting system (CNMR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172200" y="1600200"/>
          <a:ext cx="5440680" cy="914400"/>
        </p:xfrm>
        <a:graphic>
          <a:graphicData uri="http://schemas.openxmlformats.org/drawingml/2006/table">
            <a:tbl>
              <a:tblPr/>
              <a:tblGrid>
                <a:gridCol w="1463040"/>
                <a:gridCol w="3977640"/>
              </a:tblGrid>
              <a:tr h="512064">
                <a:tc>
                  <a:txBody>
                    <a:bodyPr/>
                    <a:lstStyle/>
                    <a:p>
                      <a:pPr indent="0" marL="0">
                        <a:buNone/>
                      </a:pPr>
                      <a:r>
                        <a:rPr lang="en-US" sz="1400" b="1" dirty="0">
                          <a:solidFill>
                            <a:schemeClr val="tx1"/>
                          </a:solidFill>
                        </a:rPr>
                        <a:t>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Confirmed / Partial Name Match Report (UAE)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MAS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Monetary Authority of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STRO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Suspicious Transaction Reporting Office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JFIU</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Joint Financial Intelligence Unit (Hong Kong)</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UBO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Ultimate beneficial owner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RFI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Request for information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EDR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Event-driven review</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UAR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Unusual activity report (internal)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1106424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B — FACILITATOR REFERENCE</a:t>
            </a:r>
            <a:endParaRPr lang="en-US" sz="1200" dirty="0"/>
          </a:p>
        </p:txBody>
      </p:sp>
      <p:sp>
        <p:nvSpPr>
          <p:cNvPr id="3" name="Text 0"/>
          <p:cNvSpPr/>
          <p:nvPr>
            <p:ph idx="101" type="title" hasCustomPrompt="1"/>
          </p:nvPr>
        </p:nvSpPr>
        <p:spPr>
          <a:xfrm>
            <a:off x="548640" y="512064"/>
            <a:ext cx="11064240" cy="548640"/>
          </a:xfrm>
          <a:prstGeom prst="rect">
            <a:avLst/>
          </a:prstGeom>
          <a:noFill/>
          <a:ln/>
        </p:spPr>
        <p:txBody>
          <a:bodyPr wrap="square" lIns="0" tIns="0" rIns="0" bIns="0" rtlCol="0" anchor="ctr"/>
          <a:lstStyle/>
          <a:p>
            <a:pPr algn="l" indent="0" marL="0">
              <a:buNone/>
            </a:pPr>
            <a:r>
              <a:rPr lang="en-US" sz="2800" b="1" dirty="0">
                <a:solidFill>
                  <a:schemeClr val="tx1"/>
                </a:solidFill>
              </a:rPr>
              <a:t>Real-life cases used in this session</a:t>
            </a:r>
            <a:endParaRPr lang="en-US" sz="2800" dirty="0"/>
          </a:p>
        </p:txBody>
      </p:sp>
      <p:sp>
        <p:nvSpPr>
          <p:cNvPr id="4" name="Text 2"/>
          <p:cNvSpPr txBox="1"/>
          <p:nvPr/>
        </p:nvSpPr>
        <p:spPr>
          <a:xfrm>
            <a:off x="548640" y="1097280"/>
            <a:ext cx="11064240" cy="347472"/>
          </a:xfrm>
          <a:prstGeom prst="rect">
            <a:avLst/>
          </a:prstGeom>
          <a:noFill/>
          <a:ln/>
        </p:spPr>
        <p:txBody>
          <a:bodyPr wrap="square" lIns="0" tIns="0" rIns="0" bIns="0" rtlCol="0" anchor="ctr"/>
          <a:lstStyle/>
          <a:p>
            <a:pPr indent="0" marL="0">
              <a:buNone/>
            </a:pPr>
            <a:r>
              <a:rPr lang="en-US" sz="1700" b="1" dirty="0">
                <a:solidFill>
                  <a:schemeClr val="accent1"/>
                </a:solidFill>
              </a:rPr>
              <a:t>In short:  </a:t>
            </a:r>
            <a:pPr indent="0" marL="0">
              <a:buNone/>
            </a:pPr>
            <a:r>
              <a:rPr lang="en-US" sz="1700" b="1" dirty="0">
                <a:solidFill>
                  <a:schemeClr val="tx1"/>
                </a:solidFill>
              </a:rPr>
              <a:t>Every one of these started with an everyday decision — read the last column first.</a:t>
            </a:r>
            <a:endParaRPr lang="en-US" sz="1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514600"/>
                <a:gridCol w="1737360"/>
                <a:gridCol w="3703320"/>
                <a:gridCol w="3108960"/>
              </a:tblGrid>
              <a:tr h="365760">
                <a:tc>
                  <a:txBody>
                    <a:bodyPr/>
                    <a:lstStyle/>
                    <a:p>
                      <a:pPr indent="0" marL="0">
                        <a:buNone/>
                      </a:pPr>
                      <a:r>
                        <a:rPr lang="en-US" sz="1200" b="1" dirty="0">
                          <a:solidFill>
                            <a:schemeClr val="bg1"/>
                          </a:solidFill>
                        </a:rPr>
                        <a:t>Case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Type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went wrong</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 means for you</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r>
              <a:tr h="713232">
                <a:tc>
                  <a:txBody>
                    <a:bodyPr/>
                    <a:lstStyle/>
                    <a:p>
                      <a:pPr indent="0" marL="0">
                        <a:buNone/>
                      </a:pPr>
                      <a:r>
                        <a:rPr lang="en-US" sz="1200" dirty="0">
                          <a:solidFill>
                            <a:schemeClr val="tx1"/>
                          </a:solidFill>
                        </a:rPr>
                        <a:t>Citibank N.A. London (OFSI, £4.73m, Aug 2026)</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penalty</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“PAO” prefix defeated the screening; no restriction without proof of &gt;50% ownership; backlog; frozen-asset reports up to 518 days late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Recognise legal-form variants; treat missing ownership evidence as a reason to hold.</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40080">
                <a:tc>
                  <a:txBody>
                    <a:bodyPr/>
                    <a:lstStyle/>
                    <a:p>
                      <a:pPr indent="0" marL="0">
                        <a:buNone/>
                      </a:pPr>
                      <a:r>
                        <a:rPr lang="en-US" sz="1200" dirty="0">
                          <a:solidFill>
                            <a:schemeClr val="tx1"/>
                          </a:solidFill>
                        </a:rPr>
                        <a:t>Bank of Scotland (OFSI, £160k, imposed Nov 2025)</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UK sanctions penalty</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Alert wrongly discounted (person believed delisted); passport spelling differed; no PEP-to-sanctions route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Never discount on an assumption — check the current list and escalate.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Bittrex (OFAC, $24.3m, Oct 2022)</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 sanctions settlement</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IP and address data collected but not screened for sanctioned jurisdictions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Use the data we already hold, such as IP and address, as evidence.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Banque Misr UAE (FinCEN, Aug 2026)</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 AML — proposed s.311 rule</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Front companies and USD correspondent access; UAE branches only; proposed, not final</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A clean SDN result does not clear correspondent or AML risk.</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200" dirty="0">
                          <a:solidFill>
                            <a:schemeClr val="tx1"/>
                          </a:solidFill>
                        </a:rPr>
                        <a:t>Nine FIs (MAS, Jul 2025)</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Singapore AML penalties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Beneficial ownership, source of wealth, TM and post-STR follow-up — AML, not sanctions</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Weak ownership checks undermine sanctions decisions too.</a:t>
                      </a:r>
                      <a:endParaRPr lang="en-US" sz="1200" dirty="0"/>
                    </a:p>
                  </a:txBody>
                  <a:tcPr marL="73152" marR="73152"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6" name="Text 3"/>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i="1" dirty="0">
                <a:solidFill>
                  <a:schemeClr val="accent1"/>
                </a:solidFill>
              </a:rPr>
              <a:t>Only the first three are sanctions enforcement actions; the AML cases are context. Validate every figure against the primary notice before external circulation.</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creening Signal">
  <a:themeElements>
    <a:clrScheme name="Screening Signal">
      <a:dk1>
        <a:srgbClr val="14213D"/>
      </a:dk1>
      <a:lt1>
        <a:srgbClr val="FFFFFF"/>
      </a:lt1>
      <a:dk2>
        <a:srgbClr val="0B1426"/>
      </a:dk2>
      <a:lt2>
        <a:srgbClr val="EEF2F7"/>
      </a:lt2>
      <a:accent1>
        <a:srgbClr val="C8102E"/>
      </a:accent1>
      <a:accent2>
        <a:srgbClr val="D98A1C"/>
      </a:accent2>
      <a:accent3>
        <a:srgbClr val="1F7A63"/>
      </a:accent3>
      <a:accent4>
        <a:srgbClr val="3D5A80"/>
      </a:accent4>
      <a:accent5>
        <a:srgbClr val="C9D8EA"/>
      </a:accent5>
      <a:accent6>
        <a:srgbClr val="5B6472"/>
      </a:accent6>
      <a:hlink>
        <a:srgbClr val="3D5A80"/>
      </a:hlink>
      <a:folHlink>
        <a:srgbClr val="5B6472"/>
      </a:folHlink>
    </a:clrScheme>
    <a:fontScheme name="Screening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Checkout.com Global Screening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Sanctions in Practice — Analyst Edition</dc:title>
  <dc:subject>Sanctions training for operations analysts</dc:subject>
  <dc:creator>PptxGenJS</dc:creator>
  <cp:lastModifiedBy>PptxGenJS</cp:lastModifiedBy>
  <cp:revision>1</cp:revision>
  <dcterms:created xsi:type="dcterms:W3CDTF">2026-10-12T19:17:35Z</dcterms:created>
  <dcterms:modified xsi:type="dcterms:W3CDTF">2026-10-12T19:17:35Z</dcterms:modified>
</cp:coreProperties>
</file>